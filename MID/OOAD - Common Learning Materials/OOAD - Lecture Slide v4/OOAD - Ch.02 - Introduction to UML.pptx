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28"/>
  </p:notesMasterIdLst>
  <p:sldIdLst>
    <p:sldId id="256" r:id="rId2"/>
    <p:sldId id="297" r:id="rId3"/>
    <p:sldId id="325" r:id="rId4"/>
    <p:sldId id="326" r:id="rId5"/>
    <p:sldId id="301" r:id="rId6"/>
    <p:sldId id="303" r:id="rId7"/>
    <p:sldId id="305" r:id="rId8"/>
    <p:sldId id="304" r:id="rId9"/>
    <p:sldId id="306" r:id="rId10"/>
    <p:sldId id="327" r:id="rId11"/>
    <p:sldId id="328" r:id="rId12"/>
    <p:sldId id="309" r:id="rId13"/>
    <p:sldId id="310" r:id="rId14"/>
    <p:sldId id="311" r:id="rId15"/>
    <p:sldId id="312" r:id="rId16"/>
    <p:sldId id="322" r:id="rId17"/>
    <p:sldId id="313" r:id="rId18"/>
    <p:sldId id="330" r:id="rId19"/>
    <p:sldId id="329" r:id="rId20"/>
    <p:sldId id="324" r:id="rId21"/>
    <p:sldId id="318" r:id="rId22"/>
    <p:sldId id="331" r:id="rId23"/>
    <p:sldId id="288" r:id="rId24"/>
    <p:sldId id="289" r:id="rId25"/>
    <p:sldId id="290" r:id="rId26"/>
    <p:sldId id="323"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7C328D8-7936-40C4-ABB4-0892B09BBB4F}">
          <p14:sldIdLst>
            <p14:sldId id="256"/>
            <p14:sldId id="297"/>
            <p14:sldId id="325"/>
            <p14:sldId id="326"/>
            <p14:sldId id="301"/>
            <p14:sldId id="303"/>
            <p14:sldId id="305"/>
            <p14:sldId id="304"/>
            <p14:sldId id="306"/>
            <p14:sldId id="327"/>
            <p14:sldId id="328"/>
            <p14:sldId id="309"/>
            <p14:sldId id="310"/>
            <p14:sldId id="311"/>
            <p14:sldId id="312"/>
            <p14:sldId id="322"/>
          </p14:sldIdLst>
        </p14:section>
        <p14:section name="Untitled Section" id="{5D3A7091-284A-4B95-99A5-A2C086DFE633}">
          <p14:sldIdLst>
            <p14:sldId id="313"/>
            <p14:sldId id="330"/>
            <p14:sldId id="329"/>
            <p14:sldId id="324"/>
            <p14:sldId id="318"/>
            <p14:sldId id="331"/>
            <p14:sldId id="288"/>
            <p14:sldId id="289"/>
            <p14:sldId id="290"/>
            <p14:sldId id="323"/>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6D96"/>
    <a:srgbClr val="2291C8"/>
    <a:srgbClr val="196A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8" autoAdjust="0"/>
    <p:restoredTop sz="93447" autoAdjust="0"/>
  </p:normalViewPr>
  <p:slideViewPr>
    <p:cSldViewPr snapToGrid="0">
      <p:cViewPr varScale="1">
        <p:scale>
          <a:sx n="56" d="100"/>
          <a:sy n="56" d="100"/>
        </p:scale>
        <p:origin x="808" y="44"/>
      </p:cViewPr>
      <p:guideLst>
        <p:guide orient="horz" pos="2160"/>
        <p:guide pos="3840"/>
      </p:guideLst>
    </p:cSldViewPr>
  </p:slideViewPr>
  <p:outlineViewPr>
    <p:cViewPr>
      <p:scale>
        <a:sx n="33" d="100"/>
        <a:sy n="33" d="100"/>
      </p:scale>
      <p:origin x="0" y="-4112"/>
    </p:cViewPr>
  </p:outlineViewPr>
  <p:notesTextViewPr>
    <p:cViewPr>
      <p:scale>
        <a:sx n="1" d="1"/>
        <a:sy n="1" d="1"/>
      </p:scale>
      <p:origin x="0" y="0"/>
    </p:cViewPr>
  </p:notesTextViewPr>
  <p:sorterViewPr>
    <p:cViewPr>
      <p:scale>
        <a:sx n="100" d="100"/>
        <a:sy n="100" d="100"/>
      </p:scale>
      <p:origin x="0" y="-108"/>
    </p:cViewPr>
  </p:sorter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11/03/2025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26CA59-B645-4A00-A667-3A942CDB8E2D}" type="slidenum">
              <a:rPr lang="en-GB" smtClean="0"/>
              <a:pPr/>
              <a:t>2</a:t>
            </a:fld>
            <a:endParaRPr lang="en-GB"/>
          </a:p>
        </p:txBody>
      </p:sp>
    </p:spTree>
    <p:extLst>
      <p:ext uri="{BB962C8B-B14F-4D97-AF65-F5344CB8AC3E}">
        <p14:creationId xmlns:p14="http://schemas.microsoft.com/office/powerpoint/2010/main" val="921286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26CA59-B645-4A00-A667-3A942CDB8E2D}" type="slidenum">
              <a:rPr lang="en-GB" smtClean="0"/>
              <a:pPr/>
              <a:t>3</a:t>
            </a:fld>
            <a:endParaRPr lang="en-GB"/>
          </a:p>
        </p:txBody>
      </p:sp>
    </p:spTree>
    <p:extLst>
      <p:ext uri="{BB962C8B-B14F-4D97-AF65-F5344CB8AC3E}">
        <p14:creationId xmlns:p14="http://schemas.microsoft.com/office/powerpoint/2010/main" val="130278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26CA59-B645-4A00-A667-3A942CDB8E2D}" type="slidenum">
              <a:rPr lang="en-GB" smtClean="0"/>
              <a:pPr/>
              <a:t>4</a:t>
            </a:fld>
            <a:endParaRPr lang="en-GB"/>
          </a:p>
        </p:txBody>
      </p:sp>
    </p:spTree>
    <p:extLst>
      <p:ext uri="{BB962C8B-B14F-4D97-AF65-F5344CB8AC3E}">
        <p14:creationId xmlns:p14="http://schemas.microsoft.com/office/powerpoint/2010/main" val="25726063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26CA59-B645-4A00-A667-3A942CDB8E2D}" type="slidenum">
              <a:rPr lang="en-GB" smtClean="0"/>
              <a:pPr/>
              <a:t>5</a:t>
            </a:fld>
            <a:endParaRPr lang="en-GB"/>
          </a:p>
        </p:txBody>
      </p:sp>
    </p:spTree>
    <p:extLst>
      <p:ext uri="{BB962C8B-B14F-4D97-AF65-F5344CB8AC3E}">
        <p14:creationId xmlns:p14="http://schemas.microsoft.com/office/powerpoint/2010/main" val="1053209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26CA59-B645-4A00-A667-3A942CDB8E2D}" type="slidenum">
              <a:rPr lang="en-GB" smtClean="0"/>
              <a:pPr/>
              <a:t>6</a:t>
            </a:fld>
            <a:endParaRPr lang="en-GB"/>
          </a:p>
        </p:txBody>
      </p:sp>
    </p:spTree>
    <p:extLst>
      <p:ext uri="{BB962C8B-B14F-4D97-AF65-F5344CB8AC3E}">
        <p14:creationId xmlns:p14="http://schemas.microsoft.com/office/powerpoint/2010/main" val="4248066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26CA59-B645-4A00-A667-3A942CDB8E2D}" type="slidenum">
              <a:rPr lang="en-GB" smtClean="0"/>
              <a:pPr/>
              <a:t>7</a:t>
            </a:fld>
            <a:endParaRPr lang="en-GB"/>
          </a:p>
        </p:txBody>
      </p:sp>
    </p:spTree>
    <p:extLst>
      <p:ext uri="{BB962C8B-B14F-4D97-AF65-F5344CB8AC3E}">
        <p14:creationId xmlns:p14="http://schemas.microsoft.com/office/powerpoint/2010/main" val="429607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26CA59-B645-4A00-A667-3A942CDB8E2D}" type="slidenum">
              <a:rPr lang="en-GB" smtClean="0"/>
              <a:pPr/>
              <a:t>8</a:t>
            </a:fld>
            <a:endParaRPr lang="en-GB"/>
          </a:p>
        </p:txBody>
      </p:sp>
    </p:spTree>
    <p:extLst>
      <p:ext uri="{BB962C8B-B14F-4D97-AF65-F5344CB8AC3E}">
        <p14:creationId xmlns:p14="http://schemas.microsoft.com/office/powerpoint/2010/main" val="2064943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26CA59-B645-4A00-A667-3A942CDB8E2D}" type="slidenum">
              <a:rPr lang="en-GB" smtClean="0"/>
              <a:pPr/>
              <a:t>9</a:t>
            </a:fld>
            <a:endParaRPr lang="en-GB"/>
          </a:p>
        </p:txBody>
      </p:sp>
    </p:spTree>
    <p:extLst>
      <p:ext uri="{BB962C8B-B14F-4D97-AF65-F5344CB8AC3E}">
        <p14:creationId xmlns:p14="http://schemas.microsoft.com/office/powerpoint/2010/main" val="30649168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82883-136C-B708-CC00-3FCAD61FE9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463A83-BAF3-C1B3-188F-879D394964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6B5E2D-C6DE-43B4-816B-5E54BC45E6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23FE61-FCBD-9265-2279-DEA173502C50}"/>
              </a:ext>
            </a:extLst>
          </p:cNvPr>
          <p:cNvSpPr>
            <a:spLocks noGrp="1"/>
          </p:cNvSpPr>
          <p:nvPr>
            <p:ph type="sldNum" sz="quarter" idx="5"/>
          </p:nvPr>
        </p:nvSpPr>
        <p:spPr/>
        <p:txBody>
          <a:bodyPr/>
          <a:lstStyle/>
          <a:p>
            <a:fld id="{0E26CA59-B645-4A00-A667-3A942CDB8E2D}" type="slidenum">
              <a:rPr lang="en-GB" smtClean="0"/>
              <a:pPr/>
              <a:t>10</a:t>
            </a:fld>
            <a:endParaRPr lang="en-GB"/>
          </a:p>
        </p:txBody>
      </p:sp>
    </p:spTree>
    <p:extLst>
      <p:ext uri="{BB962C8B-B14F-4D97-AF65-F5344CB8AC3E}">
        <p14:creationId xmlns:p14="http://schemas.microsoft.com/office/powerpoint/2010/main" val="4278375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FDF94-518E-997B-D061-EA4E2A30D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F78CA0-B0A6-9CBA-16CC-B140FD25BA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0C7CA2-138F-47F6-2648-AF651833E8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8228E54-ED34-F0B2-E69F-19AF58D399C6}"/>
              </a:ext>
            </a:extLst>
          </p:cNvPr>
          <p:cNvSpPr>
            <a:spLocks noGrp="1"/>
          </p:cNvSpPr>
          <p:nvPr>
            <p:ph type="sldNum" sz="quarter" idx="5"/>
          </p:nvPr>
        </p:nvSpPr>
        <p:spPr/>
        <p:txBody>
          <a:bodyPr/>
          <a:lstStyle/>
          <a:p>
            <a:fld id="{0E26CA59-B645-4A00-A667-3A942CDB8E2D}" type="slidenum">
              <a:rPr lang="en-GB" smtClean="0"/>
              <a:pPr/>
              <a:t>11</a:t>
            </a:fld>
            <a:endParaRPr lang="en-GB"/>
          </a:p>
        </p:txBody>
      </p:sp>
    </p:spTree>
    <p:extLst>
      <p:ext uri="{BB962C8B-B14F-4D97-AF65-F5344CB8AC3E}">
        <p14:creationId xmlns:p14="http://schemas.microsoft.com/office/powerpoint/2010/main" val="3191944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3/11/2025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3/11/2025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3/11/2025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3/11/2025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3/11/2025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3/11/2025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3/11/2025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3/11/2025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3/11/2025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3/11/2025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www.omg.or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www.uml.org/"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dirty="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606035" y="486697"/>
            <a:ext cx="3405526" cy="293492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u="sng" cap="all" dirty="0">
                <a:solidFill>
                  <a:srgbClr val="FFFFFF"/>
                </a:solidFill>
              </a:rPr>
            </a:br>
            <a:br>
              <a:rPr lang="en-US" sz="2400" cap="all" dirty="0">
                <a:solidFill>
                  <a:srgbClr val="FFFFFF"/>
                </a:solidFill>
              </a:rPr>
            </a:br>
            <a:r>
              <a:rPr lang="en-US" sz="2400" cap="all" dirty="0">
                <a:solidFill>
                  <a:srgbClr val="FFFFFF"/>
                </a:solidFill>
              </a:rPr>
              <a:t>object oriented analysis and design</a:t>
            </a:r>
          </a:p>
          <a:p>
            <a:pPr marL="0" indent="0" algn="ctr">
              <a:buFont typeface="Wingdings 2" panose="05020102010507070707" pitchFamily="18" charset="2"/>
              <a:buNone/>
            </a:pPr>
            <a:r>
              <a:rPr lang="en-US" sz="2400" cap="all" dirty="0">
                <a:solidFill>
                  <a:srgbClr val="FFFFFF"/>
                </a:solidFill>
              </a:rPr>
              <a:t>CSC 2210</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dirty="0">
                <a:solidFill>
                  <a:srgbClr val="C00000"/>
                </a:solidFill>
              </a:rPr>
              <a:t>Chapter 2</a:t>
            </a:r>
            <a:br>
              <a:rPr lang="en-US" sz="3000" dirty="0">
                <a:solidFill>
                  <a:srgbClr val="C00000"/>
                </a:solidFill>
              </a:rPr>
            </a:br>
            <a:br>
              <a:rPr lang="en-US" sz="3000" dirty="0">
                <a:solidFill>
                  <a:schemeClr val="tx2"/>
                </a:solidFill>
              </a:rPr>
            </a:br>
            <a:r>
              <a:rPr lang="en-US" sz="3000" dirty="0">
                <a:solidFill>
                  <a:schemeClr val="tx2"/>
                </a:solidFill>
              </a:rPr>
              <a:t>INTRODUCTION TO UML</a:t>
            </a:r>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pic>
        <p:nvPicPr>
          <p:cNvPr id="30" name="Picture 1" descr="C:\Users\teacher\Desktop\download.jpg">
            <a:extLst>
              <a:ext uri="{FF2B5EF4-FFF2-40B4-BE49-F238E27FC236}">
                <a16:creationId xmlns:a16="http://schemas.microsoft.com/office/drawing/2014/main" id="{1799BA9A-E3B9-47F7-BB6C-545ACE6A83B9}"/>
              </a:ext>
            </a:extLst>
          </p:cNvPr>
          <p:cNvPicPr>
            <a:picLocks noChangeAspect="1" noChangeArrowheads="1"/>
          </p:cNvPicPr>
          <p:nvPr/>
        </p:nvPicPr>
        <p:blipFill>
          <a:blip r:embed="rId3"/>
          <a:srcRect/>
          <a:stretch>
            <a:fillRect/>
          </a:stretch>
        </p:blipFill>
        <p:spPr bwMode="auto">
          <a:xfrm>
            <a:off x="486697" y="3333135"/>
            <a:ext cx="3598606" cy="1887793"/>
          </a:xfrm>
          <a:prstGeom prst="rect">
            <a:avLst/>
          </a:prstGeom>
          <a:noFill/>
        </p:spPr>
      </p:pic>
      <p:pic>
        <p:nvPicPr>
          <p:cNvPr id="31" name="Picture 3" descr="https://encrypted-tbn2.gstatic.com/images?q=tbn:ANd9GcTZSqWmbgJA9IY9oTGf6ls2w158A103Jg2WEGhWbMSOl3O_igInBAxJpJ9N">
            <a:extLst>
              <a:ext uri="{FF2B5EF4-FFF2-40B4-BE49-F238E27FC236}">
                <a16:creationId xmlns:a16="http://schemas.microsoft.com/office/drawing/2014/main" id="{ACD720F7-42BA-49BE-A110-5F85475442F6}"/>
              </a:ext>
            </a:extLst>
          </p:cNvPr>
          <p:cNvPicPr>
            <a:picLocks noChangeAspect="1" noChangeArrowheads="1"/>
          </p:cNvPicPr>
          <p:nvPr/>
        </p:nvPicPr>
        <p:blipFill>
          <a:blip r:embed="rId4"/>
          <a:srcRect/>
          <a:stretch>
            <a:fillRect/>
          </a:stretch>
        </p:blipFill>
        <p:spPr bwMode="auto">
          <a:xfrm>
            <a:off x="486697" y="5279921"/>
            <a:ext cx="3598606" cy="1080425"/>
          </a:xfrm>
          <a:prstGeom prst="rect">
            <a:avLst/>
          </a:prstGeom>
          <a:noFill/>
        </p:spPr>
      </p:pic>
      <p:sp>
        <p:nvSpPr>
          <p:cNvPr id="2" name="Title 1">
            <a:extLst>
              <a:ext uri="{FF2B5EF4-FFF2-40B4-BE49-F238E27FC236}">
                <a16:creationId xmlns:a16="http://schemas.microsoft.com/office/drawing/2014/main" id="{109F5B63-3205-4186-9972-B0B21B3211C6}"/>
              </a:ext>
            </a:extLst>
          </p:cNvPr>
          <p:cNvSpPr txBox="1">
            <a:spLocks/>
          </p:cNvSpPr>
          <p:nvPr/>
        </p:nvSpPr>
        <p:spPr>
          <a:xfrm>
            <a:off x="4321278" y="3471955"/>
            <a:ext cx="7152968"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rgbClr val="7030A0"/>
                </a:solidFill>
              </a:rPr>
              <a:t>MOHAIMEN-BIN-NOOR</a:t>
            </a:r>
          </a:p>
          <a:p>
            <a:r>
              <a:rPr lang="en-US" sz="2000" dirty="0">
                <a:solidFill>
                  <a:schemeClr val="tx1"/>
                </a:solidFill>
              </a:rPr>
              <a:t>Assistant Professor, CS</a:t>
            </a:r>
          </a:p>
          <a:p>
            <a:r>
              <a:rPr lang="en-US" sz="2000" cap="none" dirty="0">
                <a:solidFill>
                  <a:schemeClr val="tx1"/>
                </a:solidFill>
                <a:latin typeface="+mn-lt"/>
              </a:rPr>
              <a:t>mohaimen.niloy@aiub.edu</a:t>
            </a:r>
          </a:p>
        </p:txBody>
      </p: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970841"/>
          </a:xfrm>
        </p:spPr>
        <p:txBody>
          <a:bodyPr/>
          <a:lstStyle/>
          <a:p>
            <a:r>
              <a:rPr lang="en-US" dirty="0"/>
              <a:t>UML</a:t>
            </a:r>
          </a:p>
        </p:txBody>
      </p:sp>
      <p:sp>
        <p:nvSpPr>
          <p:cNvPr id="4" name="Content Placeholder 3"/>
          <p:cNvSpPr>
            <a:spLocks noGrp="1"/>
          </p:cNvSpPr>
          <p:nvPr>
            <p:ph idx="1"/>
          </p:nvPr>
        </p:nvSpPr>
        <p:spPr>
          <a:xfrm>
            <a:off x="581193" y="1956390"/>
            <a:ext cx="11029615" cy="4396991"/>
          </a:xfrm>
        </p:spPr>
        <p:txBody>
          <a:bodyPr>
            <a:normAutofit/>
          </a:bodyPr>
          <a:lstStyle/>
          <a:p>
            <a:pPr>
              <a:buFont typeface="Wingdings" pitchFamily="2" charset="2"/>
              <a:buChar char="q"/>
            </a:pPr>
            <a:r>
              <a:rPr lang="en-US" altLang="en-US" sz="2200" dirty="0">
                <a:latin typeface="+mj-lt"/>
              </a:rPr>
              <a:t>Unified Modeling Language </a:t>
            </a:r>
          </a:p>
          <a:p>
            <a:pPr algn="just">
              <a:buFont typeface="Wingdings" pitchFamily="2" charset="2"/>
              <a:buChar char="q"/>
            </a:pPr>
            <a:r>
              <a:rPr lang="en-US" altLang="en-US" sz="2200" dirty="0">
                <a:latin typeface="+mj-lt"/>
              </a:rPr>
              <a:t>UML is a standardized general-purpose modeling language in the field of </a:t>
            </a:r>
            <a:r>
              <a:rPr lang="en-US" altLang="en-US" sz="2200" b="1" dirty="0">
                <a:latin typeface="+mj-lt"/>
              </a:rPr>
              <a:t>software engineering</a:t>
            </a:r>
            <a:r>
              <a:rPr lang="en-US" altLang="en-US" sz="2200" dirty="0">
                <a:latin typeface="+mj-lt"/>
              </a:rPr>
              <a:t>. The standard is managed, and was created by, the Object Management Group (OMG) (</a:t>
            </a:r>
            <a:r>
              <a:rPr lang="en-US" altLang="en-US" sz="2200" dirty="0">
                <a:latin typeface="+mj-lt"/>
                <a:hlinkClick r:id="rId3"/>
              </a:rPr>
              <a:t>http://www.omg.org/</a:t>
            </a:r>
            <a:r>
              <a:rPr lang="en-US" altLang="en-US" sz="2200" dirty="0">
                <a:latin typeface="+mj-lt"/>
              </a:rPr>
              <a:t>)</a:t>
            </a:r>
          </a:p>
          <a:p>
            <a:pPr>
              <a:buFont typeface="Wingdings" pitchFamily="2" charset="2"/>
              <a:buChar char="q"/>
            </a:pPr>
            <a:r>
              <a:rPr lang="en-US" altLang="en-US" sz="2200" dirty="0">
                <a:latin typeface="+mj-lt"/>
              </a:rPr>
              <a:t>UML website: </a:t>
            </a:r>
            <a:r>
              <a:rPr lang="en-US" altLang="en-US" sz="2200" dirty="0">
                <a:latin typeface="+mj-lt"/>
                <a:hlinkClick r:id="rId4"/>
              </a:rPr>
              <a:t>http://www.uml.org</a:t>
            </a:r>
            <a:endParaRPr lang="en-US" altLang="en-US" sz="2200" dirty="0">
              <a:latin typeface="+mj-lt"/>
            </a:endParaRPr>
          </a:p>
          <a:p>
            <a:pPr>
              <a:buFont typeface="Wingdings" pitchFamily="2" charset="2"/>
              <a:buChar char="q"/>
            </a:pPr>
            <a:r>
              <a:rPr lang="en-US" altLang="en-US" sz="2200" dirty="0">
                <a:latin typeface="+mj-lt"/>
                <a:cs typeface="Times New Roman" panose="02020603050405020304" pitchFamily="18" charset="0"/>
              </a:rPr>
              <a:t>Increase understanding/communication of product to customers and developers</a:t>
            </a:r>
          </a:p>
          <a:p>
            <a:pPr>
              <a:buFont typeface="Wingdings" pitchFamily="2" charset="2"/>
              <a:buChar char="q"/>
            </a:pPr>
            <a:r>
              <a:rPr lang="en-US" altLang="en-US" sz="2200" dirty="0">
                <a:latin typeface="+mj-lt"/>
                <a:cs typeface="Times New Roman" panose="02020603050405020304" pitchFamily="18" charset="0"/>
              </a:rPr>
              <a:t>Support for UML in many software packages today (e.g., </a:t>
            </a:r>
            <a:r>
              <a:rPr lang="en-US" altLang="en-US" sz="2200" dirty="0" err="1">
                <a:latin typeface="+mj-lt"/>
                <a:cs typeface="Times New Roman" panose="02020603050405020304" pitchFamily="18" charset="0"/>
              </a:rPr>
              <a:t>UMLet</a:t>
            </a:r>
            <a:r>
              <a:rPr lang="en-US" altLang="en-US" sz="2200" dirty="0">
                <a:latin typeface="+mj-lt"/>
                <a:cs typeface="Times New Roman" panose="02020603050405020304" pitchFamily="18" charset="0"/>
              </a:rPr>
              <a:t>, Rational Rose, </a:t>
            </a:r>
            <a:r>
              <a:rPr lang="en-US" altLang="en-US" sz="2200" dirty="0" err="1">
                <a:latin typeface="+mj-lt"/>
                <a:cs typeface="Times New Roman" panose="02020603050405020304" pitchFamily="18" charset="0"/>
              </a:rPr>
              <a:t>ArgoUML</a:t>
            </a:r>
            <a:r>
              <a:rPr lang="en-US" altLang="en-US" sz="2200" dirty="0">
                <a:latin typeface="+mj-lt"/>
                <a:cs typeface="Times New Roman" panose="02020603050405020304" pitchFamily="18" charset="0"/>
              </a:rPr>
              <a:t>, etc.)</a:t>
            </a:r>
            <a:endParaRPr lang="en-US" sz="2200" dirty="0">
              <a:solidFill>
                <a:srgbClr val="0070C0"/>
              </a:solidFill>
              <a:latin typeface="+mj-lt"/>
            </a:endParaRPr>
          </a:p>
          <a:p>
            <a:pPr>
              <a:buFont typeface="Wingdings" pitchFamily="2" charset="2"/>
              <a:buChar char="q"/>
            </a:pPr>
            <a:endParaRPr lang="en-US" sz="2200" dirty="0">
              <a:solidFill>
                <a:srgbClr val="0070C0"/>
              </a:solidFill>
              <a:latin typeface="+mj-lt"/>
            </a:endParaRPr>
          </a:p>
        </p:txBody>
      </p:sp>
      <p:sp>
        <p:nvSpPr>
          <p:cNvPr id="7" name="Content Placeholder 3">
            <a:extLst>
              <a:ext uri="{FF2B5EF4-FFF2-40B4-BE49-F238E27FC236}">
                <a16:creationId xmlns:a16="http://schemas.microsoft.com/office/drawing/2014/main" id="{BCED6EE3-0EF5-4B66-89AA-4CFD256E6494}"/>
              </a:ext>
            </a:extLst>
          </p:cNvPr>
          <p:cNvSpPr txBox="1">
            <a:spLocks/>
          </p:cNvSpPr>
          <p:nvPr/>
        </p:nvSpPr>
        <p:spPr>
          <a:xfrm>
            <a:off x="770638" y="2034654"/>
            <a:ext cx="10265957" cy="101380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 typeface="Wingdings" pitchFamily="2" charset="2"/>
              <a:buChar char="q"/>
            </a:pPr>
            <a:endParaRPr lang="en-GB" altLang="en-US" sz="2400" dirty="0">
              <a:latin typeface="+mj-lt"/>
            </a:endParaRPr>
          </a:p>
        </p:txBody>
      </p:sp>
      <p:sp>
        <p:nvSpPr>
          <p:cNvPr id="8" name="Content Placeholder 2">
            <a:extLst>
              <a:ext uri="{FF2B5EF4-FFF2-40B4-BE49-F238E27FC236}">
                <a16:creationId xmlns:a16="http://schemas.microsoft.com/office/drawing/2014/main" id="{5B4D0964-80B1-4F58-AF22-C06EF6CC1F77}"/>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9" name="Slide Number Placeholder 3">
            <a:extLst>
              <a:ext uri="{FF2B5EF4-FFF2-40B4-BE49-F238E27FC236}">
                <a16:creationId xmlns:a16="http://schemas.microsoft.com/office/drawing/2014/main" id="{AE70E0DC-0355-4316-8A5C-693134850759}"/>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a:t>
            </a:fld>
            <a:r>
              <a:rPr lang="en-US" sz="1400" b="1" dirty="0"/>
              <a:t> </a:t>
            </a:r>
          </a:p>
        </p:txBody>
      </p:sp>
      <p:sp>
        <p:nvSpPr>
          <p:cNvPr id="3" name="Rectangle 2" descr="M. Mhahudul Hasan">
            <a:extLst>
              <a:ext uri="{FF2B5EF4-FFF2-40B4-BE49-F238E27FC236}">
                <a16:creationId xmlns:a16="http://schemas.microsoft.com/office/drawing/2014/main" id="{9B95F77F-F7AD-4EBA-A811-89DFEC92865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1AC1F2F1-8C54-42D7-A54A-158635EB882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6" name="Rectangle 5" descr="M. Mhahudul Hasan">
            <a:extLst>
              <a:ext uri="{FF2B5EF4-FFF2-40B4-BE49-F238E27FC236}">
                <a16:creationId xmlns:a16="http://schemas.microsoft.com/office/drawing/2014/main" id="{FEBECDBF-E779-43EB-8672-CC48B1B730E7}"/>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2841233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C8075-1D2B-7B93-83D2-1E5A3F899880}"/>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3B32BF2A-1CB2-7E98-3D23-EE29497CCD52}"/>
              </a:ext>
            </a:extLst>
          </p:cNvPr>
          <p:cNvSpPr>
            <a:spLocks noGrp="1"/>
          </p:cNvSpPr>
          <p:nvPr>
            <p:ph type="title"/>
          </p:nvPr>
        </p:nvSpPr>
        <p:spPr>
          <a:xfrm>
            <a:off x="581193" y="729658"/>
            <a:ext cx="11029616" cy="971551"/>
          </a:xfrm>
        </p:spPr>
        <p:txBody>
          <a:bodyPr/>
          <a:lstStyle/>
          <a:p>
            <a:r>
              <a:rPr lang="en-US" dirty="0"/>
              <a:t>Why Use UML</a:t>
            </a:r>
          </a:p>
        </p:txBody>
      </p:sp>
      <p:sp>
        <p:nvSpPr>
          <p:cNvPr id="10" name="Text Placeholder 9">
            <a:extLst>
              <a:ext uri="{FF2B5EF4-FFF2-40B4-BE49-F238E27FC236}">
                <a16:creationId xmlns:a16="http://schemas.microsoft.com/office/drawing/2014/main" id="{2F550BDA-F88B-FA13-9B23-36F5AB6C43E3}"/>
              </a:ext>
            </a:extLst>
          </p:cNvPr>
          <p:cNvSpPr>
            <a:spLocks noGrp="1"/>
          </p:cNvSpPr>
          <p:nvPr>
            <p:ph type="body" idx="1"/>
          </p:nvPr>
        </p:nvSpPr>
        <p:spPr>
          <a:xfrm>
            <a:off x="502919" y="2250892"/>
            <a:ext cx="5471375" cy="536005"/>
          </a:xfrm>
        </p:spPr>
        <p:txBody>
          <a:bodyPr/>
          <a:lstStyle/>
          <a:p>
            <a:r>
              <a:rPr lang="en-US" sz="2400" b="1" dirty="0">
                <a:solidFill>
                  <a:schemeClr val="tx2"/>
                </a:solidFill>
                <a:cs typeface="Times New Roman" pitchFamily="18" charset="0"/>
              </a:rPr>
              <a:t>The UML is a language for </a:t>
            </a:r>
            <a:r>
              <a:rPr lang="en-US" sz="2400" b="1" dirty="0">
                <a:solidFill>
                  <a:srgbClr val="C00000"/>
                </a:solidFill>
                <a:cs typeface="Times New Roman" pitchFamily="18" charset="0"/>
              </a:rPr>
              <a:t>Visualizing</a:t>
            </a:r>
            <a:endParaRPr lang="en-US" sz="2400" b="1" dirty="0">
              <a:solidFill>
                <a:srgbClr val="C00000"/>
              </a:solidFill>
            </a:endParaRPr>
          </a:p>
        </p:txBody>
      </p:sp>
      <p:sp>
        <p:nvSpPr>
          <p:cNvPr id="11" name="Content Placeholder 10">
            <a:extLst>
              <a:ext uri="{FF2B5EF4-FFF2-40B4-BE49-F238E27FC236}">
                <a16:creationId xmlns:a16="http://schemas.microsoft.com/office/drawing/2014/main" id="{BF4DEE37-28AA-55E8-FDCB-1831368A227F}"/>
              </a:ext>
            </a:extLst>
          </p:cNvPr>
          <p:cNvSpPr>
            <a:spLocks noGrp="1"/>
          </p:cNvSpPr>
          <p:nvPr>
            <p:ph sz="half" idx="2"/>
          </p:nvPr>
        </p:nvSpPr>
        <p:spPr/>
        <p:txBody>
          <a:bodyPr>
            <a:normAutofit/>
          </a:bodyPr>
          <a:lstStyle/>
          <a:p>
            <a:pPr algn="just" eaLnBrk="1" hangingPunct="1"/>
            <a:r>
              <a:rPr lang="en-US" altLang="en-US" sz="2200" dirty="0">
                <a:solidFill>
                  <a:srgbClr val="000000"/>
                </a:solidFill>
                <a:cs typeface="Times New Roman" panose="02020603050405020304" pitchFamily="18" charset="0"/>
              </a:rPr>
              <a:t>Some things are best modeled </a:t>
            </a:r>
            <a:r>
              <a:rPr lang="en-US" altLang="en-US" sz="2200" dirty="0">
                <a:solidFill>
                  <a:srgbClr val="C00000"/>
                </a:solidFill>
                <a:cs typeface="Times New Roman" panose="02020603050405020304" pitchFamily="18" charset="0"/>
              </a:rPr>
              <a:t>textually</a:t>
            </a:r>
            <a:r>
              <a:rPr lang="en-US" altLang="en-US" sz="2200" dirty="0">
                <a:solidFill>
                  <a:srgbClr val="000000"/>
                </a:solidFill>
                <a:cs typeface="Times New Roman" panose="02020603050405020304" pitchFamily="18" charset="0"/>
              </a:rPr>
              <a:t>; others </a:t>
            </a:r>
            <a:r>
              <a:rPr lang="en-US" altLang="en-US" sz="2200" dirty="0">
                <a:solidFill>
                  <a:srgbClr val="C00000"/>
                </a:solidFill>
                <a:cs typeface="Times New Roman" panose="02020603050405020304" pitchFamily="18" charset="0"/>
              </a:rPr>
              <a:t>graphically</a:t>
            </a:r>
            <a:r>
              <a:rPr lang="en-US" altLang="en-US" sz="2200" dirty="0">
                <a:solidFill>
                  <a:srgbClr val="000000"/>
                </a:solidFill>
                <a:cs typeface="Times New Roman" panose="02020603050405020304" pitchFamily="18" charset="0"/>
              </a:rPr>
              <a:t>. </a:t>
            </a:r>
          </a:p>
          <a:p>
            <a:pPr algn="just" eaLnBrk="1" hangingPunct="1"/>
            <a:r>
              <a:rPr lang="en-US" altLang="en-US" sz="2200" dirty="0">
                <a:solidFill>
                  <a:srgbClr val="000000"/>
                </a:solidFill>
                <a:cs typeface="Times New Roman" panose="02020603050405020304" pitchFamily="18" charset="0"/>
              </a:rPr>
              <a:t>One developer can write a model in the UML, and another developer, or even another tool, can interpret that model unambiguously</a:t>
            </a:r>
            <a:endParaRPr lang="en-US" altLang="en-US" sz="2200" dirty="0"/>
          </a:p>
        </p:txBody>
      </p:sp>
      <p:sp>
        <p:nvSpPr>
          <p:cNvPr id="12" name="Text Placeholder 11">
            <a:extLst>
              <a:ext uri="{FF2B5EF4-FFF2-40B4-BE49-F238E27FC236}">
                <a16:creationId xmlns:a16="http://schemas.microsoft.com/office/drawing/2014/main" id="{C69D7C01-797D-EDFE-7B3F-38E3D94B78B4}"/>
              </a:ext>
            </a:extLst>
          </p:cNvPr>
          <p:cNvSpPr>
            <a:spLocks noGrp="1"/>
          </p:cNvSpPr>
          <p:nvPr>
            <p:ph type="body" sz="quarter" idx="3"/>
          </p:nvPr>
        </p:nvSpPr>
        <p:spPr>
          <a:xfrm>
            <a:off x="6139435" y="2250892"/>
            <a:ext cx="5471374" cy="553373"/>
          </a:xfrm>
        </p:spPr>
        <p:txBody>
          <a:bodyPr/>
          <a:lstStyle/>
          <a:p>
            <a:r>
              <a:rPr lang="en-US" sz="2400" b="1" dirty="0">
                <a:solidFill>
                  <a:schemeClr val="tx2"/>
                </a:solidFill>
                <a:cs typeface="Times New Roman" pitchFamily="18" charset="0"/>
              </a:rPr>
              <a:t>The UML is a language for </a:t>
            </a:r>
            <a:r>
              <a:rPr lang="en-US" sz="2400" b="1" dirty="0">
                <a:solidFill>
                  <a:srgbClr val="C00000"/>
                </a:solidFill>
                <a:cs typeface="Times New Roman" pitchFamily="18" charset="0"/>
              </a:rPr>
              <a:t>Specifying</a:t>
            </a:r>
            <a:endParaRPr lang="en-US" sz="2400" b="1" dirty="0">
              <a:solidFill>
                <a:srgbClr val="C00000"/>
              </a:solidFill>
            </a:endParaRPr>
          </a:p>
        </p:txBody>
      </p:sp>
      <p:sp>
        <p:nvSpPr>
          <p:cNvPr id="13" name="Content Placeholder 12">
            <a:extLst>
              <a:ext uri="{FF2B5EF4-FFF2-40B4-BE49-F238E27FC236}">
                <a16:creationId xmlns:a16="http://schemas.microsoft.com/office/drawing/2014/main" id="{10CC7C1D-E79E-59E2-6A52-8F9E6F3176BF}"/>
              </a:ext>
            </a:extLst>
          </p:cNvPr>
          <p:cNvSpPr>
            <a:spLocks noGrp="1"/>
          </p:cNvSpPr>
          <p:nvPr>
            <p:ph sz="quarter" idx="4"/>
          </p:nvPr>
        </p:nvSpPr>
        <p:spPr/>
        <p:txBody>
          <a:bodyPr>
            <a:normAutofit/>
          </a:bodyPr>
          <a:lstStyle/>
          <a:p>
            <a:pPr algn="just" eaLnBrk="1" hangingPunct="1"/>
            <a:r>
              <a:rPr lang="en-US" altLang="en-US" sz="2200" dirty="0">
                <a:solidFill>
                  <a:schemeClr val="tx1"/>
                </a:solidFill>
                <a:cs typeface="Times New Roman" panose="02020603050405020304" pitchFamily="18" charset="0"/>
              </a:rPr>
              <a:t>Specifying means building models that are </a:t>
            </a:r>
            <a:r>
              <a:rPr lang="en-US" altLang="en-US" sz="2200" dirty="0">
                <a:solidFill>
                  <a:srgbClr val="C00000"/>
                </a:solidFill>
                <a:cs typeface="Times New Roman" panose="02020603050405020304" pitchFamily="18" charset="0"/>
              </a:rPr>
              <a:t>precise</a:t>
            </a:r>
            <a:r>
              <a:rPr lang="en-US" altLang="en-US" sz="2200" dirty="0">
                <a:solidFill>
                  <a:schemeClr val="tx1"/>
                </a:solidFill>
                <a:cs typeface="Times New Roman" panose="02020603050405020304" pitchFamily="18" charset="0"/>
              </a:rPr>
              <a:t>, </a:t>
            </a:r>
            <a:r>
              <a:rPr lang="en-US" altLang="en-US" sz="2200" dirty="0">
                <a:solidFill>
                  <a:srgbClr val="C00000"/>
                </a:solidFill>
                <a:cs typeface="Times New Roman" panose="02020603050405020304" pitchFamily="18" charset="0"/>
              </a:rPr>
              <a:t>unambiguous</a:t>
            </a:r>
            <a:r>
              <a:rPr lang="en-US" altLang="en-US" sz="2200" dirty="0">
                <a:solidFill>
                  <a:schemeClr val="tx1"/>
                </a:solidFill>
                <a:cs typeface="Times New Roman" panose="02020603050405020304" pitchFamily="18" charset="0"/>
              </a:rPr>
              <a:t>, and </a:t>
            </a:r>
            <a:r>
              <a:rPr lang="en-US" altLang="en-US" sz="2200" dirty="0">
                <a:solidFill>
                  <a:srgbClr val="C00000"/>
                </a:solidFill>
                <a:cs typeface="Times New Roman" panose="02020603050405020304" pitchFamily="18" charset="0"/>
              </a:rPr>
              <a:t>complete</a:t>
            </a:r>
          </a:p>
          <a:p>
            <a:pPr algn="just" eaLnBrk="1" hangingPunct="1"/>
            <a:r>
              <a:rPr lang="en-US" altLang="en-US" sz="2200" dirty="0">
                <a:solidFill>
                  <a:schemeClr val="tx1"/>
                </a:solidFill>
              </a:rPr>
              <a:t>In particular, the UML addresses the specification of all the important analysis, design, and implementation decisions that must be made in developing and deploying a software-intensive system.</a:t>
            </a:r>
          </a:p>
        </p:txBody>
      </p:sp>
      <p:sp>
        <p:nvSpPr>
          <p:cNvPr id="7" name="Content Placeholder 3">
            <a:extLst>
              <a:ext uri="{FF2B5EF4-FFF2-40B4-BE49-F238E27FC236}">
                <a16:creationId xmlns:a16="http://schemas.microsoft.com/office/drawing/2014/main" id="{3169C39B-F1D2-93CC-4340-778585D9FFB8}"/>
              </a:ext>
            </a:extLst>
          </p:cNvPr>
          <p:cNvSpPr txBox="1">
            <a:spLocks/>
          </p:cNvSpPr>
          <p:nvPr/>
        </p:nvSpPr>
        <p:spPr>
          <a:xfrm>
            <a:off x="516194" y="3687097"/>
            <a:ext cx="11220994" cy="231549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 typeface="Wingdings" pitchFamily="2" charset="2"/>
              <a:buChar char="q"/>
            </a:pPr>
            <a:endParaRPr lang="en-GB" altLang="en-US" sz="2400" dirty="0">
              <a:latin typeface="+mj-lt"/>
            </a:endParaRPr>
          </a:p>
        </p:txBody>
      </p:sp>
      <p:sp>
        <p:nvSpPr>
          <p:cNvPr id="8" name="Content Placeholder 2">
            <a:extLst>
              <a:ext uri="{FF2B5EF4-FFF2-40B4-BE49-F238E27FC236}">
                <a16:creationId xmlns:a16="http://schemas.microsoft.com/office/drawing/2014/main" id="{08C067D0-A177-2F34-CE36-94F788FAEAE4}"/>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9" name="Slide Number Placeholder 3">
            <a:extLst>
              <a:ext uri="{FF2B5EF4-FFF2-40B4-BE49-F238E27FC236}">
                <a16:creationId xmlns:a16="http://schemas.microsoft.com/office/drawing/2014/main" id="{24001B84-BDD5-A098-181B-85A05DD4C6E7}"/>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a:t>
            </a:fld>
            <a:r>
              <a:rPr lang="en-US" sz="1400" b="1" dirty="0"/>
              <a:t> </a:t>
            </a:r>
          </a:p>
        </p:txBody>
      </p:sp>
      <p:sp>
        <p:nvSpPr>
          <p:cNvPr id="3" name="Rectangle 2" descr="M. Mhahudul Hasan">
            <a:extLst>
              <a:ext uri="{FF2B5EF4-FFF2-40B4-BE49-F238E27FC236}">
                <a16:creationId xmlns:a16="http://schemas.microsoft.com/office/drawing/2014/main" id="{26341F63-199E-8835-271E-62D16F0C04B1}"/>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F2A462F0-134B-1D23-460E-A81E1A9B28BF}"/>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6" name="Rectangle 5" descr="M. Mhahudul Hasan">
            <a:extLst>
              <a:ext uri="{FF2B5EF4-FFF2-40B4-BE49-F238E27FC236}">
                <a16:creationId xmlns:a16="http://schemas.microsoft.com/office/drawing/2014/main" id="{3C109988-9D55-341F-E2E2-1442030FF22F}"/>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1617628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1AF07-C280-3EB7-C529-07E492CF62A6}"/>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C8CB097D-325D-94C7-7AD0-3FCAE180C5E2}"/>
              </a:ext>
            </a:extLst>
          </p:cNvPr>
          <p:cNvSpPr>
            <a:spLocks noGrp="1"/>
          </p:cNvSpPr>
          <p:nvPr>
            <p:ph type="title"/>
          </p:nvPr>
        </p:nvSpPr>
        <p:spPr>
          <a:xfrm>
            <a:off x="581193" y="729658"/>
            <a:ext cx="11029616" cy="971551"/>
          </a:xfrm>
        </p:spPr>
        <p:txBody>
          <a:bodyPr/>
          <a:lstStyle/>
          <a:p>
            <a:r>
              <a:rPr lang="en-US" dirty="0"/>
              <a:t>Why Use UML</a:t>
            </a:r>
          </a:p>
        </p:txBody>
      </p:sp>
      <p:sp>
        <p:nvSpPr>
          <p:cNvPr id="10" name="Text Placeholder 9">
            <a:extLst>
              <a:ext uri="{FF2B5EF4-FFF2-40B4-BE49-F238E27FC236}">
                <a16:creationId xmlns:a16="http://schemas.microsoft.com/office/drawing/2014/main" id="{3B8BAACD-D8F2-7155-9F37-B6A9288CAFE5}"/>
              </a:ext>
            </a:extLst>
          </p:cNvPr>
          <p:cNvSpPr>
            <a:spLocks noGrp="1"/>
          </p:cNvSpPr>
          <p:nvPr>
            <p:ph type="body" idx="1"/>
          </p:nvPr>
        </p:nvSpPr>
        <p:spPr>
          <a:xfrm>
            <a:off x="276447" y="2250892"/>
            <a:ext cx="5697847" cy="536005"/>
          </a:xfrm>
        </p:spPr>
        <p:txBody>
          <a:bodyPr/>
          <a:lstStyle/>
          <a:p>
            <a:pPr algn="just"/>
            <a:r>
              <a:rPr lang="en-US" sz="2300" b="1" dirty="0">
                <a:solidFill>
                  <a:schemeClr val="tx2"/>
                </a:solidFill>
                <a:cs typeface="Times New Roman" pitchFamily="18" charset="0"/>
              </a:rPr>
              <a:t>The UML is a language for </a:t>
            </a:r>
            <a:r>
              <a:rPr lang="en-US" sz="2300" b="1" dirty="0">
                <a:solidFill>
                  <a:srgbClr val="C00000"/>
                </a:solidFill>
                <a:cs typeface="Times New Roman" pitchFamily="18" charset="0"/>
              </a:rPr>
              <a:t>Constructing</a:t>
            </a:r>
            <a:endParaRPr lang="en-US" sz="2300" b="1" dirty="0">
              <a:solidFill>
                <a:srgbClr val="C00000"/>
              </a:solidFill>
            </a:endParaRPr>
          </a:p>
        </p:txBody>
      </p:sp>
      <p:sp>
        <p:nvSpPr>
          <p:cNvPr id="11" name="Content Placeholder 10">
            <a:extLst>
              <a:ext uri="{FF2B5EF4-FFF2-40B4-BE49-F238E27FC236}">
                <a16:creationId xmlns:a16="http://schemas.microsoft.com/office/drawing/2014/main" id="{EC6280C3-089D-588B-E991-4D1D29EAB2F5}"/>
              </a:ext>
            </a:extLst>
          </p:cNvPr>
          <p:cNvSpPr>
            <a:spLocks noGrp="1"/>
          </p:cNvSpPr>
          <p:nvPr>
            <p:ph sz="half" idx="2"/>
          </p:nvPr>
        </p:nvSpPr>
        <p:spPr/>
        <p:txBody>
          <a:bodyPr>
            <a:normAutofit/>
          </a:bodyPr>
          <a:lstStyle/>
          <a:p>
            <a:pPr algn="just" eaLnBrk="1" hangingPunct="1"/>
            <a:r>
              <a:rPr lang="en-US" altLang="en-US" sz="2200" dirty="0">
                <a:solidFill>
                  <a:srgbClr val="000000"/>
                </a:solidFill>
                <a:cs typeface="Times New Roman" panose="02020603050405020304" pitchFamily="18" charset="0"/>
              </a:rPr>
              <a:t>UML is not a visual programming language, but its models </a:t>
            </a:r>
            <a:r>
              <a:rPr lang="en-US" altLang="en-US" sz="2200" dirty="0">
                <a:solidFill>
                  <a:srgbClr val="C00000"/>
                </a:solidFill>
                <a:cs typeface="Times New Roman" panose="02020603050405020304" pitchFamily="18" charset="0"/>
              </a:rPr>
              <a:t>can be directly connected to a variety of programming languages</a:t>
            </a:r>
            <a:r>
              <a:rPr lang="en-US" altLang="en-US" sz="2200" dirty="0">
                <a:solidFill>
                  <a:srgbClr val="000000"/>
                </a:solidFill>
                <a:cs typeface="Times New Roman" panose="02020603050405020304" pitchFamily="18" charset="0"/>
              </a:rPr>
              <a:t> </a:t>
            </a:r>
          </a:p>
          <a:p>
            <a:pPr algn="just" eaLnBrk="1" hangingPunct="1"/>
            <a:r>
              <a:rPr lang="en-US" altLang="en-US" sz="2200" dirty="0">
                <a:solidFill>
                  <a:srgbClr val="000000"/>
                </a:solidFill>
                <a:cs typeface="Times New Roman" panose="02020603050405020304" pitchFamily="18" charset="0"/>
              </a:rPr>
              <a:t>It is possible to map from a model in the UML to a programming language such as </a:t>
            </a:r>
            <a:r>
              <a:rPr lang="en-US" altLang="en-US" sz="2200" dirty="0">
                <a:solidFill>
                  <a:srgbClr val="C00000"/>
                </a:solidFill>
                <a:cs typeface="Times New Roman" panose="02020603050405020304" pitchFamily="18" charset="0"/>
              </a:rPr>
              <a:t>Java, C++, or VB, or even to tables in a RDBMS</a:t>
            </a:r>
            <a:endParaRPr lang="en-US" altLang="en-US" sz="2200" dirty="0">
              <a:solidFill>
                <a:srgbClr val="C00000"/>
              </a:solidFill>
            </a:endParaRPr>
          </a:p>
        </p:txBody>
      </p:sp>
      <p:sp>
        <p:nvSpPr>
          <p:cNvPr id="12" name="Text Placeholder 11">
            <a:extLst>
              <a:ext uri="{FF2B5EF4-FFF2-40B4-BE49-F238E27FC236}">
                <a16:creationId xmlns:a16="http://schemas.microsoft.com/office/drawing/2014/main" id="{E0AFE974-287E-577D-B6FE-9F84CAB6017F}"/>
              </a:ext>
            </a:extLst>
          </p:cNvPr>
          <p:cNvSpPr>
            <a:spLocks noGrp="1"/>
          </p:cNvSpPr>
          <p:nvPr>
            <p:ph type="body" sz="quarter" idx="3"/>
          </p:nvPr>
        </p:nvSpPr>
        <p:spPr>
          <a:xfrm>
            <a:off x="6096000" y="2250892"/>
            <a:ext cx="5819553" cy="553373"/>
          </a:xfrm>
        </p:spPr>
        <p:txBody>
          <a:bodyPr/>
          <a:lstStyle/>
          <a:p>
            <a:pPr algn="just"/>
            <a:r>
              <a:rPr lang="en-US" sz="2300" b="1" dirty="0">
                <a:solidFill>
                  <a:schemeClr val="tx2"/>
                </a:solidFill>
                <a:cs typeface="Times New Roman" pitchFamily="18" charset="0"/>
              </a:rPr>
              <a:t>The UML is a language for </a:t>
            </a:r>
            <a:r>
              <a:rPr lang="en-US" sz="2300" b="1" dirty="0">
                <a:solidFill>
                  <a:srgbClr val="C00000"/>
                </a:solidFill>
                <a:cs typeface="Times New Roman" pitchFamily="18" charset="0"/>
              </a:rPr>
              <a:t>Documenting</a:t>
            </a:r>
            <a:endParaRPr lang="en-US" sz="2300" b="1" dirty="0">
              <a:solidFill>
                <a:srgbClr val="C00000"/>
              </a:solidFill>
            </a:endParaRPr>
          </a:p>
        </p:txBody>
      </p:sp>
      <p:sp>
        <p:nvSpPr>
          <p:cNvPr id="13" name="Content Placeholder 12">
            <a:extLst>
              <a:ext uri="{FF2B5EF4-FFF2-40B4-BE49-F238E27FC236}">
                <a16:creationId xmlns:a16="http://schemas.microsoft.com/office/drawing/2014/main" id="{5D66C8BB-CD49-1CC9-F357-318DB8D85A80}"/>
              </a:ext>
            </a:extLst>
          </p:cNvPr>
          <p:cNvSpPr>
            <a:spLocks noGrp="1"/>
          </p:cNvSpPr>
          <p:nvPr>
            <p:ph sz="quarter" idx="4"/>
          </p:nvPr>
        </p:nvSpPr>
        <p:spPr/>
        <p:txBody>
          <a:bodyPr>
            <a:normAutofit/>
          </a:bodyPr>
          <a:lstStyle/>
          <a:p>
            <a:pPr algn="just" eaLnBrk="1" hangingPunct="1"/>
            <a:r>
              <a:rPr lang="en-US" altLang="en-US" sz="2200" dirty="0">
                <a:solidFill>
                  <a:srgbClr val="000000"/>
                </a:solidFill>
                <a:cs typeface="Times New Roman" panose="02020603050405020304" pitchFamily="18" charset="0"/>
              </a:rPr>
              <a:t>The UML addresses the </a:t>
            </a:r>
            <a:r>
              <a:rPr lang="en-US" altLang="en-US" sz="2200" dirty="0">
                <a:solidFill>
                  <a:srgbClr val="C00000"/>
                </a:solidFill>
                <a:cs typeface="Times New Roman" panose="02020603050405020304" pitchFamily="18" charset="0"/>
              </a:rPr>
              <a:t>documentation</a:t>
            </a:r>
            <a:r>
              <a:rPr lang="en-US" altLang="en-US" sz="2200" dirty="0">
                <a:solidFill>
                  <a:srgbClr val="000000"/>
                </a:solidFill>
                <a:cs typeface="Times New Roman" panose="02020603050405020304" pitchFamily="18" charset="0"/>
              </a:rPr>
              <a:t> of a </a:t>
            </a:r>
            <a:r>
              <a:rPr lang="en-US" altLang="en-US" sz="2200" dirty="0">
                <a:solidFill>
                  <a:srgbClr val="C00000"/>
                </a:solidFill>
                <a:cs typeface="Times New Roman" panose="02020603050405020304" pitchFamily="18" charset="0"/>
              </a:rPr>
              <a:t>system’s architecture and all of its details</a:t>
            </a:r>
          </a:p>
          <a:p>
            <a:pPr algn="just" eaLnBrk="1" hangingPunct="1"/>
            <a:r>
              <a:rPr lang="en-US" altLang="en-US" sz="2200" dirty="0">
                <a:solidFill>
                  <a:srgbClr val="000000"/>
                </a:solidFill>
                <a:cs typeface="Times New Roman" panose="02020603050405020304" pitchFamily="18" charset="0"/>
              </a:rPr>
              <a:t>The UML also provides a language for expressing requirements and for tests</a:t>
            </a:r>
          </a:p>
          <a:p>
            <a:pPr algn="just" eaLnBrk="1" hangingPunct="1"/>
            <a:r>
              <a:rPr lang="en-US" altLang="en-US" sz="2200" dirty="0">
                <a:solidFill>
                  <a:srgbClr val="000000"/>
                </a:solidFill>
                <a:cs typeface="Times New Roman" panose="02020603050405020304" pitchFamily="18" charset="0"/>
              </a:rPr>
              <a:t>Finally, the UML provides a language for modeling the </a:t>
            </a:r>
            <a:r>
              <a:rPr lang="en-US" altLang="en-US" sz="2200" dirty="0">
                <a:solidFill>
                  <a:srgbClr val="C00000"/>
                </a:solidFill>
                <a:cs typeface="Times New Roman" panose="02020603050405020304" pitchFamily="18" charset="0"/>
              </a:rPr>
              <a:t>activities of project planning and release management</a:t>
            </a:r>
          </a:p>
        </p:txBody>
      </p:sp>
      <p:sp>
        <p:nvSpPr>
          <p:cNvPr id="7" name="Content Placeholder 3">
            <a:extLst>
              <a:ext uri="{FF2B5EF4-FFF2-40B4-BE49-F238E27FC236}">
                <a16:creationId xmlns:a16="http://schemas.microsoft.com/office/drawing/2014/main" id="{681DD870-7195-8531-6700-4124216B169C}"/>
              </a:ext>
            </a:extLst>
          </p:cNvPr>
          <p:cNvSpPr txBox="1">
            <a:spLocks/>
          </p:cNvSpPr>
          <p:nvPr/>
        </p:nvSpPr>
        <p:spPr>
          <a:xfrm>
            <a:off x="516194" y="3687097"/>
            <a:ext cx="11220994" cy="231549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 typeface="Wingdings" pitchFamily="2" charset="2"/>
              <a:buChar char="q"/>
            </a:pPr>
            <a:endParaRPr lang="en-GB" altLang="en-US" sz="2400" dirty="0">
              <a:latin typeface="+mj-lt"/>
            </a:endParaRPr>
          </a:p>
        </p:txBody>
      </p:sp>
      <p:sp>
        <p:nvSpPr>
          <p:cNvPr id="8" name="Content Placeholder 2">
            <a:extLst>
              <a:ext uri="{FF2B5EF4-FFF2-40B4-BE49-F238E27FC236}">
                <a16:creationId xmlns:a16="http://schemas.microsoft.com/office/drawing/2014/main" id="{46180F32-984B-E82C-7782-612D2BA7F77F}"/>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9" name="Slide Number Placeholder 3">
            <a:extLst>
              <a:ext uri="{FF2B5EF4-FFF2-40B4-BE49-F238E27FC236}">
                <a16:creationId xmlns:a16="http://schemas.microsoft.com/office/drawing/2014/main" id="{ADE23E80-87CA-4BA7-308C-8B19BBB98171}"/>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4</a:t>
            </a:fld>
            <a:r>
              <a:rPr lang="en-US" sz="1400" b="1" dirty="0"/>
              <a:t> </a:t>
            </a:r>
          </a:p>
        </p:txBody>
      </p:sp>
      <p:sp>
        <p:nvSpPr>
          <p:cNvPr id="3" name="Rectangle 2" descr="M. Mhahudul Hasan">
            <a:extLst>
              <a:ext uri="{FF2B5EF4-FFF2-40B4-BE49-F238E27FC236}">
                <a16:creationId xmlns:a16="http://schemas.microsoft.com/office/drawing/2014/main" id="{0C676798-AFBD-FA05-182A-C74E0D31B6B1}"/>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C242C087-AC55-471C-544A-659EDD1F5A38}"/>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6" name="Rectangle 5" descr="M. Mhahudul Hasan">
            <a:extLst>
              <a:ext uri="{FF2B5EF4-FFF2-40B4-BE49-F238E27FC236}">
                <a16:creationId xmlns:a16="http://schemas.microsoft.com/office/drawing/2014/main" id="{D9A63C91-D36A-109A-D533-A9287BFB731A}"/>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3762887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76981" y="598436"/>
            <a:ext cx="11029950" cy="448699"/>
          </a:xfrm>
        </p:spPr>
        <p:txBody>
          <a:bodyPr>
            <a:normAutofit fontScale="90000"/>
          </a:bodyPr>
          <a:lstStyle/>
          <a:p>
            <a:pPr algn="ctr"/>
            <a:r>
              <a:rPr lang="en-US" altLang="en-US" b="1" dirty="0">
                <a:solidFill>
                  <a:srgbClr val="0070C0"/>
                </a:solidFill>
                <a:latin typeface="Book Antiqua" pitchFamily="18" charset="0"/>
              </a:rPr>
              <a:t>Building  blocks  of  </a:t>
            </a:r>
            <a:r>
              <a:rPr lang="en-US" altLang="en-US" b="1" dirty="0" err="1">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85021" y="1176952"/>
            <a:ext cx="11272682" cy="4796145"/>
          </a:xfrm>
        </p:spPr>
        <p:txBody>
          <a:bodyPr>
            <a:noAutofit/>
          </a:bodyPr>
          <a:lstStyle/>
          <a:p>
            <a:pPr eaLnBrk="1" hangingPunct="1"/>
            <a:r>
              <a:rPr lang="en-US" altLang="en-US" sz="2400" dirty="0">
                <a:solidFill>
                  <a:srgbClr val="000000"/>
                </a:solidFill>
                <a:cs typeface="Times New Roman" panose="02020603050405020304" pitchFamily="18" charset="0"/>
              </a:rPr>
              <a:t>The vocabulary of the UML encompasses </a:t>
            </a:r>
            <a:r>
              <a:rPr lang="en-US" altLang="en-US" sz="2400" dirty="0">
                <a:solidFill>
                  <a:srgbClr val="C00000"/>
                </a:solidFill>
                <a:cs typeface="Times New Roman" panose="02020603050405020304" pitchFamily="18" charset="0"/>
              </a:rPr>
              <a:t>three</a:t>
            </a:r>
            <a:r>
              <a:rPr lang="en-US" altLang="en-US" sz="2400" dirty="0">
                <a:solidFill>
                  <a:srgbClr val="000000"/>
                </a:solidFill>
                <a:cs typeface="Times New Roman" panose="02020603050405020304" pitchFamily="18" charset="0"/>
              </a:rPr>
              <a:t> kinds of building blocks:</a:t>
            </a:r>
          </a:p>
          <a:p>
            <a:pPr marL="971550" lvl="1" indent="-514350" eaLnBrk="1" hangingPunct="1">
              <a:buFont typeface="Calibri" panose="020F0502020204030204" pitchFamily="34" charset="0"/>
              <a:buAutoNum type="arabicPeriod"/>
            </a:pPr>
            <a:r>
              <a:rPr lang="en-US" altLang="en-US" sz="2400" b="1" dirty="0">
                <a:solidFill>
                  <a:schemeClr val="accent1"/>
                </a:solidFill>
                <a:cs typeface="Times New Roman" panose="02020603050405020304" pitchFamily="18" charset="0"/>
              </a:rPr>
              <a:t>Things</a:t>
            </a:r>
            <a:r>
              <a:rPr lang="en-US" altLang="en-US" sz="2400" b="1" dirty="0">
                <a:solidFill>
                  <a:srgbClr val="000000"/>
                </a:solidFill>
                <a:cs typeface="Times New Roman" panose="02020603050405020304" pitchFamily="18" charset="0"/>
              </a:rPr>
              <a:t> </a:t>
            </a:r>
            <a:r>
              <a:rPr lang="en-US" altLang="en-US" sz="2400" dirty="0">
                <a:solidFill>
                  <a:srgbClr val="000000"/>
                </a:solidFill>
                <a:cs typeface="Times New Roman" panose="02020603050405020304" pitchFamily="18" charset="0"/>
              </a:rPr>
              <a:t>- abstractions that are the </a:t>
            </a:r>
            <a:r>
              <a:rPr lang="en-US" altLang="en-US" sz="2400" dirty="0">
                <a:solidFill>
                  <a:srgbClr val="C00000"/>
                </a:solidFill>
                <a:cs typeface="Times New Roman" panose="02020603050405020304" pitchFamily="18" charset="0"/>
              </a:rPr>
              <a:t>primary concern in a model</a:t>
            </a:r>
          </a:p>
          <a:p>
            <a:pPr lvl="3"/>
            <a:r>
              <a:rPr lang="en-US" altLang="en-US" sz="2200" dirty="0">
                <a:solidFill>
                  <a:srgbClr val="000000"/>
                </a:solidFill>
                <a:cs typeface="Times New Roman" panose="02020603050405020304" pitchFamily="18" charset="0"/>
              </a:rPr>
              <a:t>Structural things - </a:t>
            </a:r>
            <a:r>
              <a:rPr lang="en-US" sz="2400" dirty="0">
                <a:solidFill>
                  <a:srgbClr val="C00000"/>
                </a:solidFill>
                <a:latin typeface="+mj-lt"/>
              </a:rPr>
              <a:t>nouns/static parts </a:t>
            </a:r>
            <a:r>
              <a:rPr lang="en-US" sz="2400" dirty="0">
                <a:latin typeface="+mj-lt"/>
              </a:rPr>
              <a:t>of UML models</a:t>
            </a:r>
            <a:endParaRPr lang="en-US" altLang="en-US" sz="2200" dirty="0">
              <a:solidFill>
                <a:srgbClr val="000000"/>
              </a:solidFill>
              <a:cs typeface="Times New Roman" panose="02020603050405020304" pitchFamily="18" charset="0"/>
            </a:endParaRPr>
          </a:p>
          <a:p>
            <a:pPr lvl="3"/>
            <a:r>
              <a:rPr lang="en-US" altLang="en-US" sz="2400" dirty="0">
                <a:solidFill>
                  <a:srgbClr val="000000"/>
                </a:solidFill>
                <a:cs typeface="Times New Roman" panose="02020603050405020304" pitchFamily="18" charset="0"/>
              </a:rPr>
              <a:t>Behavioral things - </a:t>
            </a:r>
            <a:r>
              <a:rPr lang="en-US" sz="2400" dirty="0">
                <a:solidFill>
                  <a:srgbClr val="C00000"/>
                </a:solidFill>
                <a:latin typeface="+mj-lt"/>
              </a:rPr>
              <a:t>verbs/dynamic  parts</a:t>
            </a:r>
            <a:r>
              <a:rPr lang="en-US" sz="2400" dirty="0">
                <a:latin typeface="+mj-lt"/>
              </a:rPr>
              <a:t> of UML models</a:t>
            </a:r>
            <a:endParaRPr lang="en-US" altLang="en-US" sz="2400" dirty="0">
              <a:solidFill>
                <a:srgbClr val="000000"/>
              </a:solidFill>
              <a:cs typeface="Times New Roman" panose="02020603050405020304" pitchFamily="18" charset="0"/>
            </a:endParaRPr>
          </a:p>
          <a:p>
            <a:pPr lvl="3"/>
            <a:r>
              <a:rPr lang="en-US" altLang="en-US" sz="2400" dirty="0">
                <a:solidFill>
                  <a:srgbClr val="000000"/>
                </a:solidFill>
                <a:cs typeface="Times New Roman" panose="02020603050405020304" pitchFamily="18" charset="0"/>
              </a:rPr>
              <a:t>Grouping things - </a:t>
            </a:r>
            <a:r>
              <a:rPr lang="en-US" sz="2400" dirty="0">
                <a:solidFill>
                  <a:srgbClr val="C00000"/>
                </a:solidFill>
                <a:latin typeface="+mj-lt"/>
              </a:rPr>
              <a:t>organizational parts</a:t>
            </a:r>
            <a:r>
              <a:rPr lang="en-US" sz="2400" dirty="0">
                <a:latin typeface="+mj-lt"/>
              </a:rPr>
              <a:t> of UML models</a:t>
            </a:r>
            <a:endParaRPr lang="en-US" altLang="en-US" sz="2400" dirty="0">
              <a:solidFill>
                <a:srgbClr val="000000"/>
              </a:solidFill>
              <a:cs typeface="Times New Roman" panose="02020603050405020304" pitchFamily="18" charset="0"/>
            </a:endParaRPr>
          </a:p>
          <a:p>
            <a:pPr lvl="3"/>
            <a:r>
              <a:rPr lang="en-US" altLang="en-US" sz="2400" dirty="0">
                <a:solidFill>
                  <a:srgbClr val="000000"/>
                </a:solidFill>
                <a:cs typeface="Times New Roman" panose="02020603050405020304" pitchFamily="18" charset="0"/>
              </a:rPr>
              <a:t>Annotation things - </a:t>
            </a:r>
            <a:r>
              <a:rPr lang="en-US" sz="2400" dirty="0">
                <a:solidFill>
                  <a:srgbClr val="C00000"/>
                </a:solidFill>
                <a:latin typeface="+mj-lt"/>
              </a:rPr>
              <a:t>explanatory parts </a:t>
            </a:r>
            <a:r>
              <a:rPr lang="en-US" sz="2400" dirty="0">
                <a:latin typeface="+mj-lt"/>
              </a:rPr>
              <a:t>of UML models</a:t>
            </a:r>
            <a:endParaRPr lang="en-US" altLang="en-US" sz="2400" dirty="0"/>
          </a:p>
          <a:p>
            <a:pPr marL="971550" lvl="1" indent="-514350" eaLnBrk="1" hangingPunct="1">
              <a:buFont typeface="Calibri" panose="020F0502020204030204" pitchFamily="34" charset="0"/>
              <a:buAutoNum type="arabicPeriod"/>
            </a:pPr>
            <a:r>
              <a:rPr lang="en-US" altLang="en-US" sz="2400" b="1" dirty="0">
                <a:solidFill>
                  <a:schemeClr val="accent1"/>
                </a:solidFill>
                <a:cs typeface="Times New Roman" panose="02020603050405020304" pitchFamily="18" charset="0"/>
              </a:rPr>
              <a:t>Relationships</a:t>
            </a:r>
            <a:r>
              <a:rPr lang="en-US" altLang="en-US" sz="2400" dirty="0">
                <a:solidFill>
                  <a:srgbClr val="000000"/>
                </a:solidFill>
                <a:cs typeface="Times New Roman" panose="02020603050405020304" pitchFamily="18" charset="0"/>
              </a:rPr>
              <a:t> - </a:t>
            </a:r>
            <a:r>
              <a:rPr lang="en-US" altLang="en-US" sz="2400" dirty="0">
                <a:solidFill>
                  <a:srgbClr val="C00000"/>
                </a:solidFill>
                <a:cs typeface="Times New Roman" panose="02020603050405020304" pitchFamily="18" charset="0"/>
              </a:rPr>
              <a:t>tie the things together</a:t>
            </a:r>
          </a:p>
          <a:p>
            <a:pPr marL="971550" lvl="1" indent="-514350" eaLnBrk="1" hangingPunct="1">
              <a:buFont typeface="Calibri" panose="020F0502020204030204" pitchFamily="34" charset="0"/>
              <a:buAutoNum type="arabicPeriod"/>
            </a:pPr>
            <a:r>
              <a:rPr lang="en-US" altLang="en-US" sz="2400" b="1" dirty="0">
                <a:solidFill>
                  <a:schemeClr val="accent1"/>
                </a:solidFill>
                <a:cs typeface="Times New Roman" panose="02020603050405020304" pitchFamily="18" charset="0"/>
              </a:rPr>
              <a:t>Diagrams</a:t>
            </a:r>
            <a:r>
              <a:rPr lang="en-US" altLang="en-US" sz="2400" dirty="0">
                <a:solidFill>
                  <a:srgbClr val="000000"/>
                </a:solidFill>
                <a:cs typeface="Times New Roman" panose="02020603050405020304" pitchFamily="18" charset="0"/>
              </a:rPr>
              <a:t> - </a:t>
            </a:r>
            <a:r>
              <a:rPr lang="en-US" altLang="en-US" sz="2400" dirty="0">
                <a:solidFill>
                  <a:srgbClr val="C00000"/>
                </a:solidFill>
                <a:cs typeface="Times New Roman" panose="02020603050405020304" pitchFamily="18" charset="0"/>
              </a:rPr>
              <a:t>group collections of things </a:t>
            </a:r>
            <a:endParaRPr lang="en-US" altLang="en-US" sz="2400" dirty="0">
              <a:solidFill>
                <a:srgbClr val="C00000"/>
              </a:solidFill>
            </a:endParaRPr>
          </a:p>
        </p:txBody>
      </p:sp>
      <p:sp>
        <p:nvSpPr>
          <p:cNvPr id="7" name="Content Placeholder 2">
            <a:extLst>
              <a:ext uri="{FF2B5EF4-FFF2-40B4-BE49-F238E27FC236}">
                <a16:creationId xmlns:a16="http://schemas.microsoft.com/office/drawing/2014/main" id="{E270BC7C-B5B6-4EBE-AC33-4EAC0293B67F}"/>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8" name="Slide Number Placeholder 3">
            <a:extLst>
              <a:ext uri="{FF2B5EF4-FFF2-40B4-BE49-F238E27FC236}">
                <a16:creationId xmlns:a16="http://schemas.microsoft.com/office/drawing/2014/main" id="{FE3F35CF-5D47-4F53-910D-D2F952922ED9}"/>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5</a:t>
            </a:fld>
            <a:r>
              <a:rPr lang="en-US" sz="1400" b="1" dirty="0"/>
              <a:t> </a:t>
            </a:r>
          </a:p>
        </p:txBody>
      </p:sp>
      <p:sp>
        <p:nvSpPr>
          <p:cNvPr id="3" name="Rectangle 2" descr="M. Mhahudul Hasan">
            <a:extLst>
              <a:ext uri="{FF2B5EF4-FFF2-40B4-BE49-F238E27FC236}">
                <a16:creationId xmlns:a16="http://schemas.microsoft.com/office/drawing/2014/main" id="{CB42D865-C230-4A97-BFEF-B75CB5A1FBC8}"/>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C9A46CE8-AC10-465C-BE7E-D002EA62C158}"/>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6" name="Rectangle 5" descr="M. Mhahudul Hasan">
            <a:extLst>
              <a:ext uri="{FF2B5EF4-FFF2-40B4-BE49-F238E27FC236}">
                <a16:creationId xmlns:a16="http://schemas.microsoft.com/office/drawing/2014/main" id="{C455E74A-5F96-438F-A29D-BC9FE81E44E8}"/>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2942508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68710" y="568940"/>
            <a:ext cx="11029950" cy="596183"/>
          </a:xfrm>
        </p:spPr>
        <p:txBody>
          <a:bodyPr/>
          <a:lstStyle/>
          <a:p>
            <a:pPr algn="ctr"/>
            <a:r>
              <a:rPr lang="en-US" altLang="en-US" b="1" dirty="0">
                <a:solidFill>
                  <a:srgbClr val="0070C0"/>
                </a:solidFill>
                <a:latin typeface="Book Antiqua" pitchFamily="18" charset="0"/>
              </a:rPr>
              <a:t>Structural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412955" y="1297346"/>
            <a:ext cx="11272838" cy="1298370"/>
          </a:xfrm>
        </p:spPr>
        <p:txBody>
          <a:bodyPr>
            <a:noAutofit/>
          </a:bodyPr>
          <a:lstStyle/>
          <a:p>
            <a:pPr>
              <a:buFont typeface="Wingdings" pitchFamily="2" charset="2"/>
              <a:buChar char="q"/>
            </a:pPr>
            <a:r>
              <a:rPr lang="en-US" altLang="en-US" sz="2200" b="1" dirty="0">
                <a:solidFill>
                  <a:srgbClr val="002060"/>
                </a:solidFill>
                <a:latin typeface="+mj-lt"/>
                <a:cs typeface="Times New Roman" panose="02020603050405020304" pitchFamily="18" charset="0"/>
              </a:rPr>
              <a:t>Structural things </a:t>
            </a:r>
            <a:r>
              <a:rPr lang="en-US" altLang="en-US" sz="2200" dirty="0">
                <a:solidFill>
                  <a:srgbClr val="002060"/>
                </a:solidFill>
                <a:latin typeface="+mj-lt"/>
                <a:cs typeface="Times New Roman" panose="02020603050405020304" pitchFamily="18" charset="0"/>
              </a:rPr>
              <a:t>are the </a:t>
            </a:r>
            <a:r>
              <a:rPr lang="en-US" altLang="en-US" sz="2200" dirty="0">
                <a:solidFill>
                  <a:srgbClr val="FF0000"/>
                </a:solidFill>
                <a:latin typeface="+mj-lt"/>
                <a:cs typeface="Times New Roman" panose="02020603050405020304" pitchFamily="18" charset="0"/>
              </a:rPr>
              <a:t>nouns</a:t>
            </a:r>
            <a:r>
              <a:rPr lang="en-US" altLang="en-US" sz="2200" dirty="0">
                <a:solidFill>
                  <a:srgbClr val="002060"/>
                </a:solidFill>
                <a:latin typeface="+mj-lt"/>
                <a:cs typeface="Times New Roman" panose="02020603050405020304" pitchFamily="18" charset="0"/>
              </a:rPr>
              <a:t> of the UML model. These are the mostly </a:t>
            </a:r>
            <a:r>
              <a:rPr lang="en-US" altLang="en-US" sz="2200" dirty="0">
                <a:solidFill>
                  <a:srgbClr val="FF0000"/>
                </a:solidFill>
                <a:latin typeface="+mj-lt"/>
                <a:cs typeface="Times New Roman" panose="02020603050405020304" pitchFamily="18" charset="0"/>
              </a:rPr>
              <a:t>static parts </a:t>
            </a:r>
            <a:r>
              <a:rPr lang="en-US" altLang="en-US" sz="2200" dirty="0">
                <a:solidFill>
                  <a:srgbClr val="002060"/>
                </a:solidFill>
                <a:latin typeface="+mj-lt"/>
                <a:cs typeface="Times New Roman" panose="02020603050405020304" pitchFamily="18" charset="0"/>
              </a:rPr>
              <a:t>of a model, representing elements that are either conceptual or physical. There are </a:t>
            </a:r>
            <a:r>
              <a:rPr lang="en-US" altLang="en-US" sz="2200" b="1" dirty="0">
                <a:solidFill>
                  <a:srgbClr val="002060"/>
                </a:solidFill>
                <a:latin typeface="+mj-lt"/>
                <a:cs typeface="Times New Roman" panose="02020603050405020304" pitchFamily="18" charset="0"/>
              </a:rPr>
              <a:t>Eight</a:t>
            </a:r>
            <a:r>
              <a:rPr lang="en-US" altLang="en-US" sz="2200" dirty="0">
                <a:solidFill>
                  <a:srgbClr val="002060"/>
                </a:solidFill>
                <a:latin typeface="+mj-lt"/>
                <a:cs typeface="Times New Roman" panose="02020603050405020304" pitchFamily="18" charset="0"/>
              </a:rPr>
              <a:t> kinds of structural things.</a:t>
            </a:r>
            <a:endParaRPr lang="en-US" altLang="en-US" sz="2200" dirty="0">
              <a:solidFill>
                <a:srgbClr val="000000"/>
              </a:solidFill>
              <a:latin typeface="Bell MT" pitchFamily="18" charset="0"/>
              <a:cs typeface="Times New Roman" panose="02020603050405020304" pitchFamily="18" charset="0"/>
            </a:endParaRPr>
          </a:p>
        </p:txBody>
      </p:sp>
      <p:sp>
        <p:nvSpPr>
          <p:cNvPr id="8" name="Content Placeholder 2">
            <a:extLst>
              <a:ext uri="{FF2B5EF4-FFF2-40B4-BE49-F238E27FC236}">
                <a16:creationId xmlns:a16="http://schemas.microsoft.com/office/drawing/2014/main" id="{64B0C86C-56A9-4204-8D35-B2540A3810A8}"/>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9" name="Slide Number Placeholder 3">
            <a:extLst>
              <a:ext uri="{FF2B5EF4-FFF2-40B4-BE49-F238E27FC236}">
                <a16:creationId xmlns:a16="http://schemas.microsoft.com/office/drawing/2014/main" id="{67266698-A5E9-4121-8832-4D958DE29565}"/>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6</a:t>
            </a:fld>
            <a:r>
              <a:rPr lang="en-US" sz="1400" b="1" dirty="0"/>
              <a:t> </a:t>
            </a:r>
          </a:p>
        </p:txBody>
      </p:sp>
      <p:sp>
        <p:nvSpPr>
          <p:cNvPr id="10" name="Content Placeholder 3">
            <a:extLst>
              <a:ext uri="{FF2B5EF4-FFF2-40B4-BE49-F238E27FC236}">
                <a16:creationId xmlns:a16="http://schemas.microsoft.com/office/drawing/2014/main" id="{2BAB2F46-FDE3-4DFE-BAF7-B8C806BCD806}"/>
              </a:ext>
            </a:extLst>
          </p:cNvPr>
          <p:cNvSpPr txBox="1">
            <a:spLocks/>
          </p:cNvSpPr>
          <p:nvPr/>
        </p:nvSpPr>
        <p:spPr>
          <a:xfrm>
            <a:off x="609599" y="2600120"/>
            <a:ext cx="6336891" cy="3289402"/>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514350" indent="-514350" algn="just">
              <a:buFont typeface="Wingdings 2" panose="05020102010507070707" pitchFamily="18" charset="2"/>
              <a:buNone/>
            </a:pPr>
            <a:r>
              <a:rPr lang="en-US" altLang="en-US" sz="2200" b="1" dirty="0">
                <a:solidFill>
                  <a:srgbClr val="002060"/>
                </a:solidFill>
                <a:latin typeface="+mj-lt"/>
                <a:cs typeface="Times New Roman" panose="02020603050405020304" pitchFamily="18" charset="0"/>
              </a:rPr>
              <a:t>1.  A Class</a:t>
            </a:r>
            <a:endParaRPr lang="en-US" sz="2200" dirty="0">
              <a:solidFill>
                <a:srgbClr val="002060"/>
              </a:solidFill>
              <a:latin typeface="+mj-lt"/>
            </a:endParaRPr>
          </a:p>
          <a:p>
            <a:pPr marL="329184" indent="-329184" algn="just">
              <a:buSzPct val="100000"/>
              <a:buFont typeface="Wingdings" pitchFamily="2" charset="2"/>
              <a:buChar char="§"/>
            </a:pPr>
            <a:r>
              <a:rPr lang="en-US" sz="2200" dirty="0">
                <a:latin typeface="+mj-lt"/>
              </a:rPr>
              <a:t>A class can be defined as a template/blueprint that describes the behaviors/states that object of its type support.</a:t>
            </a:r>
          </a:p>
          <a:p>
            <a:pPr marL="329184" indent="-329184" algn="just">
              <a:buSzPct val="100000"/>
              <a:buFont typeface="Wingdings" pitchFamily="2" charset="2"/>
              <a:buChar char="§"/>
            </a:pPr>
            <a:r>
              <a:rPr lang="en-US" sz="2200" dirty="0">
                <a:latin typeface="+mj-lt"/>
              </a:rPr>
              <a:t>Description of set of objects that share the same attributes, operations, relationships and semantics</a:t>
            </a:r>
            <a:endParaRPr lang="en-US" altLang="en-US" sz="2200" dirty="0">
              <a:solidFill>
                <a:srgbClr val="000000"/>
              </a:solidFill>
              <a:latin typeface="Bell MT" pitchFamily="18" charset="0"/>
              <a:cs typeface="Times New Roman" panose="02020603050405020304" pitchFamily="18" charset="0"/>
            </a:endParaRPr>
          </a:p>
        </p:txBody>
      </p:sp>
      <p:sp>
        <p:nvSpPr>
          <p:cNvPr id="3" name="Rectangle 2" descr="M. Mhahudul Hasan">
            <a:extLst>
              <a:ext uri="{FF2B5EF4-FFF2-40B4-BE49-F238E27FC236}">
                <a16:creationId xmlns:a16="http://schemas.microsoft.com/office/drawing/2014/main" id="{C5475D20-342C-41BB-8250-E68187CE4EB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F5F8FB00-8582-4BE0-8906-00C24B8B6E6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7" name="Rectangle 6" descr="M. Mhahudul Hasan">
            <a:extLst>
              <a:ext uri="{FF2B5EF4-FFF2-40B4-BE49-F238E27FC236}">
                <a16:creationId xmlns:a16="http://schemas.microsoft.com/office/drawing/2014/main" id="{D6FA673E-8FF6-4B6B-9A7C-8366AA1C8DA7}"/>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graphicFrame>
        <p:nvGraphicFramePr>
          <p:cNvPr id="11" name="Table 11">
            <a:extLst>
              <a:ext uri="{FF2B5EF4-FFF2-40B4-BE49-F238E27FC236}">
                <a16:creationId xmlns:a16="http://schemas.microsoft.com/office/drawing/2014/main" id="{7EA9AA46-70A9-4BCD-85DE-B5C29D27E563}"/>
              </a:ext>
            </a:extLst>
          </p:cNvPr>
          <p:cNvGraphicFramePr>
            <a:graphicFrameLocks noGrp="1"/>
          </p:cNvGraphicFramePr>
          <p:nvPr>
            <p:extLst>
              <p:ext uri="{D42A27DB-BD31-4B8C-83A1-F6EECF244321}">
                <p14:modId xmlns:p14="http://schemas.microsoft.com/office/powerpoint/2010/main" val="86772475"/>
              </p:ext>
            </p:extLst>
          </p:nvPr>
        </p:nvGraphicFramePr>
        <p:xfrm>
          <a:off x="7663040" y="2774766"/>
          <a:ext cx="3609386" cy="3075272"/>
        </p:xfrm>
        <a:graphic>
          <a:graphicData uri="http://schemas.openxmlformats.org/drawingml/2006/table">
            <a:tbl>
              <a:tblPr firstRow="1" bandRow="1">
                <a:tableStyleId>{5C22544A-7EE6-4342-B048-85BDC9FD1C3A}</a:tableStyleId>
              </a:tblPr>
              <a:tblGrid>
                <a:gridCol w="3609386">
                  <a:extLst>
                    <a:ext uri="{9D8B030D-6E8A-4147-A177-3AD203B41FA5}">
                      <a16:colId xmlns:a16="http://schemas.microsoft.com/office/drawing/2014/main" val="4217361331"/>
                    </a:ext>
                  </a:extLst>
                </a:gridCol>
              </a:tblGrid>
              <a:tr h="545432">
                <a:tc>
                  <a:txBody>
                    <a:bodyPr/>
                    <a:lstStyle/>
                    <a:p>
                      <a:pPr algn="ctr"/>
                      <a:r>
                        <a:rPr lang="en-US" sz="2200" dirty="0">
                          <a:solidFill>
                            <a:schemeClr val="tx1"/>
                          </a:solidFill>
                        </a:rPr>
                        <a:t>Student</a:t>
                      </a:r>
                    </a:p>
                  </a:txBody>
                  <a:tcPr>
                    <a:solidFill>
                      <a:schemeClr val="bg1">
                        <a:lumMod val="75000"/>
                      </a:schemeClr>
                    </a:solidFill>
                  </a:tcPr>
                </a:tc>
                <a:extLst>
                  <a:ext uri="{0D108BD9-81ED-4DB2-BD59-A6C34878D82A}">
                    <a16:rowId xmlns:a16="http://schemas.microsoft.com/office/drawing/2014/main" val="3854308027"/>
                  </a:ext>
                </a:extLst>
              </a:tr>
              <a:tr h="1005305">
                <a:tc>
                  <a:txBody>
                    <a:bodyPr/>
                    <a:lstStyle/>
                    <a:p>
                      <a:r>
                        <a:rPr lang="en-US" sz="2200" dirty="0"/>
                        <a:t>Name</a:t>
                      </a:r>
                    </a:p>
                    <a:p>
                      <a:r>
                        <a:rPr lang="en-US" sz="2200" dirty="0"/>
                        <a:t>ID</a:t>
                      </a:r>
                    </a:p>
                    <a:p>
                      <a:r>
                        <a:rPr lang="en-US" sz="2200" dirty="0"/>
                        <a:t>CGPA</a:t>
                      </a:r>
                    </a:p>
                    <a:p>
                      <a:r>
                        <a:rPr lang="en-US" sz="2200" dirty="0"/>
                        <a:t>DOB</a:t>
                      </a:r>
                    </a:p>
                  </a:txBody>
                  <a:tcPr>
                    <a:solidFill>
                      <a:schemeClr val="bg1">
                        <a:lumMod val="75000"/>
                      </a:schemeClr>
                    </a:solidFill>
                  </a:tcPr>
                </a:tc>
                <a:extLst>
                  <a:ext uri="{0D108BD9-81ED-4DB2-BD59-A6C34878D82A}">
                    <a16:rowId xmlns:a16="http://schemas.microsoft.com/office/drawing/2014/main" val="2232502440"/>
                  </a:ext>
                </a:extLst>
              </a:tr>
              <a:tr h="1005305">
                <a:tc>
                  <a:txBody>
                    <a:bodyPr/>
                    <a:lstStyle/>
                    <a:p>
                      <a:r>
                        <a:rPr lang="en-US" sz="2200" dirty="0"/>
                        <a:t>Study ( )</a:t>
                      </a:r>
                    </a:p>
                    <a:p>
                      <a:r>
                        <a:rPr lang="en-US" sz="2200" dirty="0"/>
                        <a:t>Play ( )</a:t>
                      </a:r>
                    </a:p>
                    <a:p>
                      <a:r>
                        <a:rPr lang="en-US" sz="2200" dirty="0"/>
                        <a:t>Eating ( )</a:t>
                      </a:r>
                    </a:p>
                  </a:txBody>
                  <a:tcPr>
                    <a:solidFill>
                      <a:schemeClr val="bg1">
                        <a:lumMod val="75000"/>
                      </a:schemeClr>
                    </a:solidFill>
                  </a:tcPr>
                </a:tc>
                <a:extLst>
                  <a:ext uri="{0D108BD9-81ED-4DB2-BD59-A6C34878D82A}">
                    <a16:rowId xmlns:a16="http://schemas.microsoft.com/office/drawing/2014/main" val="1743892626"/>
                  </a:ext>
                </a:extLst>
              </a:tr>
            </a:tbl>
          </a:graphicData>
        </a:graphic>
      </p:graphicFrame>
    </p:spTree>
    <p:extLst>
      <p:ext uri="{BB962C8B-B14F-4D97-AF65-F5344CB8AC3E}">
        <p14:creationId xmlns:p14="http://schemas.microsoft.com/office/powerpoint/2010/main" val="1034112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9716" y="598436"/>
            <a:ext cx="11029950" cy="596183"/>
          </a:xfrm>
        </p:spPr>
        <p:txBody>
          <a:bodyPr/>
          <a:lstStyle/>
          <a:p>
            <a:pPr algn="ctr"/>
            <a:r>
              <a:rPr lang="en-US" altLang="en-US" b="1" dirty="0">
                <a:solidFill>
                  <a:srgbClr val="0070C0"/>
                </a:solidFill>
                <a:latin typeface="Book Antiqua" pitchFamily="18" charset="0"/>
              </a:rPr>
              <a:t>Structural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778469" y="1402048"/>
            <a:ext cx="5553504" cy="4786106"/>
          </a:xfrm>
        </p:spPr>
        <p:txBody>
          <a:bodyPr>
            <a:normAutofit/>
          </a:bodyPr>
          <a:lstStyle/>
          <a:p>
            <a:pPr marL="514350" indent="-514350" algn="just">
              <a:buNone/>
            </a:pPr>
            <a:r>
              <a:rPr lang="en-US" altLang="en-US" sz="2200" b="1" dirty="0">
                <a:solidFill>
                  <a:srgbClr val="002060"/>
                </a:solidFill>
                <a:latin typeface="+mj-lt"/>
                <a:cs typeface="Times New Roman" panose="02020603050405020304" pitchFamily="18" charset="0"/>
              </a:rPr>
              <a:t>2.  An interface</a:t>
            </a:r>
          </a:p>
          <a:p>
            <a:pPr marL="274320" indent="-274320" algn="just">
              <a:buSzPct val="120000"/>
              <a:buFont typeface="Wingdings" pitchFamily="2" charset="2"/>
              <a:buChar char="§"/>
            </a:pPr>
            <a:r>
              <a:rPr lang="en-US" altLang="en-US" sz="2200" dirty="0">
                <a:solidFill>
                  <a:srgbClr val="002060"/>
                </a:solidFill>
                <a:latin typeface="+mj-lt"/>
                <a:cs typeface="Times New Roman" panose="02020603050405020304" pitchFamily="18" charset="0"/>
              </a:rPr>
              <a:t>Is a collection of operations that specify a</a:t>
            </a:r>
            <a:br>
              <a:rPr lang="en-US" altLang="en-US" sz="2200" dirty="0">
                <a:solidFill>
                  <a:srgbClr val="002060"/>
                </a:solidFill>
                <a:latin typeface="+mj-lt"/>
                <a:cs typeface="Times New Roman" panose="02020603050405020304" pitchFamily="18" charset="0"/>
              </a:rPr>
            </a:br>
            <a:r>
              <a:rPr lang="en-US" altLang="en-US" sz="2200" dirty="0">
                <a:solidFill>
                  <a:srgbClr val="002060"/>
                </a:solidFill>
                <a:latin typeface="+mj-lt"/>
                <a:cs typeface="Times New Roman" panose="02020603050405020304" pitchFamily="18" charset="0"/>
              </a:rPr>
              <a:t>service of a class or component. An interface therefore describes the </a:t>
            </a:r>
            <a:r>
              <a:rPr lang="en-US" altLang="en-US" sz="2200" b="1" dirty="0">
                <a:solidFill>
                  <a:srgbClr val="002060"/>
                </a:solidFill>
                <a:latin typeface="+mj-lt"/>
                <a:cs typeface="Times New Roman" panose="02020603050405020304" pitchFamily="18" charset="0"/>
              </a:rPr>
              <a:t>externally</a:t>
            </a:r>
            <a:r>
              <a:rPr lang="en-US" altLang="en-US" sz="2200" dirty="0">
                <a:solidFill>
                  <a:srgbClr val="002060"/>
                </a:solidFill>
                <a:latin typeface="+mj-lt"/>
                <a:cs typeface="Times New Roman" panose="02020603050405020304" pitchFamily="18" charset="0"/>
              </a:rPr>
              <a:t> visible</a:t>
            </a:r>
            <a:br>
              <a:rPr lang="en-US" altLang="en-US" sz="2200" dirty="0">
                <a:solidFill>
                  <a:srgbClr val="002060"/>
                </a:solidFill>
                <a:latin typeface="+mj-lt"/>
                <a:cs typeface="Times New Roman" panose="02020603050405020304" pitchFamily="18" charset="0"/>
              </a:rPr>
            </a:br>
            <a:r>
              <a:rPr lang="en-US" altLang="en-US" sz="2200" dirty="0">
                <a:solidFill>
                  <a:srgbClr val="002060"/>
                </a:solidFill>
                <a:latin typeface="+mj-lt"/>
                <a:cs typeface="Times New Roman" panose="02020603050405020304" pitchFamily="18" charset="0"/>
              </a:rPr>
              <a:t>behavior of that element.</a:t>
            </a:r>
          </a:p>
          <a:p>
            <a:pPr marL="274320" indent="-274320" algn="just">
              <a:buSzPct val="120000"/>
              <a:buFont typeface="Wingdings" pitchFamily="2" charset="2"/>
              <a:buChar char="§"/>
            </a:pPr>
            <a:r>
              <a:rPr lang="en-US" sz="2200" dirty="0">
                <a:solidFill>
                  <a:srgbClr val="FF0000"/>
                </a:solidFill>
              </a:rPr>
              <a:t>You cannot instantiate an interface</a:t>
            </a:r>
            <a:r>
              <a:rPr lang="en-US" sz="2200" dirty="0"/>
              <a:t>. </a:t>
            </a:r>
            <a:br>
              <a:rPr lang="en-US" sz="2200" dirty="0"/>
            </a:br>
            <a:r>
              <a:rPr lang="en-US" sz="2200" dirty="0"/>
              <a:t>Therefore, interface does not contain any </a:t>
            </a:r>
            <a:r>
              <a:rPr lang="en-US" sz="2200" dirty="0">
                <a:solidFill>
                  <a:srgbClr val="FF0000"/>
                </a:solidFill>
              </a:rPr>
              <a:t>constructors</a:t>
            </a:r>
            <a:r>
              <a:rPr lang="en-US" sz="2200" dirty="0"/>
              <a:t>.</a:t>
            </a:r>
          </a:p>
          <a:p>
            <a:pPr algn="just"/>
            <a:r>
              <a:rPr lang="en-US" sz="2200" dirty="0"/>
              <a:t>An interface is not extended by a class; </a:t>
            </a:r>
            <a:br>
              <a:rPr lang="en-US" sz="2200" dirty="0"/>
            </a:br>
            <a:r>
              <a:rPr lang="en-US" sz="2200" dirty="0"/>
              <a:t>it is implemented by a class (unchanged in implementation).</a:t>
            </a:r>
          </a:p>
          <a:p>
            <a:pPr algn="just"/>
            <a:r>
              <a:rPr lang="en-US" sz="2200" dirty="0"/>
              <a:t>An interface can extend multiple interfaces.</a:t>
            </a:r>
            <a:endParaRPr lang="en-US" altLang="en-US" sz="2200" dirty="0">
              <a:latin typeface="+mj-lt"/>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6853" y="2201070"/>
            <a:ext cx="4532813"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a:extLst>
              <a:ext uri="{FF2B5EF4-FFF2-40B4-BE49-F238E27FC236}">
                <a16:creationId xmlns:a16="http://schemas.microsoft.com/office/drawing/2014/main" id="{F8C85E40-E985-4017-9777-7DC1A8C70BD1}"/>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Slide Number Placeholder 3">
            <a:extLst>
              <a:ext uri="{FF2B5EF4-FFF2-40B4-BE49-F238E27FC236}">
                <a16:creationId xmlns:a16="http://schemas.microsoft.com/office/drawing/2014/main" id="{78526A46-4796-415D-89B9-8DDE8DC11912}"/>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7</a:t>
            </a:fld>
            <a:r>
              <a:rPr lang="en-US" sz="1400" b="1" dirty="0"/>
              <a:t> </a:t>
            </a:r>
          </a:p>
        </p:txBody>
      </p:sp>
      <p:sp>
        <p:nvSpPr>
          <p:cNvPr id="5" name="Rectangle 4" descr="M. Mhahudul Hasan">
            <a:extLst>
              <a:ext uri="{FF2B5EF4-FFF2-40B4-BE49-F238E27FC236}">
                <a16:creationId xmlns:a16="http://schemas.microsoft.com/office/drawing/2014/main" id="{9FEEEE52-8E24-4C13-8CF8-EA7FE198F60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7" name="Rectangle 6" descr="M. Mhahudul Hasan">
            <a:extLst>
              <a:ext uri="{FF2B5EF4-FFF2-40B4-BE49-F238E27FC236}">
                <a16:creationId xmlns:a16="http://schemas.microsoft.com/office/drawing/2014/main" id="{8A638FF4-5FD7-4418-9CA1-2EC90FDA3506}"/>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13" name="Rectangle 12" descr="M. Mhahudul Hasan">
            <a:extLst>
              <a:ext uri="{FF2B5EF4-FFF2-40B4-BE49-F238E27FC236}">
                <a16:creationId xmlns:a16="http://schemas.microsoft.com/office/drawing/2014/main" id="{5EE1CC74-EF92-46B2-B692-12C640FD760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693297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1" y="509947"/>
            <a:ext cx="11029950" cy="551938"/>
          </a:xfrm>
        </p:spPr>
        <p:txBody>
          <a:bodyPr/>
          <a:lstStyle/>
          <a:p>
            <a:pPr algn="ctr"/>
            <a:r>
              <a:rPr lang="en-US" altLang="en-US" b="1" dirty="0">
                <a:solidFill>
                  <a:srgbClr val="0070C0"/>
                </a:solidFill>
                <a:latin typeface="Book Antiqua" pitchFamily="18" charset="0"/>
              </a:rPr>
              <a:t>Structural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75187" y="1232259"/>
            <a:ext cx="7152968" cy="4726088"/>
          </a:xfrm>
        </p:spPr>
        <p:txBody>
          <a:bodyPr>
            <a:normAutofit/>
          </a:bodyPr>
          <a:lstStyle/>
          <a:p>
            <a:pPr marL="0" lvl="1" indent="0" algn="just">
              <a:buNone/>
              <a:defRPr/>
            </a:pPr>
            <a:r>
              <a:rPr lang="en-US" altLang="en-US" sz="2200" b="1" dirty="0">
                <a:solidFill>
                  <a:srgbClr val="002060"/>
                </a:solidFill>
                <a:latin typeface="+mj-lt"/>
                <a:cs typeface="Times New Roman" panose="02020603050405020304" pitchFamily="18" charset="0"/>
              </a:rPr>
              <a:t>3.  A collaboration: </a:t>
            </a:r>
            <a:r>
              <a:rPr lang="en-US" altLang="en-US" sz="2200" dirty="0">
                <a:solidFill>
                  <a:srgbClr val="002060"/>
                </a:solidFill>
                <a:latin typeface="+mj-lt"/>
                <a:cs typeface="Times New Roman" panose="02020603050405020304" pitchFamily="18" charset="0"/>
              </a:rPr>
              <a:t>A collection of UML building blocks </a:t>
            </a:r>
            <a:br>
              <a:rPr lang="en-US" altLang="en-US" sz="2200" dirty="0">
                <a:solidFill>
                  <a:srgbClr val="002060"/>
                </a:solidFill>
                <a:latin typeface="+mj-lt"/>
                <a:cs typeface="Times New Roman" panose="02020603050405020304" pitchFamily="18" charset="0"/>
              </a:rPr>
            </a:br>
            <a:r>
              <a:rPr lang="en-US" altLang="en-US" sz="2200" dirty="0">
                <a:solidFill>
                  <a:srgbClr val="002060"/>
                </a:solidFill>
                <a:latin typeface="+mj-lt"/>
                <a:cs typeface="Times New Roman" panose="02020603050405020304" pitchFamily="18" charset="0"/>
              </a:rPr>
              <a:t>    (classes, interfaces, relationships) that work together to </a:t>
            </a:r>
            <a:br>
              <a:rPr lang="en-US" altLang="en-US" sz="2200" dirty="0">
                <a:solidFill>
                  <a:srgbClr val="002060"/>
                </a:solidFill>
                <a:latin typeface="+mj-lt"/>
                <a:cs typeface="Times New Roman" panose="02020603050405020304" pitchFamily="18" charset="0"/>
              </a:rPr>
            </a:br>
            <a:r>
              <a:rPr lang="en-US" altLang="en-US" sz="2200" dirty="0">
                <a:solidFill>
                  <a:srgbClr val="002060"/>
                </a:solidFill>
                <a:latin typeface="+mj-lt"/>
                <a:cs typeface="Times New Roman" panose="02020603050405020304" pitchFamily="18" charset="0"/>
              </a:rPr>
              <a:t>    provide some functionality within the system. (e.g.,</a:t>
            </a:r>
            <a:br>
              <a:rPr lang="en-US" altLang="en-US" sz="2200" dirty="0">
                <a:solidFill>
                  <a:srgbClr val="002060"/>
                </a:solidFill>
                <a:latin typeface="+mj-lt"/>
                <a:cs typeface="Times New Roman" panose="02020603050405020304" pitchFamily="18" charset="0"/>
              </a:rPr>
            </a:br>
            <a:r>
              <a:rPr lang="en-US" altLang="en-US" sz="2200" dirty="0">
                <a:solidFill>
                  <a:srgbClr val="002060"/>
                </a:solidFill>
                <a:latin typeface="+mj-lt"/>
                <a:cs typeface="Times New Roman" panose="02020603050405020304" pitchFamily="18" charset="0"/>
              </a:rPr>
              <a:t>    Interoperability, block chain technology to conned </a:t>
            </a:r>
            <a:br>
              <a:rPr lang="en-US" altLang="en-US" sz="2200" dirty="0">
                <a:solidFill>
                  <a:srgbClr val="002060"/>
                </a:solidFill>
                <a:latin typeface="+mj-lt"/>
                <a:cs typeface="Times New Roman" panose="02020603050405020304" pitchFamily="18" charset="0"/>
              </a:rPr>
            </a:br>
            <a:r>
              <a:rPr lang="en-US" altLang="en-US" sz="2200" dirty="0">
                <a:solidFill>
                  <a:srgbClr val="002060"/>
                </a:solidFill>
                <a:latin typeface="+mj-lt"/>
                <a:cs typeface="Times New Roman" panose="02020603050405020304" pitchFamily="18" charset="0"/>
              </a:rPr>
              <a:t>    external system in providing one-stop e-services</a:t>
            </a:r>
          </a:p>
          <a:p>
            <a:pPr marL="0" lvl="1" indent="0" algn="just">
              <a:buNone/>
              <a:defRPr/>
            </a:pPr>
            <a:endParaRPr lang="en-US" altLang="en-US" sz="2200" dirty="0">
              <a:solidFill>
                <a:srgbClr val="002060"/>
              </a:solidFill>
              <a:latin typeface="+mj-lt"/>
              <a:cs typeface="Times New Roman" panose="02020603050405020304" pitchFamily="18" charset="0"/>
            </a:endParaRPr>
          </a:p>
          <a:p>
            <a:pPr marL="342900" lvl="1" indent="-342900" algn="just">
              <a:buNone/>
              <a:defRPr/>
            </a:pPr>
            <a:r>
              <a:rPr lang="en-US" altLang="en-US" sz="2200" b="1" dirty="0">
                <a:solidFill>
                  <a:srgbClr val="002060"/>
                </a:solidFill>
                <a:latin typeface="+mj-lt"/>
                <a:cs typeface="Times New Roman" panose="02020603050405020304" pitchFamily="18" charset="0"/>
              </a:rPr>
              <a:t>4.  A Use case </a:t>
            </a:r>
            <a:r>
              <a:rPr lang="en-US" altLang="en-US" sz="2200" dirty="0">
                <a:solidFill>
                  <a:srgbClr val="002060"/>
                </a:solidFill>
                <a:latin typeface="+mj-lt"/>
                <a:cs typeface="Times New Roman" panose="02020603050405020304" pitchFamily="18" charset="0"/>
              </a:rPr>
              <a:t>is a description of set of sequence of actions that a system performs that yields an observable result of value to a particular </a:t>
            </a:r>
            <a:r>
              <a:rPr lang="en-US" altLang="en-US" sz="2200" b="1" dirty="0">
                <a:solidFill>
                  <a:srgbClr val="002060"/>
                </a:solidFill>
                <a:latin typeface="+mj-lt"/>
                <a:cs typeface="Times New Roman" panose="02020603050405020304" pitchFamily="18" charset="0"/>
              </a:rPr>
              <a:t>actor</a:t>
            </a:r>
            <a:r>
              <a:rPr lang="en-US" altLang="en-US" sz="2200" dirty="0">
                <a:solidFill>
                  <a:srgbClr val="002060"/>
                </a:solidFill>
                <a:latin typeface="+mj-lt"/>
                <a:cs typeface="Times New Roman" panose="02020603050405020304" pitchFamily="18" charset="0"/>
              </a:rPr>
              <a:t>.</a:t>
            </a:r>
          </a:p>
          <a:p>
            <a:pPr marL="342900" lvl="1" indent="-342900" algn="just">
              <a:buNone/>
              <a:defRPr/>
            </a:pPr>
            <a:endParaRPr lang="en-US" altLang="en-US" sz="2200" dirty="0">
              <a:latin typeface="+mj-lt"/>
            </a:endParaRPr>
          </a:p>
        </p:txBody>
      </p:sp>
      <p:sp>
        <p:nvSpPr>
          <p:cNvPr id="8" name="Oval 13"/>
          <p:cNvSpPr>
            <a:spLocks noChangeArrowheads="1"/>
          </p:cNvSpPr>
          <p:nvPr/>
        </p:nvSpPr>
        <p:spPr bwMode="auto">
          <a:xfrm>
            <a:off x="8442324" y="3975745"/>
            <a:ext cx="2547258" cy="13716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chemeClr val="bg1"/>
                </a:solidFill>
                <a:latin typeface="Times New Roman" panose="02020603050405020304" pitchFamily="18" charset="0"/>
              </a:rPr>
              <a:t>Registration</a:t>
            </a:r>
            <a:br>
              <a:rPr lang="en-US" altLang="en-US" sz="2800" dirty="0">
                <a:solidFill>
                  <a:schemeClr val="bg1"/>
                </a:solidFill>
                <a:latin typeface="Times New Roman" panose="02020603050405020304" pitchFamily="18" charset="0"/>
              </a:rPr>
            </a:br>
            <a:r>
              <a:rPr lang="en-US" altLang="en-US" sz="2800" dirty="0">
                <a:solidFill>
                  <a:schemeClr val="bg1"/>
                </a:solidFill>
                <a:latin typeface="Times New Roman" panose="02020603050405020304" pitchFamily="18" charset="0"/>
              </a:rPr>
              <a:t>    Course </a:t>
            </a:r>
          </a:p>
        </p:txBody>
      </p:sp>
      <p:pic>
        <p:nvPicPr>
          <p:cNvPr id="5" name="Picture 4"/>
          <p:cNvPicPr>
            <a:picLocks noChangeAspect="1"/>
          </p:cNvPicPr>
          <p:nvPr/>
        </p:nvPicPr>
        <p:blipFill>
          <a:blip r:embed="rId3"/>
          <a:stretch>
            <a:fillRect/>
          </a:stretch>
        </p:blipFill>
        <p:spPr>
          <a:xfrm>
            <a:off x="8442324" y="1946702"/>
            <a:ext cx="2455545" cy="1144225"/>
          </a:xfrm>
          <a:prstGeom prst="rect">
            <a:avLst/>
          </a:prstGeom>
        </p:spPr>
      </p:pic>
      <p:sp>
        <p:nvSpPr>
          <p:cNvPr id="10" name="Content Placeholder 2">
            <a:extLst>
              <a:ext uri="{FF2B5EF4-FFF2-40B4-BE49-F238E27FC236}">
                <a16:creationId xmlns:a16="http://schemas.microsoft.com/office/drawing/2014/main" id="{02E82B60-F1E8-474F-82B5-11ECFF761F45}"/>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1" name="Slide Number Placeholder 3">
            <a:extLst>
              <a:ext uri="{FF2B5EF4-FFF2-40B4-BE49-F238E27FC236}">
                <a16:creationId xmlns:a16="http://schemas.microsoft.com/office/drawing/2014/main" id="{6B6C7A04-AC41-4D01-A43A-7C7CEE3D07F2}"/>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8</a:t>
            </a:fld>
            <a:r>
              <a:rPr lang="en-US" sz="1400" b="1" dirty="0"/>
              <a:t> </a:t>
            </a:r>
          </a:p>
        </p:txBody>
      </p:sp>
      <p:sp>
        <p:nvSpPr>
          <p:cNvPr id="3" name="Rectangle 2" descr="M. Mhahudul Hasan">
            <a:extLst>
              <a:ext uri="{FF2B5EF4-FFF2-40B4-BE49-F238E27FC236}">
                <a16:creationId xmlns:a16="http://schemas.microsoft.com/office/drawing/2014/main" id="{16982704-839E-4006-9DE0-7F88FF30D56C}"/>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2FD436D5-5001-4626-99EA-BEE1002BDAE7}"/>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7" name="Rectangle 6" descr="M. Mhahudul Hasan">
            <a:extLst>
              <a:ext uri="{FF2B5EF4-FFF2-40B4-BE49-F238E27FC236}">
                <a16:creationId xmlns:a16="http://schemas.microsoft.com/office/drawing/2014/main" id="{74128775-4ADD-493C-896D-555E213FE24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1355228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68710" y="583689"/>
            <a:ext cx="11029950" cy="566686"/>
          </a:xfrm>
        </p:spPr>
        <p:txBody>
          <a:bodyPr/>
          <a:lstStyle/>
          <a:p>
            <a:pPr algn="ctr"/>
            <a:r>
              <a:rPr lang="en-US" altLang="en-US" b="1" dirty="0">
                <a:solidFill>
                  <a:srgbClr val="0070C0"/>
                </a:solidFill>
                <a:latin typeface="Book Antiqua" pitchFamily="18" charset="0"/>
              </a:rPr>
              <a:t>Structural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353961" y="1264316"/>
            <a:ext cx="7749909" cy="4605541"/>
          </a:xfrm>
        </p:spPr>
        <p:txBody>
          <a:bodyPr>
            <a:normAutofit/>
          </a:bodyPr>
          <a:lstStyle/>
          <a:p>
            <a:pPr marL="514350" lvl="0" indent="-514350" algn="just">
              <a:buNone/>
            </a:pPr>
            <a:r>
              <a:rPr lang="en-US" sz="2200" b="1" dirty="0">
                <a:solidFill>
                  <a:srgbClr val="002060"/>
                </a:solidFill>
                <a:latin typeface="+mj-lt"/>
                <a:cs typeface="Times New Roman" panose="02020603050405020304" pitchFamily="18" charset="0"/>
              </a:rPr>
              <a:t>5.   An active class</a:t>
            </a:r>
          </a:p>
          <a:p>
            <a:pPr lvl="0" algn="just"/>
            <a:r>
              <a:rPr lang="en-US" sz="2200" dirty="0"/>
              <a:t>is a class whose objects (known active object) own one or more processes or threads and therefore can initiate control activity (</a:t>
            </a:r>
            <a:r>
              <a:rPr lang="en-US" sz="2200" i="1" dirty="0"/>
              <a:t>modify variables, change program behavior, and so on)</a:t>
            </a:r>
            <a:r>
              <a:rPr lang="en-US" sz="2200" dirty="0"/>
              <a:t>.</a:t>
            </a:r>
          </a:p>
          <a:p>
            <a:pPr lvl="0" algn="just"/>
            <a:r>
              <a:rPr lang="en-US" sz="2200" dirty="0"/>
              <a:t>Active object initiate and control the flow of activity, while passive object wait for another object to call them generally for store data and serve other classes. </a:t>
            </a:r>
          </a:p>
          <a:p>
            <a:pPr lvl="0" algn="just"/>
            <a:r>
              <a:rPr lang="en-US" sz="2200" dirty="0"/>
              <a:t>Graphically, an active class is rendered as a class with double lines on the left and right </a:t>
            </a:r>
          </a:p>
        </p:txBody>
      </p:sp>
      <p:pic>
        <p:nvPicPr>
          <p:cNvPr id="9" name="Picture 2" descr="http://umlguide2.uw.hu/images/0321267974/graphics/02fig05.gif"/>
          <p:cNvPicPr>
            <a:picLocks noChangeAspect="1" noChangeArrowheads="1"/>
          </p:cNvPicPr>
          <p:nvPr/>
        </p:nvPicPr>
        <p:blipFill>
          <a:blip r:embed="rId3"/>
          <a:srcRect/>
          <a:stretch>
            <a:fillRect/>
          </a:stretch>
        </p:blipFill>
        <p:spPr bwMode="auto">
          <a:xfrm>
            <a:off x="8931570" y="2652686"/>
            <a:ext cx="2057400" cy="1828800"/>
          </a:xfrm>
          <a:prstGeom prst="rect">
            <a:avLst/>
          </a:prstGeom>
          <a:noFill/>
        </p:spPr>
      </p:pic>
      <p:sp>
        <p:nvSpPr>
          <p:cNvPr id="8" name="Content Placeholder 2">
            <a:extLst>
              <a:ext uri="{FF2B5EF4-FFF2-40B4-BE49-F238E27FC236}">
                <a16:creationId xmlns:a16="http://schemas.microsoft.com/office/drawing/2014/main" id="{7194A1BE-C53D-4361-AC35-0978FC5A9A93}"/>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Slide Number Placeholder 3">
            <a:extLst>
              <a:ext uri="{FF2B5EF4-FFF2-40B4-BE49-F238E27FC236}">
                <a16:creationId xmlns:a16="http://schemas.microsoft.com/office/drawing/2014/main" id="{7FDAFC23-9572-4EF2-8E16-6D47BCC2D798}"/>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9</a:t>
            </a:fld>
            <a:r>
              <a:rPr lang="en-US" sz="1400" b="1" dirty="0"/>
              <a:t> </a:t>
            </a:r>
          </a:p>
        </p:txBody>
      </p:sp>
      <p:sp>
        <p:nvSpPr>
          <p:cNvPr id="3" name="Rectangle 2" descr="M. Mhahudul Hasan">
            <a:extLst>
              <a:ext uri="{FF2B5EF4-FFF2-40B4-BE49-F238E27FC236}">
                <a16:creationId xmlns:a16="http://schemas.microsoft.com/office/drawing/2014/main" id="{1DC2444F-CE92-4C2B-A3D2-C3D96D235FF5}"/>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0B8C970F-C16D-4F86-8DE8-54D4471D3F26}"/>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6" name="Rectangle 5" descr="M. Mhahudul Hasan">
            <a:extLst>
              <a:ext uri="{FF2B5EF4-FFF2-40B4-BE49-F238E27FC236}">
                <a16:creationId xmlns:a16="http://schemas.microsoft.com/office/drawing/2014/main" id="{4E315B03-D4FB-4541-9357-36B0A52F72B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774362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04A1D-20F1-5E80-6F49-F6C88B86F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E1A875-FE61-3B2E-6298-D647AA3BFCF8}"/>
              </a:ext>
            </a:extLst>
          </p:cNvPr>
          <p:cNvSpPr>
            <a:spLocks noGrp="1"/>
          </p:cNvSpPr>
          <p:nvPr>
            <p:ph type="title" idx="4294967295"/>
          </p:nvPr>
        </p:nvSpPr>
        <p:spPr>
          <a:xfrm>
            <a:off x="368710" y="583689"/>
            <a:ext cx="11029950" cy="566686"/>
          </a:xfrm>
        </p:spPr>
        <p:txBody>
          <a:bodyPr/>
          <a:lstStyle/>
          <a:p>
            <a:pPr algn="ctr"/>
            <a:r>
              <a:rPr lang="en-US" altLang="en-US" b="1" dirty="0">
                <a:solidFill>
                  <a:srgbClr val="0070C0"/>
                </a:solidFill>
                <a:latin typeface="Book Antiqua" pitchFamily="18" charset="0"/>
              </a:rPr>
              <a:t>Structural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a:extLst>
              <a:ext uri="{FF2B5EF4-FFF2-40B4-BE49-F238E27FC236}">
                <a16:creationId xmlns:a16="http://schemas.microsoft.com/office/drawing/2014/main" id="{7A349BD6-5A31-99A3-F607-D87F77622BE8}"/>
              </a:ext>
            </a:extLst>
          </p:cNvPr>
          <p:cNvSpPr>
            <a:spLocks noGrp="1"/>
          </p:cNvSpPr>
          <p:nvPr>
            <p:ph idx="4294967295"/>
          </p:nvPr>
        </p:nvSpPr>
        <p:spPr>
          <a:xfrm>
            <a:off x="502919" y="1350606"/>
            <a:ext cx="7749909" cy="4605541"/>
          </a:xfrm>
        </p:spPr>
        <p:txBody>
          <a:bodyPr>
            <a:normAutofit/>
          </a:bodyPr>
          <a:lstStyle/>
          <a:p>
            <a:pPr marL="0" lvl="0" indent="0" algn="just">
              <a:buNone/>
            </a:pPr>
            <a:r>
              <a:rPr lang="en-US" sz="2200" b="1" dirty="0">
                <a:solidFill>
                  <a:srgbClr val="002060"/>
                </a:solidFill>
                <a:latin typeface="+mj-lt"/>
                <a:cs typeface="Times New Roman" panose="02020603050405020304" pitchFamily="18" charset="0"/>
              </a:rPr>
              <a:t>6. A Component </a:t>
            </a:r>
            <a:r>
              <a:rPr lang="en-US" sz="2400" dirty="0"/>
              <a:t>is a packaging of classes, interfaces, and collaboration. Total program is divided into various parts or module.</a:t>
            </a:r>
          </a:p>
          <a:p>
            <a:pPr marL="0" lvl="0" indent="0" algn="just">
              <a:buNone/>
            </a:pPr>
            <a:endParaRPr lang="en-US" sz="2400" dirty="0"/>
          </a:p>
          <a:p>
            <a:pPr marL="0" indent="0" algn="just">
              <a:buNone/>
            </a:pPr>
            <a:r>
              <a:rPr lang="en-US" altLang="en-US" sz="2200" b="1" dirty="0">
                <a:solidFill>
                  <a:srgbClr val="002060"/>
                </a:solidFill>
                <a:latin typeface="+mj-lt"/>
                <a:cs typeface="Times New Roman" panose="02020603050405020304" pitchFamily="18" charset="0"/>
              </a:rPr>
              <a:t>7. An artifact </a:t>
            </a:r>
            <a:r>
              <a:rPr lang="en-US" altLang="en-US" sz="2400" dirty="0"/>
              <a:t>is a physical and replaceable part of a system that contains physical information ("bits"). </a:t>
            </a:r>
          </a:p>
          <a:p>
            <a:pPr marL="0" indent="0" algn="just">
              <a:buNone/>
            </a:pPr>
            <a:endParaRPr lang="en-US" altLang="en-US" sz="2400" dirty="0"/>
          </a:p>
          <a:p>
            <a:pPr marL="0" lvl="0" indent="0" algn="just">
              <a:buNone/>
            </a:pPr>
            <a:r>
              <a:rPr lang="en-US" sz="2200" b="1" dirty="0">
                <a:solidFill>
                  <a:srgbClr val="002060"/>
                </a:solidFill>
                <a:latin typeface="+mj-lt"/>
                <a:cs typeface="Times New Roman" panose="02020603050405020304" pitchFamily="18" charset="0"/>
              </a:rPr>
              <a:t>8.  A Node: </a:t>
            </a:r>
            <a:r>
              <a:rPr lang="en-US" sz="2400" dirty="0"/>
              <a:t>Computational resources that exists at run time, typically h/w resources e.g., memory, processor, etc.</a:t>
            </a:r>
          </a:p>
        </p:txBody>
      </p:sp>
      <p:sp>
        <p:nvSpPr>
          <p:cNvPr id="8" name="Content Placeholder 2">
            <a:extLst>
              <a:ext uri="{FF2B5EF4-FFF2-40B4-BE49-F238E27FC236}">
                <a16:creationId xmlns:a16="http://schemas.microsoft.com/office/drawing/2014/main" id="{5090C532-8E44-670F-6BE9-390F622FA8BD}"/>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Slide Number Placeholder 3">
            <a:extLst>
              <a:ext uri="{FF2B5EF4-FFF2-40B4-BE49-F238E27FC236}">
                <a16:creationId xmlns:a16="http://schemas.microsoft.com/office/drawing/2014/main" id="{F7A000E2-FCA4-6D4E-7055-0662F9DBD745}"/>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10</a:t>
            </a:fld>
            <a:r>
              <a:rPr lang="en-US" sz="1400" b="1" dirty="0"/>
              <a:t> </a:t>
            </a:r>
          </a:p>
        </p:txBody>
      </p:sp>
      <p:sp>
        <p:nvSpPr>
          <p:cNvPr id="3" name="Rectangle 2" descr="M. Mhahudul Hasan">
            <a:extLst>
              <a:ext uri="{FF2B5EF4-FFF2-40B4-BE49-F238E27FC236}">
                <a16:creationId xmlns:a16="http://schemas.microsoft.com/office/drawing/2014/main" id="{754547C8-69C0-FE95-D8F5-A29945194C49}"/>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679370E2-4189-68AD-CFB8-C0CD3B04CD5D}"/>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6" name="Rectangle 5" descr="M. Mhahudul Hasan">
            <a:extLst>
              <a:ext uri="{FF2B5EF4-FFF2-40B4-BE49-F238E27FC236}">
                <a16:creationId xmlns:a16="http://schemas.microsoft.com/office/drawing/2014/main" id="{AD674116-006E-437F-F601-17FFC0DC42A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7" name="Rectangle 17"/>
          <p:cNvSpPr>
            <a:spLocks noChangeArrowheads="1"/>
          </p:cNvSpPr>
          <p:nvPr/>
        </p:nvSpPr>
        <p:spPr bwMode="auto">
          <a:xfrm>
            <a:off x="9341260" y="1562100"/>
            <a:ext cx="2057400" cy="1219200"/>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latin typeface="Times New Roman" panose="02020603050405020304" pitchFamily="18" charset="0"/>
              </a:rPr>
              <a:t>Course.cpp</a:t>
            </a:r>
          </a:p>
        </p:txBody>
      </p:sp>
      <p:sp>
        <p:nvSpPr>
          <p:cNvPr id="11" name="Rectangle 18"/>
          <p:cNvSpPr>
            <a:spLocks noChangeArrowheads="1"/>
          </p:cNvSpPr>
          <p:nvPr/>
        </p:nvSpPr>
        <p:spPr bwMode="auto">
          <a:xfrm>
            <a:off x="9112660" y="1714500"/>
            <a:ext cx="304800" cy="152400"/>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2" name="Rectangle 19"/>
          <p:cNvSpPr>
            <a:spLocks noChangeArrowheads="1"/>
          </p:cNvSpPr>
          <p:nvPr/>
        </p:nvSpPr>
        <p:spPr bwMode="auto">
          <a:xfrm>
            <a:off x="9112660" y="2476500"/>
            <a:ext cx="304800" cy="152400"/>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pic>
        <p:nvPicPr>
          <p:cNvPr id="13" name="Picture 2">
            <a:extLst>
              <a:ext uri="{FF2B5EF4-FFF2-40B4-BE49-F238E27FC236}">
                <a16:creationId xmlns:a16="http://schemas.microsoft.com/office/drawing/2014/main" id="{15868A90-D11E-75BC-3AC8-B0A20578E3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3660" y="3289077"/>
            <a:ext cx="1752600" cy="946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5">
            <a:extLst>
              <a:ext uri="{FF2B5EF4-FFF2-40B4-BE49-F238E27FC236}">
                <a16:creationId xmlns:a16="http://schemas.microsoft.com/office/drawing/2014/main" id="{5D4A80FE-6568-735C-05BB-9E44B4C6AB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3660" y="4651937"/>
            <a:ext cx="1752600" cy="1644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412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25DCC-7B9C-7FC6-57FF-19D52FB7F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454661-EC33-DCFB-D476-65EF861B9F12}"/>
              </a:ext>
            </a:extLst>
          </p:cNvPr>
          <p:cNvSpPr>
            <a:spLocks noGrp="1"/>
          </p:cNvSpPr>
          <p:nvPr>
            <p:ph type="title" idx="4294967295"/>
          </p:nvPr>
        </p:nvSpPr>
        <p:spPr>
          <a:xfrm>
            <a:off x="368710" y="568940"/>
            <a:ext cx="11029950" cy="596183"/>
          </a:xfrm>
        </p:spPr>
        <p:txBody>
          <a:bodyPr/>
          <a:lstStyle/>
          <a:p>
            <a:pPr algn="ctr"/>
            <a:r>
              <a:rPr lang="en-US" altLang="en-US" b="1" dirty="0">
                <a:solidFill>
                  <a:srgbClr val="0070C0"/>
                </a:solidFill>
                <a:latin typeface="Book Antiqua" pitchFamily="18" charset="0"/>
              </a:rPr>
              <a:t>Behavioral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a:extLst>
              <a:ext uri="{FF2B5EF4-FFF2-40B4-BE49-F238E27FC236}">
                <a16:creationId xmlns:a16="http://schemas.microsoft.com/office/drawing/2014/main" id="{291F261C-AFD1-5A58-5AF0-0D8A0D40140A}"/>
              </a:ext>
            </a:extLst>
          </p:cNvPr>
          <p:cNvSpPr>
            <a:spLocks noGrp="1"/>
          </p:cNvSpPr>
          <p:nvPr>
            <p:ph idx="4294967295"/>
          </p:nvPr>
        </p:nvSpPr>
        <p:spPr>
          <a:xfrm>
            <a:off x="412955" y="1297346"/>
            <a:ext cx="11272838" cy="1298370"/>
          </a:xfrm>
        </p:spPr>
        <p:txBody>
          <a:bodyPr>
            <a:noAutofit/>
          </a:bodyPr>
          <a:lstStyle/>
          <a:p>
            <a:pPr>
              <a:buFont typeface="Wingdings" pitchFamily="2" charset="2"/>
              <a:buChar char="q"/>
            </a:pPr>
            <a:r>
              <a:rPr lang="en-US" altLang="en-US" sz="2200" b="1" dirty="0">
                <a:solidFill>
                  <a:srgbClr val="002060"/>
                </a:solidFill>
                <a:latin typeface="+mj-lt"/>
                <a:cs typeface="Times New Roman" panose="02020603050405020304" pitchFamily="18" charset="0"/>
              </a:rPr>
              <a:t>Behavioral things </a:t>
            </a:r>
            <a:r>
              <a:rPr lang="en-US" altLang="en-US" sz="2200" dirty="0">
                <a:solidFill>
                  <a:srgbClr val="002060"/>
                </a:solidFill>
                <a:latin typeface="+mj-lt"/>
                <a:cs typeface="Times New Roman" panose="02020603050405020304" pitchFamily="18" charset="0"/>
              </a:rPr>
              <a:t>are the </a:t>
            </a:r>
            <a:r>
              <a:rPr lang="en-US" altLang="en-US" sz="2200" dirty="0">
                <a:solidFill>
                  <a:srgbClr val="C00000"/>
                </a:solidFill>
                <a:latin typeface="+mj-lt"/>
                <a:cs typeface="Times New Roman" panose="02020603050405020304" pitchFamily="18" charset="0"/>
              </a:rPr>
              <a:t>verbs</a:t>
            </a:r>
            <a:r>
              <a:rPr lang="en-US" altLang="en-US" sz="2200" dirty="0">
                <a:solidFill>
                  <a:srgbClr val="002060"/>
                </a:solidFill>
                <a:latin typeface="+mj-lt"/>
                <a:cs typeface="Times New Roman" panose="02020603050405020304" pitchFamily="18" charset="0"/>
              </a:rPr>
              <a:t> of the UML model. These are the mostly </a:t>
            </a:r>
            <a:r>
              <a:rPr lang="en-US" altLang="en-US" sz="2200" dirty="0">
                <a:solidFill>
                  <a:srgbClr val="C00000"/>
                </a:solidFill>
                <a:latin typeface="+mj-lt"/>
                <a:cs typeface="Times New Roman" panose="02020603050405020304" pitchFamily="18" charset="0"/>
              </a:rPr>
              <a:t>dynamic</a:t>
            </a:r>
            <a:r>
              <a:rPr lang="en-US" altLang="en-US" sz="2200" dirty="0">
                <a:solidFill>
                  <a:srgbClr val="FF0000"/>
                </a:solidFill>
                <a:latin typeface="+mj-lt"/>
                <a:cs typeface="Times New Roman" panose="02020603050405020304" pitchFamily="18" charset="0"/>
              </a:rPr>
              <a:t> parts </a:t>
            </a:r>
            <a:r>
              <a:rPr lang="en-US" altLang="en-US" sz="2200" dirty="0">
                <a:solidFill>
                  <a:srgbClr val="002060"/>
                </a:solidFill>
                <a:latin typeface="+mj-lt"/>
                <a:cs typeface="Times New Roman" panose="02020603050405020304" pitchFamily="18" charset="0"/>
              </a:rPr>
              <a:t>of a model, </a:t>
            </a:r>
            <a:r>
              <a:rPr lang="en-US" altLang="en-US" sz="2200" dirty="0">
                <a:solidFill>
                  <a:srgbClr val="C00000"/>
                </a:solidFill>
                <a:latin typeface="+mj-lt"/>
                <a:cs typeface="Times New Roman" panose="02020603050405020304" pitchFamily="18" charset="0"/>
              </a:rPr>
              <a:t>representing behavior </a:t>
            </a:r>
            <a:r>
              <a:rPr lang="en-US" altLang="en-US" sz="2200" dirty="0">
                <a:solidFill>
                  <a:srgbClr val="002060"/>
                </a:solidFill>
                <a:latin typeface="+mj-lt"/>
                <a:cs typeface="Times New Roman" panose="02020603050405020304" pitchFamily="18" charset="0"/>
              </a:rPr>
              <a:t>over </a:t>
            </a:r>
            <a:r>
              <a:rPr lang="en-US" altLang="en-US" sz="2200" dirty="0">
                <a:solidFill>
                  <a:srgbClr val="C00000"/>
                </a:solidFill>
                <a:latin typeface="+mj-lt"/>
                <a:cs typeface="Times New Roman" panose="02020603050405020304" pitchFamily="18" charset="0"/>
              </a:rPr>
              <a:t>time</a:t>
            </a:r>
            <a:r>
              <a:rPr lang="en-US" altLang="en-US" sz="2200" dirty="0">
                <a:solidFill>
                  <a:srgbClr val="002060"/>
                </a:solidFill>
                <a:latin typeface="+mj-lt"/>
                <a:cs typeface="Times New Roman" panose="02020603050405020304" pitchFamily="18" charset="0"/>
              </a:rPr>
              <a:t> and </a:t>
            </a:r>
            <a:r>
              <a:rPr lang="en-US" altLang="en-US" sz="2200" dirty="0">
                <a:solidFill>
                  <a:srgbClr val="C00000"/>
                </a:solidFill>
                <a:latin typeface="+mj-lt"/>
                <a:cs typeface="Times New Roman" panose="02020603050405020304" pitchFamily="18" charset="0"/>
              </a:rPr>
              <a:t>space</a:t>
            </a:r>
            <a:r>
              <a:rPr lang="en-US" altLang="en-US" sz="2200" dirty="0">
                <a:solidFill>
                  <a:srgbClr val="002060"/>
                </a:solidFill>
                <a:latin typeface="+mj-lt"/>
                <a:cs typeface="Times New Roman" panose="02020603050405020304" pitchFamily="18" charset="0"/>
              </a:rPr>
              <a:t>. There are </a:t>
            </a:r>
            <a:r>
              <a:rPr lang="en-US" altLang="en-US" sz="2200" b="1" dirty="0">
                <a:solidFill>
                  <a:srgbClr val="002060"/>
                </a:solidFill>
                <a:latin typeface="+mj-lt"/>
                <a:cs typeface="Times New Roman" panose="02020603050405020304" pitchFamily="18" charset="0"/>
              </a:rPr>
              <a:t>three</a:t>
            </a:r>
            <a:r>
              <a:rPr lang="en-US" altLang="en-US" sz="2200" dirty="0">
                <a:solidFill>
                  <a:srgbClr val="002060"/>
                </a:solidFill>
                <a:latin typeface="+mj-lt"/>
                <a:cs typeface="Times New Roman" panose="02020603050405020304" pitchFamily="18" charset="0"/>
              </a:rPr>
              <a:t> kinds of behavioral things.</a:t>
            </a:r>
            <a:endParaRPr lang="en-US" altLang="en-US" sz="2200" dirty="0">
              <a:solidFill>
                <a:srgbClr val="000000"/>
              </a:solidFill>
              <a:latin typeface="Bell MT" pitchFamily="18" charset="0"/>
              <a:cs typeface="Times New Roman" panose="02020603050405020304" pitchFamily="18" charset="0"/>
            </a:endParaRPr>
          </a:p>
        </p:txBody>
      </p:sp>
      <p:sp>
        <p:nvSpPr>
          <p:cNvPr id="8" name="Content Placeholder 2">
            <a:extLst>
              <a:ext uri="{FF2B5EF4-FFF2-40B4-BE49-F238E27FC236}">
                <a16:creationId xmlns:a16="http://schemas.microsoft.com/office/drawing/2014/main" id="{125D6D14-27A2-6B76-FD4F-3CF42C8BA0FE}"/>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9" name="Slide Number Placeholder 3">
            <a:extLst>
              <a:ext uri="{FF2B5EF4-FFF2-40B4-BE49-F238E27FC236}">
                <a16:creationId xmlns:a16="http://schemas.microsoft.com/office/drawing/2014/main" id="{C761AFC7-350C-56C0-7B11-2BD98FF2CC4C}"/>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11</a:t>
            </a:fld>
            <a:r>
              <a:rPr lang="en-US" sz="1400" b="1" dirty="0"/>
              <a:t> </a:t>
            </a:r>
          </a:p>
        </p:txBody>
      </p:sp>
      <p:sp>
        <p:nvSpPr>
          <p:cNvPr id="3" name="Rectangle 2" descr="M. Mhahudul Hasan">
            <a:extLst>
              <a:ext uri="{FF2B5EF4-FFF2-40B4-BE49-F238E27FC236}">
                <a16:creationId xmlns:a16="http://schemas.microsoft.com/office/drawing/2014/main" id="{47EB77C2-B1F0-BE9B-2225-FF5D029EDC6D}"/>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876F1A24-4513-C862-0A3A-B91B4A0D4202}"/>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7" name="Rectangle 6" descr="M. Mhahudul Hasan">
            <a:extLst>
              <a:ext uri="{FF2B5EF4-FFF2-40B4-BE49-F238E27FC236}">
                <a16:creationId xmlns:a16="http://schemas.microsoft.com/office/drawing/2014/main" id="{39015405-BFB7-A9D8-80FF-FEFE9A79946A}"/>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5" name="Content Placeholder 2">
            <a:extLst>
              <a:ext uri="{FF2B5EF4-FFF2-40B4-BE49-F238E27FC236}">
                <a16:creationId xmlns:a16="http://schemas.microsoft.com/office/drawing/2014/main" id="{FE9D0B07-DC88-6C43-E79A-4364B8A00120}"/>
              </a:ext>
            </a:extLst>
          </p:cNvPr>
          <p:cNvSpPr txBox="1">
            <a:spLocks/>
          </p:cNvSpPr>
          <p:nvPr/>
        </p:nvSpPr>
        <p:spPr>
          <a:xfrm>
            <a:off x="706755" y="2727939"/>
            <a:ext cx="6389371" cy="1298370"/>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r>
              <a:rPr lang="en-US" altLang="en-US" sz="2200" b="1" dirty="0">
                <a:cs typeface="Times New Roman" panose="02020603050405020304" pitchFamily="18" charset="0"/>
              </a:rPr>
              <a:t>A state machine</a:t>
            </a:r>
            <a:r>
              <a:rPr lang="en-US" altLang="en-US" sz="2200" dirty="0">
                <a:cs typeface="Times New Roman" panose="02020603050405020304" pitchFamily="18" charset="0"/>
              </a:rPr>
              <a:t> is a behavior that specifies the sequences of states an object or an interaction goes through during its lifetime in response to events. </a:t>
            </a:r>
            <a:endParaRPr lang="en-US" altLang="en-US" sz="2200" dirty="0"/>
          </a:p>
        </p:txBody>
      </p:sp>
      <p:pic>
        <p:nvPicPr>
          <p:cNvPr id="12" name="Picture 3">
            <a:extLst>
              <a:ext uri="{FF2B5EF4-FFF2-40B4-BE49-F238E27FC236}">
                <a16:creationId xmlns:a16="http://schemas.microsoft.com/office/drawing/2014/main" id="{FB5C7F35-3D50-2B2B-38E5-44B1DC2EFA5C}"/>
              </a:ext>
            </a:extLst>
          </p:cNvPr>
          <p:cNvPicPr>
            <a:picLocks noChangeAspect="1" noChangeArrowheads="1"/>
          </p:cNvPicPr>
          <p:nvPr/>
        </p:nvPicPr>
        <p:blipFill>
          <a:blip r:embed="rId3"/>
          <a:srcRect/>
          <a:stretch>
            <a:fillRect/>
          </a:stretch>
        </p:blipFill>
        <p:spPr bwMode="auto">
          <a:xfrm>
            <a:off x="8507729" y="2762627"/>
            <a:ext cx="2152650" cy="838200"/>
          </a:xfrm>
          <a:prstGeom prst="rect">
            <a:avLst/>
          </a:prstGeom>
          <a:noFill/>
          <a:ln w="9525">
            <a:noFill/>
            <a:miter lim="800000"/>
            <a:headEnd/>
            <a:tailEnd/>
          </a:ln>
          <a:effectLst/>
        </p:spPr>
      </p:pic>
      <p:sp>
        <p:nvSpPr>
          <p:cNvPr id="13" name="Content Placeholder 2">
            <a:extLst>
              <a:ext uri="{FF2B5EF4-FFF2-40B4-BE49-F238E27FC236}">
                <a16:creationId xmlns:a16="http://schemas.microsoft.com/office/drawing/2014/main" id="{FF2CEE0D-E6F2-A037-149C-82CA8BDA2EFE}"/>
              </a:ext>
            </a:extLst>
          </p:cNvPr>
          <p:cNvSpPr txBox="1">
            <a:spLocks/>
          </p:cNvSpPr>
          <p:nvPr/>
        </p:nvSpPr>
        <p:spPr>
          <a:xfrm>
            <a:off x="706755" y="4135106"/>
            <a:ext cx="6389371" cy="1298370"/>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r>
              <a:rPr lang="en-US" altLang="en-US" sz="2200" b="1" dirty="0">
                <a:latin typeface="+mj-lt"/>
                <a:cs typeface="Times New Roman" panose="02020603050405020304" pitchFamily="18" charset="0"/>
              </a:rPr>
              <a:t>An Interaction </a:t>
            </a:r>
            <a:r>
              <a:rPr lang="en-US" altLang="en-US" sz="2200" dirty="0">
                <a:latin typeface="+mj-lt"/>
                <a:cs typeface="Times New Roman" panose="02020603050405020304" pitchFamily="18" charset="0"/>
              </a:rPr>
              <a:t>is a set of messages exchanged among a set of objects to accomplish a specific purpose</a:t>
            </a:r>
            <a:endParaRPr lang="en-US" altLang="en-US" sz="2200" dirty="0"/>
          </a:p>
        </p:txBody>
      </p:sp>
      <p:pic>
        <p:nvPicPr>
          <p:cNvPr id="14" name="Picture 2">
            <a:extLst>
              <a:ext uri="{FF2B5EF4-FFF2-40B4-BE49-F238E27FC236}">
                <a16:creationId xmlns:a16="http://schemas.microsoft.com/office/drawing/2014/main" id="{99B056FC-3D43-627E-CD63-C0901804BB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7729" y="4276353"/>
            <a:ext cx="2584166" cy="384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Content Placeholder 2">
            <a:extLst>
              <a:ext uri="{FF2B5EF4-FFF2-40B4-BE49-F238E27FC236}">
                <a16:creationId xmlns:a16="http://schemas.microsoft.com/office/drawing/2014/main" id="{FC90FF5B-EFE5-30CC-92C6-2C06EEDD2176}"/>
              </a:ext>
            </a:extLst>
          </p:cNvPr>
          <p:cNvSpPr txBox="1">
            <a:spLocks/>
          </p:cNvSpPr>
          <p:nvPr/>
        </p:nvSpPr>
        <p:spPr>
          <a:xfrm>
            <a:off x="706755" y="5560654"/>
            <a:ext cx="6389371" cy="1087372"/>
          </a:xfrm>
          <a:prstGeom prst="rect">
            <a:avLst/>
          </a:prstGeom>
        </p:spPr>
        <p:txBody>
          <a:bodyPr>
            <a:normAutofit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r>
              <a:rPr lang="en-US" altLang="en-US" sz="2200" dirty="0"/>
              <a:t>An </a:t>
            </a:r>
            <a:r>
              <a:rPr lang="en-US" altLang="en-US" sz="2200" b="1" dirty="0"/>
              <a:t>activity</a:t>
            </a:r>
            <a:r>
              <a:rPr lang="en-US" altLang="en-US" sz="2200" dirty="0"/>
              <a:t> is a behavior that specifies the sequence of steps a computational process performs. </a:t>
            </a:r>
          </a:p>
        </p:txBody>
      </p:sp>
      <p:pic>
        <p:nvPicPr>
          <p:cNvPr id="16" name="Picture 3">
            <a:extLst>
              <a:ext uri="{FF2B5EF4-FFF2-40B4-BE49-F238E27FC236}">
                <a16:creationId xmlns:a16="http://schemas.microsoft.com/office/drawing/2014/main" id="{9392BBD1-5EB3-A3C1-03D8-77C80A9EFC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07729" y="5444115"/>
            <a:ext cx="2753541" cy="844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7084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1" y="583688"/>
            <a:ext cx="11029950" cy="522441"/>
          </a:xfrm>
        </p:spPr>
        <p:txBody>
          <a:bodyPr/>
          <a:lstStyle/>
          <a:p>
            <a:pPr algn="ctr"/>
            <a:r>
              <a:rPr lang="en-US" altLang="en-US" b="1" dirty="0">
                <a:solidFill>
                  <a:srgbClr val="0070C0"/>
                </a:solidFill>
                <a:latin typeface="Book Antiqua" pitchFamily="18" charset="0"/>
              </a:rPr>
              <a:t>grouping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96696" y="1190522"/>
            <a:ext cx="11182350" cy="2260601"/>
          </a:xfrm>
        </p:spPr>
        <p:txBody>
          <a:bodyPr>
            <a:normAutofit/>
          </a:bodyPr>
          <a:lstStyle/>
          <a:p>
            <a:pPr marL="457200" indent="-457200">
              <a:buFont typeface="Wingdings" pitchFamily="2" charset="2"/>
              <a:buChar char="q"/>
            </a:pPr>
            <a:r>
              <a:rPr lang="en-US" sz="2200" dirty="0"/>
              <a:t>The </a:t>
            </a:r>
            <a:r>
              <a:rPr lang="en-US" sz="2200" dirty="0">
                <a:solidFill>
                  <a:srgbClr val="C00000"/>
                </a:solidFill>
              </a:rPr>
              <a:t>organizational parts</a:t>
            </a:r>
            <a:r>
              <a:rPr lang="en-US" sz="2200" dirty="0"/>
              <a:t> of UML models. These are the boxes into which a model can be decomposed. There is one primary kind of grouping thing, namely, </a:t>
            </a:r>
            <a:r>
              <a:rPr lang="en-US" sz="2200" b="1" dirty="0">
                <a:solidFill>
                  <a:srgbClr val="C00000"/>
                </a:solidFill>
              </a:rPr>
              <a:t>packages</a:t>
            </a:r>
            <a:r>
              <a:rPr lang="en-US" sz="2200" dirty="0"/>
              <a:t>. </a:t>
            </a:r>
          </a:p>
          <a:p>
            <a:pPr marL="457200" indent="-457200">
              <a:buFont typeface="Wingdings" pitchFamily="2" charset="2"/>
              <a:buChar char="q"/>
            </a:pPr>
            <a:r>
              <a:rPr lang="en-US" sz="2200" dirty="0"/>
              <a:t>Organizing elements (structural/behavioral) into groups.</a:t>
            </a:r>
          </a:p>
          <a:p>
            <a:pPr marL="457200" indent="-457200">
              <a:buFont typeface="Wingdings" pitchFamily="2" charset="2"/>
              <a:buChar char="q"/>
            </a:pPr>
            <a:r>
              <a:rPr lang="en-US" sz="2200" dirty="0"/>
              <a:t>Purely conceptual. only exists at development time. And can be nested.</a:t>
            </a:r>
          </a:p>
          <a:p>
            <a:pPr marL="457200" indent="-457200">
              <a:buFont typeface="Wingdings" pitchFamily="2" charset="2"/>
              <a:buChar char="q"/>
            </a:pPr>
            <a:r>
              <a:rPr lang="en-US" sz="2200" dirty="0"/>
              <a:t>Variations of packages are: </a:t>
            </a:r>
            <a:r>
              <a:rPr lang="en-US" sz="2200" dirty="0">
                <a:solidFill>
                  <a:srgbClr val="C00000"/>
                </a:solidFill>
              </a:rPr>
              <a:t>Frameworks, models, &amp; subsystems</a:t>
            </a:r>
            <a:r>
              <a:rPr lang="en-US" sz="2200" dirty="0"/>
              <a:t>. </a:t>
            </a:r>
          </a:p>
        </p:txBody>
      </p:sp>
      <p:sp>
        <p:nvSpPr>
          <p:cNvPr id="11" name="Content Placeholder 3"/>
          <p:cNvSpPr txBox="1">
            <a:spLocks/>
          </p:cNvSpPr>
          <p:nvPr/>
        </p:nvSpPr>
        <p:spPr>
          <a:xfrm>
            <a:off x="457200" y="1959430"/>
            <a:ext cx="11181805" cy="3317965"/>
          </a:xfrm>
          <a:prstGeom prst="rect">
            <a:avLst/>
          </a:prstGeom>
        </p:spPr>
        <p:txBody>
          <a:bodyPr vert="horz" lIns="91440" tIns="45720" rIns="91440" bIns="45720" rtlCol="0" anchor="ctr">
            <a:normAutofit/>
          </a:bodyPr>
          <a:lstStyle/>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None/>
              <a:tabLst/>
              <a:defRPr/>
            </a:pPr>
            <a:endParaRPr kumimoji="0" lang="en-US" altLang="en-US" sz="2000" b="0" i="0" u="none" strike="noStrike" kern="1200" cap="none" spc="0" normalizeH="0" baseline="0" noProof="0" dirty="0">
              <a:ln>
                <a:noFill/>
              </a:ln>
              <a:solidFill>
                <a:schemeClr val="tx2"/>
              </a:solidFill>
              <a:effectLst/>
              <a:uLnTx/>
              <a:uFillTx/>
              <a:latin typeface="+mj-lt"/>
              <a:ea typeface="+mn-ea"/>
              <a:cs typeface="+mn-cs"/>
            </a:endParaRPr>
          </a:p>
        </p:txBody>
      </p:sp>
      <p:sp>
        <p:nvSpPr>
          <p:cNvPr id="12" name="Rectangle 19"/>
          <p:cNvSpPr>
            <a:spLocks noChangeArrowheads="1"/>
          </p:cNvSpPr>
          <p:nvPr/>
        </p:nvSpPr>
        <p:spPr bwMode="auto">
          <a:xfrm>
            <a:off x="3798201" y="4124984"/>
            <a:ext cx="4495800" cy="19812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latin typeface="Times New Roman" panose="02020603050405020304" pitchFamily="18" charset="0"/>
            </a:endParaRPr>
          </a:p>
        </p:txBody>
      </p:sp>
      <p:sp>
        <p:nvSpPr>
          <p:cNvPr id="13" name="Rectangle 18"/>
          <p:cNvSpPr>
            <a:spLocks noChangeArrowheads="1"/>
          </p:cNvSpPr>
          <p:nvPr/>
        </p:nvSpPr>
        <p:spPr bwMode="auto">
          <a:xfrm>
            <a:off x="3950601" y="4486934"/>
            <a:ext cx="698500" cy="17145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 name="Rectangle 13"/>
          <p:cNvSpPr>
            <a:spLocks noChangeArrowheads="1"/>
          </p:cNvSpPr>
          <p:nvPr/>
        </p:nvSpPr>
        <p:spPr bwMode="auto">
          <a:xfrm>
            <a:off x="3798201" y="3820184"/>
            <a:ext cx="1271588" cy="31115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 name="Rectangle 23"/>
          <p:cNvSpPr>
            <a:spLocks noChangeArrowheads="1"/>
          </p:cNvSpPr>
          <p:nvPr/>
        </p:nvSpPr>
        <p:spPr bwMode="auto">
          <a:xfrm>
            <a:off x="5779401" y="4505984"/>
            <a:ext cx="698500" cy="17145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 name="Rectangle 17"/>
          <p:cNvSpPr>
            <a:spLocks noChangeArrowheads="1"/>
          </p:cNvSpPr>
          <p:nvPr/>
        </p:nvSpPr>
        <p:spPr bwMode="auto">
          <a:xfrm>
            <a:off x="3950601" y="4658384"/>
            <a:ext cx="1752600" cy="4572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latin typeface="Times New Roman" panose="02020603050405020304" pitchFamily="18" charset="0"/>
              </a:rPr>
              <a:t>Course Manager</a:t>
            </a:r>
          </a:p>
        </p:txBody>
      </p:sp>
      <p:sp>
        <p:nvSpPr>
          <p:cNvPr id="17" name="Rectangle 22"/>
          <p:cNvSpPr>
            <a:spLocks noChangeArrowheads="1"/>
          </p:cNvSpPr>
          <p:nvPr/>
        </p:nvSpPr>
        <p:spPr bwMode="auto">
          <a:xfrm>
            <a:off x="5779401" y="4658384"/>
            <a:ext cx="1905000" cy="1143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latin typeface="Times New Roman" panose="02020603050405020304" pitchFamily="18" charset="0"/>
              </a:rPr>
              <a:t>Student Admission</a:t>
            </a:r>
          </a:p>
          <a:p>
            <a:pPr eaLnBrk="1" hangingPunct="1"/>
            <a:endParaRPr lang="en-US" altLang="en-US" dirty="0">
              <a:latin typeface="Times New Roman" panose="02020603050405020304" pitchFamily="18" charset="0"/>
            </a:endParaRPr>
          </a:p>
          <a:p>
            <a:pPr eaLnBrk="1" hangingPunct="1"/>
            <a:r>
              <a:rPr lang="en-US" altLang="en-US" dirty="0">
                <a:latin typeface="Times New Roman" panose="02020603050405020304" pitchFamily="18" charset="0"/>
              </a:rPr>
              <a:t>-Student</a:t>
            </a:r>
          </a:p>
          <a:p>
            <a:pPr eaLnBrk="1" hangingPunct="1"/>
            <a:r>
              <a:rPr lang="en-US" altLang="en-US" dirty="0">
                <a:latin typeface="Times New Roman" panose="02020603050405020304" pitchFamily="18" charset="0"/>
              </a:rPr>
              <a:t>+Department</a:t>
            </a:r>
          </a:p>
        </p:txBody>
      </p:sp>
      <p:sp>
        <p:nvSpPr>
          <p:cNvPr id="18" name="Text Box 21"/>
          <p:cNvSpPr txBox="1">
            <a:spLocks noChangeArrowheads="1"/>
          </p:cNvSpPr>
          <p:nvPr/>
        </p:nvSpPr>
        <p:spPr bwMode="auto">
          <a:xfrm>
            <a:off x="4331601" y="4124984"/>
            <a:ext cx="23415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University Administration</a:t>
            </a:r>
          </a:p>
        </p:txBody>
      </p:sp>
      <p:sp>
        <p:nvSpPr>
          <p:cNvPr id="21" name="Content Placeholder 2">
            <a:extLst>
              <a:ext uri="{FF2B5EF4-FFF2-40B4-BE49-F238E27FC236}">
                <a16:creationId xmlns:a16="http://schemas.microsoft.com/office/drawing/2014/main" id="{0296CABE-BB7D-4867-803C-74EA18160B29}"/>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22" name="Slide Number Placeholder 3">
            <a:extLst>
              <a:ext uri="{FF2B5EF4-FFF2-40B4-BE49-F238E27FC236}">
                <a16:creationId xmlns:a16="http://schemas.microsoft.com/office/drawing/2014/main" id="{A9B70C6A-A141-48A2-83C0-2FBA1CB041C2}"/>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12</a:t>
            </a:fld>
            <a:r>
              <a:rPr lang="en-US" sz="1400" b="1" dirty="0"/>
              <a:t> </a:t>
            </a:r>
          </a:p>
        </p:txBody>
      </p:sp>
      <p:sp>
        <p:nvSpPr>
          <p:cNvPr id="3" name="Rectangle 2" descr="M. Mhahudul Hasan">
            <a:extLst>
              <a:ext uri="{FF2B5EF4-FFF2-40B4-BE49-F238E27FC236}">
                <a16:creationId xmlns:a16="http://schemas.microsoft.com/office/drawing/2014/main" id="{37CFB58F-27A4-4ACF-AE3E-D625D5DDAF41}"/>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203FB6B1-C3DA-4333-803C-E1A93E42306A}"/>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6" name="Rectangle 5" descr="M. Mhahudul Hasan">
            <a:extLst>
              <a:ext uri="{FF2B5EF4-FFF2-40B4-BE49-F238E27FC236}">
                <a16:creationId xmlns:a16="http://schemas.microsoft.com/office/drawing/2014/main" id="{64B2141F-FC5A-42FD-A38F-6CEF1FEC835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2103331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568940"/>
            <a:ext cx="11029950" cy="551938"/>
          </a:xfrm>
        </p:spPr>
        <p:txBody>
          <a:bodyPr/>
          <a:lstStyle/>
          <a:p>
            <a:pPr algn="ctr"/>
            <a:r>
              <a:rPr lang="en-US" altLang="en-US" b="1" dirty="0">
                <a:solidFill>
                  <a:srgbClr val="0070C0"/>
                </a:solidFill>
                <a:latin typeface="Book Antiqua" pitchFamily="18" charset="0"/>
              </a:rPr>
              <a:t>Annotational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988141" y="1446571"/>
            <a:ext cx="10412362" cy="1919288"/>
          </a:xfrm>
        </p:spPr>
        <p:txBody>
          <a:bodyPr>
            <a:normAutofit/>
          </a:bodyPr>
          <a:lstStyle/>
          <a:p>
            <a:pPr lvl="0"/>
            <a:r>
              <a:rPr lang="en-US" sz="2200" dirty="0"/>
              <a:t>Annotational things are the </a:t>
            </a:r>
            <a:r>
              <a:rPr lang="en-US" sz="2200" b="1" dirty="0">
                <a:solidFill>
                  <a:srgbClr val="C00000"/>
                </a:solidFill>
              </a:rPr>
              <a:t>explanatory</a:t>
            </a:r>
            <a:r>
              <a:rPr lang="en-US" sz="2200" dirty="0">
                <a:solidFill>
                  <a:srgbClr val="C00000"/>
                </a:solidFill>
              </a:rPr>
              <a:t> parts </a:t>
            </a:r>
            <a:r>
              <a:rPr lang="en-US" sz="2200" dirty="0"/>
              <a:t>of UML models. </a:t>
            </a:r>
          </a:p>
          <a:p>
            <a:pPr lvl="0"/>
            <a:r>
              <a:rPr lang="en-US" sz="2200" dirty="0"/>
              <a:t>These are the comments you may apply to </a:t>
            </a:r>
            <a:r>
              <a:rPr lang="en-US" sz="2200" dirty="0">
                <a:solidFill>
                  <a:srgbClr val="C00000"/>
                </a:solidFill>
              </a:rPr>
              <a:t>describe, illuminate, and remark </a:t>
            </a:r>
            <a:r>
              <a:rPr lang="en-US" sz="2200" dirty="0"/>
              <a:t>about any element in a model. </a:t>
            </a:r>
          </a:p>
          <a:p>
            <a:r>
              <a:rPr lang="en-US" sz="2200" dirty="0"/>
              <a:t>There is one primary kind of Annotational thing, called a </a:t>
            </a:r>
            <a:r>
              <a:rPr lang="en-US" sz="2200" b="1" dirty="0">
                <a:solidFill>
                  <a:srgbClr val="C00000"/>
                </a:solidFill>
              </a:rPr>
              <a:t>note</a:t>
            </a:r>
            <a:r>
              <a:rPr lang="en-US" sz="2200" dirty="0"/>
              <a:t>.</a:t>
            </a:r>
          </a:p>
        </p:txBody>
      </p:sp>
      <p:sp>
        <p:nvSpPr>
          <p:cNvPr id="11" name="Content Placeholder 3"/>
          <p:cNvSpPr txBox="1">
            <a:spLocks/>
          </p:cNvSpPr>
          <p:nvPr/>
        </p:nvSpPr>
        <p:spPr>
          <a:xfrm>
            <a:off x="457200" y="1959430"/>
            <a:ext cx="11181805" cy="3317965"/>
          </a:xfrm>
          <a:prstGeom prst="rect">
            <a:avLst/>
          </a:prstGeom>
        </p:spPr>
        <p:txBody>
          <a:bodyPr vert="horz" lIns="91440" tIns="45720" rIns="91440" bIns="45720" rtlCol="0" anchor="ctr">
            <a:normAutofit/>
          </a:bodyPr>
          <a:lstStyle/>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None/>
              <a:tabLst/>
              <a:defRPr/>
            </a:pPr>
            <a:endParaRPr kumimoji="0" lang="en-US" altLang="en-US" sz="2000" b="0" i="0" u="none" strike="noStrike" kern="1200" cap="none" spc="0" normalizeH="0" baseline="0" noProof="0" dirty="0">
              <a:ln>
                <a:noFill/>
              </a:ln>
              <a:solidFill>
                <a:schemeClr val="tx2"/>
              </a:solidFill>
              <a:effectLst/>
              <a:uLnTx/>
              <a:uFillTx/>
              <a:latin typeface="+mj-lt"/>
              <a:ea typeface="+mn-ea"/>
              <a:cs typeface="+mn-cs"/>
            </a:endParaRPr>
          </a:p>
        </p:txBody>
      </p:sp>
      <p:pic>
        <p:nvPicPr>
          <p:cNvPr id="1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2796" y="3878718"/>
            <a:ext cx="281305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2">
            <a:extLst>
              <a:ext uri="{FF2B5EF4-FFF2-40B4-BE49-F238E27FC236}">
                <a16:creationId xmlns:a16="http://schemas.microsoft.com/office/drawing/2014/main" id="{E74FE781-73BE-47FC-92FA-0D36D8015818}"/>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12" name="Slide Number Placeholder 3">
            <a:extLst>
              <a:ext uri="{FF2B5EF4-FFF2-40B4-BE49-F238E27FC236}">
                <a16:creationId xmlns:a16="http://schemas.microsoft.com/office/drawing/2014/main" id="{A310E53F-FB59-4FA8-9556-3C82F070985C}"/>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13</a:t>
            </a:fld>
            <a:r>
              <a:rPr lang="en-US" sz="1400" b="1" dirty="0"/>
              <a:t> </a:t>
            </a:r>
          </a:p>
        </p:txBody>
      </p:sp>
      <p:sp>
        <p:nvSpPr>
          <p:cNvPr id="3" name="Rectangle 2" descr="M. Mhahudul Hasan">
            <a:extLst>
              <a:ext uri="{FF2B5EF4-FFF2-40B4-BE49-F238E27FC236}">
                <a16:creationId xmlns:a16="http://schemas.microsoft.com/office/drawing/2014/main" id="{D0993D96-CB7C-4DE4-B64E-D20BF3B8C514}"/>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9D9F2D48-74B0-4E92-9DB9-F31867F5D84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6" name="Rectangle 5" descr="M. Mhahudul Hasan">
            <a:extLst>
              <a:ext uri="{FF2B5EF4-FFF2-40B4-BE49-F238E27FC236}">
                <a16:creationId xmlns:a16="http://schemas.microsoft.com/office/drawing/2014/main" id="{B2B19ACB-CB16-4869-A319-D343C6807A9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2696495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latin typeface="Book Antiqua" pitchFamily="18" charset="0"/>
              </a:rPr>
              <a:t>Relationships  in  </a:t>
            </a:r>
            <a:r>
              <a:rPr lang="en-US" altLang="en-US" b="1" dirty="0" err="1">
                <a:latin typeface="Book Antiqua" pitchFamily="18" charset="0"/>
              </a:rPr>
              <a:t>uml</a:t>
            </a:r>
            <a:endParaRPr lang="en-US" b="1" dirty="0">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96388" y="1985553"/>
            <a:ext cx="11181805" cy="3696789"/>
          </a:xfrm>
        </p:spPr>
        <p:txBody>
          <a:bodyPr>
            <a:normAutofit/>
          </a:bodyPr>
          <a:lstStyle/>
          <a:p>
            <a:pPr>
              <a:buFont typeface="Wingdings" pitchFamily="2" charset="2"/>
              <a:buChar char="q"/>
            </a:pPr>
            <a:r>
              <a:rPr lang="en-US" sz="2000" dirty="0"/>
              <a:t>There are four kinds of relationships in the UML</a:t>
            </a:r>
          </a:p>
          <a:p>
            <a:pPr lvl="1"/>
            <a:r>
              <a:rPr lang="en-US" sz="2000" dirty="0"/>
              <a:t>Association</a:t>
            </a:r>
          </a:p>
          <a:p>
            <a:pPr lvl="1"/>
            <a:r>
              <a:rPr lang="en-US" sz="2000" dirty="0"/>
              <a:t>Generalization</a:t>
            </a:r>
          </a:p>
          <a:p>
            <a:pPr lvl="1"/>
            <a:r>
              <a:rPr lang="en-US" sz="2000" dirty="0"/>
              <a:t>Realization</a:t>
            </a:r>
          </a:p>
          <a:p>
            <a:pPr lvl="1"/>
            <a:r>
              <a:rPr lang="en-US" sz="2000" dirty="0"/>
              <a:t>Dependency</a:t>
            </a:r>
          </a:p>
          <a:p>
            <a:pPr lvl="1">
              <a:buNone/>
            </a:pPr>
            <a:endParaRPr lang="en-US" sz="2000" dirty="0"/>
          </a:p>
          <a:p>
            <a:pPr marL="0" indent="0">
              <a:buNone/>
            </a:pPr>
            <a:r>
              <a:rPr lang="en-US" sz="2000" dirty="0">
                <a:solidFill>
                  <a:srgbClr val="C00000"/>
                </a:solidFill>
              </a:rPr>
              <a:t>Association: </a:t>
            </a:r>
            <a:r>
              <a:rPr lang="en-US" sz="2000" dirty="0"/>
              <a:t>is a structural relationship that describes a set of links. A link is a connection between objects.</a:t>
            </a:r>
          </a:p>
          <a:p>
            <a:pPr marL="457200" lvl="0" indent="-457200">
              <a:buNone/>
            </a:pPr>
            <a:endParaRPr lang="en-US" sz="2000" dirty="0"/>
          </a:p>
        </p:txBody>
      </p:sp>
      <p:sp>
        <p:nvSpPr>
          <p:cNvPr id="11" name="Content Placeholder 3"/>
          <p:cNvSpPr txBox="1">
            <a:spLocks/>
          </p:cNvSpPr>
          <p:nvPr/>
        </p:nvSpPr>
        <p:spPr>
          <a:xfrm>
            <a:off x="457200" y="1959430"/>
            <a:ext cx="11181805" cy="3317965"/>
          </a:xfrm>
          <a:prstGeom prst="rect">
            <a:avLst/>
          </a:prstGeom>
        </p:spPr>
        <p:txBody>
          <a:bodyPr vert="horz" lIns="91440" tIns="45720" rIns="91440" bIns="45720" rtlCol="0" anchor="ctr">
            <a:normAutofit/>
          </a:bodyPr>
          <a:lstStyle/>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None/>
              <a:tabLst/>
              <a:defRPr/>
            </a:pPr>
            <a:endParaRPr kumimoji="0" lang="en-US" altLang="en-US" sz="2000" b="0" i="0" u="none" strike="noStrike" kern="1200" cap="none" spc="0" normalizeH="0" baseline="0" noProof="0" dirty="0">
              <a:ln>
                <a:noFill/>
              </a:ln>
              <a:solidFill>
                <a:schemeClr val="tx2"/>
              </a:solidFill>
              <a:effectLst/>
              <a:uLnTx/>
              <a:uFillTx/>
              <a:latin typeface="+mj-lt"/>
              <a:ea typeface="+mn-ea"/>
              <a:cs typeface="+mn-cs"/>
            </a:endParaRPr>
          </a:p>
        </p:txBody>
      </p:sp>
      <p:sp>
        <p:nvSpPr>
          <p:cNvPr id="8" name="Line 21"/>
          <p:cNvSpPr>
            <a:spLocks noChangeShapeType="1"/>
          </p:cNvSpPr>
          <p:nvPr/>
        </p:nvSpPr>
        <p:spPr bwMode="auto">
          <a:xfrm>
            <a:off x="6766560" y="5884817"/>
            <a:ext cx="2743200" cy="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en-US" b="1"/>
          </a:p>
        </p:txBody>
      </p:sp>
      <p:sp>
        <p:nvSpPr>
          <p:cNvPr id="9" name="Rectangle 34"/>
          <p:cNvSpPr>
            <a:spLocks noChangeArrowheads="1"/>
          </p:cNvSpPr>
          <p:nvPr/>
        </p:nvSpPr>
        <p:spPr bwMode="auto">
          <a:xfrm>
            <a:off x="5647372" y="5427617"/>
            <a:ext cx="1138238" cy="533400"/>
          </a:xfrm>
          <a:prstGeom prst="rect">
            <a:avLst/>
          </a:prstGeom>
          <a:noFill/>
          <a:ln w="127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b="1"/>
          </a:p>
        </p:txBody>
      </p:sp>
      <p:sp>
        <p:nvSpPr>
          <p:cNvPr id="10" name="Rectangle 35"/>
          <p:cNvSpPr>
            <a:spLocks noChangeArrowheads="1"/>
          </p:cNvSpPr>
          <p:nvPr/>
        </p:nvSpPr>
        <p:spPr bwMode="auto">
          <a:xfrm>
            <a:off x="5856922" y="5470480"/>
            <a:ext cx="8592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solidFill>
                  <a:schemeClr val="accent1"/>
                </a:solidFill>
              </a:rPr>
              <a:t>Student</a:t>
            </a:r>
          </a:p>
        </p:txBody>
      </p:sp>
      <p:sp>
        <p:nvSpPr>
          <p:cNvPr id="12" name="Rectangle 42"/>
          <p:cNvSpPr>
            <a:spLocks noChangeArrowheads="1"/>
          </p:cNvSpPr>
          <p:nvPr/>
        </p:nvSpPr>
        <p:spPr bwMode="auto">
          <a:xfrm>
            <a:off x="9533572" y="5460955"/>
            <a:ext cx="1295400" cy="533400"/>
          </a:xfrm>
          <a:prstGeom prst="rect">
            <a:avLst/>
          </a:prstGeom>
          <a:noFill/>
          <a:ln w="127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b="1"/>
          </a:p>
        </p:txBody>
      </p:sp>
      <p:sp>
        <p:nvSpPr>
          <p:cNvPr id="13" name="Rectangle 43"/>
          <p:cNvSpPr>
            <a:spLocks noChangeArrowheads="1"/>
          </p:cNvSpPr>
          <p:nvPr/>
        </p:nvSpPr>
        <p:spPr bwMode="auto">
          <a:xfrm>
            <a:off x="9585960" y="5503817"/>
            <a:ext cx="111569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dirty="0">
                <a:solidFill>
                  <a:schemeClr val="accent1"/>
                </a:solidFill>
              </a:rPr>
              <a:t>University</a:t>
            </a:r>
          </a:p>
        </p:txBody>
      </p:sp>
      <p:sp>
        <p:nvSpPr>
          <p:cNvPr id="14" name="Rectangle 74"/>
          <p:cNvSpPr>
            <a:spLocks noChangeArrowheads="1"/>
          </p:cNvSpPr>
          <p:nvPr/>
        </p:nvSpPr>
        <p:spPr bwMode="auto">
          <a:xfrm>
            <a:off x="7757160" y="5580017"/>
            <a:ext cx="8620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solidFill>
                  <a:schemeClr val="accent1"/>
                </a:solidFill>
              </a:rPr>
              <a:t>attends</a:t>
            </a:r>
          </a:p>
        </p:txBody>
      </p:sp>
      <p:sp>
        <p:nvSpPr>
          <p:cNvPr id="17" name="Content Placeholder 2">
            <a:extLst>
              <a:ext uri="{FF2B5EF4-FFF2-40B4-BE49-F238E27FC236}">
                <a16:creationId xmlns:a16="http://schemas.microsoft.com/office/drawing/2014/main" id="{C997B78F-6AD3-4ADE-BA55-6C90584F1C3A}"/>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18" name="Slide Number Placeholder 3">
            <a:extLst>
              <a:ext uri="{FF2B5EF4-FFF2-40B4-BE49-F238E27FC236}">
                <a16:creationId xmlns:a16="http://schemas.microsoft.com/office/drawing/2014/main" id="{DD669A9C-6814-488C-B600-6A9FAF35F445}"/>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14</a:t>
            </a:fld>
            <a:r>
              <a:rPr lang="en-US" sz="1400" b="1" dirty="0"/>
              <a:t> </a:t>
            </a:r>
          </a:p>
        </p:txBody>
      </p:sp>
      <p:sp>
        <p:nvSpPr>
          <p:cNvPr id="3" name="Rectangle 2" descr="M. Mhahudul Hasan">
            <a:extLst>
              <a:ext uri="{FF2B5EF4-FFF2-40B4-BE49-F238E27FC236}">
                <a16:creationId xmlns:a16="http://schemas.microsoft.com/office/drawing/2014/main" id="{0E8219C4-8189-486B-872E-FF0CE9FC3E0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1100A0CF-7BCB-47D5-9B82-EE7C7B25417B}"/>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6" name="Rectangle 5" descr="M. Mhahudul Hasan">
            <a:extLst>
              <a:ext uri="{FF2B5EF4-FFF2-40B4-BE49-F238E27FC236}">
                <a16:creationId xmlns:a16="http://schemas.microsoft.com/office/drawing/2014/main" id="{B200DC14-6F64-4ACF-952A-7E3CFFB07E3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1982778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latin typeface="Book Antiqua" pitchFamily="18" charset="0"/>
              </a:rPr>
              <a:t>Relationships  in  </a:t>
            </a:r>
            <a:r>
              <a:rPr lang="en-US" altLang="en-US" b="1" dirty="0" err="1">
                <a:latin typeface="Book Antiqua" pitchFamily="18" charset="0"/>
              </a:rPr>
              <a:t>uml</a:t>
            </a:r>
            <a:endParaRPr lang="en-US" b="1" dirty="0">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509451" y="1985554"/>
            <a:ext cx="11181805" cy="2638697"/>
          </a:xfrm>
        </p:spPr>
        <p:txBody>
          <a:bodyPr>
            <a:normAutofit/>
          </a:bodyPr>
          <a:lstStyle/>
          <a:p>
            <a:pPr marL="457200" indent="-457200">
              <a:buNone/>
            </a:pPr>
            <a:r>
              <a:rPr lang="en-US" altLang="en-US" sz="2000" dirty="0">
                <a:solidFill>
                  <a:srgbClr val="C00000"/>
                </a:solidFill>
                <a:latin typeface="+mj-lt"/>
              </a:rPr>
              <a:t>Generalization</a:t>
            </a:r>
            <a:r>
              <a:rPr lang="en-US" altLang="en-US" sz="2000" dirty="0">
                <a:latin typeface="+mj-lt"/>
              </a:rPr>
              <a:t>: can be defined as a relationship which connects a specialized element with a generalized element. It basically describes inheritance (IS-A) relationship in the world of objects.</a:t>
            </a:r>
          </a:p>
          <a:p>
            <a:pPr marL="457200" indent="-457200">
              <a:buAutoNum type="arabicPeriod" startAt="2"/>
            </a:pPr>
            <a:endParaRPr lang="en-US" altLang="en-US" sz="2000" dirty="0">
              <a:latin typeface="+mj-lt"/>
            </a:endParaRPr>
          </a:p>
          <a:p>
            <a:pPr marL="457200" indent="-457200">
              <a:buAutoNum type="arabicPeriod" startAt="2"/>
            </a:pPr>
            <a:endParaRPr lang="en-US" altLang="en-US" sz="2000" dirty="0">
              <a:latin typeface="+mj-lt"/>
            </a:endParaRPr>
          </a:p>
          <a:p>
            <a:pPr marL="457200" indent="-457200">
              <a:buAutoNum type="arabicPeriod" startAt="2"/>
            </a:pPr>
            <a:endParaRPr lang="en-US" altLang="en-US" sz="2000" dirty="0">
              <a:latin typeface="+mj-lt"/>
            </a:endParaRPr>
          </a:p>
          <a:p>
            <a:pPr marL="457200" lvl="0" indent="-457200">
              <a:buNone/>
            </a:pPr>
            <a:endParaRPr lang="en-US" sz="2000" dirty="0"/>
          </a:p>
        </p:txBody>
      </p:sp>
      <p:sp>
        <p:nvSpPr>
          <p:cNvPr id="11" name="Content Placeholder 3"/>
          <p:cNvSpPr txBox="1">
            <a:spLocks/>
          </p:cNvSpPr>
          <p:nvPr/>
        </p:nvSpPr>
        <p:spPr>
          <a:xfrm>
            <a:off x="457200" y="1959430"/>
            <a:ext cx="11181805" cy="3317965"/>
          </a:xfrm>
          <a:prstGeom prst="rect">
            <a:avLst/>
          </a:prstGeom>
        </p:spPr>
        <p:txBody>
          <a:bodyPr vert="horz" lIns="91440" tIns="45720" rIns="91440" bIns="45720" rtlCol="0" anchor="ctr">
            <a:normAutofit/>
          </a:bodyPr>
          <a:lstStyle/>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None/>
              <a:tabLst/>
              <a:defRPr/>
            </a:pPr>
            <a:endParaRPr kumimoji="0" lang="en-US" altLang="en-US" sz="2000" b="0" i="0" u="none" strike="noStrike" kern="1200" cap="none" spc="0" normalizeH="0" baseline="0" noProof="0" dirty="0">
              <a:ln>
                <a:noFill/>
              </a:ln>
              <a:solidFill>
                <a:schemeClr val="tx2"/>
              </a:solidFill>
              <a:effectLst/>
              <a:uLnTx/>
              <a:uFillTx/>
              <a:latin typeface="+mj-lt"/>
              <a:ea typeface="+mn-ea"/>
              <a:cs typeface="+mn-cs"/>
            </a:endParaRPr>
          </a:p>
        </p:txBody>
      </p:sp>
      <p:pic>
        <p:nvPicPr>
          <p:cNvPr id="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3775" y="2914986"/>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6"/>
          <p:cNvGrpSpPr>
            <a:grpSpLocks/>
          </p:cNvGrpSpPr>
          <p:nvPr/>
        </p:nvGrpSpPr>
        <p:grpSpPr bwMode="auto">
          <a:xfrm>
            <a:off x="9450063" y="3457864"/>
            <a:ext cx="1581729" cy="2308756"/>
            <a:chOff x="4560" y="1344"/>
            <a:chExt cx="672" cy="1344"/>
          </a:xfrm>
          <a:solidFill>
            <a:srgbClr val="FFC000"/>
          </a:solidFill>
        </p:grpSpPr>
        <p:grpSp>
          <p:nvGrpSpPr>
            <p:cNvPr id="10" name="Group 4"/>
            <p:cNvGrpSpPr>
              <a:grpSpLocks/>
            </p:cNvGrpSpPr>
            <p:nvPr/>
          </p:nvGrpSpPr>
          <p:grpSpPr bwMode="auto">
            <a:xfrm>
              <a:off x="4560" y="1344"/>
              <a:ext cx="672" cy="432"/>
              <a:chOff x="4128" y="720"/>
              <a:chExt cx="672" cy="432"/>
            </a:xfrm>
            <a:grpFill/>
          </p:grpSpPr>
          <p:sp>
            <p:nvSpPr>
              <p:cNvPr id="19" name="Oval 5"/>
              <p:cNvSpPr>
                <a:spLocks noChangeArrowheads="1"/>
              </p:cNvSpPr>
              <p:nvPr/>
            </p:nvSpPr>
            <p:spPr bwMode="auto">
              <a:xfrm>
                <a:off x="4128" y="720"/>
                <a:ext cx="672" cy="432"/>
              </a:xfrm>
              <a:prstGeom prst="ellipse">
                <a:avLst/>
              </a:prstGeom>
              <a:grpFill/>
              <a:ln w="9525">
                <a:solidFill>
                  <a:schemeClr val="tx1"/>
                </a:solidFill>
                <a:round/>
                <a:headEnd/>
                <a:tailEnd/>
              </a:ln>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0" name="Text Box 6"/>
              <p:cNvSpPr txBox="1">
                <a:spLocks noChangeArrowheads="1"/>
              </p:cNvSpPr>
              <p:nvPr/>
            </p:nvSpPr>
            <p:spPr bwMode="auto">
              <a:xfrm>
                <a:off x="4224" y="816"/>
                <a:ext cx="528" cy="25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sz="2000" b="0" dirty="0">
                    <a:latin typeface="Times New Roman" panose="02020603050405020304" pitchFamily="18" charset="0"/>
                  </a:rPr>
                  <a:t>parent</a:t>
                </a:r>
                <a:endParaRPr lang="en-US" altLang="en-US" sz="2400" b="0" dirty="0">
                  <a:latin typeface="Times New Roman" panose="02020603050405020304" pitchFamily="18" charset="0"/>
                </a:endParaRPr>
              </a:p>
            </p:txBody>
          </p:sp>
        </p:grpSp>
        <p:grpSp>
          <p:nvGrpSpPr>
            <p:cNvPr id="12" name="Group 7"/>
            <p:cNvGrpSpPr>
              <a:grpSpLocks/>
            </p:cNvGrpSpPr>
            <p:nvPr/>
          </p:nvGrpSpPr>
          <p:grpSpPr bwMode="auto">
            <a:xfrm>
              <a:off x="4560" y="2256"/>
              <a:ext cx="672" cy="432"/>
              <a:chOff x="4128" y="720"/>
              <a:chExt cx="672" cy="432"/>
            </a:xfrm>
            <a:grpFill/>
          </p:grpSpPr>
          <p:sp>
            <p:nvSpPr>
              <p:cNvPr id="17" name="Oval 8"/>
              <p:cNvSpPr>
                <a:spLocks noChangeArrowheads="1"/>
              </p:cNvSpPr>
              <p:nvPr/>
            </p:nvSpPr>
            <p:spPr bwMode="auto">
              <a:xfrm>
                <a:off x="4128" y="720"/>
                <a:ext cx="672" cy="432"/>
              </a:xfrm>
              <a:prstGeom prst="ellipse">
                <a:avLst/>
              </a:prstGeom>
              <a:grpFill/>
              <a:ln w="9525">
                <a:solidFill>
                  <a:schemeClr val="tx1"/>
                </a:solidFill>
                <a:round/>
                <a:headEnd/>
                <a:tailEnd/>
              </a:ln>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18" name="Text Box 9"/>
              <p:cNvSpPr txBox="1">
                <a:spLocks noChangeArrowheads="1"/>
              </p:cNvSpPr>
              <p:nvPr/>
            </p:nvSpPr>
            <p:spPr bwMode="auto">
              <a:xfrm>
                <a:off x="4224" y="816"/>
                <a:ext cx="528"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sz="2000" b="0" dirty="0">
                    <a:latin typeface="Times New Roman" panose="02020603050405020304" pitchFamily="18" charset="0"/>
                  </a:rPr>
                  <a:t>child</a:t>
                </a:r>
                <a:endParaRPr lang="en-US" altLang="en-US" sz="2400" b="0" dirty="0">
                  <a:latin typeface="Times New Roman" panose="02020603050405020304" pitchFamily="18" charset="0"/>
                </a:endParaRPr>
              </a:p>
            </p:txBody>
          </p:sp>
        </p:grpSp>
        <p:sp>
          <p:nvSpPr>
            <p:cNvPr id="13" name="Line 12"/>
            <p:cNvSpPr>
              <a:spLocks noChangeShapeType="1"/>
            </p:cNvSpPr>
            <p:nvPr/>
          </p:nvSpPr>
          <p:spPr bwMode="auto">
            <a:xfrm>
              <a:off x="4896" y="1968"/>
              <a:ext cx="0" cy="288"/>
            </a:xfrm>
            <a:prstGeom prst="line">
              <a:avLst/>
            </a:prstGeom>
            <a:grpFill/>
            <a:ln w="9525">
              <a:solidFill>
                <a:schemeClr val="tx1"/>
              </a:solidFill>
              <a:round/>
              <a:headEnd/>
              <a:tailEnd/>
            </a:ln>
          </p:spPr>
          <p:txBody>
            <a:bodyPr wrap="none" anchor="ctr"/>
            <a:lstStyle/>
            <a:p>
              <a:endParaRPr lang="en-US"/>
            </a:p>
          </p:txBody>
        </p:sp>
        <p:sp>
          <p:nvSpPr>
            <p:cNvPr id="14" name="AutoShape 15"/>
            <p:cNvSpPr>
              <a:spLocks noChangeArrowheads="1"/>
            </p:cNvSpPr>
            <p:nvPr/>
          </p:nvSpPr>
          <p:spPr bwMode="auto">
            <a:xfrm>
              <a:off x="4752" y="1776"/>
              <a:ext cx="288" cy="192"/>
            </a:xfrm>
            <a:prstGeom prst="triangle">
              <a:avLst>
                <a:gd name="adj" fmla="val 50000"/>
              </a:avLst>
            </a:prstGeom>
            <a:grpFill/>
            <a:ln w="9525">
              <a:solidFill>
                <a:schemeClr val="tx1"/>
              </a:solidFill>
              <a:miter lim="800000"/>
              <a:headEnd/>
              <a:tailEnd/>
            </a:ln>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grpSp>
      <p:grpSp>
        <p:nvGrpSpPr>
          <p:cNvPr id="34" name="Group 18"/>
          <p:cNvGrpSpPr>
            <a:grpSpLocks/>
          </p:cNvGrpSpPr>
          <p:nvPr/>
        </p:nvGrpSpPr>
        <p:grpSpPr bwMode="auto">
          <a:xfrm>
            <a:off x="1746069" y="3539614"/>
            <a:ext cx="6477000" cy="2685020"/>
            <a:chOff x="1488" y="1149"/>
            <a:chExt cx="2640" cy="2037"/>
          </a:xfrm>
        </p:grpSpPr>
        <p:grpSp>
          <p:nvGrpSpPr>
            <p:cNvPr id="35" name="Group 3"/>
            <p:cNvGrpSpPr>
              <a:grpSpLocks/>
            </p:cNvGrpSpPr>
            <p:nvPr/>
          </p:nvGrpSpPr>
          <p:grpSpPr bwMode="auto">
            <a:xfrm>
              <a:off x="2352" y="1149"/>
              <a:ext cx="960" cy="627"/>
              <a:chOff x="4176" y="525"/>
              <a:chExt cx="576" cy="627"/>
            </a:xfrm>
          </p:grpSpPr>
          <p:sp>
            <p:nvSpPr>
              <p:cNvPr id="45" name="Oval 4"/>
              <p:cNvSpPr>
                <a:spLocks noChangeArrowheads="1"/>
              </p:cNvSpPr>
              <p:nvPr/>
            </p:nvSpPr>
            <p:spPr bwMode="auto">
              <a:xfrm>
                <a:off x="4176" y="525"/>
                <a:ext cx="576" cy="62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46" name="Text Box 5"/>
              <p:cNvSpPr txBox="1">
                <a:spLocks noChangeArrowheads="1"/>
              </p:cNvSpPr>
              <p:nvPr/>
            </p:nvSpPr>
            <p:spPr bwMode="auto">
              <a:xfrm>
                <a:off x="4224" y="525"/>
                <a:ext cx="528" cy="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sz="2000" b="0" dirty="0">
                    <a:latin typeface="Times New Roman" panose="02020603050405020304" pitchFamily="18" charset="0"/>
                  </a:rPr>
                  <a:t>       Student   </a:t>
                </a:r>
                <a:br>
                  <a:rPr lang="en-US" altLang="en-US" sz="2000" b="0" dirty="0">
                    <a:latin typeface="Times New Roman" panose="02020603050405020304" pitchFamily="18" charset="0"/>
                  </a:rPr>
                </a:br>
                <a:r>
                  <a:rPr lang="en-US" altLang="en-US" sz="2000" b="0" dirty="0">
                    <a:latin typeface="Times New Roman" panose="02020603050405020304" pitchFamily="18" charset="0"/>
                  </a:rPr>
                  <a:t>     registration</a:t>
                </a:r>
                <a:endParaRPr lang="en-US" altLang="en-US" sz="2400" b="0" dirty="0">
                  <a:latin typeface="Times New Roman" panose="02020603050405020304" pitchFamily="18" charset="0"/>
                </a:endParaRPr>
              </a:p>
            </p:txBody>
          </p:sp>
        </p:grpSp>
        <p:sp>
          <p:nvSpPr>
            <p:cNvPr id="36" name="Oval 7"/>
            <p:cNvSpPr>
              <a:spLocks noChangeArrowheads="1"/>
            </p:cNvSpPr>
            <p:nvPr/>
          </p:nvSpPr>
          <p:spPr bwMode="auto">
            <a:xfrm>
              <a:off x="3120" y="2592"/>
              <a:ext cx="1008" cy="57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37" name="Text Box 8"/>
            <p:cNvSpPr txBox="1">
              <a:spLocks noChangeArrowheads="1"/>
            </p:cNvSpPr>
            <p:nvPr/>
          </p:nvSpPr>
          <p:spPr bwMode="auto">
            <a:xfrm>
              <a:off x="3156" y="2581"/>
              <a:ext cx="924" cy="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algn="ctr" rtl="0"/>
              <a:r>
                <a:rPr lang="en-US" altLang="en-US" sz="2000" b="0" dirty="0">
                  <a:latin typeface="Times New Roman" panose="02020603050405020304" pitchFamily="18" charset="0"/>
                </a:rPr>
                <a:t>graduate</a:t>
              </a:r>
            </a:p>
            <a:p>
              <a:pPr algn="ctr" rtl="0"/>
              <a:r>
                <a:rPr lang="en-US" altLang="en-US" sz="2000" b="0" dirty="0">
                  <a:latin typeface="Times New Roman" panose="02020603050405020304" pitchFamily="18" charset="0"/>
                </a:rPr>
                <a:t>registration</a:t>
              </a:r>
              <a:endParaRPr lang="en-US" altLang="en-US" sz="2400" b="0" dirty="0">
                <a:latin typeface="Times New Roman" panose="02020603050405020304" pitchFamily="18" charset="0"/>
              </a:endParaRPr>
            </a:p>
          </p:txBody>
        </p:sp>
        <p:sp>
          <p:nvSpPr>
            <p:cNvPr id="38" name="AutoShape 9"/>
            <p:cNvSpPr>
              <a:spLocks noChangeArrowheads="1"/>
            </p:cNvSpPr>
            <p:nvPr/>
          </p:nvSpPr>
          <p:spPr bwMode="auto">
            <a:xfrm>
              <a:off x="2736" y="1776"/>
              <a:ext cx="192" cy="192"/>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39" name="Line 10"/>
            <p:cNvSpPr>
              <a:spLocks noChangeShapeType="1"/>
            </p:cNvSpPr>
            <p:nvPr/>
          </p:nvSpPr>
          <p:spPr bwMode="auto">
            <a:xfrm>
              <a:off x="2112" y="2304"/>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 name="Oval 12"/>
            <p:cNvSpPr>
              <a:spLocks noChangeArrowheads="1"/>
            </p:cNvSpPr>
            <p:nvPr/>
          </p:nvSpPr>
          <p:spPr bwMode="auto">
            <a:xfrm>
              <a:off x="1488" y="2592"/>
              <a:ext cx="1152" cy="57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41" name="Text Box 13"/>
            <p:cNvSpPr txBox="1">
              <a:spLocks noChangeArrowheads="1"/>
            </p:cNvSpPr>
            <p:nvPr/>
          </p:nvSpPr>
          <p:spPr bwMode="auto">
            <a:xfrm>
              <a:off x="1536" y="2581"/>
              <a:ext cx="1056"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algn="ctr" rtl="0"/>
              <a:r>
                <a:rPr lang="en-US" altLang="en-US" sz="2000" b="0" dirty="0">
                  <a:latin typeface="Times New Roman" panose="02020603050405020304" pitchFamily="18" charset="0"/>
                </a:rPr>
                <a:t>under-graduate</a:t>
              </a:r>
            </a:p>
            <a:p>
              <a:pPr algn="ctr" rtl="0"/>
              <a:r>
                <a:rPr lang="en-US" altLang="en-US" sz="2000" b="0" dirty="0">
                  <a:latin typeface="Times New Roman" panose="02020603050405020304" pitchFamily="18" charset="0"/>
                </a:rPr>
                <a:t>registration</a:t>
              </a:r>
              <a:endParaRPr lang="en-US" altLang="en-US" sz="2400" b="0" dirty="0">
                <a:latin typeface="Times New Roman" panose="02020603050405020304" pitchFamily="18" charset="0"/>
              </a:endParaRPr>
            </a:p>
          </p:txBody>
        </p:sp>
        <p:sp>
          <p:nvSpPr>
            <p:cNvPr id="42" name="Line 14"/>
            <p:cNvSpPr>
              <a:spLocks noChangeShapeType="1"/>
            </p:cNvSpPr>
            <p:nvPr/>
          </p:nvSpPr>
          <p:spPr bwMode="auto">
            <a:xfrm>
              <a:off x="3600" y="2304"/>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15"/>
            <p:cNvSpPr>
              <a:spLocks noChangeShapeType="1"/>
            </p:cNvSpPr>
            <p:nvPr/>
          </p:nvSpPr>
          <p:spPr bwMode="auto">
            <a:xfrm>
              <a:off x="2112" y="2304"/>
              <a:ext cx="14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16"/>
            <p:cNvSpPr>
              <a:spLocks noChangeShapeType="1"/>
            </p:cNvSpPr>
            <p:nvPr/>
          </p:nvSpPr>
          <p:spPr bwMode="auto">
            <a:xfrm>
              <a:off x="2832" y="196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1" name="Content Placeholder 2">
            <a:extLst>
              <a:ext uri="{FF2B5EF4-FFF2-40B4-BE49-F238E27FC236}">
                <a16:creationId xmlns:a16="http://schemas.microsoft.com/office/drawing/2014/main" id="{A6733B01-2571-4FBC-84FC-6D9EC7AD2CB0}"/>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32" name="Slide Number Placeholder 3">
            <a:extLst>
              <a:ext uri="{FF2B5EF4-FFF2-40B4-BE49-F238E27FC236}">
                <a16:creationId xmlns:a16="http://schemas.microsoft.com/office/drawing/2014/main" id="{8638A584-E30D-4273-BEDE-542D52C1BD8B}"/>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15</a:t>
            </a:fld>
            <a:r>
              <a:rPr lang="en-US" sz="1400" b="1" dirty="0"/>
              <a:t> </a:t>
            </a:r>
          </a:p>
        </p:txBody>
      </p:sp>
      <p:sp>
        <p:nvSpPr>
          <p:cNvPr id="3" name="Rectangle 2" descr="M. Mhahudul Hasan">
            <a:extLst>
              <a:ext uri="{FF2B5EF4-FFF2-40B4-BE49-F238E27FC236}">
                <a16:creationId xmlns:a16="http://schemas.microsoft.com/office/drawing/2014/main" id="{4F93B218-ED94-43F5-ADB0-04F95FC9739F}"/>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226E82F2-76C4-4102-85F3-FA421375DB7F}"/>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6" name="Rectangle 5" descr="M. Mhahudul Hasan">
            <a:extLst>
              <a:ext uri="{FF2B5EF4-FFF2-40B4-BE49-F238E27FC236}">
                <a16:creationId xmlns:a16="http://schemas.microsoft.com/office/drawing/2014/main" id="{37947551-09B9-477E-9208-7F787CDCF277}"/>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220345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60439" y="554192"/>
            <a:ext cx="11029950" cy="640428"/>
          </a:xfrm>
        </p:spPr>
        <p:txBody>
          <a:bodyPr/>
          <a:lstStyle/>
          <a:p>
            <a:pPr algn="ctr"/>
            <a:r>
              <a:rPr lang="en-US" altLang="en-US" b="1" dirty="0">
                <a:solidFill>
                  <a:srgbClr val="0070C0"/>
                </a:solidFill>
                <a:latin typeface="Book Antiqua" pitchFamily="18" charset="0"/>
              </a:rPr>
              <a:t>Relationships  in  </a:t>
            </a:r>
            <a:r>
              <a:rPr lang="en-US" altLang="en-US" b="1" dirty="0" err="1">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61155" y="1360948"/>
            <a:ext cx="10809851" cy="4951362"/>
          </a:xfrm>
        </p:spPr>
        <p:txBody>
          <a:bodyPr>
            <a:normAutofit/>
          </a:bodyPr>
          <a:lstStyle/>
          <a:p>
            <a:pPr marL="457200" indent="-457200">
              <a:buNone/>
            </a:pPr>
            <a:r>
              <a:rPr lang="en-US" sz="2200" dirty="0">
                <a:solidFill>
                  <a:srgbClr val="C00000"/>
                </a:solidFill>
              </a:rPr>
              <a:t>Realization: </a:t>
            </a:r>
            <a:r>
              <a:rPr lang="en-US" sz="2200" dirty="0"/>
              <a:t>denotes the implementation (interface) of the functionality defined in one class by another class. </a:t>
            </a:r>
          </a:p>
          <a:p>
            <a:pPr marL="457200" indent="-457200">
              <a:buNone/>
            </a:pPr>
            <a:endParaRPr lang="en-US" sz="2200" dirty="0"/>
          </a:p>
          <a:p>
            <a:pPr marL="457200" indent="-457200">
              <a:buNone/>
            </a:pPr>
            <a:endParaRPr lang="en-US" altLang="en-US" sz="2200" dirty="0">
              <a:latin typeface="+mj-lt"/>
            </a:endParaRPr>
          </a:p>
          <a:p>
            <a:pPr marL="457200" indent="-457200">
              <a:buAutoNum type="arabicPeriod" startAt="2"/>
            </a:pPr>
            <a:endParaRPr lang="en-US" altLang="en-US" sz="2200" dirty="0">
              <a:latin typeface="+mj-lt"/>
            </a:endParaRPr>
          </a:p>
          <a:p>
            <a:pPr marL="457200" indent="-457200">
              <a:buNone/>
            </a:pPr>
            <a:endParaRPr lang="en-US" altLang="en-US" sz="2200" dirty="0">
              <a:latin typeface="+mj-lt"/>
            </a:endParaRPr>
          </a:p>
          <a:p>
            <a:pPr marL="457200" indent="-457200">
              <a:buNone/>
            </a:pPr>
            <a:r>
              <a:rPr lang="en-US" altLang="en-US" sz="2200" dirty="0">
                <a:solidFill>
                  <a:srgbClr val="C00000"/>
                </a:solidFill>
                <a:latin typeface="+mj-lt"/>
              </a:rPr>
              <a:t>Dependency: </a:t>
            </a:r>
            <a:r>
              <a:rPr lang="en-US" altLang="en-US" sz="2200" dirty="0">
                <a:latin typeface="+mj-lt"/>
              </a:rPr>
              <a:t>is a relationship between two things in which change in one element also affects the other one.</a:t>
            </a:r>
          </a:p>
          <a:p>
            <a:pPr marL="457200" indent="-457200">
              <a:buNone/>
            </a:pPr>
            <a:endParaRPr lang="en-US" altLang="en-US" sz="2200" dirty="0">
              <a:latin typeface="+mj-lt"/>
            </a:endParaRPr>
          </a:p>
          <a:p>
            <a:pPr marL="457200" indent="-457200">
              <a:buNone/>
            </a:pPr>
            <a:endParaRPr lang="en-US" altLang="en-US" sz="2200" dirty="0">
              <a:latin typeface="+mj-lt"/>
            </a:endParaRPr>
          </a:p>
          <a:p>
            <a:pPr marL="457200" lvl="0" indent="-457200">
              <a:buNone/>
            </a:pPr>
            <a:endParaRPr lang="en-US" sz="2200" dirty="0"/>
          </a:p>
        </p:txBody>
      </p:sp>
      <p:sp>
        <p:nvSpPr>
          <p:cNvPr id="11" name="Content Placeholder 3"/>
          <p:cNvSpPr txBox="1">
            <a:spLocks/>
          </p:cNvSpPr>
          <p:nvPr/>
        </p:nvSpPr>
        <p:spPr>
          <a:xfrm>
            <a:off x="457200" y="1959430"/>
            <a:ext cx="11181805" cy="3317965"/>
          </a:xfrm>
          <a:prstGeom prst="rect">
            <a:avLst/>
          </a:prstGeom>
        </p:spPr>
        <p:txBody>
          <a:bodyPr vert="horz" lIns="91440" tIns="45720" rIns="91440" bIns="45720" rtlCol="0" anchor="ctr">
            <a:normAutofit/>
          </a:bodyPr>
          <a:lstStyle/>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None/>
              <a:tabLst/>
              <a:defRPr/>
            </a:pPr>
            <a:endParaRPr kumimoji="0" lang="en-US" altLang="en-US" sz="2000" b="0" i="0" u="none" strike="noStrike" kern="1200" cap="none" spc="0" normalizeH="0" baseline="0" noProof="0" dirty="0">
              <a:ln>
                <a:noFill/>
              </a:ln>
              <a:solidFill>
                <a:schemeClr val="tx2"/>
              </a:solidFill>
              <a:effectLst/>
              <a:uLnTx/>
              <a:uFillTx/>
              <a:latin typeface="+mj-lt"/>
              <a:ea typeface="+mn-ea"/>
              <a:cs typeface="+mn-cs"/>
            </a:endParaRPr>
          </a:p>
        </p:txBody>
      </p:sp>
      <p:pic>
        <p:nvPicPr>
          <p:cNvPr id="8" name="Picture 2" descr="realization"/>
          <p:cNvPicPr>
            <a:picLocks noChangeAspect="1" noChangeArrowheads="1"/>
          </p:cNvPicPr>
          <p:nvPr/>
        </p:nvPicPr>
        <p:blipFill>
          <a:blip r:embed="rId2"/>
          <a:srcRect/>
          <a:stretch>
            <a:fillRect/>
          </a:stretch>
        </p:blipFill>
        <p:spPr bwMode="auto">
          <a:xfrm>
            <a:off x="3909164" y="1900963"/>
            <a:ext cx="4741818" cy="1586820"/>
          </a:xfrm>
          <a:prstGeom prst="rect">
            <a:avLst/>
          </a:prstGeom>
          <a:noFill/>
        </p:spPr>
      </p:pic>
      <p:sp>
        <p:nvSpPr>
          <p:cNvPr id="9" name="Rectangle 8"/>
          <p:cNvSpPr/>
          <p:nvPr/>
        </p:nvSpPr>
        <p:spPr>
          <a:xfrm>
            <a:off x="4828968" y="3466402"/>
            <a:ext cx="3217547" cy="369332"/>
          </a:xfrm>
          <a:prstGeom prst="rect">
            <a:avLst/>
          </a:prstGeom>
        </p:spPr>
        <p:txBody>
          <a:bodyPr wrap="none">
            <a:spAutoFit/>
          </a:bodyPr>
          <a:lstStyle/>
          <a:p>
            <a:r>
              <a:rPr lang="en-US" dirty="0">
                <a:solidFill>
                  <a:srgbClr val="C00000"/>
                </a:solidFill>
                <a:latin typeface="Courier New" pitchFamily="49" charset="0"/>
                <a:cs typeface="Courier New" pitchFamily="49" charset="0"/>
              </a:rPr>
              <a:t>class A3 implements B3</a:t>
            </a:r>
            <a:endParaRPr lang="en-US" dirty="0"/>
          </a:p>
        </p:txBody>
      </p:sp>
      <p:pic>
        <p:nvPicPr>
          <p:cNvPr id="13314" name="Picture 2" descr="dependency"/>
          <p:cNvPicPr>
            <a:picLocks noChangeAspect="1" noChangeArrowheads="1"/>
          </p:cNvPicPr>
          <p:nvPr/>
        </p:nvPicPr>
        <p:blipFill>
          <a:blip r:embed="rId3"/>
          <a:srcRect/>
          <a:stretch>
            <a:fillRect/>
          </a:stretch>
        </p:blipFill>
        <p:spPr bwMode="auto">
          <a:xfrm>
            <a:off x="4563431" y="4633697"/>
            <a:ext cx="4781005" cy="1351689"/>
          </a:xfrm>
          <a:prstGeom prst="rect">
            <a:avLst/>
          </a:prstGeom>
          <a:noFill/>
        </p:spPr>
      </p:pic>
      <p:sp>
        <p:nvSpPr>
          <p:cNvPr id="12" name="Rectangle 11"/>
          <p:cNvSpPr/>
          <p:nvPr/>
        </p:nvSpPr>
        <p:spPr>
          <a:xfrm>
            <a:off x="5023508" y="5962953"/>
            <a:ext cx="3906839" cy="369332"/>
          </a:xfrm>
          <a:prstGeom prst="rect">
            <a:avLst/>
          </a:prstGeom>
        </p:spPr>
        <p:txBody>
          <a:bodyPr wrap="none">
            <a:spAutoFit/>
          </a:bodyPr>
          <a:lstStyle/>
          <a:p>
            <a:r>
              <a:rPr lang="en-US" dirty="0">
                <a:solidFill>
                  <a:srgbClr val="C00000"/>
                </a:solidFill>
                <a:latin typeface="Courier New" pitchFamily="49" charset="0"/>
                <a:cs typeface="Courier New" pitchFamily="49" charset="0"/>
              </a:rPr>
              <a:t>class A depends on class B</a:t>
            </a:r>
            <a:endParaRPr lang="en-US" dirty="0"/>
          </a:p>
        </p:txBody>
      </p:sp>
      <p:sp>
        <p:nvSpPr>
          <p:cNvPr id="14" name="Content Placeholder 2">
            <a:extLst>
              <a:ext uri="{FF2B5EF4-FFF2-40B4-BE49-F238E27FC236}">
                <a16:creationId xmlns:a16="http://schemas.microsoft.com/office/drawing/2014/main" id="{939525EE-2B2E-475B-8841-8233B93F97E3}"/>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15" name="Slide Number Placeholder 3">
            <a:extLst>
              <a:ext uri="{FF2B5EF4-FFF2-40B4-BE49-F238E27FC236}">
                <a16:creationId xmlns:a16="http://schemas.microsoft.com/office/drawing/2014/main" id="{C82AD7D0-A792-4869-8379-329D1959FC5B}"/>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16</a:t>
            </a:fld>
            <a:r>
              <a:rPr lang="en-US" sz="1400" b="1" dirty="0"/>
              <a:t> </a:t>
            </a:r>
          </a:p>
        </p:txBody>
      </p:sp>
      <p:sp>
        <p:nvSpPr>
          <p:cNvPr id="3" name="Rectangle 2" descr="M. Mhahudul Hasan">
            <a:extLst>
              <a:ext uri="{FF2B5EF4-FFF2-40B4-BE49-F238E27FC236}">
                <a16:creationId xmlns:a16="http://schemas.microsoft.com/office/drawing/2014/main" id="{47A08761-65E4-463C-900A-9057E648C7A6}"/>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0EC69E2C-6C7F-4C3D-9B7F-8E1487F062E0}"/>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6" name="Rectangle 5" descr="M. Mhahudul Hasan">
            <a:extLst>
              <a:ext uri="{FF2B5EF4-FFF2-40B4-BE49-F238E27FC236}">
                <a16:creationId xmlns:a16="http://schemas.microsoft.com/office/drawing/2014/main" id="{05E63077-9577-4568-95F8-E80629200460}"/>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Tree>
    <p:extLst>
      <p:ext uri="{BB962C8B-B14F-4D97-AF65-F5344CB8AC3E}">
        <p14:creationId xmlns:p14="http://schemas.microsoft.com/office/powerpoint/2010/main" val="2284134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84200"/>
            <a:ext cx="11029950" cy="595313"/>
          </a:xfrm>
        </p:spPr>
        <p:txBody>
          <a:bodyPr/>
          <a:lstStyle/>
          <a:p>
            <a:pPr algn="ctr"/>
            <a:r>
              <a:rPr lang="en-US" altLang="en-US" b="1">
                <a:solidFill>
                  <a:srgbClr val="0070C0"/>
                </a:solidFill>
                <a:latin typeface="Book Antiqua" pitchFamily="18" charset="0"/>
              </a:rPr>
              <a:t>Diagrams  in  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434340" y="1241425"/>
            <a:ext cx="11281410" cy="1147763"/>
          </a:xfrm>
        </p:spPr>
        <p:txBody>
          <a:bodyPr>
            <a:normAutofit/>
          </a:bodyPr>
          <a:lstStyle/>
          <a:p>
            <a:pPr marL="0" lvl="0" indent="0" algn="just">
              <a:buNone/>
            </a:pPr>
            <a:r>
              <a:rPr lang="en-US" sz="2200" dirty="0"/>
              <a:t>A </a:t>
            </a:r>
            <a:r>
              <a:rPr lang="en-US" sz="2200" b="1" dirty="0"/>
              <a:t>diagram</a:t>
            </a:r>
            <a:r>
              <a:rPr lang="en-US" sz="2200" dirty="0"/>
              <a:t> is the graphical presentation of a set of elements, most often rendered as a connected graph of vertices (things) and arcs (relationships).  </a:t>
            </a:r>
            <a:endParaRPr lang="en-US" dirty="0">
              <a:solidFill>
                <a:srgbClr val="0070C0"/>
              </a:solidFill>
              <a:latin typeface="+mj-lt"/>
            </a:endParaRPr>
          </a:p>
        </p:txBody>
      </p:sp>
      <p:sp>
        <p:nvSpPr>
          <p:cNvPr id="9" name="Content Placeholder 2">
            <a:extLst>
              <a:ext uri="{FF2B5EF4-FFF2-40B4-BE49-F238E27FC236}">
                <a16:creationId xmlns:a16="http://schemas.microsoft.com/office/drawing/2014/main" id="{DA64A600-1A84-4336-96D5-84BDEB299A05}"/>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10" name="Slide Number Placeholder 3">
            <a:extLst>
              <a:ext uri="{FF2B5EF4-FFF2-40B4-BE49-F238E27FC236}">
                <a16:creationId xmlns:a16="http://schemas.microsoft.com/office/drawing/2014/main" id="{C43B9EDB-61DE-4DB3-987E-673EADB37483}"/>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17</a:t>
            </a:fld>
            <a:r>
              <a:rPr lang="en-US" sz="1400" b="1" dirty="0"/>
              <a:t> </a:t>
            </a:r>
          </a:p>
        </p:txBody>
      </p:sp>
      <p:sp>
        <p:nvSpPr>
          <p:cNvPr id="3" name="Rectangle 2" descr="M. Mhahudul Hasan">
            <a:extLst>
              <a:ext uri="{FF2B5EF4-FFF2-40B4-BE49-F238E27FC236}">
                <a16:creationId xmlns:a16="http://schemas.microsoft.com/office/drawing/2014/main" id="{5605104E-EA47-415D-B585-D9D5D6BEAC3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7" name="Rectangle 6" descr="M. Mhahudul Hasan">
            <a:extLst>
              <a:ext uri="{FF2B5EF4-FFF2-40B4-BE49-F238E27FC236}">
                <a16:creationId xmlns:a16="http://schemas.microsoft.com/office/drawing/2014/main" id="{C85C5703-0D7C-4F54-BBC2-857A204C9531}"/>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13" name="Rectangle 12" descr="M. Mhahudul Hasan">
            <a:extLst>
              <a:ext uri="{FF2B5EF4-FFF2-40B4-BE49-F238E27FC236}">
                <a16:creationId xmlns:a16="http://schemas.microsoft.com/office/drawing/2014/main" id="{F9EB2597-BDBB-4FE2-B595-434F1613CA8B}"/>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14" name="Content Placeholder 3">
            <a:extLst>
              <a:ext uri="{FF2B5EF4-FFF2-40B4-BE49-F238E27FC236}">
                <a16:creationId xmlns:a16="http://schemas.microsoft.com/office/drawing/2014/main" id="{10D3D7E5-82AF-B26C-90B8-5F641A80F55F}"/>
              </a:ext>
            </a:extLst>
          </p:cNvPr>
          <p:cNvSpPr txBox="1">
            <a:spLocks/>
          </p:cNvSpPr>
          <p:nvPr/>
        </p:nvSpPr>
        <p:spPr>
          <a:xfrm>
            <a:off x="537210" y="2399665"/>
            <a:ext cx="11045190" cy="3966845"/>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42900" indent="-342900" algn="just">
              <a:buFont typeface="Wingdings 2" panose="05020102010507070707" pitchFamily="18" charset="2"/>
              <a:buAutoNum type="arabicPeriod"/>
            </a:pPr>
            <a:r>
              <a:rPr lang="en-US" sz="2200" dirty="0">
                <a:solidFill>
                  <a:srgbClr val="0070C0"/>
                </a:solidFill>
                <a:latin typeface="+mj-lt"/>
              </a:rPr>
              <a:t>Class Diagram – </a:t>
            </a:r>
            <a:r>
              <a:rPr lang="en-US" sz="2200" dirty="0">
                <a:solidFill>
                  <a:srgbClr val="C00000"/>
                </a:solidFill>
                <a:latin typeface="+mj-lt"/>
              </a:rPr>
              <a:t>Structural.</a:t>
            </a:r>
            <a:r>
              <a:rPr lang="en-US" sz="2200" dirty="0">
                <a:solidFill>
                  <a:srgbClr val="0070C0"/>
                </a:solidFill>
                <a:latin typeface="+mj-lt"/>
              </a:rPr>
              <a:t> Represents </a:t>
            </a:r>
            <a:r>
              <a:rPr lang="en-US" sz="2200" dirty="0">
                <a:solidFill>
                  <a:srgbClr val="C00000"/>
                </a:solidFill>
                <a:latin typeface="+mj-lt"/>
              </a:rPr>
              <a:t>Static Design View </a:t>
            </a:r>
            <a:r>
              <a:rPr lang="en-US" sz="2200" dirty="0">
                <a:solidFill>
                  <a:srgbClr val="0070C0"/>
                </a:solidFill>
                <a:latin typeface="+mj-lt"/>
              </a:rPr>
              <a:t>or </a:t>
            </a:r>
            <a:r>
              <a:rPr lang="en-US" sz="2200" dirty="0">
                <a:solidFill>
                  <a:srgbClr val="C00000"/>
                </a:solidFill>
                <a:latin typeface="+mj-lt"/>
              </a:rPr>
              <a:t>Static Process View.</a:t>
            </a:r>
          </a:p>
          <a:p>
            <a:pPr marL="342900" indent="-342900" algn="just">
              <a:buFont typeface="Wingdings 2" panose="05020102010507070707" pitchFamily="18" charset="2"/>
              <a:buAutoNum type="arabicPeriod"/>
            </a:pPr>
            <a:r>
              <a:rPr lang="en-US" sz="2200" dirty="0">
                <a:solidFill>
                  <a:srgbClr val="0070C0"/>
                </a:solidFill>
                <a:latin typeface="+mj-lt"/>
              </a:rPr>
              <a:t>Object Diagram – </a:t>
            </a:r>
            <a:r>
              <a:rPr lang="en-US" sz="2200" dirty="0">
                <a:solidFill>
                  <a:srgbClr val="C00000"/>
                </a:solidFill>
                <a:latin typeface="+mj-lt"/>
              </a:rPr>
              <a:t>Structural.</a:t>
            </a:r>
            <a:r>
              <a:rPr lang="en-US" sz="2200" dirty="0">
                <a:solidFill>
                  <a:srgbClr val="0070C0"/>
                </a:solidFill>
                <a:latin typeface="+mj-lt"/>
              </a:rPr>
              <a:t> Represents </a:t>
            </a:r>
            <a:r>
              <a:rPr lang="en-US" sz="2200" dirty="0">
                <a:solidFill>
                  <a:srgbClr val="C00000"/>
                </a:solidFill>
                <a:latin typeface="+mj-lt"/>
              </a:rPr>
              <a:t>Static Design View </a:t>
            </a:r>
            <a:r>
              <a:rPr lang="en-US" sz="2200" dirty="0">
                <a:solidFill>
                  <a:srgbClr val="0070C0"/>
                </a:solidFill>
                <a:latin typeface="+mj-lt"/>
              </a:rPr>
              <a:t>or </a:t>
            </a:r>
            <a:r>
              <a:rPr lang="en-US" sz="2200" dirty="0">
                <a:solidFill>
                  <a:srgbClr val="C00000"/>
                </a:solidFill>
                <a:latin typeface="+mj-lt"/>
              </a:rPr>
              <a:t>Static Process View.</a:t>
            </a:r>
            <a:endParaRPr lang="en-US" sz="2200" dirty="0">
              <a:solidFill>
                <a:srgbClr val="0070C0"/>
              </a:solidFill>
              <a:latin typeface="+mj-lt"/>
            </a:endParaRPr>
          </a:p>
          <a:p>
            <a:pPr marL="342900" indent="-342900" algn="just">
              <a:buFont typeface="Wingdings 2" panose="05020102010507070707" pitchFamily="18" charset="2"/>
              <a:buAutoNum type="arabicPeriod"/>
            </a:pPr>
            <a:r>
              <a:rPr lang="en-US" sz="2200" dirty="0">
                <a:solidFill>
                  <a:srgbClr val="0070C0"/>
                </a:solidFill>
                <a:latin typeface="+mj-lt"/>
              </a:rPr>
              <a:t>Component Diagram – </a:t>
            </a:r>
            <a:r>
              <a:rPr lang="en-US" sz="2200" dirty="0">
                <a:solidFill>
                  <a:srgbClr val="C00000"/>
                </a:solidFill>
                <a:latin typeface="+mj-lt"/>
              </a:rPr>
              <a:t>Structural.</a:t>
            </a:r>
            <a:r>
              <a:rPr lang="en-US" sz="2200" dirty="0">
                <a:solidFill>
                  <a:srgbClr val="0070C0"/>
                </a:solidFill>
                <a:latin typeface="+mj-lt"/>
              </a:rPr>
              <a:t> Represents </a:t>
            </a:r>
            <a:r>
              <a:rPr lang="en-US" sz="2200" dirty="0">
                <a:solidFill>
                  <a:srgbClr val="C00000"/>
                </a:solidFill>
                <a:latin typeface="+mj-lt"/>
              </a:rPr>
              <a:t>Static Implementation View.</a:t>
            </a:r>
          </a:p>
          <a:p>
            <a:pPr marL="342900" indent="-342900" algn="just">
              <a:buFont typeface="Wingdings 2" panose="05020102010507070707" pitchFamily="18" charset="2"/>
              <a:buAutoNum type="arabicPeriod"/>
            </a:pPr>
            <a:r>
              <a:rPr lang="en-US" sz="2200" dirty="0">
                <a:solidFill>
                  <a:srgbClr val="0070C0"/>
                </a:solidFill>
                <a:latin typeface="+mj-lt"/>
              </a:rPr>
              <a:t>Artifact Diagram – </a:t>
            </a:r>
            <a:r>
              <a:rPr lang="en-US" sz="2200" dirty="0">
                <a:solidFill>
                  <a:srgbClr val="C00000"/>
                </a:solidFill>
                <a:latin typeface="+mj-lt"/>
              </a:rPr>
              <a:t>Structural.</a:t>
            </a:r>
            <a:r>
              <a:rPr lang="en-US" sz="2200" dirty="0">
                <a:solidFill>
                  <a:srgbClr val="0070C0"/>
                </a:solidFill>
                <a:latin typeface="+mj-lt"/>
              </a:rPr>
              <a:t> Represents </a:t>
            </a:r>
            <a:r>
              <a:rPr lang="en-US" sz="2200" dirty="0">
                <a:solidFill>
                  <a:srgbClr val="C00000"/>
                </a:solidFill>
                <a:latin typeface="+mj-lt"/>
              </a:rPr>
              <a:t>Static Implementation View.</a:t>
            </a:r>
            <a:endParaRPr lang="en-US" sz="2200" dirty="0">
              <a:solidFill>
                <a:srgbClr val="0070C0"/>
              </a:solidFill>
              <a:latin typeface="+mj-lt"/>
            </a:endParaRPr>
          </a:p>
          <a:p>
            <a:pPr marL="342900" indent="-342900" algn="just">
              <a:buFont typeface="Wingdings 2" panose="05020102010507070707" pitchFamily="18" charset="2"/>
              <a:buAutoNum type="arabicPeriod"/>
            </a:pPr>
            <a:r>
              <a:rPr lang="en-US" sz="2200" dirty="0">
                <a:solidFill>
                  <a:srgbClr val="0070C0"/>
                </a:solidFill>
                <a:latin typeface="+mj-lt"/>
              </a:rPr>
              <a:t>Use Case Diagram – </a:t>
            </a:r>
            <a:r>
              <a:rPr lang="en-US" sz="2200" dirty="0">
                <a:solidFill>
                  <a:srgbClr val="C00000"/>
                </a:solidFill>
                <a:latin typeface="+mj-lt"/>
              </a:rPr>
              <a:t>Behavioral. </a:t>
            </a:r>
            <a:r>
              <a:rPr lang="en-US" sz="2200" dirty="0">
                <a:solidFill>
                  <a:srgbClr val="0070C0"/>
                </a:solidFill>
                <a:latin typeface="+mj-lt"/>
              </a:rPr>
              <a:t>Represents </a:t>
            </a:r>
            <a:r>
              <a:rPr lang="en-US" sz="2200" dirty="0">
                <a:solidFill>
                  <a:srgbClr val="C00000"/>
                </a:solidFill>
                <a:latin typeface="+mj-lt"/>
              </a:rPr>
              <a:t>Static Use Case View.</a:t>
            </a:r>
          </a:p>
          <a:p>
            <a:pPr marL="342900" indent="-342900" algn="just">
              <a:buFont typeface="Wingdings 2" panose="05020102010507070707" pitchFamily="18" charset="2"/>
              <a:buAutoNum type="arabicPeriod"/>
            </a:pPr>
            <a:r>
              <a:rPr lang="en-US" sz="2200" dirty="0">
                <a:solidFill>
                  <a:srgbClr val="0070C0"/>
                </a:solidFill>
                <a:latin typeface="+mj-lt"/>
              </a:rPr>
              <a:t>Deployment Diagram – </a:t>
            </a:r>
            <a:r>
              <a:rPr lang="en-US" sz="2200" dirty="0">
                <a:solidFill>
                  <a:srgbClr val="C00000"/>
                </a:solidFill>
                <a:latin typeface="+mj-lt"/>
              </a:rPr>
              <a:t>Structural.</a:t>
            </a:r>
            <a:r>
              <a:rPr lang="en-US" sz="2200" dirty="0">
                <a:solidFill>
                  <a:srgbClr val="0070C0"/>
                </a:solidFill>
                <a:latin typeface="+mj-lt"/>
              </a:rPr>
              <a:t> Represents </a:t>
            </a:r>
            <a:r>
              <a:rPr lang="en-US" sz="2200" dirty="0">
                <a:solidFill>
                  <a:srgbClr val="C00000"/>
                </a:solidFill>
                <a:latin typeface="+mj-lt"/>
              </a:rPr>
              <a:t>Static Deployment View.</a:t>
            </a:r>
          </a:p>
        </p:txBody>
      </p:sp>
    </p:spTree>
    <p:extLst>
      <p:ext uri="{BB962C8B-B14F-4D97-AF65-F5344CB8AC3E}">
        <p14:creationId xmlns:p14="http://schemas.microsoft.com/office/powerpoint/2010/main" val="3834015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2A37B-7FE0-A5E2-243E-1876F2D7FC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13B149-3169-A260-091A-21D629567031}"/>
              </a:ext>
            </a:extLst>
          </p:cNvPr>
          <p:cNvSpPr>
            <a:spLocks noGrp="1"/>
          </p:cNvSpPr>
          <p:nvPr>
            <p:ph type="title" idx="4294967295"/>
          </p:nvPr>
        </p:nvSpPr>
        <p:spPr>
          <a:xfrm>
            <a:off x="0" y="584200"/>
            <a:ext cx="11029950" cy="595313"/>
          </a:xfrm>
        </p:spPr>
        <p:txBody>
          <a:bodyPr/>
          <a:lstStyle/>
          <a:p>
            <a:pPr algn="ctr"/>
            <a:r>
              <a:rPr lang="en-US" altLang="en-US" b="1">
                <a:solidFill>
                  <a:srgbClr val="0070C0"/>
                </a:solidFill>
                <a:latin typeface="Book Antiqua" pitchFamily="18" charset="0"/>
              </a:rPr>
              <a:t>Diagrams  in  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a:extLst>
              <a:ext uri="{FF2B5EF4-FFF2-40B4-BE49-F238E27FC236}">
                <a16:creationId xmlns:a16="http://schemas.microsoft.com/office/drawing/2014/main" id="{8885DC34-64C1-F981-9F79-18E0BD078EA6}"/>
              </a:ext>
            </a:extLst>
          </p:cNvPr>
          <p:cNvSpPr>
            <a:spLocks noGrp="1"/>
          </p:cNvSpPr>
          <p:nvPr>
            <p:ph idx="4294967295"/>
          </p:nvPr>
        </p:nvSpPr>
        <p:spPr>
          <a:xfrm>
            <a:off x="434340" y="1241425"/>
            <a:ext cx="11281410" cy="1147763"/>
          </a:xfrm>
        </p:spPr>
        <p:txBody>
          <a:bodyPr>
            <a:normAutofit/>
          </a:bodyPr>
          <a:lstStyle/>
          <a:p>
            <a:pPr marL="0" lvl="0" indent="0" algn="just">
              <a:buNone/>
            </a:pPr>
            <a:r>
              <a:rPr lang="en-US" sz="2200" dirty="0"/>
              <a:t>A </a:t>
            </a:r>
            <a:r>
              <a:rPr lang="en-US" sz="2200" b="1" dirty="0"/>
              <a:t>diagram</a:t>
            </a:r>
            <a:r>
              <a:rPr lang="en-US" sz="2200" dirty="0"/>
              <a:t> is the graphical presentation of a set of elements, most often rendered as a connected graph of vertices (things) and arcs (relationships).  </a:t>
            </a:r>
            <a:endParaRPr lang="en-US" dirty="0">
              <a:solidFill>
                <a:srgbClr val="0070C0"/>
              </a:solidFill>
              <a:latin typeface="+mj-lt"/>
            </a:endParaRPr>
          </a:p>
        </p:txBody>
      </p:sp>
      <p:sp>
        <p:nvSpPr>
          <p:cNvPr id="9" name="Content Placeholder 2">
            <a:extLst>
              <a:ext uri="{FF2B5EF4-FFF2-40B4-BE49-F238E27FC236}">
                <a16:creationId xmlns:a16="http://schemas.microsoft.com/office/drawing/2014/main" id="{6A7F34C3-E71E-B2AF-456D-76F6C05ECAAF}"/>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10" name="Slide Number Placeholder 3">
            <a:extLst>
              <a:ext uri="{FF2B5EF4-FFF2-40B4-BE49-F238E27FC236}">
                <a16:creationId xmlns:a16="http://schemas.microsoft.com/office/drawing/2014/main" id="{85DFDC73-4878-02D3-09A1-BF4986235F7E}"/>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18</a:t>
            </a:fld>
            <a:r>
              <a:rPr lang="en-US" sz="1400" b="1" dirty="0"/>
              <a:t> </a:t>
            </a:r>
          </a:p>
        </p:txBody>
      </p:sp>
      <p:sp>
        <p:nvSpPr>
          <p:cNvPr id="3" name="Rectangle 2" descr="M. Mhahudul Hasan">
            <a:extLst>
              <a:ext uri="{FF2B5EF4-FFF2-40B4-BE49-F238E27FC236}">
                <a16:creationId xmlns:a16="http://schemas.microsoft.com/office/drawing/2014/main" id="{575B347E-3192-28FC-C991-F461FF642C6D}"/>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7" name="Rectangle 6" descr="M. Mhahudul Hasan">
            <a:extLst>
              <a:ext uri="{FF2B5EF4-FFF2-40B4-BE49-F238E27FC236}">
                <a16:creationId xmlns:a16="http://schemas.microsoft.com/office/drawing/2014/main" id="{4266ACF4-E1B9-CD7C-C268-1C6EE32717F2}"/>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13" name="Rectangle 12" descr="M. Mhahudul Hasan">
            <a:extLst>
              <a:ext uri="{FF2B5EF4-FFF2-40B4-BE49-F238E27FC236}">
                <a16:creationId xmlns:a16="http://schemas.microsoft.com/office/drawing/2014/main" id="{0840B8FC-D02A-068D-FECF-B876A8E7FF65}"/>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14" name="Content Placeholder 3">
            <a:extLst>
              <a:ext uri="{FF2B5EF4-FFF2-40B4-BE49-F238E27FC236}">
                <a16:creationId xmlns:a16="http://schemas.microsoft.com/office/drawing/2014/main" id="{A5F9CAC9-0951-C14D-FB6A-2823FC6EC003}"/>
              </a:ext>
            </a:extLst>
          </p:cNvPr>
          <p:cNvSpPr txBox="1">
            <a:spLocks/>
          </p:cNvSpPr>
          <p:nvPr/>
        </p:nvSpPr>
        <p:spPr>
          <a:xfrm>
            <a:off x="525780" y="2320291"/>
            <a:ext cx="11132820" cy="404622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42900" indent="-342900" algn="just">
              <a:buFont typeface="+mj-lt"/>
              <a:buAutoNum type="arabicPeriod" startAt="7"/>
            </a:pPr>
            <a:r>
              <a:rPr lang="en-US" sz="2200" dirty="0">
                <a:solidFill>
                  <a:srgbClr val="0070C0"/>
                </a:solidFill>
                <a:latin typeface="+mj-lt"/>
              </a:rPr>
              <a:t>Interaction Diagram – </a:t>
            </a:r>
            <a:r>
              <a:rPr lang="en-US" sz="2200" dirty="0">
                <a:solidFill>
                  <a:srgbClr val="C00000"/>
                </a:solidFill>
                <a:latin typeface="+mj-lt"/>
              </a:rPr>
              <a:t>Behavioral.</a:t>
            </a:r>
            <a:r>
              <a:rPr lang="en-US" sz="2200" dirty="0">
                <a:solidFill>
                  <a:srgbClr val="0070C0"/>
                </a:solidFill>
                <a:latin typeface="+mj-lt"/>
              </a:rPr>
              <a:t> Represents </a:t>
            </a:r>
            <a:r>
              <a:rPr lang="en-US" sz="2200" dirty="0">
                <a:solidFill>
                  <a:srgbClr val="C00000"/>
                </a:solidFill>
                <a:latin typeface="+mj-lt"/>
              </a:rPr>
              <a:t>Dynamic View.</a:t>
            </a:r>
          </a:p>
          <a:p>
            <a:pPr marL="342900" indent="-342900" algn="just">
              <a:buFont typeface="+mj-lt"/>
              <a:buAutoNum type="arabicPeriod" startAt="7"/>
            </a:pPr>
            <a:r>
              <a:rPr lang="en-US" sz="2200" dirty="0">
                <a:solidFill>
                  <a:srgbClr val="0070C0"/>
                </a:solidFill>
                <a:latin typeface="+mj-lt"/>
              </a:rPr>
              <a:t>Sequence Diagram – </a:t>
            </a:r>
            <a:r>
              <a:rPr lang="en-US" sz="2200" dirty="0">
                <a:solidFill>
                  <a:srgbClr val="C00000"/>
                </a:solidFill>
                <a:latin typeface="+mj-lt"/>
              </a:rPr>
              <a:t>Interaction Diagram </a:t>
            </a:r>
            <a:r>
              <a:rPr lang="en-US" sz="2200" dirty="0">
                <a:solidFill>
                  <a:srgbClr val="0070C0"/>
                </a:solidFill>
                <a:latin typeface="+mj-lt"/>
              </a:rPr>
              <a:t>emphasizing on </a:t>
            </a:r>
            <a:r>
              <a:rPr lang="en-US" sz="2200" dirty="0">
                <a:solidFill>
                  <a:srgbClr val="C00000"/>
                </a:solidFill>
                <a:latin typeface="+mj-lt"/>
              </a:rPr>
              <a:t>time-ordering of messages.</a:t>
            </a:r>
            <a:r>
              <a:rPr lang="en-US" sz="2200" dirty="0">
                <a:solidFill>
                  <a:srgbClr val="0070C0"/>
                </a:solidFill>
                <a:latin typeface="+mj-lt"/>
              </a:rPr>
              <a:t> </a:t>
            </a:r>
          </a:p>
          <a:p>
            <a:pPr marL="342900" indent="-342900" algn="just">
              <a:buFont typeface="+mj-lt"/>
              <a:buAutoNum type="arabicPeriod" startAt="7"/>
            </a:pPr>
            <a:r>
              <a:rPr lang="en-US" sz="2100" dirty="0">
                <a:solidFill>
                  <a:srgbClr val="0070C0"/>
                </a:solidFill>
                <a:latin typeface="+mj-lt"/>
              </a:rPr>
              <a:t>Communication Diagram – </a:t>
            </a:r>
            <a:r>
              <a:rPr lang="en-US" sz="2100" dirty="0">
                <a:solidFill>
                  <a:srgbClr val="C00000"/>
                </a:solidFill>
                <a:latin typeface="+mj-lt"/>
              </a:rPr>
              <a:t>Interaction Diagram </a:t>
            </a:r>
            <a:r>
              <a:rPr lang="en-US" sz="2000" dirty="0">
                <a:solidFill>
                  <a:srgbClr val="0070C0"/>
                </a:solidFill>
                <a:latin typeface="+mj-lt"/>
              </a:rPr>
              <a:t>emphasizing on </a:t>
            </a:r>
            <a:r>
              <a:rPr lang="en-US" sz="2100" dirty="0">
                <a:solidFill>
                  <a:srgbClr val="C00000"/>
                </a:solidFill>
                <a:latin typeface="+mj-lt"/>
              </a:rPr>
              <a:t>structural organization of objects</a:t>
            </a:r>
            <a:r>
              <a:rPr lang="en-US" sz="2000" dirty="0">
                <a:solidFill>
                  <a:srgbClr val="C00000"/>
                </a:solidFill>
                <a:latin typeface="+mj-lt"/>
              </a:rPr>
              <a:t>.</a:t>
            </a:r>
            <a:endParaRPr lang="en-US" sz="2000" dirty="0">
              <a:solidFill>
                <a:srgbClr val="0070C0"/>
              </a:solidFill>
              <a:latin typeface="+mj-lt"/>
            </a:endParaRPr>
          </a:p>
          <a:p>
            <a:pPr marL="342900" indent="-342900" algn="just">
              <a:buFont typeface="+mj-lt"/>
              <a:buAutoNum type="arabicPeriod" startAt="7"/>
            </a:pPr>
            <a:r>
              <a:rPr lang="en-US" sz="2200" dirty="0">
                <a:solidFill>
                  <a:srgbClr val="0070C0"/>
                </a:solidFill>
                <a:latin typeface="+mj-lt"/>
              </a:rPr>
              <a:t>State Diagram – </a:t>
            </a:r>
            <a:r>
              <a:rPr lang="en-US" sz="2200" dirty="0">
                <a:solidFill>
                  <a:srgbClr val="C00000"/>
                </a:solidFill>
                <a:latin typeface="+mj-lt"/>
              </a:rPr>
              <a:t>Behavioral.</a:t>
            </a:r>
            <a:r>
              <a:rPr lang="en-US" sz="2200" dirty="0">
                <a:solidFill>
                  <a:srgbClr val="0070C0"/>
                </a:solidFill>
                <a:latin typeface="+mj-lt"/>
              </a:rPr>
              <a:t> Represents </a:t>
            </a:r>
            <a:r>
              <a:rPr lang="en-US" sz="2200" dirty="0">
                <a:solidFill>
                  <a:srgbClr val="C00000"/>
                </a:solidFill>
                <a:latin typeface="+mj-lt"/>
              </a:rPr>
              <a:t>Dynamic View </a:t>
            </a:r>
            <a:r>
              <a:rPr lang="en-US" sz="2200" dirty="0">
                <a:solidFill>
                  <a:srgbClr val="0070C0"/>
                </a:solidFill>
                <a:latin typeface="+mj-lt"/>
              </a:rPr>
              <a:t>of an object</a:t>
            </a:r>
            <a:r>
              <a:rPr lang="en-US" sz="2200" dirty="0">
                <a:solidFill>
                  <a:srgbClr val="C00000"/>
                </a:solidFill>
                <a:latin typeface="+mj-lt"/>
              </a:rPr>
              <a:t>.</a:t>
            </a:r>
            <a:endParaRPr lang="en-US" sz="2200" dirty="0">
              <a:solidFill>
                <a:srgbClr val="0070C0"/>
              </a:solidFill>
              <a:latin typeface="+mj-lt"/>
            </a:endParaRPr>
          </a:p>
          <a:p>
            <a:pPr marL="342900" indent="-342900" algn="just">
              <a:buFont typeface="+mj-lt"/>
              <a:buAutoNum type="arabicPeriod" startAt="7"/>
            </a:pPr>
            <a:r>
              <a:rPr lang="en-US" sz="2200" dirty="0">
                <a:solidFill>
                  <a:srgbClr val="0070C0"/>
                </a:solidFill>
                <a:latin typeface="+mj-lt"/>
              </a:rPr>
              <a:t>Activity Diagram – </a:t>
            </a:r>
            <a:r>
              <a:rPr lang="en-US" sz="2200" dirty="0">
                <a:solidFill>
                  <a:srgbClr val="C00000"/>
                </a:solidFill>
                <a:latin typeface="+mj-lt"/>
              </a:rPr>
              <a:t>Behavioral.</a:t>
            </a:r>
            <a:r>
              <a:rPr lang="en-US" sz="2200" dirty="0">
                <a:solidFill>
                  <a:srgbClr val="0070C0"/>
                </a:solidFill>
                <a:latin typeface="+mj-lt"/>
              </a:rPr>
              <a:t> Represents </a:t>
            </a:r>
            <a:r>
              <a:rPr lang="en-US" sz="2200" dirty="0">
                <a:solidFill>
                  <a:srgbClr val="C00000"/>
                </a:solidFill>
                <a:latin typeface="+mj-lt"/>
              </a:rPr>
              <a:t>Dynamic View.</a:t>
            </a:r>
            <a:endParaRPr lang="en-US" sz="2200" dirty="0">
              <a:solidFill>
                <a:srgbClr val="0070C0"/>
              </a:solidFill>
              <a:latin typeface="+mj-lt"/>
            </a:endParaRPr>
          </a:p>
        </p:txBody>
      </p:sp>
    </p:spTree>
    <p:extLst>
      <p:ext uri="{BB962C8B-B14F-4D97-AF65-F5344CB8AC3E}">
        <p14:creationId xmlns:p14="http://schemas.microsoft.com/office/powerpoint/2010/main" val="583126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BD556-7B77-4762-E06F-41841D670B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2D65E-FAFB-C287-588D-D9740AC5EFDC}"/>
              </a:ext>
            </a:extLst>
          </p:cNvPr>
          <p:cNvSpPr>
            <a:spLocks noGrp="1"/>
          </p:cNvSpPr>
          <p:nvPr>
            <p:ph type="title" idx="4294967295"/>
          </p:nvPr>
        </p:nvSpPr>
        <p:spPr>
          <a:xfrm>
            <a:off x="0" y="584200"/>
            <a:ext cx="11029950" cy="595313"/>
          </a:xfrm>
        </p:spPr>
        <p:txBody>
          <a:bodyPr/>
          <a:lstStyle/>
          <a:p>
            <a:pPr algn="ctr"/>
            <a:r>
              <a:rPr lang="en-US" altLang="en-US" b="1">
                <a:solidFill>
                  <a:srgbClr val="0070C0"/>
                </a:solidFill>
                <a:latin typeface="Book Antiqua" pitchFamily="18" charset="0"/>
              </a:rPr>
              <a:t>Diagrams  in  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a:extLst>
              <a:ext uri="{FF2B5EF4-FFF2-40B4-BE49-F238E27FC236}">
                <a16:creationId xmlns:a16="http://schemas.microsoft.com/office/drawing/2014/main" id="{DDAA780B-C18F-1B31-DEDC-1CDB848FC8DD}"/>
              </a:ext>
            </a:extLst>
          </p:cNvPr>
          <p:cNvSpPr>
            <a:spLocks noGrp="1"/>
          </p:cNvSpPr>
          <p:nvPr>
            <p:ph idx="4294967295"/>
          </p:nvPr>
        </p:nvSpPr>
        <p:spPr>
          <a:xfrm>
            <a:off x="434340" y="1241425"/>
            <a:ext cx="11281410" cy="1147763"/>
          </a:xfrm>
        </p:spPr>
        <p:txBody>
          <a:bodyPr>
            <a:normAutofit/>
          </a:bodyPr>
          <a:lstStyle/>
          <a:p>
            <a:pPr marL="0" lvl="0" indent="0" algn="just">
              <a:buNone/>
            </a:pPr>
            <a:r>
              <a:rPr lang="en-US" sz="2200" dirty="0"/>
              <a:t>A </a:t>
            </a:r>
            <a:r>
              <a:rPr lang="en-US" sz="2200" b="1" dirty="0"/>
              <a:t>diagram</a:t>
            </a:r>
            <a:r>
              <a:rPr lang="en-US" sz="2200" dirty="0"/>
              <a:t> is the graphical presentation of a set of elements, most often rendered as a connected graph of vertices (things) and arcs (relationships).  </a:t>
            </a:r>
            <a:endParaRPr lang="en-US" dirty="0">
              <a:solidFill>
                <a:srgbClr val="0070C0"/>
              </a:solidFill>
              <a:latin typeface="+mj-lt"/>
            </a:endParaRPr>
          </a:p>
        </p:txBody>
      </p:sp>
      <p:sp>
        <p:nvSpPr>
          <p:cNvPr id="9" name="Content Placeholder 2">
            <a:extLst>
              <a:ext uri="{FF2B5EF4-FFF2-40B4-BE49-F238E27FC236}">
                <a16:creationId xmlns:a16="http://schemas.microsoft.com/office/drawing/2014/main" id="{D81DE499-4FFE-CF2D-26C5-E71FC551827B}"/>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10" name="Slide Number Placeholder 3">
            <a:extLst>
              <a:ext uri="{FF2B5EF4-FFF2-40B4-BE49-F238E27FC236}">
                <a16:creationId xmlns:a16="http://schemas.microsoft.com/office/drawing/2014/main" id="{FC513349-D0DF-6316-B30F-20E4B5642D38}"/>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19</a:t>
            </a:fld>
            <a:r>
              <a:rPr lang="en-US" sz="1400" b="1" dirty="0"/>
              <a:t> </a:t>
            </a:r>
          </a:p>
        </p:txBody>
      </p:sp>
      <p:sp>
        <p:nvSpPr>
          <p:cNvPr id="3" name="Rectangle 2" descr="M. Mhahudul Hasan">
            <a:extLst>
              <a:ext uri="{FF2B5EF4-FFF2-40B4-BE49-F238E27FC236}">
                <a16:creationId xmlns:a16="http://schemas.microsoft.com/office/drawing/2014/main" id="{2AA29D80-3ECA-71D3-3DF5-60599F9D4C12}"/>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7" name="Rectangle 6" descr="M. Mhahudul Hasan">
            <a:extLst>
              <a:ext uri="{FF2B5EF4-FFF2-40B4-BE49-F238E27FC236}">
                <a16:creationId xmlns:a16="http://schemas.microsoft.com/office/drawing/2014/main" id="{FCF08956-1CAA-C94D-FF6C-CD7370B2A848}"/>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13" name="Rectangle 12" descr="M. Mhahudul Hasan">
            <a:extLst>
              <a:ext uri="{FF2B5EF4-FFF2-40B4-BE49-F238E27FC236}">
                <a16:creationId xmlns:a16="http://schemas.microsoft.com/office/drawing/2014/main" id="{DD606A21-2090-7F91-4712-CDD94475D0BF}"/>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14" name="Content Placeholder 3">
            <a:extLst>
              <a:ext uri="{FF2B5EF4-FFF2-40B4-BE49-F238E27FC236}">
                <a16:creationId xmlns:a16="http://schemas.microsoft.com/office/drawing/2014/main" id="{59573F35-C471-39F9-0A9D-207FB5B8A643}"/>
              </a:ext>
            </a:extLst>
          </p:cNvPr>
          <p:cNvSpPr txBox="1">
            <a:spLocks/>
          </p:cNvSpPr>
          <p:nvPr/>
        </p:nvSpPr>
        <p:spPr>
          <a:xfrm>
            <a:off x="537210" y="2399665"/>
            <a:ext cx="10401300" cy="3532505"/>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457200" indent="-457200" algn="just">
              <a:buFont typeface="+mj-lt"/>
              <a:buAutoNum type="arabicPeriod" startAt="12"/>
            </a:pPr>
            <a:r>
              <a:rPr lang="en-US" sz="2200" dirty="0">
                <a:solidFill>
                  <a:srgbClr val="0070C0"/>
                </a:solidFill>
                <a:latin typeface="+mj-lt"/>
              </a:rPr>
              <a:t>Package Diagram – Represents </a:t>
            </a:r>
            <a:r>
              <a:rPr lang="en-US" sz="2200" dirty="0">
                <a:solidFill>
                  <a:srgbClr val="C00000"/>
                </a:solidFill>
                <a:latin typeface="+mj-lt"/>
              </a:rPr>
              <a:t>Static View. </a:t>
            </a:r>
            <a:r>
              <a:rPr lang="en-US" sz="2200" dirty="0">
                <a:solidFill>
                  <a:srgbClr val="0070C0"/>
                </a:solidFill>
                <a:latin typeface="+mj-lt"/>
              </a:rPr>
              <a:t>Shows</a:t>
            </a:r>
            <a:r>
              <a:rPr lang="en-US" sz="2200" dirty="0">
                <a:solidFill>
                  <a:srgbClr val="C00000"/>
                </a:solidFill>
                <a:latin typeface="+mj-lt"/>
              </a:rPr>
              <a:t> decomposition of model.</a:t>
            </a:r>
          </a:p>
          <a:p>
            <a:pPr marL="457200" indent="-457200" algn="just">
              <a:buFont typeface="+mj-lt"/>
              <a:buAutoNum type="arabicPeriod" startAt="12"/>
            </a:pPr>
            <a:r>
              <a:rPr lang="en-US" sz="2200" dirty="0">
                <a:solidFill>
                  <a:srgbClr val="0070C0"/>
                </a:solidFill>
                <a:latin typeface="+mj-lt"/>
              </a:rPr>
              <a:t>Timing Diagram – </a:t>
            </a:r>
            <a:r>
              <a:rPr lang="en-US" sz="2200" dirty="0">
                <a:solidFill>
                  <a:srgbClr val="C00000"/>
                </a:solidFill>
                <a:latin typeface="+mj-lt"/>
              </a:rPr>
              <a:t>Interaction Diagram </a:t>
            </a:r>
            <a:r>
              <a:rPr lang="en-US" sz="2200" dirty="0">
                <a:solidFill>
                  <a:srgbClr val="0070C0"/>
                </a:solidFill>
                <a:latin typeface="+mj-lt"/>
              </a:rPr>
              <a:t>with specific time.</a:t>
            </a:r>
          </a:p>
          <a:p>
            <a:pPr marL="457200" indent="-457200" algn="just">
              <a:buFont typeface="+mj-lt"/>
              <a:buAutoNum type="arabicPeriod" startAt="12"/>
            </a:pPr>
            <a:r>
              <a:rPr lang="en-US" sz="2200" dirty="0">
                <a:solidFill>
                  <a:srgbClr val="0070C0"/>
                </a:solidFill>
                <a:latin typeface="+mj-lt"/>
              </a:rPr>
              <a:t>Interaction Overview Diagram – </a:t>
            </a:r>
            <a:r>
              <a:rPr lang="en-US" sz="2200" dirty="0">
                <a:solidFill>
                  <a:srgbClr val="C00000"/>
                </a:solidFill>
                <a:latin typeface="+mj-lt"/>
              </a:rPr>
              <a:t>Hybrid</a:t>
            </a:r>
            <a:r>
              <a:rPr lang="en-US" sz="2200" dirty="0">
                <a:solidFill>
                  <a:srgbClr val="0070C0"/>
                </a:solidFill>
                <a:latin typeface="+mj-lt"/>
              </a:rPr>
              <a:t> of Interaction and Activity Diagram.</a:t>
            </a:r>
          </a:p>
          <a:p>
            <a:pPr marL="457200" indent="-457200" algn="just">
              <a:buFont typeface="+mj-lt"/>
              <a:buAutoNum type="arabicPeriod" startAt="12"/>
            </a:pPr>
            <a:r>
              <a:rPr lang="en-US" sz="2200" dirty="0">
                <a:solidFill>
                  <a:srgbClr val="0070C0"/>
                </a:solidFill>
                <a:latin typeface="+mj-lt"/>
              </a:rPr>
              <a:t>Composite structure diagram – </a:t>
            </a:r>
            <a:r>
              <a:rPr lang="en-US" sz="2200" dirty="0">
                <a:solidFill>
                  <a:srgbClr val="C00000"/>
                </a:solidFill>
                <a:latin typeface="+mj-lt"/>
              </a:rPr>
              <a:t>Hybrid</a:t>
            </a:r>
            <a:r>
              <a:rPr lang="en-US" sz="2200" dirty="0">
                <a:solidFill>
                  <a:srgbClr val="0070C0"/>
                </a:solidFill>
                <a:latin typeface="+mj-lt"/>
              </a:rPr>
              <a:t> Diagram.</a:t>
            </a:r>
          </a:p>
        </p:txBody>
      </p:sp>
    </p:spTree>
    <p:extLst>
      <p:ext uri="{BB962C8B-B14F-4D97-AF65-F5344CB8AC3E}">
        <p14:creationId xmlns:p14="http://schemas.microsoft.com/office/powerpoint/2010/main" val="1045917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60438" y="598436"/>
            <a:ext cx="11029950" cy="655177"/>
          </a:xfrm>
        </p:spPr>
        <p:txBody>
          <a:bodyPr/>
          <a:lstStyle/>
          <a:p>
            <a:pPr algn="ctr"/>
            <a:r>
              <a:rPr lang="en-US" altLang="en-US" b="1" dirty="0">
                <a:solidFill>
                  <a:srgbClr val="0070C0"/>
                </a:solidFill>
                <a:latin typeface="Book Antiqua" pitchFamily="18" charset="0"/>
              </a:rPr>
              <a:t>Architecture of OO Software System</a:t>
            </a:r>
            <a:endParaRPr lang="en-US" b="1" dirty="0">
              <a:solidFill>
                <a:srgbClr val="0070C0"/>
              </a:solidFill>
              <a:effectLst>
                <a:outerShdw blurRad="38100" dist="38100" dir="2700000" algn="tl">
                  <a:srgbClr val="000000">
                    <a:alpha val="43137"/>
                  </a:srgbClr>
                </a:outerShdw>
              </a:effectLst>
            </a:endParaRPr>
          </a:p>
        </p:txBody>
      </p:sp>
      <p:sp>
        <p:nvSpPr>
          <p:cNvPr id="7" name="Content Placeholder 2">
            <a:extLst>
              <a:ext uri="{FF2B5EF4-FFF2-40B4-BE49-F238E27FC236}">
                <a16:creationId xmlns:a16="http://schemas.microsoft.com/office/drawing/2014/main" id="{92CA2200-3077-40D0-B570-363CD4D9767A}"/>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8" name="Slide Number Placeholder 3">
            <a:extLst>
              <a:ext uri="{FF2B5EF4-FFF2-40B4-BE49-F238E27FC236}">
                <a16:creationId xmlns:a16="http://schemas.microsoft.com/office/drawing/2014/main" id="{5C0C1805-8CDC-40A3-ABE8-534CCA4C43B4}"/>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20</a:t>
            </a:fld>
            <a:r>
              <a:rPr lang="en-US" sz="1400" b="1" dirty="0"/>
              <a:t> </a:t>
            </a:r>
          </a:p>
        </p:txBody>
      </p:sp>
      <p:sp>
        <p:nvSpPr>
          <p:cNvPr id="3" name="Rectangle 2" descr="M. Mhahudul Hasan">
            <a:extLst>
              <a:ext uri="{FF2B5EF4-FFF2-40B4-BE49-F238E27FC236}">
                <a16:creationId xmlns:a16="http://schemas.microsoft.com/office/drawing/2014/main" id="{6B74A679-FC9E-45E8-AAB1-59CA6DD9ABD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64EBAD97-7E04-4BD0-9438-5D41F6F85CD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11" name="Rectangle 10" descr="M. Mhahudul Hasan">
            <a:extLst>
              <a:ext uri="{FF2B5EF4-FFF2-40B4-BE49-F238E27FC236}">
                <a16:creationId xmlns:a16="http://schemas.microsoft.com/office/drawing/2014/main" id="{E83058FA-9507-4BB1-88D1-D88DADBB7AA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
        <p:nvSpPr>
          <p:cNvPr id="6" name="Content Placeholder 2">
            <a:extLst>
              <a:ext uri="{FF2B5EF4-FFF2-40B4-BE49-F238E27FC236}">
                <a16:creationId xmlns:a16="http://schemas.microsoft.com/office/drawing/2014/main" id="{02C303AD-2B00-7DA9-A118-A50293A950E4}"/>
              </a:ext>
            </a:extLst>
          </p:cNvPr>
          <p:cNvSpPr txBox="1">
            <a:spLocks/>
          </p:cNvSpPr>
          <p:nvPr/>
        </p:nvSpPr>
        <p:spPr>
          <a:xfrm>
            <a:off x="923889" y="1568302"/>
            <a:ext cx="10781414" cy="4525963"/>
          </a:xfrm>
          <a:prstGeom prst="rect">
            <a:avLst/>
          </a:prstGeom>
        </p:spPr>
        <p:txBody>
          <a:bodyPr rtlCol="0">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spcAft>
                <a:spcPts val="0"/>
              </a:spcAft>
              <a:defRPr/>
            </a:pPr>
            <a:r>
              <a:rPr lang="en-GB" sz="2800" dirty="0"/>
              <a:t>To </a:t>
            </a:r>
            <a:r>
              <a:rPr lang="en-GB" sz="2800" dirty="0">
                <a:solidFill>
                  <a:srgbClr val="C00000"/>
                </a:solidFill>
              </a:rPr>
              <a:t>understand</a:t>
            </a:r>
            <a:r>
              <a:rPr lang="en-GB" sz="2800" dirty="0"/>
              <a:t> the architecture of object oriented software system, one needs several </a:t>
            </a:r>
            <a:r>
              <a:rPr lang="en-GB" sz="2800" dirty="0">
                <a:solidFill>
                  <a:srgbClr val="C00000"/>
                </a:solidFill>
              </a:rPr>
              <a:t>complementary and interlocking views</a:t>
            </a:r>
            <a:r>
              <a:rPr lang="en-GB" sz="2800" dirty="0"/>
              <a:t>.</a:t>
            </a:r>
          </a:p>
          <a:p>
            <a:pPr>
              <a:spcAft>
                <a:spcPts val="0"/>
              </a:spcAft>
              <a:defRPr/>
            </a:pPr>
            <a:endParaRPr lang="en-GB" sz="2800" dirty="0"/>
          </a:p>
          <a:p>
            <a:pPr algn="just">
              <a:spcAft>
                <a:spcPts val="0"/>
              </a:spcAft>
              <a:defRPr/>
            </a:pPr>
            <a:r>
              <a:rPr lang="en-GB" sz="2800" dirty="0"/>
              <a:t>Each of these views may have </a:t>
            </a:r>
            <a:r>
              <a:rPr lang="en-GB" sz="2800" dirty="0">
                <a:solidFill>
                  <a:srgbClr val="C00000"/>
                </a:solidFill>
              </a:rPr>
              <a:t>structural</a:t>
            </a:r>
            <a:r>
              <a:rPr lang="en-GB" sz="2800" dirty="0"/>
              <a:t>, as well as </a:t>
            </a:r>
            <a:r>
              <a:rPr lang="en-GB" sz="2800" dirty="0">
                <a:solidFill>
                  <a:srgbClr val="C00000"/>
                </a:solidFill>
              </a:rPr>
              <a:t>behavioural</a:t>
            </a:r>
            <a:r>
              <a:rPr lang="en-GB" sz="2800" dirty="0"/>
              <a:t>, aspects. Together these views </a:t>
            </a:r>
            <a:r>
              <a:rPr lang="en-GB" sz="2800" dirty="0">
                <a:solidFill>
                  <a:srgbClr val="C00000"/>
                </a:solidFill>
              </a:rPr>
              <a:t>represent the blueprints </a:t>
            </a:r>
            <a:r>
              <a:rPr lang="en-GB" sz="2800" dirty="0"/>
              <a:t>of Object Oriented Software System.</a:t>
            </a:r>
            <a:endParaRPr lang="en-US" sz="2800" i="1" dirty="0"/>
          </a:p>
        </p:txBody>
      </p:sp>
    </p:spTree>
    <p:extLst>
      <p:ext uri="{BB962C8B-B14F-4D97-AF65-F5344CB8AC3E}">
        <p14:creationId xmlns:p14="http://schemas.microsoft.com/office/powerpoint/2010/main" val="654875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703" y="568940"/>
            <a:ext cx="11029950" cy="522441"/>
          </a:xfrm>
        </p:spPr>
        <p:txBody>
          <a:bodyPr/>
          <a:lstStyle/>
          <a:p>
            <a:pPr algn="ctr"/>
            <a:r>
              <a:rPr lang="en-US" altLang="en-US" b="1" dirty="0">
                <a:solidFill>
                  <a:srgbClr val="0070C0"/>
                </a:solidFill>
                <a:latin typeface="Book Antiqua" pitchFamily="18" charset="0"/>
              </a:rPr>
              <a:t>System  architecture  modeling</a:t>
            </a:r>
            <a:endParaRPr lang="en-US" b="1" dirty="0">
              <a:solidFill>
                <a:srgbClr val="0070C0"/>
              </a:solidFill>
              <a:effectLst>
                <a:outerShdw blurRad="38100" dist="38100" dir="2700000" algn="tl">
                  <a:srgbClr val="000000">
                    <a:alpha val="43137"/>
                  </a:srgbClr>
                </a:outerShdw>
              </a:effectLst>
            </a:endParaRPr>
          </a:p>
        </p:txBody>
      </p:sp>
      <p:pic>
        <p:nvPicPr>
          <p:cNvPr id="6" name="Picture 2"/>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870155" y="1486566"/>
            <a:ext cx="10385425" cy="434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a:extLst>
              <a:ext uri="{FF2B5EF4-FFF2-40B4-BE49-F238E27FC236}">
                <a16:creationId xmlns:a16="http://schemas.microsoft.com/office/drawing/2014/main" id="{ED2BDB64-6E29-4A92-9E7C-970F7149E21E}"/>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9" name="Slide Number Placeholder 3">
            <a:extLst>
              <a:ext uri="{FF2B5EF4-FFF2-40B4-BE49-F238E27FC236}">
                <a16:creationId xmlns:a16="http://schemas.microsoft.com/office/drawing/2014/main" id="{7530069F-4AC7-427D-9A94-B8427CD6ACFA}"/>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21</a:t>
            </a:fld>
            <a:r>
              <a:rPr lang="en-US" sz="1400" b="1" dirty="0"/>
              <a:t> </a:t>
            </a:r>
          </a:p>
        </p:txBody>
      </p:sp>
      <p:sp>
        <p:nvSpPr>
          <p:cNvPr id="3" name="Rectangle 2" descr="M. Mhahudul Hasan">
            <a:extLst>
              <a:ext uri="{FF2B5EF4-FFF2-40B4-BE49-F238E27FC236}">
                <a16:creationId xmlns:a16="http://schemas.microsoft.com/office/drawing/2014/main" id="{EBB6B334-885F-418B-B7CB-29BCB1A3303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4" name="Rectangle 3" descr="M. Mhahudul Hasan">
            <a:extLst>
              <a:ext uri="{FF2B5EF4-FFF2-40B4-BE49-F238E27FC236}">
                <a16:creationId xmlns:a16="http://schemas.microsoft.com/office/drawing/2014/main" id="{96F71BC7-A1EB-43EC-BCFB-E1450AF2AA44}"/>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5" name="Rectangle 4" descr="M. Mhahudul Hasan">
            <a:extLst>
              <a:ext uri="{FF2B5EF4-FFF2-40B4-BE49-F238E27FC236}">
                <a16:creationId xmlns:a16="http://schemas.microsoft.com/office/drawing/2014/main" id="{1155BC7B-FFE4-4B7B-96BD-267FDFD2FD6E}"/>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1828784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2C1AB-6442-718C-157E-565C82F36D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385F5C-4645-5C6B-8011-E25DA65C4451}"/>
              </a:ext>
            </a:extLst>
          </p:cNvPr>
          <p:cNvSpPr>
            <a:spLocks noGrp="1"/>
          </p:cNvSpPr>
          <p:nvPr>
            <p:ph type="title" idx="4294967295"/>
          </p:nvPr>
        </p:nvSpPr>
        <p:spPr>
          <a:xfrm>
            <a:off x="560438" y="598436"/>
            <a:ext cx="11029950" cy="655177"/>
          </a:xfrm>
        </p:spPr>
        <p:txBody>
          <a:bodyPr/>
          <a:lstStyle/>
          <a:p>
            <a:pPr algn="ctr"/>
            <a:r>
              <a:rPr lang="en-US" altLang="en-US" b="1" dirty="0">
                <a:solidFill>
                  <a:srgbClr val="0070C0"/>
                </a:solidFill>
                <a:latin typeface="Book Antiqua" pitchFamily="18" charset="0"/>
              </a:rPr>
              <a:t>Architecture of OO Software System</a:t>
            </a:r>
            <a:endParaRPr lang="en-US" b="1" dirty="0">
              <a:solidFill>
                <a:srgbClr val="0070C0"/>
              </a:solidFill>
              <a:effectLst>
                <a:outerShdw blurRad="38100" dist="38100" dir="2700000" algn="tl">
                  <a:srgbClr val="000000">
                    <a:alpha val="43137"/>
                  </a:srgbClr>
                </a:outerShdw>
              </a:effectLst>
            </a:endParaRPr>
          </a:p>
        </p:txBody>
      </p:sp>
      <p:sp>
        <p:nvSpPr>
          <p:cNvPr id="7" name="Content Placeholder 2">
            <a:extLst>
              <a:ext uri="{FF2B5EF4-FFF2-40B4-BE49-F238E27FC236}">
                <a16:creationId xmlns:a16="http://schemas.microsoft.com/office/drawing/2014/main" id="{11531938-BED4-5745-03FC-2D35536F31F2}"/>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8" name="Slide Number Placeholder 3">
            <a:extLst>
              <a:ext uri="{FF2B5EF4-FFF2-40B4-BE49-F238E27FC236}">
                <a16:creationId xmlns:a16="http://schemas.microsoft.com/office/drawing/2014/main" id="{1CB616BC-A327-F699-B4A2-61A5D918D8DF}"/>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22</a:t>
            </a:fld>
            <a:r>
              <a:rPr lang="en-US" sz="1400" b="1" dirty="0"/>
              <a:t> </a:t>
            </a:r>
          </a:p>
        </p:txBody>
      </p:sp>
      <p:sp>
        <p:nvSpPr>
          <p:cNvPr id="3" name="Rectangle 2" descr="M. Mhahudul Hasan">
            <a:extLst>
              <a:ext uri="{FF2B5EF4-FFF2-40B4-BE49-F238E27FC236}">
                <a16:creationId xmlns:a16="http://schemas.microsoft.com/office/drawing/2014/main" id="{4BA3B5CF-AA80-5DD3-0E6C-6553A46C386A}"/>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E6DD793E-D024-E806-82E2-69F9132A2FE7}"/>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11" name="Rectangle 10" descr="M. Mhahudul Hasan">
            <a:extLst>
              <a:ext uri="{FF2B5EF4-FFF2-40B4-BE49-F238E27FC236}">
                <a16:creationId xmlns:a16="http://schemas.microsoft.com/office/drawing/2014/main" id="{8FF50CEC-C78C-E77F-B08C-6E7A38EC2BCB}"/>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
        <p:nvSpPr>
          <p:cNvPr id="6" name="Content Placeholder 2">
            <a:extLst>
              <a:ext uri="{FF2B5EF4-FFF2-40B4-BE49-F238E27FC236}">
                <a16:creationId xmlns:a16="http://schemas.microsoft.com/office/drawing/2014/main" id="{AB0147F1-2985-068F-820D-ECBAE95B81E7}"/>
              </a:ext>
            </a:extLst>
          </p:cNvPr>
          <p:cNvSpPr txBox="1">
            <a:spLocks/>
          </p:cNvSpPr>
          <p:nvPr/>
        </p:nvSpPr>
        <p:spPr>
          <a:xfrm>
            <a:off x="491490" y="1568302"/>
            <a:ext cx="11441429" cy="4123837"/>
          </a:xfrm>
          <a:prstGeom prst="rect">
            <a:avLst/>
          </a:prstGeom>
        </p:spPr>
        <p:txBody>
          <a:bodyPr rtlCol="0">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42900" lvl="1" indent="-304800" algn="just">
              <a:spcAft>
                <a:spcPts val="1200"/>
              </a:spcAft>
              <a:defRPr/>
            </a:pPr>
            <a:r>
              <a:rPr lang="en-GB" sz="2400" dirty="0"/>
              <a:t>A </a:t>
            </a:r>
            <a:r>
              <a:rPr lang="en-GB" sz="2400" dirty="0">
                <a:solidFill>
                  <a:srgbClr val="FF0000"/>
                </a:solidFill>
              </a:rPr>
              <a:t>use case view</a:t>
            </a:r>
            <a:r>
              <a:rPr lang="en-GB" sz="2400" dirty="0"/>
              <a:t> – exposes the </a:t>
            </a:r>
            <a:r>
              <a:rPr lang="en-GB" sz="2400" dirty="0">
                <a:solidFill>
                  <a:srgbClr val="C00000"/>
                </a:solidFill>
              </a:rPr>
              <a:t>behaviour</a:t>
            </a:r>
            <a:r>
              <a:rPr lang="en-GB" sz="2400" dirty="0"/>
              <a:t> of the system.</a:t>
            </a:r>
          </a:p>
          <a:p>
            <a:pPr marL="342900" lvl="1" indent="-304800" algn="just">
              <a:spcAft>
                <a:spcPts val="1200"/>
              </a:spcAft>
              <a:defRPr/>
            </a:pPr>
            <a:r>
              <a:rPr lang="en-GB" sz="2400" dirty="0"/>
              <a:t>A </a:t>
            </a:r>
            <a:r>
              <a:rPr lang="en-GB" sz="2400" dirty="0">
                <a:solidFill>
                  <a:srgbClr val="FF0000"/>
                </a:solidFill>
              </a:rPr>
              <a:t>design view</a:t>
            </a:r>
            <a:r>
              <a:rPr lang="en-GB" sz="2400" dirty="0"/>
              <a:t> – captures the </a:t>
            </a:r>
            <a:r>
              <a:rPr lang="en-GB" sz="2400" dirty="0">
                <a:solidFill>
                  <a:srgbClr val="C00000"/>
                </a:solidFill>
              </a:rPr>
              <a:t>vocabulary</a:t>
            </a:r>
            <a:r>
              <a:rPr lang="en-GB" sz="2400" dirty="0"/>
              <a:t> and </a:t>
            </a:r>
            <a:r>
              <a:rPr lang="en-GB" sz="2400" dirty="0">
                <a:solidFill>
                  <a:srgbClr val="C00000"/>
                </a:solidFill>
              </a:rPr>
              <a:t>functionality</a:t>
            </a:r>
            <a:r>
              <a:rPr lang="en-GB" sz="2400" dirty="0"/>
              <a:t> of the system.</a:t>
            </a:r>
          </a:p>
          <a:p>
            <a:pPr marL="342900" lvl="1" indent="-304800" algn="just">
              <a:spcAft>
                <a:spcPts val="1200"/>
              </a:spcAft>
              <a:defRPr/>
            </a:pPr>
            <a:r>
              <a:rPr lang="en-GB" sz="2400" dirty="0"/>
              <a:t>A </a:t>
            </a:r>
            <a:r>
              <a:rPr lang="en-GB" sz="2400" dirty="0">
                <a:solidFill>
                  <a:srgbClr val="FF0000"/>
                </a:solidFill>
              </a:rPr>
              <a:t>process view</a:t>
            </a:r>
            <a:r>
              <a:rPr lang="en-GB" sz="2400" dirty="0"/>
              <a:t> – models the distribution of the system’s </a:t>
            </a:r>
            <a:r>
              <a:rPr lang="en-GB" sz="2400" dirty="0">
                <a:solidFill>
                  <a:srgbClr val="C00000"/>
                </a:solidFill>
              </a:rPr>
              <a:t>processes</a:t>
            </a:r>
            <a:r>
              <a:rPr lang="en-GB" sz="2400" dirty="0"/>
              <a:t> and </a:t>
            </a:r>
            <a:r>
              <a:rPr lang="en-GB" sz="2400" dirty="0">
                <a:solidFill>
                  <a:srgbClr val="C00000"/>
                </a:solidFill>
              </a:rPr>
              <a:t>threads</a:t>
            </a:r>
            <a:r>
              <a:rPr lang="en-GB" sz="2400" dirty="0"/>
              <a:t> and addresses the </a:t>
            </a:r>
            <a:r>
              <a:rPr lang="en-GB" sz="2400" dirty="0">
                <a:solidFill>
                  <a:srgbClr val="C00000"/>
                </a:solidFill>
              </a:rPr>
              <a:t>performance</a:t>
            </a:r>
            <a:r>
              <a:rPr lang="en-GB" sz="2400" dirty="0"/>
              <a:t> and </a:t>
            </a:r>
            <a:r>
              <a:rPr lang="en-GB" sz="2400" dirty="0">
                <a:solidFill>
                  <a:srgbClr val="C00000"/>
                </a:solidFill>
              </a:rPr>
              <a:t>scalability</a:t>
            </a:r>
            <a:r>
              <a:rPr lang="en-GB" sz="2400" dirty="0"/>
              <a:t>.</a:t>
            </a:r>
          </a:p>
          <a:p>
            <a:pPr marL="342900" lvl="1" indent="-304800" algn="just">
              <a:spcAft>
                <a:spcPts val="1200"/>
              </a:spcAft>
              <a:defRPr/>
            </a:pPr>
            <a:r>
              <a:rPr lang="en-GB" sz="2400" dirty="0"/>
              <a:t>An </a:t>
            </a:r>
            <a:r>
              <a:rPr lang="en-GB" sz="2400" dirty="0">
                <a:solidFill>
                  <a:srgbClr val="FF0000"/>
                </a:solidFill>
              </a:rPr>
              <a:t>implementation view</a:t>
            </a:r>
            <a:r>
              <a:rPr lang="en-GB" sz="2400" dirty="0"/>
              <a:t> – addresses the </a:t>
            </a:r>
            <a:r>
              <a:rPr lang="en-GB" sz="2400" dirty="0">
                <a:solidFill>
                  <a:srgbClr val="C00000"/>
                </a:solidFill>
              </a:rPr>
              <a:t>physical realization of the system</a:t>
            </a:r>
            <a:r>
              <a:rPr lang="en-GB" sz="2400" dirty="0"/>
              <a:t>, </a:t>
            </a:r>
            <a:r>
              <a:rPr lang="en-GB" sz="2400" dirty="0">
                <a:solidFill>
                  <a:srgbClr val="C00000"/>
                </a:solidFill>
              </a:rPr>
              <a:t>system assembly </a:t>
            </a:r>
            <a:r>
              <a:rPr lang="en-GB" sz="2400" dirty="0"/>
              <a:t>and </a:t>
            </a:r>
            <a:r>
              <a:rPr lang="en-GB" sz="2400" dirty="0">
                <a:solidFill>
                  <a:srgbClr val="C00000"/>
                </a:solidFill>
              </a:rPr>
              <a:t>configuration management</a:t>
            </a:r>
            <a:r>
              <a:rPr lang="en-GB" sz="2400" dirty="0"/>
              <a:t>. </a:t>
            </a:r>
          </a:p>
          <a:p>
            <a:pPr marL="342900" lvl="1" indent="-304800" algn="just">
              <a:spcAft>
                <a:spcPts val="0"/>
              </a:spcAft>
              <a:defRPr/>
            </a:pPr>
            <a:r>
              <a:rPr lang="en-GB" sz="2400" dirty="0"/>
              <a:t>A </a:t>
            </a:r>
            <a:r>
              <a:rPr lang="en-GB" sz="2400" dirty="0">
                <a:solidFill>
                  <a:srgbClr val="FF0000"/>
                </a:solidFill>
              </a:rPr>
              <a:t>deployment view</a:t>
            </a:r>
            <a:r>
              <a:rPr lang="en-GB" sz="2400" dirty="0"/>
              <a:t> – focuses on </a:t>
            </a:r>
            <a:r>
              <a:rPr lang="en-GB" sz="2400" dirty="0">
                <a:solidFill>
                  <a:srgbClr val="C00000"/>
                </a:solidFill>
              </a:rPr>
              <a:t>system topology</a:t>
            </a:r>
            <a:r>
              <a:rPr lang="en-GB" sz="2400" dirty="0"/>
              <a:t>, </a:t>
            </a:r>
            <a:r>
              <a:rPr lang="en-GB" sz="2400" dirty="0">
                <a:solidFill>
                  <a:srgbClr val="C00000"/>
                </a:solidFill>
              </a:rPr>
              <a:t>distribution</a:t>
            </a:r>
            <a:r>
              <a:rPr lang="en-GB" sz="2400" dirty="0"/>
              <a:t>, </a:t>
            </a:r>
            <a:r>
              <a:rPr lang="en-GB" sz="2400" dirty="0">
                <a:solidFill>
                  <a:srgbClr val="C00000"/>
                </a:solidFill>
              </a:rPr>
              <a:t>delivery</a:t>
            </a:r>
            <a:r>
              <a:rPr lang="en-GB" sz="2400" dirty="0"/>
              <a:t> and </a:t>
            </a:r>
            <a:r>
              <a:rPr lang="en-GB" sz="2400" dirty="0">
                <a:solidFill>
                  <a:srgbClr val="C00000"/>
                </a:solidFill>
              </a:rPr>
              <a:t>installation</a:t>
            </a:r>
            <a:r>
              <a:rPr lang="en-GB" sz="2400" dirty="0"/>
              <a:t>. </a:t>
            </a:r>
          </a:p>
        </p:txBody>
      </p:sp>
    </p:spTree>
    <p:extLst>
      <p:ext uri="{BB962C8B-B14F-4D97-AF65-F5344CB8AC3E}">
        <p14:creationId xmlns:p14="http://schemas.microsoft.com/office/powerpoint/2010/main" val="2188041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24464" y="554192"/>
            <a:ext cx="11029950" cy="551938"/>
          </a:xfrm>
        </p:spPr>
        <p:txBody>
          <a:bodyPr/>
          <a:lstStyle/>
          <a:p>
            <a:pPr algn="ctr"/>
            <a:r>
              <a:rPr lang="en-US" altLang="en-US" b="1" dirty="0">
                <a:solidFill>
                  <a:srgbClr val="0070C0"/>
                </a:solidFill>
                <a:latin typeface="Book Antiqua" pitchFamily="18" charset="0"/>
              </a:rPr>
              <a:t>        SDLC – Rational  Unified  Model (RUP)</a:t>
            </a:r>
            <a:endParaRPr lang="en-US" b="1" dirty="0">
              <a:solidFill>
                <a:srgbClr val="0070C0"/>
              </a:solidFill>
              <a:effectLst>
                <a:outerShdw blurRad="38100" dist="38100" dir="2700000" algn="tl">
                  <a:srgbClr val="000000">
                    <a:alpha val="43137"/>
                  </a:srgbClr>
                </a:outerShdw>
              </a:effectLst>
            </a:endParaRP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716" y="1404045"/>
            <a:ext cx="11299372" cy="4715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a:extLst>
              <a:ext uri="{FF2B5EF4-FFF2-40B4-BE49-F238E27FC236}">
                <a16:creationId xmlns:a16="http://schemas.microsoft.com/office/drawing/2014/main" id="{F6224044-F8AF-49C3-AB20-95CDE2DF8051}"/>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10" name="Slide Number Placeholder 3">
            <a:extLst>
              <a:ext uri="{FF2B5EF4-FFF2-40B4-BE49-F238E27FC236}">
                <a16:creationId xmlns:a16="http://schemas.microsoft.com/office/drawing/2014/main" id="{35E99771-47A0-439A-986A-A8E8915BA0D0}"/>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23</a:t>
            </a:fld>
            <a:r>
              <a:rPr lang="en-US" sz="1400" b="1" dirty="0"/>
              <a:t> </a:t>
            </a:r>
          </a:p>
        </p:txBody>
      </p:sp>
      <p:sp>
        <p:nvSpPr>
          <p:cNvPr id="3" name="Rectangle 2" descr="M. Mhahudul Hasan">
            <a:extLst>
              <a:ext uri="{FF2B5EF4-FFF2-40B4-BE49-F238E27FC236}">
                <a16:creationId xmlns:a16="http://schemas.microsoft.com/office/drawing/2014/main" id="{5690B663-D042-44EE-A08B-15F77F49CA1D}"/>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4" name="Rectangle 3" descr="M. Mhahudul Hasan">
            <a:extLst>
              <a:ext uri="{FF2B5EF4-FFF2-40B4-BE49-F238E27FC236}">
                <a16:creationId xmlns:a16="http://schemas.microsoft.com/office/drawing/2014/main" id="{9E136EA6-6EA8-43C5-BB83-7829E608791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5" name="Rectangle 4" descr="M. Mhahudul Hasan">
            <a:extLst>
              <a:ext uri="{FF2B5EF4-FFF2-40B4-BE49-F238E27FC236}">
                <a16:creationId xmlns:a16="http://schemas.microsoft.com/office/drawing/2014/main" id="{9E3F6549-A30D-4E0A-9243-C4E768F47D6B}"/>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171786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86696" y="583689"/>
            <a:ext cx="11029950" cy="537190"/>
          </a:xfrm>
        </p:spPr>
        <p:txBody>
          <a:bodyPr/>
          <a:lstStyle/>
          <a:p>
            <a:pPr algn="ctr"/>
            <a:r>
              <a:rPr lang="en-US" altLang="en-US" b="1" dirty="0">
                <a:solidFill>
                  <a:srgbClr val="0070C0"/>
                </a:solidFill>
                <a:latin typeface="Book Antiqua" pitchFamily="18" charset="0"/>
              </a:rPr>
              <a:t>SDLC – Rational  Unified  Model (RUP)</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60439" y="1232720"/>
            <a:ext cx="11029950" cy="4858364"/>
          </a:xfrm>
        </p:spPr>
        <p:txBody>
          <a:bodyPr>
            <a:noAutofit/>
          </a:bodyPr>
          <a:lstStyle/>
          <a:p>
            <a:pPr algn="just">
              <a:buFont typeface="Wingdings" pitchFamily="2" charset="2"/>
              <a:buChar char="q"/>
              <a:defRPr/>
            </a:pPr>
            <a:r>
              <a:rPr lang="en-US" sz="2200" b="1" dirty="0">
                <a:solidFill>
                  <a:srgbClr val="C00000"/>
                </a:solidFill>
                <a:latin typeface="+mj-lt"/>
              </a:rPr>
              <a:t>Inception</a:t>
            </a:r>
            <a:r>
              <a:rPr lang="en-US" sz="2200" dirty="0">
                <a:latin typeface="+mj-lt"/>
              </a:rPr>
              <a:t> is the first phase of the process, when the seed idea for the  development is brought up to the point of being at least internally sufficiently well-founded to warrant entering into the elaboration phase.</a:t>
            </a:r>
            <a:endParaRPr lang="en-US" sz="2200" b="1" dirty="0">
              <a:latin typeface="+mj-lt"/>
            </a:endParaRPr>
          </a:p>
          <a:p>
            <a:pPr algn="just">
              <a:buFont typeface="Wingdings" pitchFamily="2" charset="2"/>
              <a:buChar char="q"/>
              <a:defRPr/>
            </a:pPr>
            <a:r>
              <a:rPr lang="en-US" sz="2200" b="1" dirty="0">
                <a:solidFill>
                  <a:srgbClr val="C00000"/>
                </a:solidFill>
                <a:latin typeface="+mj-lt"/>
              </a:rPr>
              <a:t>Elaboration</a:t>
            </a:r>
            <a:r>
              <a:rPr lang="en-US" sz="2200" dirty="0">
                <a:latin typeface="+mj-lt"/>
              </a:rPr>
              <a:t> is the second phase of the process, when the product  requirements and architecture are defined. In this phase, the requirements  are articulated, prioritized, and </a:t>
            </a:r>
            <a:r>
              <a:rPr lang="en-US" sz="2200" dirty="0" err="1">
                <a:latin typeface="+mj-lt"/>
              </a:rPr>
              <a:t>baselined</a:t>
            </a:r>
            <a:r>
              <a:rPr lang="en-US" sz="2200" dirty="0">
                <a:latin typeface="+mj-lt"/>
              </a:rPr>
              <a:t>. A system's requirements may range from general vision statements to precise evaluation criteria, each specifying particular functional or nonfunctional behavior and each providing a basis for testing.</a:t>
            </a:r>
            <a:endParaRPr lang="en-US" sz="2200" b="1" dirty="0">
              <a:latin typeface="+mj-lt"/>
            </a:endParaRPr>
          </a:p>
          <a:p>
            <a:pPr algn="just">
              <a:buFont typeface="Wingdings" pitchFamily="2" charset="2"/>
              <a:buChar char="q"/>
              <a:defRPr/>
            </a:pPr>
            <a:r>
              <a:rPr lang="en-US" sz="2200" b="1" dirty="0">
                <a:solidFill>
                  <a:srgbClr val="C00000"/>
                </a:solidFill>
                <a:latin typeface="+mj-lt"/>
              </a:rPr>
              <a:t>Construction</a:t>
            </a:r>
            <a:r>
              <a:rPr lang="en-US" sz="2200" dirty="0">
                <a:latin typeface="+mj-lt"/>
              </a:rPr>
              <a:t> is the third phase of the process, when the software is  brought from an executable architectural baseline to being ready to be  transitioned to the user community. Here also, the system's requirements  and especially its evaluation criteria are constantly reexamined against the business needs of the project, and resources are allocated as  appropriate to actively attack risks to the project.</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2F3351AE-C2F2-4BA3-A63E-E6B0250601FA}"/>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8" name="Slide Number Placeholder 3">
            <a:extLst>
              <a:ext uri="{FF2B5EF4-FFF2-40B4-BE49-F238E27FC236}">
                <a16:creationId xmlns:a16="http://schemas.microsoft.com/office/drawing/2014/main" id="{8E1692EB-DDD8-4073-8502-5842F71BFE6A}"/>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24</a:t>
            </a:fld>
            <a:r>
              <a:rPr lang="en-US" sz="1400" b="1" dirty="0"/>
              <a:t> </a:t>
            </a:r>
          </a:p>
        </p:txBody>
      </p:sp>
      <p:sp>
        <p:nvSpPr>
          <p:cNvPr id="3" name="Rectangle 2" descr="M. Mhahudul Hasan">
            <a:extLst>
              <a:ext uri="{FF2B5EF4-FFF2-40B4-BE49-F238E27FC236}">
                <a16:creationId xmlns:a16="http://schemas.microsoft.com/office/drawing/2014/main" id="{9140E00D-7D33-4B0D-A401-FCBEE13222A6}"/>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DF738736-B494-4C2D-B639-144301A1379F}"/>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11" name="Rectangle 10" descr="M. Mhahudul Hasan">
            <a:extLst>
              <a:ext uri="{FF2B5EF4-FFF2-40B4-BE49-F238E27FC236}">
                <a16:creationId xmlns:a16="http://schemas.microsoft.com/office/drawing/2014/main" id="{B65AE98F-2333-429D-B70E-87915EA6CE1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554410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12955" y="554192"/>
            <a:ext cx="11029950" cy="551938"/>
          </a:xfrm>
        </p:spPr>
        <p:txBody>
          <a:bodyPr/>
          <a:lstStyle/>
          <a:p>
            <a:pPr algn="ctr"/>
            <a:r>
              <a:rPr lang="en-US" altLang="en-US" b="1" dirty="0">
                <a:solidFill>
                  <a:srgbClr val="0070C0"/>
                </a:solidFill>
                <a:latin typeface="Book Antiqua" pitchFamily="18" charset="0"/>
              </a:rPr>
              <a:t>SDLC – Rational  Unified  Process (RUP)</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01445" y="1533270"/>
            <a:ext cx="10736826" cy="2547937"/>
          </a:xfrm>
        </p:spPr>
        <p:txBody>
          <a:bodyPr>
            <a:normAutofit/>
          </a:bodyPr>
          <a:lstStyle/>
          <a:p>
            <a:pPr>
              <a:buFont typeface="Wingdings" pitchFamily="2" charset="2"/>
              <a:buChar char="q"/>
              <a:defRPr/>
            </a:pPr>
            <a:r>
              <a:rPr lang="en-US" sz="2200" b="1" dirty="0">
                <a:solidFill>
                  <a:srgbClr val="C00000"/>
                </a:solidFill>
                <a:latin typeface="+mj-lt"/>
              </a:rPr>
              <a:t>Transition</a:t>
            </a:r>
            <a:r>
              <a:rPr lang="en-US" sz="2200" dirty="0">
                <a:solidFill>
                  <a:srgbClr val="C00000"/>
                </a:solidFill>
                <a:latin typeface="+mj-lt"/>
              </a:rPr>
              <a:t> </a:t>
            </a:r>
            <a:r>
              <a:rPr lang="en-US" sz="2200" dirty="0">
                <a:latin typeface="+mj-lt"/>
              </a:rPr>
              <a:t>is the fourth phase of the process, when the software is delivered to the user community. Rarely does the software development process end here, for even during this phase, the system is continuously  improved, bugs are eliminated, and features that didn't make an earlier  release are added.</a:t>
            </a:r>
          </a:p>
          <a:p>
            <a:pPr>
              <a:buFont typeface="Wingdings" pitchFamily="2" charset="2"/>
              <a:buChar char="q"/>
              <a:defRPr/>
            </a:pPr>
            <a:r>
              <a:rPr lang="en-US" sz="2200" b="1" dirty="0">
                <a:solidFill>
                  <a:srgbClr val="C00000"/>
                </a:solidFill>
                <a:latin typeface="+mj-lt"/>
              </a:rPr>
              <a:t>Iteration</a:t>
            </a:r>
            <a:r>
              <a:rPr lang="en-US" sz="2200" dirty="0">
                <a:latin typeface="+mj-lt"/>
              </a:rPr>
              <a:t> is a distinct set of work tasks, with a baselined plan and evaluation criteria that results in an  executable system that can be run, tested, and evaluated. </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5E5169EA-811F-4A9D-BC8E-2236833810DA}"/>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8" name="Slide Number Placeholder 3">
            <a:extLst>
              <a:ext uri="{FF2B5EF4-FFF2-40B4-BE49-F238E27FC236}">
                <a16:creationId xmlns:a16="http://schemas.microsoft.com/office/drawing/2014/main" id="{2795FFEA-AC80-4665-B08C-7904F1D91BB1}"/>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25</a:t>
            </a:fld>
            <a:r>
              <a:rPr lang="en-US" sz="1400" b="1" dirty="0"/>
              <a:t> </a:t>
            </a:r>
          </a:p>
        </p:txBody>
      </p:sp>
      <p:sp>
        <p:nvSpPr>
          <p:cNvPr id="3" name="Rectangle 2" descr="M. Mhahudul Hasan">
            <a:extLst>
              <a:ext uri="{FF2B5EF4-FFF2-40B4-BE49-F238E27FC236}">
                <a16:creationId xmlns:a16="http://schemas.microsoft.com/office/drawing/2014/main" id="{692E698E-37B2-4CBE-9E18-7D60AD42CA4F}"/>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E59F6849-49BD-4140-B33C-D5155DFA12B4}"/>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11" name="Rectangle 10" descr="M. Mhahudul Hasan">
            <a:extLst>
              <a:ext uri="{FF2B5EF4-FFF2-40B4-BE49-F238E27FC236}">
                <a16:creationId xmlns:a16="http://schemas.microsoft.com/office/drawing/2014/main" id="{CA8A455B-FD9D-4696-B487-07AE3C2F09CD}"/>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586344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704" y="583688"/>
            <a:ext cx="11029950" cy="551938"/>
          </a:xfrm>
        </p:spPr>
        <p:txBody>
          <a:bodyPr/>
          <a:lstStyle/>
          <a:p>
            <a:pPr algn="ctr"/>
            <a:r>
              <a:rPr lang="en-US" altLang="en-US" b="1" dirty="0">
                <a:solidFill>
                  <a:srgbClr val="0070C0"/>
                </a:solidFill>
                <a:latin typeface="Book Antiqua" pitchFamily="18" charset="0"/>
              </a:rPr>
              <a:t>references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56291" y="1194056"/>
            <a:ext cx="11149012" cy="1608137"/>
          </a:xfrm>
        </p:spPr>
        <p:txBody>
          <a:bodyPr>
            <a:normAutofit/>
          </a:bodyPr>
          <a:lstStyle/>
          <a:p>
            <a:pPr lvl="0">
              <a:buFont typeface="Wingdings" pitchFamily="2" charset="2"/>
              <a:buChar char="q"/>
              <a:defRPr/>
            </a:pPr>
            <a:r>
              <a:rPr lang="en-US" dirty="0" err="1"/>
              <a:t>Booch</a:t>
            </a:r>
            <a:r>
              <a:rPr lang="en-US" dirty="0"/>
              <a:t>, G., Rumbaugh, J. &amp; Jacobson, I. (2005). </a:t>
            </a:r>
            <a:r>
              <a:rPr lang="en-US" i="1" dirty="0"/>
              <a:t>The unified modeling language user guide</a:t>
            </a:r>
            <a:r>
              <a:rPr lang="en-US" dirty="0"/>
              <a:t>. Pearson Education India.</a:t>
            </a:r>
          </a:p>
          <a:p>
            <a:pPr>
              <a:buFont typeface="Wingdings" pitchFamily="2" charset="2"/>
              <a:buChar char="q"/>
              <a:defRPr/>
            </a:pPr>
            <a:endParaRPr lang="en-US" dirty="0">
              <a:solidFill>
                <a:srgbClr val="0070C0"/>
              </a:solidFill>
              <a:latin typeface="+mj-lt"/>
            </a:endParaRPr>
          </a:p>
        </p:txBody>
      </p:sp>
      <p:sp>
        <p:nvSpPr>
          <p:cNvPr id="7" name="Content Placeholder 2">
            <a:extLst>
              <a:ext uri="{FF2B5EF4-FFF2-40B4-BE49-F238E27FC236}">
                <a16:creationId xmlns:a16="http://schemas.microsoft.com/office/drawing/2014/main" id="{2EBE54A0-EB73-4EED-B351-8CB18A70482B}"/>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8" name="Slide Number Placeholder 3">
            <a:extLst>
              <a:ext uri="{FF2B5EF4-FFF2-40B4-BE49-F238E27FC236}">
                <a16:creationId xmlns:a16="http://schemas.microsoft.com/office/drawing/2014/main" id="{20BB48AD-CA08-4BBC-9485-0A4A02721765}"/>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26</a:t>
            </a:fld>
            <a:r>
              <a:rPr lang="en-US" sz="1400" b="1" dirty="0"/>
              <a:t> </a:t>
            </a:r>
          </a:p>
        </p:txBody>
      </p:sp>
      <p:sp>
        <p:nvSpPr>
          <p:cNvPr id="3" name="Rectangle 2" descr="M. Mhahudul Hasan">
            <a:extLst>
              <a:ext uri="{FF2B5EF4-FFF2-40B4-BE49-F238E27FC236}">
                <a16:creationId xmlns:a16="http://schemas.microsoft.com/office/drawing/2014/main" id="{8A6707E3-4839-4707-BB7B-B17C7A53CC7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1E4A929A-2326-4541-9265-F0D2A087A141}"/>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2:  Introduction to UML</a:t>
            </a:r>
          </a:p>
        </p:txBody>
      </p:sp>
      <p:sp>
        <p:nvSpPr>
          <p:cNvPr id="12" name="Rectangle 11" descr="M. Mhahudul Hasan">
            <a:extLst>
              <a:ext uri="{FF2B5EF4-FFF2-40B4-BE49-F238E27FC236}">
                <a16:creationId xmlns:a16="http://schemas.microsoft.com/office/drawing/2014/main" id="{2CAC1144-039D-48B7-AD48-153CAE1F1564}"/>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3913816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1715</TotalTime>
  <Words>2256</Words>
  <Application>Microsoft Office PowerPoint</Application>
  <PresentationFormat>Widescreen</PresentationFormat>
  <Paragraphs>279</Paragraphs>
  <Slides>26</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Bell MT</vt:lpstr>
      <vt:lpstr>Book Antiqua</vt:lpstr>
      <vt:lpstr>Calibri</vt:lpstr>
      <vt:lpstr>Courier New</vt:lpstr>
      <vt:lpstr>Gill Sans MT</vt:lpstr>
      <vt:lpstr>Times New Roman</vt:lpstr>
      <vt:lpstr>Wingdings</vt:lpstr>
      <vt:lpstr>Wingdings 2</vt:lpstr>
      <vt:lpstr>Dividend</vt:lpstr>
      <vt:lpstr>PowerPoint Presentation</vt:lpstr>
      <vt:lpstr>UML</vt:lpstr>
      <vt:lpstr>Why Use UML</vt:lpstr>
      <vt:lpstr>Why Use UML</vt:lpstr>
      <vt:lpstr>Building  blocks  of  uml</vt:lpstr>
      <vt:lpstr>Structural  things</vt:lpstr>
      <vt:lpstr>Structural  things</vt:lpstr>
      <vt:lpstr>Structural  things</vt:lpstr>
      <vt:lpstr>Structural  things</vt:lpstr>
      <vt:lpstr>Structural  things</vt:lpstr>
      <vt:lpstr>Behavioral  things</vt:lpstr>
      <vt:lpstr>grouping  things</vt:lpstr>
      <vt:lpstr>Annotational  things</vt:lpstr>
      <vt:lpstr>Relationships  in  uml</vt:lpstr>
      <vt:lpstr>Relationships  in  uml</vt:lpstr>
      <vt:lpstr>Relationships  in  uml</vt:lpstr>
      <vt:lpstr>Diagrams  in  uml</vt:lpstr>
      <vt:lpstr>Diagrams  in  uml</vt:lpstr>
      <vt:lpstr>Diagrams  in  uml</vt:lpstr>
      <vt:lpstr>Architecture of OO Software System</vt:lpstr>
      <vt:lpstr>System  architecture  modeling</vt:lpstr>
      <vt:lpstr>Architecture of OO Software System</vt:lpstr>
      <vt:lpstr>        SDLC – Rational  Unified  Model (RUP)</vt:lpstr>
      <vt:lpstr>SDLC – Rational  Unified  Model (RUP)</vt:lpstr>
      <vt:lpstr>SDLC – Rational  Unified  Process (RUP)</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OOAD - Ch.01 - Why do We Model Things</dc:title>
  <dc:subject>Object Oriented Analysis and Design (OOAD)</dc:subject>
  <dc:creator>M. Mahmudul Hasan</dc:creator>
  <cp:lastModifiedBy>Mohaimen-Bin-Noor</cp:lastModifiedBy>
  <cp:revision>97</cp:revision>
  <cp:lastPrinted>2021-01-26T07:46:39Z</cp:lastPrinted>
  <dcterms:created xsi:type="dcterms:W3CDTF">2019-05-13T08:37:20Z</dcterms:created>
  <dcterms:modified xsi:type="dcterms:W3CDTF">2025-03-11T06:03:49Z</dcterms:modified>
</cp:coreProperties>
</file>