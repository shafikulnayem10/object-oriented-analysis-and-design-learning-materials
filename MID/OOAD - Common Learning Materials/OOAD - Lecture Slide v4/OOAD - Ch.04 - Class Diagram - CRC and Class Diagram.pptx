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24"/>
  </p:notesMasterIdLst>
  <p:sldIdLst>
    <p:sldId id="256" r:id="rId2"/>
    <p:sldId id="328" r:id="rId3"/>
    <p:sldId id="329" r:id="rId4"/>
    <p:sldId id="330" r:id="rId5"/>
    <p:sldId id="331" r:id="rId6"/>
    <p:sldId id="333" r:id="rId7"/>
    <p:sldId id="332" r:id="rId8"/>
    <p:sldId id="334" r:id="rId9"/>
    <p:sldId id="335" r:id="rId10"/>
    <p:sldId id="336" r:id="rId11"/>
    <p:sldId id="337" r:id="rId12"/>
    <p:sldId id="338" r:id="rId13"/>
    <p:sldId id="339" r:id="rId14"/>
    <p:sldId id="340" r:id="rId15"/>
    <p:sldId id="341" r:id="rId16"/>
    <p:sldId id="343" r:id="rId17"/>
    <p:sldId id="344" r:id="rId18"/>
    <p:sldId id="345" r:id="rId19"/>
    <p:sldId id="346" r:id="rId20"/>
    <p:sldId id="347" r:id="rId21"/>
    <p:sldId id="348" r:id="rId22"/>
    <p:sldId id="34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B5ED86-6823-48EF-A526-4D44904C5E09}" v="6" dt="2025-03-25T07:24:47.1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83" autoAdjust="0"/>
    <p:restoredTop sz="93447" autoAdjust="0"/>
  </p:normalViewPr>
  <p:slideViewPr>
    <p:cSldViewPr snapToGrid="0">
      <p:cViewPr varScale="1">
        <p:scale>
          <a:sx n="56" d="100"/>
          <a:sy n="56" d="100"/>
        </p:scale>
        <p:origin x="808"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imen-Bin-Noor" userId="450061a4-a9bb-461d-863c-bd280cb5dc2f" providerId="ADAL" clId="{C0B5ED86-6823-48EF-A526-4D44904C5E09}"/>
    <pc:docChg chg="modSld">
      <pc:chgData name="Mohaimen-Bin-Noor" userId="450061a4-a9bb-461d-863c-bd280cb5dc2f" providerId="ADAL" clId="{C0B5ED86-6823-48EF-A526-4D44904C5E09}" dt="2025-03-25T07:24:52.924" v="6" actId="14734"/>
      <pc:docMkLst>
        <pc:docMk/>
      </pc:docMkLst>
      <pc:sldChg chg="modSp mod">
        <pc:chgData name="Mohaimen-Bin-Noor" userId="450061a4-a9bb-461d-863c-bd280cb5dc2f" providerId="ADAL" clId="{C0B5ED86-6823-48EF-A526-4D44904C5E09}" dt="2025-03-25T07:24:52.924" v="6" actId="14734"/>
        <pc:sldMkLst>
          <pc:docMk/>
          <pc:sldMk cId="3120510999" sldId="333"/>
        </pc:sldMkLst>
        <pc:graphicFrameChg chg="mod modGraphic">
          <ac:chgData name="Mohaimen-Bin-Noor" userId="450061a4-a9bb-461d-863c-bd280cb5dc2f" providerId="ADAL" clId="{C0B5ED86-6823-48EF-A526-4D44904C5E09}" dt="2025-03-25T07:24:52.924" v="6" actId="14734"/>
          <ac:graphicFrameMkLst>
            <pc:docMk/>
            <pc:sldMk cId="3120510999" sldId="333"/>
            <ac:graphicFrameMk id="5" creationId="{40A7384E-E933-AC6A-9DEC-5988FFDE77EF}"/>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25/03/2025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3/25/2025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3/25/2025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3/25/2025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3/25/2025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3/25/2025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3/25/2025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3/25/2025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3/25/2025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3/25/2025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3/25/2025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3/25/2025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3/25/2025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61"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dirty="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606035" y="486697"/>
            <a:ext cx="3405526" cy="293492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u="sng" cap="all" dirty="0">
                <a:solidFill>
                  <a:srgbClr val="FFFFFF"/>
                </a:solidFill>
              </a:rPr>
            </a:br>
            <a:br>
              <a:rPr lang="en-US" sz="2400" cap="all" dirty="0">
                <a:solidFill>
                  <a:srgbClr val="FFFFFF"/>
                </a:solidFill>
              </a:rPr>
            </a:br>
            <a:r>
              <a:rPr lang="en-US" sz="2400" cap="all" dirty="0">
                <a:solidFill>
                  <a:srgbClr val="FFFFFF"/>
                </a:solidFill>
              </a:rPr>
              <a:t>object oriented analysis and design</a:t>
            </a:r>
          </a:p>
          <a:p>
            <a:pPr marL="0" indent="0" algn="ctr">
              <a:buFont typeface="Wingdings 2" panose="05020102010507070707" pitchFamily="18" charset="2"/>
              <a:buNone/>
            </a:pPr>
            <a:r>
              <a:rPr lang="en-US" sz="2400" cap="all" dirty="0">
                <a:solidFill>
                  <a:srgbClr val="FFFFFF"/>
                </a:solidFill>
              </a:rPr>
              <a:t>CSC 2210</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383399"/>
          </a:xfrm>
          <a:prstGeom prst="rect">
            <a:avLst/>
          </a:prstGeom>
        </p:spPr>
        <p:txBody>
          <a:bodyPr vert="horz" lIns="91440" tIns="45720" rIns="91440" bIns="45720" rtlCol="0" anchor="ctr">
            <a:normAutofit fontScale="975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dirty="0">
                <a:solidFill>
                  <a:srgbClr val="C00000"/>
                </a:solidFill>
              </a:rPr>
              <a:t>Chapter 3</a:t>
            </a:r>
            <a:br>
              <a:rPr lang="en-US" sz="3000" dirty="0">
                <a:solidFill>
                  <a:srgbClr val="C00000"/>
                </a:solidFill>
              </a:rPr>
            </a:br>
            <a:br>
              <a:rPr lang="en-US" sz="3000" dirty="0">
                <a:solidFill>
                  <a:schemeClr val="tx2"/>
                </a:solidFill>
              </a:rPr>
            </a:br>
            <a:r>
              <a:rPr lang="en-US" sz="3000" dirty="0">
                <a:solidFill>
                  <a:schemeClr val="tx2"/>
                </a:solidFill>
              </a:rPr>
              <a:t>Class Diagram</a:t>
            </a:r>
          </a:p>
        </p:txBody>
      </p:sp>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pic>
        <p:nvPicPr>
          <p:cNvPr id="30" name="Picture 1" descr="C:\Users\teacher\Desktop\download.jpg">
            <a:extLst>
              <a:ext uri="{FF2B5EF4-FFF2-40B4-BE49-F238E27FC236}">
                <a16:creationId xmlns:a16="http://schemas.microsoft.com/office/drawing/2014/main" id="{1799BA9A-E3B9-47F7-BB6C-545ACE6A83B9}"/>
              </a:ext>
            </a:extLst>
          </p:cNvPr>
          <p:cNvPicPr>
            <a:picLocks noChangeAspect="1" noChangeArrowheads="1"/>
          </p:cNvPicPr>
          <p:nvPr/>
        </p:nvPicPr>
        <p:blipFill>
          <a:blip r:embed="rId3"/>
          <a:srcRect/>
          <a:stretch>
            <a:fillRect/>
          </a:stretch>
        </p:blipFill>
        <p:spPr bwMode="auto">
          <a:xfrm>
            <a:off x="486697" y="3333135"/>
            <a:ext cx="3598606" cy="1887793"/>
          </a:xfrm>
          <a:prstGeom prst="rect">
            <a:avLst/>
          </a:prstGeom>
          <a:noFill/>
        </p:spPr>
      </p:pic>
      <p:pic>
        <p:nvPicPr>
          <p:cNvPr id="31" name="Picture 3" descr="https://encrypted-tbn2.gstatic.com/images?q=tbn:ANd9GcTZSqWmbgJA9IY9oTGf6ls2w158A103Jg2WEGhWbMSOl3O_igInBAxJpJ9N">
            <a:extLst>
              <a:ext uri="{FF2B5EF4-FFF2-40B4-BE49-F238E27FC236}">
                <a16:creationId xmlns:a16="http://schemas.microsoft.com/office/drawing/2014/main" id="{ACD720F7-42BA-49BE-A110-5F85475442F6}"/>
              </a:ext>
            </a:extLst>
          </p:cNvPr>
          <p:cNvPicPr>
            <a:picLocks noChangeAspect="1" noChangeArrowheads="1"/>
          </p:cNvPicPr>
          <p:nvPr/>
        </p:nvPicPr>
        <p:blipFill>
          <a:blip r:embed="rId4"/>
          <a:srcRect/>
          <a:stretch>
            <a:fillRect/>
          </a:stretch>
        </p:blipFill>
        <p:spPr bwMode="auto">
          <a:xfrm>
            <a:off x="486697" y="5279921"/>
            <a:ext cx="3598606" cy="1080425"/>
          </a:xfrm>
          <a:prstGeom prst="rect">
            <a:avLst/>
          </a:prstGeom>
          <a:noFill/>
        </p:spPr>
      </p:pic>
      <p:sp>
        <p:nvSpPr>
          <p:cNvPr id="2" name="Title 1">
            <a:extLst>
              <a:ext uri="{FF2B5EF4-FFF2-40B4-BE49-F238E27FC236}">
                <a16:creationId xmlns:a16="http://schemas.microsoft.com/office/drawing/2014/main" id="{109F5B63-3205-4186-9972-B0B21B3211C6}"/>
              </a:ext>
            </a:extLst>
          </p:cNvPr>
          <p:cNvSpPr txBox="1">
            <a:spLocks/>
          </p:cNvSpPr>
          <p:nvPr/>
        </p:nvSpPr>
        <p:spPr>
          <a:xfrm>
            <a:off x="4321278" y="3471955"/>
            <a:ext cx="7152968" cy="1426865"/>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rgbClr val="7030A0"/>
                </a:solidFill>
              </a:rPr>
              <a:t>MOHAIMEN-BIN-NOOR</a:t>
            </a:r>
          </a:p>
          <a:p>
            <a:r>
              <a:rPr lang="en-US" sz="2000" dirty="0">
                <a:solidFill>
                  <a:schemeClr val="tx1"/>
                </a:solidFill>
              </a:rPr>
              <a:t>Assistant Professor, CS</a:t>
            </a:r>
          </a:p>
          <a:p>
            <a:r>
              <a:rPr lang="en-US" sz="2000" cap="none" dirty="0">
                <a:solidFill>
                  <a:schemeClr val="tx1"/>
                </a:solidFill>
                <a:latin typeface="+mn-lt"/>
              </a:rPr>
              <a:t>mohaimen.niloy@aiub.edu</a:t>
            </a:r>
          </a:p>
        </p:txBody>
      </p: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0C0FE-CB1E-595A-C0CE-174FA337F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9CF5DA-C01A-0492-03CD-9FB02806E254}"/>
              </a:ext>
            </a:extLst>
          </p:cNvPr>
          <p:cNvSpPr>
            <a:spLocks noGrp="1"/>
          </p:cNvSpPr>
          <p:nvPr>
            <p:ph type="title" idx="4294967295"/>
          </p:nvPr>
        </p:nvSpPr>
        <p:spPr>
          <a:xfrm>
            <a:off x="561176" y="580370"/>
            <a:ext cx="11029950" cy="537190"/>
          </a:xfrm>
        </p:spPr>
        <p:txBody>
          <a:bodyPr/>
          <a:lstStyle/>
          <a:p>
            <a:pPr algn="ctr"/>
            <a:r>
              <a:rPr lang="en-US" altLang="en-US" b="1" dirty="0">
                <a:solidFill>
                  <a:srgbClr val="0070C0"/>
                </a:solidFill>
                <a:latin typeface="Book Antiqua" pitchFamily="18" charset="0"/>
              </a:rPr>
              <a:t>CRC – Class responsibility collaborators</a:t>
            </a:r>
            <a:endParaRPr lang="en-US" b="1" dirty="0">
              <a:solidFill>
                <a:srgbClr val="0070C0"/>
              </a:solidFill>
              <a:effectLst>
                <a:outerShdw blurRad="38100" dist="38100" dir="2700000" algn="tl">
                  <a:srgbClr val="000000">
                    <a:alpha val="43137"/>
                  </a:srgbClr>
                </a:outerShdw>
              </a:effectLst>
            </a:endParaRPr>
          </a:p>
        </p:txBody>
      </p:sp>
      <p:sp>
        <p:nvSpPr>
          <p:cNvPr id="8" name="Content Placeholder 2">
            <a:extLst>
              <a:ext uri="{FF2B5EF4-FFF2-40B4-BE49-F238E27FC236}">
                <a16:creationId xmlns:a16="http://schemas.microsoft.com/office/drawing/2014/main" id="{BFCB5F9E-77CF-8773-719C-12BAF1C6F0EC}"/>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9" name="Slide Number Placeholder 3">
            <a:extLst>
              <a:ext uri="{FF2B5EF4-FFF2-40B4-BE49-F238E27FC236}">
                <a16:creationId xmlns:a16="http://schemas.microsoft.com/office/drawing/2014/main" id="{5CC931F7-4011-06AC-3D62-808F9CABA2F7}"/>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a:t>
            </a:fld>
            <a:r>
              <a:rPr lang="en-US" sz="1400" b="1" dirty="0"/>
              <a:t> </a:t>
            </a:r>
          </a:p>
        </p:txBody>
      </p:sp>
      <p:sp>
        <p:nvSpPr>
          <p:cNvPr id="3" name="Rectangle 2" descr="M. Mhahudul Hasan">
            <a:extLst>
              <a:ext uri="{FF2B5EF4-FFF2-40B4-BE49-F238E27FC236}">
                <a16:creationId xmlns:a16="http://schemas.microsoft.com/office/drawing/2014/main" id="{7E575A32-A206-C4AA-199F-18B7CB606E82}"/>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1E3C267C-671F-F60F-D8DB-8D4AE5B92875}"/>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4:  Class Diagram</a:t>
            </a:r>
          </a:p>
        </p:txBody>
      </p:sp>
      <p:sp>
        <p:nvSpPr>
          <p:cNvPr id="12" name="Rectangle 11" descr="M. Mhahudul Hasan">
            <a:extLst>
              <a:ext uri="{FF2B5EF4-FFF2-40B4-BE49-F238E27FC236}">
                <a16:creationId xmlns:a16="http://schemas.microsoft.com/office/drawing/2014/main" id="{31F4C1F6-16F3-3F6B-5A17-B719E279038C}"/>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5" name="Content Placeholder 2">
            <a:extLst>
              <a:ext uri="{FF2B5EF4-FFF2-40B4-BE49-F238E27FC236}">
                <a16:creationId xmlns:a16="http://schemas.microsoft.com/office/drawing/2014/main" id="{0CCBF9A6-A42C-0708-FFBB-571189A4B4A8}"/>
              </a:ext>
            </a:extLst>
          </p:cNvPr>
          <p:cNvSpPr txBox="1">
            <a:spLocks/>
          </p:cNvSpPr>
          <p:nvPr/>
        </p:nvSpPr>
        <p:spPr>
          <a:xfrm>
            <a:off x="815340" y="1871345"/>
            <a:ext cx="5882640" cy="3626485"/>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just"/>
            <a:r>
              <a:rPr lang="en-US" sz="2200" dirty="0"/>
              <a:t>CRC stands for Class, Responsibilities, and Collaborators. </a:t>
            </a:r>
          </a:p>
          <a:p>
            <a:pPr algn="just"/>
            <a:r>
              <a:rPr lang="en-US" sz="2200" dirty="0"/>
              <a:t>Originally developed as a learning tool for making the transition to OO thinking. </a:t>
            </a:r>
          </a:p>
          <a:p>
            <a:pPr algn="just"/>
            <a:r>
              <a:rPr lang="en-US" sz="2200" dirty="0"/>
              <a:t>The goal was to provide the simplest possible conceptual introduction to OO modeling.</a:t>
            </a:r>
          </a:p>
          <a:p>
            <a:pPr algn="just"/>
            <a:r>
              <a:rPr lang="en-US" sz="2200" dirty="0"/>
              <a:t>A CRC card is a 3-x-5" or 4-x-6" lined index card.</a:t>
            </a:r>
          </a:p>
        </p:txBody>
      </p:sp>
      <p:pic>
        <p:nvPicPr>
          <p:cNvPr id="10" name="Picture 9">
            <a:extLst>
              <a:ext uri="{FF2B5EF4-FFF2-40B4-BE49-F238E27FC236}">
                <a16:creationId xmlns:a16="http://schemas.microsoft.com/office/drawing/2014/main" id="{DB55078C-A25A-C393-BB05-2DA9C3C8A258}"/>
              </a:ext>
            </a:extLst>
          </p:cNvPr>
          <p:cNvPicPr>
            <a:picLocks noChangeAspect="1"/>
          </p:cNvPicPr>
          <p:nvPr/>
        </p:nvPicPr>
        <p:blipFill>
          <a:blip r:embed="rId2"/>
          <a:stretch>
            <a:fillRect/>
          </a:stretch>
        </p:blipFill>
        <p:spPr>
          <a:xfrm>
            <a:off x="6891445" y="1760220"/>
            <a:ext cx="4824305" cy="3696652"/>
          </a:xfrm>
          <a:prstGeom prst="rect">
            <a:avLst/>
          </a:prstGeom>
        </p:spPr>
      </p:pic>
    </p:spTree>
    <p:extLst>
      <p:ext uri="{BB962C8B-B14F-4D97-AF65-F5344CB8AC3E}">
        <p14:creationId xmlns:p14="http://schemas.microsoft.com/office/powerpoint/2010/main" val="1697877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4D656-40E1-29BA-BBD7-0F415C472D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41FE4-9953-EE51-88C7-E1168436C593}"/>
              </a:ext>
            </a:extLst>
          </p:cNvPr>
          <p:cNvSpPr>
            <a:spLocks noGrp="1"/>
          </p:cNvSpPr>
          <p:nvPr>
            <p:ph type="title" idx="4294967295"/>
          </p:nvPr>
        </p:nvSpPr>
        <p:spPr>
          <a:xfrm>
            <a:off x="561176" y="580370"/>
            <a:ext cx="11029950" cy="537190"/>
          </a:xfrm>
        </p:spPr>
        <p:txBody>
          <a:bodyPr/>
          <a:lstStyle/>
          <a:p>
            <a:pPr algn="ctr"/>
            <a:r>
              <a:rPr lang="en-US" altLang="en-US" b="1" dirty="0">
                <a:solidFill>
                  <a:srgbClr val="0070C0"/>
                </a:solidFill>
                <a:latin typeface="Book Antiqua" pitchFamily="18" charset="0"/>
              </a:rPr>
              <a:t>CRC – Class responsibility collaborators</a:t>
            </a:r>
            <a:endParaRPr lang="en-US" b="1" dirty="0">
              <a:solidFill>
                <a:srgbClr val="0070C0"/>
              </a:solidFill>
              <a:effectLst>
                <a:outerShdw blurRad="38100" dist="38100" dir="2700000" algn="tl">
                  <a:srgbClr val="000000">
                    <a:alpha val="43137"/>
                  </a:srgbClr>
                </a:outerShdw>
              </a:effectLst>
            </a:endParaRPr>
          </a:p>
        </p:txBody>
      </p:sp>
      <p:sp>
        <p:nvSpPr>
          <p:cNvPr id="8" name="Content Placeholder 2">
            <a:extLst>
              <a:ext uri="{FF2B5EF4-FFF2-40B4-BE49-F238E27FC236}">
                <a16:creationId xmlns:a16="http://schemas.microsoft.com/office/drawing/2014/main" id="{2A16D468-9454-3FA4-4C8C-C712FF653728}"/>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9" name="Slide Number Placeholder 3">
            <a:extLst>
              <a:ext uri="{FF2B5EF4-FFF2-40B4-BE49-F238E27FC236}">
                <a16:creationId xmlns:a16="http://schemas.microsoft.com/office/drawing/2014/main" id="{0F106F38-A8F7-D573-A4BA-06B2AFEFD82B}"/>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a:t>
            </a:fld>
            <a:r>
              <a:rPr lang="en-US" sz="1400" b="1" dirty="0"/>
              <a:t> </a:t>
            </a:r>
          </a:p>
        </p:txBody>
      </p:sp>
      <p:sp>
        <p:nvSpPr>
          <p:cNvPr id="3" name="Rectangle 2" descr="M. Mhahudul Hasan">
            <a:extLst>
              <a:ext uri="{FF2B5EF4-FFF2-40B4-BE49-F238E27FC236}">
                <a16:creationId xmlns:a16="http://schemas.microsoft.com/office/drawing/2014/main" id="{72D0CB62-A289-9C01-C274-B628A04847CC}"/>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9BB8CD30-C046-5ECB-7C1F-4744E29F48D4}"/>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4:  Class Diagram</a:t>
            </a:r>
          </a:p>
        </p:txBody>
      </p:sp>
      <p:sp>
        <p:nvSpPr>
          <p:cNvPr id="12" name="Rectangle 11" descr="M. Mhahudul Hasan">
            <a:extLst>
              <a:ext uri="{FF2B5EF4-FFF2-40B4-BE49-F238E27FC236}">
                <a16:creationId xmlns:a16="http://schemas.microsoft.com/office/drawing/2014/main" id="{E67DEFB1-B1DB-F187-D989-E85E7311048F}"/>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5" name="Content Placeholder 2">
            <a:extLst>
              <a:ext uri="{FF2B5EF4-FFF2-40B4-BE49-F238E27FC236}">
                <a16:creationId xmlns:a16="http://schemas.microsoft.com/office/drawing/2014/main" id="{DE211EF6-8CE9-CF33-EE3C-6D5DD3E37B9B}"/>
              </a:ext>
            </a:extLst>
          </p:cNvPr>
          <p:cNvSpPr txBox="1">
            <a:spLocks/>
          </p:cNvSpPr>
          <p:nvPr/>
        </p:nvSpPr>
        <p:spPr>
          <a:xfrm>
            <a:off x="815340" y="1871345"/>
            <a:ext cx="10180320" cy="3626485"/>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just"/>
            <a:r>
              <a:rPr lang="en-US" sz="2400" dirty="0"/>
              <a:t>Requires people in two distinct roles: domain expert and object-oriented technology facilitator. </a:t>
            </a:r>
          </a:p>
          <a:p>
            <a:pPr algn="just"/>
            <a:r>
              <a:rPr lang="en-US" sz="2400" dirty="0"/>
              <a:t>Domain experts provide knowledge of the subject area</a:t>
            </a:r>
          </a:p>
          <a:p>
            <a:pPr algn="just"/>
            <a:r>
              <a:rPr lang="en-US" sz="2400" dirty="0"/>
              <a:t>OO facilitator coaches the team through the development of the cards and the eventual model.</a:t>
            </a:r>
          </a:p>
        </p:txBody>
      </p:sp>
    </p:spTree>
    <p:extLst>
      <p:ext uri="{BB962C8B-B14F-4D97-AF65-F5344CB8AC3E}">
        <p14:creationId xmlns:p14="http://schemas.microsoft.com/office/powerpoint/2010/main" val="2411771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9CF53-73DC-2613-7B78-9A8C665D26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5C33E8-B3D7-79EC-6D05-E1FC6B2B5671}"/>
              </a:ext>
            </a:extLst>
          </p:cNvPr>
          <p:cNvSpPr>
            <a:spLocks noGrp="1"/>
          </p:cNvSpPr>
          <p:nvPr>
            <p:ph type="title" idx="4294967295"/>
          </p:nvPr>
        </p:nvSpPr>
        <p:spPr>
          <a:xfrm>
            <a:off x="561176" y="580370"/>
            <a:ext cx="11029950" cy="537190"/>
          </a:xfrm>
        </p:spPr>
        <p:txBody>
          <a:bodyPr/>
          <a:lstStyle/>
          <a:p>
            <a:pPr algn="ctr"/>
            <a:r>
              <a:rPr lang="en-US" altLang="en-US" b="1" dirty="0">
                <a:solidFill>
                  <a:srgbClr val="0070C0"/>
                </a:solidFill>
                <a:latin typeface="Book Antiqua" pitchFamily="18" charset="0"/>
              </a:rPr>
              <a:t>CRC Process</a:t>
            </a:r>
            <a:endParaRPr lang="en-US" b="1" dirty="0">
              <a:solidFill>
                <a:srgbClr val="0070C0"/>
              </a:solidFill>
              <a:effectLst>
                <a:outerShdw blurRad="38100" dist="38100" dir="2700000" algn="tl">
                  <a:srgbClr val="000000">
                    <a:alpha val="43137"/>
                  </a:srgbClr>
                </a:outerShdw>
              </a:effectLst>
            </a:endParaRPr>
          </a:p>
        </p:txBody>
      </p:sp>
      <p:sp>
        <p:nvSpPr>
          <p:cNvPr id="8" name="Content Placeholder 2">
            <a:extLst>
              <a:ext uri="{FF2B5EF4-FFF2-40B4-BE49-F238E27FC236}">
                <a16:creationId xmlns:a16="http://schemas.microsoft.com/office/drawing/2014/main" id="{A5831644-FF29-9CF0-E7AB-E3F2878DFD4E}"/>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9" name="Slide Number Placeholder 3">
            <a:extLst>
              <a:ext uri="{FF2B5EF4-FFF2-40B4-BE49-F238E27FC236}">
                <a16:creationId xmlns:a16="http://schemas.microsoft.com/office/drawing/2014/main" id="{D60108A8-22EE-5D32-1EAC-CC361B12B1D4}"/>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4</a:t>
            </a:fld>
            <a:r>
              <a:rPr lang="en-US" sz="1400" b="1" dirty="0"/>
              <a:t> </a:t>
            </a:r>
          </a:p>
        </p:txBody>
      </p:sp>
      <p:sp>
        <p:nvSpPr>
          <p:cNvPr id="3" name="Rectangle 2" descr="M. Mhahudul Hasan">
            <a:extLst>
              <a:ext uri="{FF2B5EF4-FFF2-40B4-BE49-F238E27FC236}">
                <a16:creationId xmlns:a16="http://schemas.microsoft.com/office/drawing/2014/main" id="{6ABCB8D4-BA25-42C9-7CBC-8CDA2DC8B809}"/>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0AFB4646-C260-EB60-25B1-8274F12A54CC}"/>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4:  Class Diagram</a:t>
            </a:r>
          </a:p>
        </p:txBody>
      </p:sp>
      <p:sp>
        <p:nvSpPr>
          <p:cNvPr id="12" name="Rectangle 11" descr="M. Mhahudul Hasan">
            <a:extLst>
              <a:ext uri="{FF2B5EF4-FFF2-40B4-BE49-F238E27FC236}">
                <a16:creationId xmlns:a16="http://schemas.microsoft.com/office/drawing/2014/main" id="{3D99FB1A-9712-F032-FBBF-13A6D5CE1E13}"/>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4" name="Content Placeholder 2">
            <a:extLst>
              <a:ext uri="{FF2B5EF4-FFF2-40B4-BE49-F238E27FC236}">
                <a16:creationId xmlns:a16="http://schemas.microsoft.com/office/drawing/2014/main" id="{C9998C59-9744-35B6-27F6-DC27D8ECDA59}"/>
              </a:ext>
            </a:extLst>
          </p:cNvPr>
          <p:cNvSpPr txBox="1">
            <a:spLocks/>
          </p:cNvSpPr>
          <p:nvPr/>
        </p:nvSpPr>
        <p:spPr>
          <a:xfrm>
            <a:off x="582930" y="1520190"/>
            <a:ext cx="11007090" cy="4834890"/>
          </a:xfrm>
          <a:prstGeom prst="rect">
            <a:avLst/>
          </a:prstGeom>
        </p:spPr>
        <p:txBody>
          <a:bodyP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Font typeface="Wingdings 2" panose="05020102010507070707" pitchFamily="18" charset="2"/>
              <a:buNone/>
            </a:pPr>
            <a:r>
              <a:rPr lang="en-US" sz="2200" b="1" dirty="0"/>
              <a:t>1. </a:t>
            </a:r>
            <a:r>
              <a:rPr lang="en-US" sz="2200" dirty="0"/>
              <a:t>Before the Scenario Execution</a:t>
            </a:r>
          </a:p>
          <a:p>
            <a:pPr marL="457200" lvl="1" indent="0" algn="just">
              <a:buFont typeface="Wingdings 2" panose="05020102010507070707" pitchFamily="18" charset="2"/>
              <a:buNone/>
            </a:pPr>
            <a:r>
              <a:rPr lang="en-US" sz="2200" b="1" dirty="0"/>
              <a:t>a. </a:t>
            </a:r>
            <a:r>
              <a:rPr lang="en-US" sz="2200" dirty="0"/>
              <a:t>The Problem: Everyone agrees on the problem definition.</a:t>
            </a:r>
          </a:p>
          <a:p>
            <a:pPr marL="857250" lvl="1" indent="-400050" algn="just">
              <a:buFont typeface="Wingdings 2" panose="05020102010507070707" pitchFamily="18" charset="2"/>
              <a:buNone/>
            </a:pPr>
            <a:r>
              <a:rPr lang="en-US" sz="2200" b="1" dirty="0"/>
              <a:t>b. </a:t>
            </a:r>
            <a:r>
              <a:rPr lang="en-US" sz="2200" dirty="0"/>
              <a:t>Brainstorming for Classes: Based on the problem statement, the team identifies candidate classes using the vocabulary of the problem.</a:t>
            </a:r>
          </a:p>
          <a:p>
            <a:pPr marL="800100" lvl="1" indent="-342900" algn="just">
              <a:buFont typeface="Wingdings 2" panose="05020102010507070707" pitchFamily="18" charset="2"/>
              <a:buNone/>
            </a:pPr>
            <a:r>
              <a:rPr lang="en-US" sz="2200" b="1" dirty="0"/>
              <a:t>c. </a:t>
            </a:r>
            <a:r>
              <a:rPr lang="en-US" sz="2200" dirty="0"/>
              <a:t>Filtering Classes: The team works on definitions for each class, eliminating synonyms and conflicts.</a:t>
            </a:r>
          </a:p>
          <a:p>
            <a:pPr marL="457200" lvl="1" indent="0" algn="just">
              <a:buFont typeface="Wingdings 2" panose="05020102010507070707" pitchFamily="18" charset="2"/>
              <a:buNone/>
            </a:pPr>
            <a:r>
              <a:rPr lang="en-US" sz="2200" b="1" dirty="0"/>
              <a:t>d. </a:t>
            </a:r>
            <a:r>
              <a:rPr lang="en-US" sz="2200" dirty="0"/>
              <a:t>Assigning Cards: Each team member is assigned responsibility for one or more classes.</a:t>
            </a:r>
          </a:p>
          <a:p>
            <a:pPr marL="0" indent="0" algn="just">
              <a:buFont typeface="Wingdings 2" panose="05020102010507070707" pitchFamily="18" charset="2"/>
              <a:buNone/>
            </a:pPr>
            <a:r>
              <a:rPr lang="en-US" sz="2200" b="1" dirty="0"/>
              <a:t>2. </a:t>
            </a:r>
            <a:r>
              <a:rPr lang="en-US" sz="2200" dirty="0"/>
              <a:t>The Scenario Execution</a:t>
            </a:r>
          </a:p>
          <a:p>
            <a:pPr marL="457200" lvl="1" indent="0" algn="just">
              <a:buFont typeface="Wingdings 2" panose="05020102010507070707" pitchFamily="18" charset="2"/>
              <a:buNone/>
            </a:pPr>
            <a:r>
              <a:rPr lang="en-US" sz="2200" b="1" dirty="0"/>
              <a:t>a. </a:t>
            </a:r>
            <a:r>
              <a:rPr lang="en-US" sz="2200" dirty="0"/>
              <a:t>Each scenario expresses something that the system is supposed to do. The team walks through the scenario identifying the responsibilities of each class in the scenario.</a:t>
            </a:r>
          </a:p>
          <a:p>
            <a:pPr marL="457200" lvl="1" indent="0" algn="just">
              <a:buFont typeface="Wingdings 2" panose="05020102010507070707" pitchFamily="18" charset="2"/>
              <a:buNone/>
            </a:pPr>
            <a:r>
              <a:rPr lang="en-US" sz="2200" b="1" dirty="0"/>
              <a:t>b. </a:t>
            </a:r>
            <a:r>
              <a:rPr lang="en-US" sz="2200" dirty="0"/>
              <a:t>Each discovered responsibility is recorded on the card of the corresponding class.</a:t>
            </a:r>
          </a:p>
        </p:txBody>
      </p:sp>
    </p:spTree>
    <p:extLst>
      <p:ext uri="{BB962C8B-B14F-4D97-AF65-F5344CB8AC3E}">
        <p14:creationId xmlns:p14="http://schemas.microsoft.com/office/powerpoint/2010/main" val="3991765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25CF2-A834-BBBF-6A43-9369398792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7C4624-542A-E8A2-52D9-7BB1AB6A52E4}"/>
              </a:ext>
            </a:extLst>
          </p:cNvPr>
          <p:cNvSpPr>
            <a:spLocks noGrp="1"/>
          </p:cNvSpPr>
          <p:nvPr>
            <p:ph type="title" idx="4294967295"/>
          </p:nvPr>
        </p:nvSpPr>
        <p:spPr>
          <a:xfrm>
            <a:off x="561176" y="580370"/>
            <a:ext cx="11029950" cy="537190"/>
          </a:xfrm>
        </p:spPr>
        <p:txBody>
          <a:bodyPr/>
          <a:lstStyle/>
          <a:p>
            <a:pPr algn="ctr"/>
            <a:r>
              <a:rPr lang="en-US" altLang="en-US" b="1" dirty="0">
                <a:solidFill>
                  <a:srgbClr val="0070C0"/>
                </a:solidFill>
                <a:latin typeface="Book Antiqua" pitchFamily="18" charset="0"/>
              </a:rPr>
              <a:t>CRC Process</a:t>
            </a:r>
            <a:endParaRPr lang="en-US" b="1" dirty="0">
              <a:solidFill>
                <a:srgbClr val="0070C0"/>
              </a:solidFill>
              <a:effectLst>
                <a:outerShdw blurRad="38100" dist="38100" dir="2700000" algn="tl">
                  <a:srgbClr val="000000">
                    <a:alpha val="43137"/>
                  </a:srgbClr>
                </a:outerShdw>
              </a:effectLst>
            </a:endParaRPr>
          </a:p>
        </p:txBody>
      </p:sp>
      <p:sp>
        <p:nvSpPr>
          <p:cNvPr id="8" name="Content Placeholder 2">
            <a:extLst>
              <a:ext uri="{FF2B5EF4-FFF2-40B4-BE49-F238E27FC236}">
                <a16:creationId xmlns:a16="http://schemas.microsoft.com/office/drawing/2014/main" id="{B91C26C3-E145-0FC4-F8EC-670C7260E14B}"/>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9" name="Slide Number Placeholder 3">
            <a:extLst>
              <a:ext uri="{FF2B5EF4-FFF2-40B4-BE49-F238E27FC236}">
                <a16:creationId xmlns:a16="http://schemas.microsoft.com/office/drawing/2014/main" id="{8414626A-EC35-7D43-EC92-23126D336E21}"/>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5</a:t>
            </a:fld>
            <a:r>
              <a:rPr lang="en-US" sz="1400" b="1" dirty="0"/>
              <a:t> </a:t>
            </a:r>
          </a:p>
        </p:txBody>
      </p:sp>
      <p:sp>
        <p:nvSpPr>
          <p:cNvPr id="3" name="Rectangle 2" descr="M. Mhahudul Hasan">
            <a:extLst>
              <a:ext uri="{FF2B5EF4-FFF2-40B4-BE49-F238E27FC236}">
                <a16:creationId xmlns:a16="http://schemas.microsoft.com/office/drawing/2014/main" id="{FBBC39DB-6D18-5896-144A-6DE367F332EC}"/>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7AF84515-1B69-DBC3-A449-9521E181D1D1}"/>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4:  Class Diagram</a:t>
            </a:r>
          </a:p>
        </p:txBody>
      </p:sp>
      <p:sp>
        <p:nvSpPr>
          <p:cNvPr id="12" name="Rectangle 11" descr="M. Mhahudul Hasan">
            <a:extLst>
              <a:ext uri="{FF2B5EF4-FFF2-40B4-BE49-F238E27FC236}">
                <a16:creationId xmlns:a16="http://schemas.microsoft.com/office/drawing/2014/main" id="{F092A4C5-E14F-C814-F876-2ABBE324B4A3}"/>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4" name="Content Placeholder 2">
            <a:extLst>
              <a:ext uri="{FF2B5EF4-FFF2-40B4-BE49-F238E27FC236}">
                <a16:creationId xmlns:a16="http://schemas.microsoft.com/office/drawing/2014/main" id="{F43B88AD-75B7-2322-A985-49028EC72C3F}"/>
              </a:ext>
            </a:extLst>
          </p:cNvPr>
          <p:cNvSpPr txBox="1">
            <a:spLocks/>
          </p:cNvSpPr>
          <p:nvPr/>
        </p:nvSpPr>
        <p:spPr>
          <a:xfrm>
            <a:off x="582930" y="1520190"/>
            <a:ext cx="11007090" cy="4834890"/>
          </a:xfrm>
          <a:prstGeom prst="rect">
            <a:avLst/>
          </a:prstGeom>
        </p:spPr>
        <p:txBody>
          <a:bodyP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sz="2200" b="1" dirty="0"/>
              <a:t>3. </a:t>
            </a:r>
            <a:r>
              <a:rPr lang="en-US" sz="2200" dirty="0"/>
              <a:t>During the Scenario Execution</a:t>
            </a:r>
          </a:p>
          <a:p>
            <a:pPr marL="457200" lvl="1" indent="0">
              <a:buNone/>
            </a:pPr>
            <a:r>
              <a:rPr lang="en-US" sz="2200" b="1" dirty="0"/>
              <a:t>a. </a:t>
            </a:r>
            <a:r>
              <a:rPr lang="en-US" sz="2200" dirty="0"/>
              <a:t>Grouping the Cards: The team identifies similar classes.</a:t>
            </a:r>
          </a:p>
          <a:p>
            <a:pPr marL="457200" lvl="1" indent="0">
              <a:buNone/>
            </a:pPr>
            <a:r>
              <a:rPr lang="en-US" sz="2200" b="1" dirty="0"/>
              <a:t>b. </a:t>
            </a:r>
            <a:r>
              <a:rPr lang="en-US" sz="2200" dirty="0"/>
              <a:t>Scenario List: The team reviews the scenario coverage for completeness.</a:t>
            </a:r>
          </a:p>
          <a:p>
            <a:pPr marL="457200" lvl="1" indent="0">
              <a:buNone/>
            </a:pPr>
            <a:r>
              <a:rPr lang="en-US" sz="2200" b="1" dirty="0"/>
              <a:t>c. </a:t>
            </a:r>
            <a:r>
              <a:rPr lang="en-US" sz="2200" dirty="0"/>
              <a:t>Collaboration Drawings: The cards are combined on a wall or white board to show how they cooperate in the execution of the scenarios.</a:t>
            </a:r>
          </a:p>
          <a:p>
            <a:pPr marL="0" indent="0">
              <a:buNone/>
            </a:pPr>
            <a:r>
              <a:rPr lang="en-US" sz="2200" b="1" dirty="0"/>
              <a:t>4. </a:t>
            </a:r>
            <a:r>
              <a:rPr lang="en-US" sz="2200" dirty="0"/>
              <a:t>After the Scenario Execution</a:t>
            </a:r>
          </a:p>
          <a:p>
            <a:pPr marL="457200" lvl="1" indent="0">
              <a:buNone/>
            </a:pPr>
            <a:r>
              <a:rPr lang="en-US" sz="2200" b="1" dirty="0"/>
              <a:t>a. </a:t>
            </a:r>
            <a:r>
              <a:rPr lang="en-US" sz="2200" dirty="0"/>
              <a:t>The team reviews the resulting model and plans the implementation.</a:t>
            </a:r>
          </a:p>
        </p:txBody>
      </p:sp>
    </p:spTree>
    <p:extLst>
      <p:ext uri="{BB962C8B-B14F-4D97-AF65-F5344CB8AC3E}">
        <p14:creationId xmlns:p14="http://schemas.microsoft.com/office/powerpoint/2010/main" val="3934852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2F325-E7EA-2915-F4E3-6058DF94CE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19DD19-DDCA-E752-E857-E11E1CD38946}"/>
              </a:ext>
            </a:extLst>
          </p:cNvPr>
          <p:cNvSpPr>
            <a:spLocks noGrp="1"/>
          </p:cNvSpPr>
          <p:nvPr>
            <p:ph type="title" idx="4294967295"/>
          </p:nvPr>
        </p:nvSpPr>
        <p:spPr>
          <a:xfrm>
            <a:off x="561176" y="580370"/>
            <a:ext cx="11029950" cy="537190"/>
          </a:xfrm>
        </p:spPr>
        <p:txBody>
          <a:bodyPr/>
          <a:lstStyle/>
          <a:p>
            <a:pPr algn="ctr"/>
            <a:r>
              <a:rPr lang="en-US" altLang="en-US" b="1" dirty="0">
                <a:solidFill>
                  <a:srgbClr val="0070C0"/>
                </a:solidFill>
                <a:latin typeface="Book Antiqua" pitchFamily="18" charset="0"/>
              </a:rPr>
              <a:t>Sample CRC card</a:t>
            </a:r>
            <a:endParaRPr lang="en-US" b="1" dirty="0">
              <a:solidFill>
                <a:srgbClr val="0070C0"/>
              </a:solidFill>
              <a:effectLst>
                <a:outerShdw blurRad="38100" dist="38100" dir="2700000" algn="tl">
                  <a:srgbClr val="000000">
                    <a:alpha val="43137"/>
                  </a:srgbClr>
                </a:outerShdw>
              </a:effectLst>
            </a:endParaRPr>
          </a:p>
        </p:txBody>
      </p:sp>
      <p:sp>
        <p:nvSpPr>
          <p:cNvPr id="8" name="Content Placeholder 2">
            <a:extLst>
              <a:ext uri="{FF2B5EF4-FFF2-40B4-BE49-F238E27FC236}">
                <a16:creationId xmlns:a16="http://schemas.microsoft.com/office/drawing/2014/main" id="{9D853ED4-6A80-AE18-E782-20D1244C7310}"/>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9" name="Slide Number Placeholder 3">
            <a:extLst>
              <a:ext uri="{FF2B5EF4-FFF2-40B4-BE49-F238E27FC236}">
                <a16:creationId xmlns:a16="http://schemas.microsoft.com/office/drawing/2014/main" id="{36FCB3A8-5421-3409-3838-46974541026C}"/>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6</a:t>
            </a:fld>
            <a:r>
              <a:rPr lang="en-US" sz="1400" b="1" dirty="0"/>
              <a:t> </a:t>
            </a:r>
          </a:p>
        </p:txBody>
      </p:sp>
      <p:sp>
        <p:nvSpPr>
          <p:cNvPr id="3" name="Rectangle 2" descr="M. Mhahudul Hasan">
            <a:extLst>
              <a:ext uri="{FF2B5EF4-FFF2-40B4-BE49-F238E27FC236}">
                <a16:creationId xmlns:a16="http://schemas.microsoft.com/office/drawing/2014/main" id="{937A772B-60B7-FF82-B8AF-78ED52107FB4}"/>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A3876C98-D953-6611-8DEA-FFB534E7FADA}"/>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4:  Class Diagram</a:t>
            </a:r>
          </a:p>
        </p:txBody>
      </p:sp>
      <p:sp>
        <p:nvSpPr>
          <p:cNvPr id="12" name="Rectangle 11" descr="M. Mhahudul Hasan">
            <a:extLst>
              <a:ext uri="{FF2B5EF4-FFF2-40B4-BE49-F238E27FC236}">
                <a16:creationId xmlns:a16="http://schemas.microsoft.com/office/drawing/2014/main" id="{4E70739A-F886-3A64-E903-E42CE1B2710F}"/>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graphicFrame>
        <p:nvGraphicFramePr>
          <p:cNvPr id="5" name="Table 3">
            <a:extLst>
              <a:ext uri="{FF2B5EF4-FFF2-40B4-BE49-F238E27FC236}">
                <a16:creationId xmlns:a16="http://schemas.microsoft.com/office/drawing/2014/main" id="{40A7384E-E933-AC6A-9DEC-5988FFDE77EF}"/>
              </a:ext>
            </a:extLst>
          </p:cNvPr>
          <p:cNvGraphicFramePr>
            <a:graphicFrameLocks noGrp="1"/>
          </p:cNvGraphicFramePr>
          <p:nvPr>
            <p:extLst>
              <p:ext uri="{D42A27DB-BD31-4B8C-83A1-F6EECF244321}">
                <p14:modId xmlns:p14="http://schemas.microsoft.com/office/powerpoint/2010/main" val="2452512028"/>
              </p:ext>
            </p:extLst>
          </p:nvPr>
        </p:nvGraphicFramePr>
        <p:xfrm>
          <a:off x="2489200" y="2035282"/>
          <a:ext cx="8128000" cy="3235960"/>
        </p:xfrm>
        <a:graphic>
          <a:graphicData uri="http://schemas.openxmlformats.org/drawingml/2006/table">
            <a:tbl>
              <a:tblPr firstRow="1" bandRow="1">
                <a:tableStyleId>{5C22544A-7EE6-4342-B048-85BDC9FD1C3A}</a:tableStyleId>
              </a:tblPr>
              <a:tblGrid>
                <a:gridCol w="2642870">
                  <a:extLst>
                    <a:ext uri="{9D8B030D-6E8A-4147-A177-3AD203B41FA5}">
                      <a16:colId xmlns:a16="http://schemas.microsoft.com/office/drawing/2014/main" val="2666759257"/>
                    </a:ext>
                  </a:extLst>
                </a:gridCol>
                <a:gridCol w="5485130">
                  <a:extLst>
                    <a:ext uri="{9D8B030D-6E8A-4147-A177-3AD203B41FA5}">
                      <a16:colId xmlns:a16="http://schemas.microsoft.com/office/drawing/2014/main" val="3186233591"/>
                    </a:ext>
                  </a:extLst>
                </a:gridCol>
              </a:tblGrid>
              <a:tr h="370840">
                <a:tc>
                  <a:txBody>
                    <a:bodyPr/>
                    <a:lstStyle/>
                    <a:p>
                      <a:r>
                        <a:rPr lang="en-US" dirty="0">
                          <a:solidFill>
                            <a:schemeClr val="tx1"/>
                          </a:solidFill>
                        </a:rPr>
                        <a:t>Class Name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Account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0235287"/>
                  </a:ext>
                </a:extLst>
              </a:tr>
              <a:tr h="370840">
                <a:tc>
                  <a:txBody>
                    <a:bodyPr/>
                    <a:lstStyle/>
                    <a:p>
                      <a:r>
                        <a:rPr lang="en-US" b="1" dirty="0">
                          <a:solidFill>
                            <a:schemeClr val="tx1"/>
                          </a:solidFill>
                        </a:rPr>
                        <a:t>Description</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Keeps track of owner, balance and transactions for each instance of customer’s bank account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6842381"/>
                  </a:ext>
                </a:extLst>
              </a:tr>
              <a:tr h="370840">
                <a:tc>
                  <a:txBody>
                    <a:bodyPr/>
                    <a:lstStyle/>
                    <a:p>
                      <a:r>
                        <a:rPr lang="en-US" b="1" dirty="0">
                          <a:solidFill>
                            <a:schemeClr val="tx1"/>
                          </a:solidFill>
                        </a:rPr>
                        <a:t>Superclass</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1021597"/>
                  </a:ext>
                </a:extLst>
              </a:tr>
              <a:tr h="370840">
                <a:tc>
                  <a:txBody>
                    <a:bodyPr/>
                    <a:lstStyle/>
                    <a:p>
                      <a:r>
                        <a:rPr lang="en-US" b="1" dirty="0">
                          <a:solidFill>
                            <a:schemeClr val="tx1"/>
                          </a:solidFill>
                        </a:rPr>
                        <a:t>Subclass</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Current Account, Saving Account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7667109"/>
                  </a:ext>
                </a:extLst>
              </a:tr>
              <a:tr h="370840">
                <a:tc>
                  <a:txBody>
                    <a:bodyPr/>
                    <a:lstStyle/>
                    <a:p>
                      <a:r>
                        <a:rPr lang="en-US" b="1" dirty="0">
                          <a:solidFill>
                            <a:schemeClr val="tx1"/>
                          </a:solidFill>
                        </a:rPr>
                        <a:t>Responsibilities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solidFill>
                            <a:schemeClr val="tx1"/>
                          </a:solidFill>
                        </a:rPr>
                        <a:t>Collaborators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9068512"/>
                  </a:ext>
                </a:extLst>
              </a:tr>
              <a:tr h="370840">
                <a:tc>
                  <a:txBody>
                    <a:bodyPr/>
                    <a:lstStyle/>
                    <a:p>
                      <a:r>
                        <a:rPr lang="en-US" dirty="0">
                          <a:solidFill>
                            <a:schemeClr val="tx1"/>
                          </a:solidFill>
                        </a:rPr>
                        <a:t>Keep Track of Balance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Transaction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5959421"/>
                  </a:ext>
                </a:extLst>
              </a:tr>
              <a:tr h="370840">
                <a:tc>
                  <a:txBody>
                    <a:bodyPr/>
                    <a:lstStyle/>
                    <a:p>
                      <a:r>
                        <a:rPr lang="en-US" dirty="0">
                          <a:solidFill>
                            <a:schemeClr val="tx1"/>
                          </a:solidFill>
                        </a:rPr>
                        <a:t>Update bank database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Database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0594898"/>
                  </a:ext>
                </a:extLst>
              </a:tr>
              <a:tr h="370840">
                <a:tc>
                  <a:txBody>
                    <a:bodyPr/>
                    <a:lstStyle/>
                    <a:p>
                      <a:r>
                        <a:rPr lang="en-US" dirty="0">
                          <a:solidFill>
                            <a:schemeClr val="tx1"/>
                          </a:solidFill>
                        </a:rPr>
                        <a:t>Keep track of customer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Customer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8735121"/>
                  </a:ext>
                </a:extLst>
              </a:tr>
            </a:tbl>
          </a:graphicData>
        </a:graphic>
      </p:graphicFrame>
    </p:spTree>
    <p:extLst>
      <p:ext uri="{BB962C8B-B14F-4D97-AF65-F5344CB8AC3E}">
        <p14:creationId xmlns:p14="http://schemas.microsoft.com/office/powerpoint/2010/main" val="3120510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49A42-3B9F-F5E6-ADAA-631DFB2935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E540C-2EBD-3D60-AE0C-76C108F6277E}"/>
              </a:ext>
            </a:extLst>
          </p:cNvPr>
          <p:cNvSpPr>
            <a:spLocks noGrp="1"/>
          </p:cNvSpPr>
          <p:nvPr>
            <p:ph type="title" idx="4294967295"/>
          </p:nvPr>
        </p:nvSpPr>
        <p:spPr>
          <a:xfrm>
            <a:off x="561176" y="580370"/>
            <a:ext cx="11029950" cy="537190"/>
          </a:xfrm>
        </p:spPr>
        <p:txBody>
          <a:bodyPr/>
          <a:lstStyle/>
          <a:p>
            <a:pPr algn="ctr"/>
            <a:r>
              <a:rPr lang="en-US" altLang="en-US" b="1" dirty="0">
                <a:solidFill>
                  <a:srgbClr val="0070C0"/>
                </a:solidFill>
                <a:latin typeface="Book Antiqua" pitchFamily="18" charset="0"/>
              </a:rPr>
              <a:t>Class Diagram - Introduction</a:t>
            </a:r>
            <a:endParaRPr lang="en-US" b="1" dirty="0">
              <a:solidFill>
                <a:srgbClr val="0070C0"/>
              </a:solidFill>
              <a:effectLst>
                <a:outerShdw blurRad="38100" dist="38100" dir="2700000" algn="tl">
                  <a:srgbClr val="000000">
                    <a:alpha val="43137"/>
                  </a:srgbClr>
                </a:outerShdw>
              </a:effectLst>
            </a:endParaRPr>
          </a:p>
        </p:txBody>
      </p:sp>
      <p:sp>
        <p:nvSpPr>
          <p:cNvPr id="8" name="Content Placeholder 2">
            <a:extLst>
              <a:ext uri="{FF2B5EF4-FFF2-40B4-BE49-F238E27FC236}">
                <a16:creationId xmlns:a16="http://schemas.microsoft.com/office/drawing/2014/main" id="{CE35CEFF-0AAF-5441-5D14-997AE95BA96E}"/>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9" name="Slide Number Placeholder 3">
            <a:extLst>
              <a:ext uri="{FF2B5EF4-FFF2-40B4-BE49-F238E27FC236}">
                <a16:creationId xmlns:a16="http://schemas.microsoft.com/office/drawing/2014/main" id="{D3D737A0-AE86-ED1D-07AD-A7AB40DCDBF0}"/>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7</a:t>
            </a:fld>
            <a:r>
              <a:rPr lang="en-US" sz="1400" b="1" dirty="0"/>
              <a:t> </a:t>
            </a:r>
          </a:p>
        </p:txBody>
      </p:sp>
      <p:sp>
        <p:nvSpPr>
          <p:cNvPr id="3" name="Rectangle 2" descr="M. Mhahudul Hasan">
            <a:extLst>
              <a:ext uri="{FF2B5EF4-FFF2-40B4-BE49-F238E27FC236}">
                <a16:creationId xmlns:a16="http://schemas.microsoft.com/office/drawing/2014/main" id="{8193FBE4-9470-1F7B-5EC8-31C2166598B5}"/>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696B4705-AA3E-5FC2-68A5-DE83984BD37E}"/>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4:  Class Diagram</a:t>
            </a:r>
          </a:p>
        </p:txBody>
      </p:sp>
      <p:sp>
        <p:nvSpPr>
          <p:cNvPr id="12" name="Rectangle 11" descr="M. Mhahudul Hasan">
            <a:extLst>
              <a:ext uri="{FF2B5EF4-FFF2-40B4-BE49-F238E27FC236}">
                <a16:creationId xmlns:a16="http://schemas.microsoft.com/office/drawing/2014/main" id="{E11AE12B-B892-CA72-4FA7-57AA97F4EF45}"/>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5" name="Content Placeholder 2">
            <a:extLst>
              <a:ext uri="{FF2B5EF4-FFF2-40B4-BE49-F238E27FC236}">
                <a16:creationId xmlns:a16="http://schemas.microsoft.com/office/drawing/2014/main" id="{8A9E43B9-3963-9CB8-3A88-67CF77752399}"/>
              </a:ext>
            </a:extLst>
          </p:cNvPr>
          <p:cNvSpPr txBox="1">
            <a:spLocks/>
          </p:cNvSpPr>
          <p:nvPr/>
        </p:nvSpPr>
        <p:spPr>
          <a:xfrm>
            <a:off x="1245870" y="1554481"/>
            <a:ext cx="9932670" cy="4389119"/>
          </a:xfrm>
          <a:prstGeom prst="rect">
            <a:avLst/>
          </a:prstGeom>
        </p:spPr>
        <p:txBody>
          <a:bodyPr>
            <a:normAutofit lnSpcReduction="1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just">
              <a:buFont typeface="Wingdings" panose="05000000000000000000" pitchFamily="2" charset="2"/>
              <a:buChar char="§"/>
              <a:defRPr/>
            </a:pPr>
            <a:r>
              <a:rPr lang="en-US" sz="2400" dirty="0"/>
              <a:t>A class diagram shows a set of </a:t>
            </a:r>
            <a:r>
              <a:rPr lang="en-US" sz="2400" dirty="0">
                <a:solidFill>
                  <a:srgbClr val="FF0000"/>
                </a:solidFill>
              </a:rPr>
              <a:t>classes</a:t>
            </a:r>
            <a:r>
              <a:rPr lang="en-US" sz="2400" dirty="0"/>
              <a:t>, </a:t>
            </a:r>
            <a:r>
              <a:rPr lang="en-US" sz="2400" dirty="0">
                <a:solidFill>
                  <a:srgbClr val="FF0000"/>
                </a:solidFill>
              </a:rPr>
              <a:t>interfaces</a:t>
            </a:r>
            <a:r>
              <a:rPr lang="en-US" sz="2400" dirty="0"/>
              <a:t>, and </a:t>
            </a:r>
            <a:r>
              <a:rPr lang="en-US" sz="2400" dirty="0">
                <a:solidFill>
                  <a:srgbClr val="FF0000"/>
                </a:solidFill>
              </a:rPr>
              <a:t>collaborations</a:t>
            </a:r>
            <a:r>
              <a:rPr lang="en-US" sz="2400" dirty="0"/>
              <a:t> and their </a:t>
            </a:r>
            <a:r>
              <a:rPr lang="en-US" sz="2400" dirty="0">
                <a:solidFill>
                  <a:srgbClr val="FF0000"/>
                </a:solidFill>
              </a:rPr>
              <a:t>relationships</a:t>
            </a:r>
            <a:r>
              <a:rPr lang="en-US" sz="2400" dirty="0"/>
              <a:t>. </a:t>
            </a:r>
            <a:endParaRPr lang="en-US" sz="2400" dirty="0">
              <a:ea typeface="Calibri"/>
              <a:cs typeface="Calibri"/>
            </a:endParaRPr>
          </a:p>
          <a:p>
            <a:pPr algn="just">
              <a:buFont typeface="Wingdings" panose="05000000000000000000" pitchFamily="2" charset="2"/>
              <a:buChar char="§"/>
              <a:defRPr/>
            </a:pPr>
            <a:r>
              <a:rPr lang="en-US" sz="2400" dirty="0"/>
              <a:t>These diagrams are the most common diagram found in modeling object-oriented systems. </a:t>
            </a:r>
          </a:p>
          <a:p>
            <a:pPr algn="just">
              <a:buFont typeface="Wingdings" panose="05000000000000000000" pitchFamily="2" charset="2"/>
              <a:buChar char="§"/>
              <a:defRPr/>
            </a:pPr>
            <a:r>
              <a:rPr lang="en-US" sz="2400" dirty="0"/>
              <a:t>Class diagrams address the </a:t>
            </a:r>
            <a:r>
              <a:rPr lang="en-US" sz="2400" dirty="0">
                <a:solidFill>
                  <a:srgbClr val="FF0000"/>
                </a:solidFill>
              </a:rPr>
              <a:t>static design view </a:t>
            </a:r>
            <a:r>
              <a:rPr lang="en-US" sz="2400" dirty="0"/>
              <a:t>of a system. </a:t>
            </a:r>
            <a:endParaRPr lang="en-US" sz="2400" dirty="0">
              <a:ea typeface="Calibri"/>
              <a:cs typeface="Calibri"/>
            </a:endParaRPr>
          </a:p>
          <a:p>
            <a:pPr algn="just">
              <a:buFont typeface="Wingdings" panose="05000000000000000000" pitchFamily="2" charset="2"/>
              <a:buChar char="§"/>
              <a:defRPr/>
            </a:pPr>
            <a:r>
              <a:rPr lang="en-US" sz="2400" dirty="0"/>
              <a:t>Class diagrams that include active classes address the </a:t>
            </a:r>
            <a:r>
              <a:rPr lang="en-US" sz="2400" dirty="0">
                <a:solidFill>
                  <a:srgbClr val="FF0000"/>
                </a:solidFill>
              </a:rPr>
              <a:t>static process view</a:t>
            </a:r>
            <a:r>
              <a:rPr lang="en-US" sz="2400" dirty="0"/>
              <a:t> of a system. </a:t>
            </a:r>
          </a:p>
          <a:p>
            <a:pPr algn="just">
              <a:buFont typeface="Wingdings" panose="05000000000000000000" pitchFamily="2" charset="2"/>
              <a:buChar char="§"/>
              <a:defRPr/>
            </a:pPr>
            <a:r>
              <a:rPr lang="en-US" sz="2400" dirty="0"/>
              <a:t>Elements of a class diagram:</a:t>
            </a:r>
          </a:p>
          <a:p>
            <a:pPr lvl="1" algn="just">
              <a:buFont typeface="Wingdings" panose="05000000000000000000" pitchFamily="2" charset="2"/>
              <a:buChar char="§"/>
              <a:defRPr/>
            </a:pPr>
            <a:r>
              <a:rPr lang="en-US" sz="2200" dirty="0">
                <a:solidFill>
                  <a:srgbClr val="FF0000"/>
                </a:solidFill>
              </a:rPr>
              <a:t>Class Notation</a:t>
            </a:r>
          </a:p>
          <a:p>
            <a:pPr lvl="1" algn="just">
              <a:buFont typeface="Wingdings" panose="05000000000000000000" pitchFamily="2" charset="2"/>
              <a:buChar char="§"/>
              <a:defRPr/>
            </a:pPr>
            <a:r>
              <a:rPr lang="en-US" sz="2200" dirty="0">
                <a:solidFill>
                  <a:srgbClr val="FF0000"/>
                </a:solidFill>
              </a:rPr>
              <a:t>Relation Between Classes</a:t>
            </a:r>
          </a:p>
        </p:txBody>
      </p:sp>
    </p:spTree>
    <p:extLst>
      <p:ext uri="{BB962C8B-B14F-4D97-AF65-F5344CB8AC3E}">
        <p14:creationId xmlns:p14="http://schemas.microsoft.com/office/powerpoint/2010/main" val="3982100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68D6A-F4B3-17AB-5CD7-F4D9EE3B25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FF5FF1-78C1-CF6F-5ADE-CB9DFD96EDEB}"/>
              </a:ext>
            </a:extLst>
          </p:cNvPr>
          <p:cNvSpPr>
            <a:spLocks noGrp="1"/>
          </p:cNvSpPr>
          <p:nvPr>
            <p:ph type="title" idx="4294967295"/>
          </p:nvPr>
        </p:nvSpPr>
        <p:spPr>
          <a:xfrm>
            <a:off x="561176" y="580370"/>
            <a:ext cx="11029950" cy="537190"/>
          </a:xfrm>
        </p:spPr>
        <p:txBody>
          <a:bodyPr/>
          <a:lstStyle/>
          <a:p>
            <a:pPr algn="ctr"/>
            <a:r>
              <a:rPr lang="en-US" altLang="en-US" b="1" dirty="0">
                <a:solidFill>
                  <a:srgbClr val="0070C0"/>
                </a:solidFill>
                <a:latin typeface="Book Antiqua" pitchFamily="18" charset="0"/>
              </a:rPr>
              <a:t>Class</a:t>
            </a:r>
            <a:endParaRPr lang="en-US" b="1" dirty="0">
              <a:solidFill>
                <a:srgbClr val="0070C0"/>
              </a:solidFill>
              <a:effectLst>
                <a:outerShdw blurRad="38100" dist="38100" dir="2700000" algn="tl">
                  <a:srgbClr val="000000">
                    <a:alpha val="43137"/>
                  </a:srgbClr>
                </a:outerShdw>
              </a:effectLst>
            </a:endParaRPr>
          </a:p>
        </p:txBody>
      </p:sp>
      <p:sp>
        <p:nvSpPr>
          <p:cNvPr id="8" name="Content Placeholder 2">
            <a:extLst>
              <a:ext uri="{FF2B5EF4-FFF2-40B4-BE49-F238E27FC236}">
                <a16:creationId xmlns:a16="http://schemas.microsoft.com/office/drawing/2014/main" id="{7B7066C5-084F-8758-980E-AA5A384F889F}"/>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9" name="Slide Number Placeholder 3">
            <a:extLst>
              <a:ext uri="{FF2B5EF4-FFF2-40B4-BE49-F238E27FC236}">
                <a16:creationId xmlns:a16="http://schemas.microsoft.com/office/drawing/2014/main" id="{AB8E9AF3-D66F-97BE-54ED-EDD529A79EAE}"/>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8</a:t>
            </a:fld>
            <a:r>
              <a:rPr lang="en-US" sz="1400" b="1" dirty="0"/>
              <a:t> </a:t>
            </a:r>
          </a:p>
        </p:txBody>
      </p:sp>
      <p:sp>
        <p:nvSpPr>
          <p:cNvPr id="3" name="Rectangle 2" descr="M. Mhahudul Hasan">
            <a:extLst>
              <a:ext uri="{FF2B5EF4-FFF2-40B4-BE49-F238E27FC236}">
                <a16:creationId xmlns:a16="http://schemas.microsoft.com/office/drawing/2014/main" id="{17432856-0687-7111-F3F1-E6C18B3A93F9}"/>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113C3F1D-F605-7124-A2D3-A8EA039EB7DC}"/>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4:  Class Diagram</a:t>
            </a:r>
          </a:p>
        </p:txBody>
      </p:sp>
      <p:sp>
        <p:nvSpPr>
          <p:cNvPr id="12" name="Rectangle 11" descr="M. Mhahudul Hasan">
            <a:extLst>
              <a:ext uri="{FF2B5EF4-FFF2-40B4-BE49-F238E27FC236}">
                <a16:creationId xmlns:a16="http://schemas.microsoft.com/office/drawing/2014/main" id="{9A7C0F71-CFCB-E120-DBBB-76FD185F351F}"/>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4" name="Content Placeholder 2">
            <a:extLst>
              <a:ext uri="{FF2B5EF4-FFF2-40B4-BE49-F238E27FC236}">
                <a16:creationId xmlns:a16="http://schemas.microsoft.com/office/drawing/2014/main" id="{5BE71C0E-6A20-E6A9-00C7-A3219D17081A}"/>
              </a:ext>
            </a:extLst>
          </p:cNvPr>
          <p:cNvSpPr txBox="1">
            <a:spLocks/>
          </p:cNvSpPr>
          <p:nvPr/>
        </p:nvSpPr>
        <p:spPr>
          <a:xfrm>
            <a:off x="609600" y="1600201"/>
            <a:ext cx="10972800" cy="4525963"/>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defRPr/>
            </a:pPr>
            <a:r>
              <a:rPr lang="en-US" sz="2200" dirty="0"/>
              <a:t>A class is a definition for a </a:t>
            </a:r>
            <a:r>
              <a:rPr lang="en-US" sz="2200" i="1" dirty="0"/>
              <a:t>type of object.</a:t>
            </a:r>
            <a:endParaRPr lang="en-US" sz="2200" i="1" dirty="0">
              <a:ea typeface="Calibri"/>
              <a:cs typeface="Calibri"/>
            </a:endParaRPr>
          </a:p>
          <a:p>
            <a:pPr>
              <a:defRPr/>
            </a:pPr>
            <a:r>
              <a:rPr lang="en-US" sz="2200" dirty="0"/>
              <a:t>A class is a template</a:t>
            </a:r>
            <a:r>
              <a:rPr lang="en-US" sz="2200" i="1" dirty="0"/>
              <a:t> of similar types of objects.</a:t>
            </a:r>
          </a:p>
          <a:p>
            <a:pPr>
              <a:defRPr/>
            </a:pPr>
            <a:r>
              <a:rPr lang="en-US" sz="2200" dirty="0"/>
              <a:t>The class defines the </a:t>
            </a:r>
            <a:r>
              <a:rPr lang="en-US" sz="2200" i="1" dirty="0"/>
              <a:t>rules; </a:t>
            </a:r>
            <a:r>
              <a:rPr lang="en-US" sz="2200" dirty="0"/>
              <a:t>the objects express the </a:t>
            </a:r>
            <a:r>
              <a:rPr lang="en-US" sz="2200" i="1" dirty="0"/>
              <a:t>facts.</a:t>
            </a:r>
          </a:p>
          <a:p>
            <a:pPr>
              <a:defRPr/>
            </a:pPr>
            <a:r>
              <a:rPr lang="en-US" sz="2200" dirty="0"/>
              <a:t>The class defines what </a:t>
            </a:r>
            <a:r>
              <a:rPr lang="en-US" sz="2200" i="1" dirty="0"/>
              <a:t>can be; </a:t>
            </a:r>
            <a:r>
              <a:rPr lang="en-US" sz="2200" dirty="0"/>
              <a:t>the object describes </a:t>
            </a:r>
            <a:r>
              <a:rPr lang="en-US" sz="2200" i="1" dirty="0"/>
              <a:t>what is.</a:t>
            </a:r>
          </a:p>
          <a:p>
            <a:pPr>
              <a:defRPr/>
            </a:pPr>
            <a:r>
              <a:rPr lang="en-US" sz="2200" i="1" dirty="0"/>
              <a:t>Classes can be abstract</a:t>
            </a:r>
          </a:p>
        </p:txBody>
      </p:sp>
      <p:grpSp>
        <p:nvGrpSpPr>
          <p:cNvPr id="7" name="Group 6">
            <a:extLst>
              <a:ext uri="{FF2B5EF4-FFF2-40B4-BE49-F238E27FC236}">
                <a16:creationId xmlns:a16="http://schemas.microsoft.com/office/drawing/2014/main" id="{D3F6E914-2CE5-DFDD-331A-A174AEAB9AE6}"/>
              </a:ext>
            </a:extLst>
          </p:cNvPr>
          <p:cNvGrpSpPr/>
          <p:nvPr/>
        </p:nvGrpSpPr>
        <p:grpSpPr>
          <a:xfrm>
            <a:off x="5362884" y="3732739"/>
            <a:ext cx="5827086" cy="2519362"/>
            <a:chOff x="2155826" y="4338638"/>
            <a:chExt cx="7974694" cy="2519362"/>
          </a:xfrm>
        </p:grpSpPr>
        <p:sp>
          <p:nvSpPr>
            <p:cNvPr id="10" name="Rectangle 9">
              <a:extLst>
                <a:ext uri="{FF2B5EF4-FFF2-40B4-BE49-F238E27FC236}">
                  <a16:creationId xmlns:a16="http://schemas.microsoft.com/office/drawing/2014/main" id="{C10D9764-FEF3-703F-87AD-817844A5379D}"/>
                </a:ext>
              </a:extLst>
            </p:cNvPr>
            <p:cNvSpPr>
              <a:spLocks noChangeArrowheads="1"/>
            </p:cNvSpPr>
            <p:nvPr/>
          </p:nvSpPr>
          <p:spPr bwMode="auto">
            <a:xfrm>
              <a:off x="4670426" y="4338638"/>
              <a:ext cx="2500313" cy="2519362"/>
            </a:xfrm>
            <a:prstGeom prst="rect">
              <a:avLst/>
            </a:prstGeom>
            <a:solidFill>
              <a:srgbClr val="FFFFCC"/>
            </a:solidFill>
            <a:ln w="19050" cap="sq">
              <a:solidFill>
                <a:schemeClr val="tx1"/>
              </a:solidFill>
              <a:miter lim="800000"/>
              <a:headEnd/>
              <a:tailEnd/>
            </a:ln>
          </p:spPr>
          <p:txBody>
            <a:bodyPr/>
            <a:lstStyle/>
            <a:p>
              <a:pPr eaLnBrk="0" hangingPunct="0">
                <a:defRPr/>
              </a:pPr>
              <a:endParaRPr lang="en-US" sz="2400">
                <a:solidFill>
                  <a:srgbClr val="000000"/>
                </a:solidFill>
                <a:latin typeface="Times" pitchFamily="-128" charset="0"/>
              </a:endParaRPr>
            </a:p>
          </p:txBody>
        </p:sp>
        <p:sp>
          <p:nvSpPr>
            <p:cNvPr id="11" name="Rectangle 10">
              <a:extLst>
                <a:ext uri="{FF2B5EF4-FFF2-40B4-BE49-F238E27FC236}">
                  <a16:creationId xmlns:a16="http://schemas.microsoft.com/office/drawing/2014/main" id="{CFC44176-9840-26C3-0AA4-4B9B08B2C518}"/>
                </a:ext>
              </a:extLst>
            </p:cNvPr>
            <p:cNvSpPr>
              <a:spLocks noChangeArrowheads="1"/>
            </p:cNvSpPr>
            <p:nvPr/>
          </p:nvSpPr>
          <p:spPr bwMode="auto">
            <a:xfrm>
              <a:off x="5203825" y="4338639"/>
              <a:ext cx="1194988" cy="307777"/>
            </a:xfrm>
            <a:prstGeom prst="rect">
              <a:avLst/>
            </a:prstGeom>
            <a:noFill/>
            <a:ln w="9525">
              <a:noFill/>
              <a:miter lim="800000"/>
              <a:headEnd/>
              <a:tailEnd/>
            </a:ln>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pt-BR" altLang="en-US" sz="2000" b="1" dirty="0">
                  <a:solidFill>
                    <a:srgbClr val="000000"/>
                  </a:solidFill>
                  <a:latin typeface="Helvetica" panose="020B0604020202020204" pitchFamily="34" charset="0"/>
                </a:rPr>
                <a:t>Student</a:t>
              </a:r>
              <a:endParaRPr lang="pt-BR" altLang="en-US" sz="2000" dirty="0">
                <a:solidFill>
                  <a:srgbClr val="000000"/>
                </a:solidFill>
                <a:latin typeface="Helvetica" panose="020B0604020202020204" pitchFamily="34" charset="0"/>
              </a:endParaRPr>
            </a:p>
          </p:txBody>
        </p:sp>
        <p:sp>
          <p:nvSpPr>
            <p:cNvPr id="13" name="Rectangle 12">
              <a:extLst>
                <a:ext uri="{FF2B5EF4-FFF2-40B4-BE49-F238E27FC236}">
                  <a16:creationId xmlns:a16="http://schemas.microsoft.com/office/drawing/2014/main" id="{D4CC41CC-F6A5-15C0-64F4-00852BF8CF37}"/>
                </a:ext>
              </a:extLst>
            </p:cNvPr>
            <p:cNvSpPr>
              <a:spLocks noChangeArrowheads="1"/>
            </p:cNvSpPr>
            <p:nvPr/>
          </p:nvSpPr>
          <p:spPr bwMode="auto">
            <a:xfrm>
              <a:off x="4670426" y="4719638"/>
              <a:ext cx="2500313" cy="2138362"/>
            </a:xfrm>
            <a:prstGeom prst="rect">
              <a:avLst/>
            </a:prstGeom>
            <a:noFill/>
            <a:ln w="19050" cap="sq">
              <a:solidFill>
                <a:schemeClr val="tx1"/>
              </a:solidFill>
              <a:miter lim="800000"/>
              <a:headEnd/>
              <a:tailEnd/>
            </a:ln>
          </p:spPr>
          <p:txBody>
            <a:bodyPr/>
            <a:lstStyle/>
            <a:p>
              <a:pPr eaLnBrk="0" hangingPunct="0">
                <a:defRPr/>
              </a:pPr>
              <a:endParaRPr lang="en-US" sz="2400">
                <a:solidFill>
                  <a:srgbClr val="000000"/>
                </a:solidFill>
                <a:latin typeface="Times" pitchFamily="-128" charset="0"/>
              </a:endParaRPr>
            </a:p>
          </p:txBody>
        </p:sp>
        <p:sp>
          <p:nvSpPr>
            <p:cNvPr id="14" name="Rectangle 13">
              <a:extLst>
                <a:ext uri="{FF2B5EF4-FFF2-40B4-BE49-F238E27FC236}">
                  <a16:creationId xmlns:a16="http://schemas.microsoft.com/office/drawing/2014/main" id="{D6183D9F-BEDB-FE4D-0B39-F1FB0D59CE60}"/>
                </a:ext>
              </a:extLst>
            </p:cNvPr>
            <p:cNvSpPr>
              <a:spLocks noChangeArrowheads="1"/>
            </p:cNvSpPr>
            <p:nvPr/>
          </p:nvSpPr>
          <p:spPr bwMode="auto">
            <a:xfrm>
              <a:off x="4670426" y="5557838"/>
              <a:ext cx="2500313" cy="1300162"/>
            </a:xfrm>
            <a:prstGeom prst="rect">
              <a:avLst/>
            </a:prstGeom>
            <a:noFill/>
            <a:ln w="19050" cap="sq">
              <a:solidFill>
                <a:schemeClr val="tx1"/>
              </a:solidFill>
              <a:miter lim="800000"/>
              <a:headEnd/>
              <a:tailEnd/>
            </a:ln>
          </p:spPr>
          <p:txBody>
            <a:bodyPr/>
            <a:lstStyle/>
            <a:p>
              <a:pPr eaLnBrk="0" hangingPunct="0">
                <a:defRPr/>
              </a:pPr>
              <a:endParaRPr lang="en-US" sz="2400">
                <a:solidFill>
                  <a:srgbClr val="000000"/>
                </a:solidFill>
                <a:latin typeface="Times" pitchFamily="-128" charset="0"/>
              </a:endParaRPr>
            </a:p>
          </p:txBody>
        </p:sp>
        <p:sp>
          <p:nvSpPr>
            <p:cNvPr id="15" name="Rectangle 14">
              <a:extLst>
                <a:ext uri="{FF2B5EF4-FFF2-40B4-BE49-F238E27FC236}">
                  <a16:creationId xmlns:a16="http://schemas.microsoft.com/office/drawing/2014/main" id="{6A29E6FA-3D29-E9E7-20FF-ACB01F62EAB1}"/>
                </a:ext>
              </a:extLst>
            </p:cNvPr>
            <p:cNvSpPr>
              <a:spLocks noChangeArrowheads="1"/>
            </p:cNvSpPr>
            <p:nvPr/>
          </p:nvSpPr>
          <p:spPr bwMode="auto">
            <a:xfrm>
              <a:off x="4746625" y="4719638"/>
              <a:ext cx="1674187" cy="830997"/>
            </a:xfrm>
            <a:prstGeom prst="rect">
              <a:avLst/>
            </a:prstGeom>
            <a:noFill/>
            <a:ln w="9525">
              <a:noFill/>
              <a:miter lim="800000"/>
              <a:headEnd/>
              <a:tailEnd/>
            </a:ln>
          </p:spPr>
          <p:txBody>
            <a:bodyPr wrap="none" lIns="0" tIns="0" rIns="0" bIns="0">
              <a:spAutoFit/>
            </a:bodyPr>
            <a:lstStyle/>
            <a:p>
              <a:pPr>
                <a:lnSpc>
                  <a:spcPct val="90000"/>
                </a:lnSpc>
                <a:defRPr/>
              </a:pPr>
              <a:r>
                <a:rPr lang="pt-BR" sz="2000" dirty="0">
                  <a:solidFill>
                    <a:srgbClr val="000000"/>
                  </a:solidFill>
                  <a:latin typeface="Helvetica" pitchFamily="-128" charset="0"/>
                </a:rPr>
                <a:t>Name</a:t>
              </a:r>
            </a:p>
            <a:p>
              <a:pPr>
                <a:lnSpc>
                  <a:spcPct val="90000"/>
                </a:lnSpc>
                <a:defRPr/>
              </a:pPr>
              <a:r>
                <a:rPr lang="pt-BR" sz="2000" dirty="0">
                  <a:solidFill>
                    <a:srgbClr val="000000"/>
                  </a:solidFill>
                  <a:latin typeface="Helvetica" pitchFamily="-128" charset="0"/>
                </a:rPr>
                <a:t>ID #</a:t>
              </a:r>
            </a:p>
            <a:p>
              <a:pPr>
                <a:lnSpc>
                  <a:spcPct val="90000"/>
                </a:lnSpc>
                <a:defRPr/>
              </a:pPr>
              <a:r>
                <a:rPr lang="pt-BR" sz="2000" dirty="0">
                  <a:solidFill>
                    <a:srgbClr val="000000"/>
                  </a:solidFill>
                  <a:latin typeface="Helvetica" pitchFamily="-128" charset="0"/>
                </a:rPr>
                <a:t>Department</a:t>
              </a:r>
            </a:p>
          </p:txBody>
        </p:sp>
        <p:sp>
          <p:nvSpPr>
            <p:cNvPr id="16" name="Rectangle 15">
              <a:extLst>
                <a:ext uri="{FF2B5EF4-FFF2-40B4-BE49-F238E27FC236}">
                  <a16:creationId xmlns:a16="http://schemas.microsoft.com/office/drawing/2014/main" id="{F3E80F4C-CC9F-AEA6-0E69-DB632D64F34F}"/>
                </a:ext>
              </a:extLst>
            </p:cNvPr>
            <p:cNvSpPr>
              <a:spLocks noChangeArrowheads="1"/>
            </p:cNvSpPr>
            <p:nvPr/>
          </p:nvSpPr>
          <p:spPr bwMode="auto">
            <a:xfrm>
              <a:off x="4746625" y="5634038"/>
              <a:ext cx="1924813" cy="830997"/>
            </a:xfrm>
            <a:prstGeom prst="rect">
              <a:avLst/>
            </a:prstGeom>
            <a:noFill/>
            <a:ln w="9525">
              <a:noFill/>
              <a:miter lim="800000"/>
              <a:headEnd/>
              <a:tailEnd/>
            </a:ln>
          </p:spPr>
          <p:txBody>
            <a:bodyPr wrap="none" lIns="0" tIns="0" rIns="0" bIns="0">
              <a:spAutoFit/>
            </a:bodyPr>
            <a:lstStyle/>
            <a:p>
              <a:pPr>
                <a:lnSpc>
                  <a:spcPct val="90000"/>
                </a:lnSpc>
                <a:defRPr/>
              </a:pPr>
              <a:r>
                <a:rPr lang="pt-BR" sz="2000" dirty="0">
                  <a:solidFill>
                    <a:srgbClr val="000000"/>
                  </a:solidFill>
                  <a:latin typeface="Helvetica" pitchFamily="-128" charset="0"/>
                </a:rPr>
                <a:t>Registration()</a:t>
              </a:r>
            </a:p>
            <a:p>
              <a:pPr>
                <a:lnSpc>
                  <a:spcPct val="90000"/>
                </a:lnSpc>
                <a:defRPr/>
              </a:pPr>
              <a:r>
                <a:rPr lang="pt-BR" sz="2000" dirty="0">
                  <a:solidFill>
                    <a:srgbClr val="000000"/>
                  </a:solidFill>
                  <a:latin typeface="Helvetica" pitchFamily="-128" charset="0"/>
                </a:rPr>
                <a:t>Assignment()</a:t>
              </a:r>
            </a:p>
            <a:p>
              <a:pPr>
                <a:lnSpc>
                  <a:spcPct val="90000"/>
                </a:lnSpc>
                <a:defRPr/>
              </a:pPr>
              <a:r>
                <a:rPr lang="pt-BR" sz="2000" dirty="0">
                  <a:solidFill>
                    <a:srgbClr val="000000"/>
                  </a:solidFill>
                  <a:latin typeface="Helvetica" pitchFamily="-128" charset="0"/>
                </a:rPr>
                <a:t>Exam Reult()</a:t>
              </a:r>
            </a:p>
          </p:txBody>
        </p:sp>
        <p:sp>
          <p:nvSpPr>
            <p:cNvPr id="17" name="Text Box 10">
              <a:extLst>
                <a:ext uri="{FF2B5EF4-FFF2-40B4-BE49-F238E27FC236}">
                  <a16:creationId xmlns:a16="http://schemas.microsoft.com/office/drawing/2014/main" id="{F87E2013-2642-E225-2A08-92C941E6243B}"/>
                </a:ext>
              </a:extLst>
            </p:cNvPr>
            <p:cNvSpPr txBox="1">
              <a:spLocks noChangeArrowheads="1"/>
            </p:cNvSpPr>
            <p:nvPr/>
          </p:nvSpPr>
          <p:spPr bwMode="auto">
            <a:xfrm>
              <a:off x="7794626" y="4567239"/>
              <a:ext cx="2301875" cy="396875"/>
            </a:xfrm>
            <a:prstGeom prst="rect">
              <a:avLst/>
            </a:prstGeom>
            <a:noFill/>
            <a:ln w="9525">
              <a:noFill/>
              <a:miter lim="800000"/>
              <a:headEnd/>
              <a:tailEnd/>
            </a:ln>
            <a:effectLst/>
          </p:spPr>
          <p:txBody>
            <a:bodyPr wrap="none">
              <a:spAutoFit/>
            </a:bodyPr>
            <a:lstStyle/>
            <a:p>
              <a:pPr>
                <a:defRPr/>
              </a:pPr>
              <a:r>
                <a:rPr lang="pt-BR" sz="2000" dirty="0">
                  <a:solidFill>
                    <a:srgbClr val="FC0128"/>
                  </a:solidFill>
                  <a:latin typeface="Arial" charset="0"/>
                </a:rPr>
                <a:t>Name (mandatory)</a:t>
              </a:r>
            </a:p>
          </p:txBody>
        </p:sp>
        <p:sp>
          <p:nvSpPr>
            <p:cNvPr id="18" name="Text Box 11">
              <a:extLst>
                <a:ext uri="{FF2B5EF4-FFF2-40B4-BE49-F238E27FC236}">
                  <a16:creationId xmlns:a16="http://schemas.microsoft.com/office/drawing/2014/main" id="{C1BAD3B2-1988-966E-F6D3-D10630B9B186}"/>
                </a:ext>
              </a:extLst>
            </p:cNvPr>
            <p:cNvSpPr txBox="1">
              <a:spLocks noChangeArrowheads="1"/>
            </p:cNvSpPr>
            <p:nvPr/>
          </p:nvSpPr>
          <p:spPr bwMode="auto">
            <a:xfrm>
              <a:off x="2155826" y="4719639"/>
              <a:ext cx="1312863" cy="701675"/>
            </a:xfrm>
            <a:prstGeom prst="rect">
              <a:avLst/>
            </a:prstGeom>
            <a:noFill/>
            <a:ln w="9525">
              <a:noFill/>
              <a:miter lim="800000"/>
              <a:headEnd/>
              <a:tailEnd/>
            </a:ln>
            <a:effectLst/>
          </p:spPr>
          <p:txBody>
            <a:bodyPr wrap="none">
              <a:spAutoFit/>
            </a:bodyPr>
            <a:lstStyle/>
            <a:p>
              <a:pPr algn="ctr">
                <a:defRPr/>
              </a:pPr>
              <a:r>
                <a:rPr lang="pt-BR" sz="2000">
                  <a:solidFill>
                    <a:srgbClr val="FC0128"/>
                  </a:solidFill>
                  <a:latin typeface="Arial" charset="0"/>
                </a:rPr>
                <a:t>Attributes</a:t>
              </a:r>
            </a:p>
            <a:p>
              <a:pPr algn="ctr">
                <a:defRPr/>
              </a:pPr>
              <a:r>
                <a:rPr lang="pt-BR" sz="2000">
                  <a:solidFill>
                    <a:srgbClr val="FC0128"/>
                  </a:solidFill>
                  <a:latin typeface="Arial" charset="0"/>
                </a:rPr>
                <a:t> (optional)</a:t>
              </a:r>
            </a:p>
          </p:txBody>
        </p:sp>
        <p:sp>
          <p:nvSpPr>
            <p:cNvPr id="19" name="Line 12">
              <a:extLst>
                <a:ext uri="{FF2B5EF4-FFF2-40B4-BE49-F238E27FC236}">
                  <a16:creationId xmlns:a16="http://schemas.microsoft.com/office/drawing/2014/main" id="{09600B8A-253D-DAF0-E01A-C6FAE61B3C72}"/>
                </a:ext>
              </a:extLst>
            </p:cNvPr>
            <p:cNvSpPr>
              <a:spLocks noChangeShapeType="1"/>
            </p:cNvSpPr>
            <p:nvPr/>
          </p:nvSpPr>
          <p:spPr bwMode="auto">
            <a:xfrm>
              <a:off x="6651625" y="4491038"/>
              <a:ext cx="1219200" cy="304800"/>
            </a:xfrm>
            <a:prstGeom prst="line">
              <a:avLst/>
            </a:prstGeom>
            <a:noFill/>
            <a:ln w="28575">
              <a:solidFill>
                <a:schemeClr val="hlink"/>
              </a:solidFill>
              <a:prstDash val="sysDot"/>
              <a:round/>
              <a:headEnd/>
              <a:tailEnd/>
            </a:ln>
            <a:effectLst/>
          </p:spPr>
          <p:txBody>
            <a:bodyPr wrap="none" anchor="ctr"/>
            <a:lstStyle/>
            <a:p>
              <a:pPr eaLnBrk="0" hangingPunct="0">
                <a:defRPr/>
              </a:pPr>
              <a:endParaRPr lang="en-US" sz="2400">
                <a:solidFill>
                  <a:srgbClr val="000000"/>
                </a:solidFill>
                <a:latin typeface="Times" pitchFamily="-128" charset="0"/>
              </a:endParaRPr>
            </a:p>
          </p:txBody>
        </p:sp>
        <p:sp>
          <p:nvSpPr>
            <p:cNvPr id="20" name="Line 13">
              <a:extLst>
                <a:ext uri="{FF2B5EF4-FFF2-40B4-BE49-F238E27FC236}">
                  <a16:creationId xmlns:a16="http://schemas.microsoft.com/office/drawing/2014/main" id="{7CF72BA7-CED9-AA14-2AE1-9A9B709E824E}"/>
                </a:ext>
              </a:extLst>
            </p:cNvPr>
            <p:cNvSpPr>
              <a:spLocks noChangeShapeType="1"/>
            </p:cNvSpPr>
            <p:nvPr/>
          </p:nvSpPr>
          <p:spPr bwMode="auto">
            <a:xfrm flipV="1">
              <a:off x="3451225" y="4872038"/>
              <a:ext cx="1295400" cy="228600"/>
            </a:xfrm>
            <a:prstGeom prst="line">
              <a:avLst/>
            </a:prstGeom>
            <a:noFill/>
            <a:ln w="28575">
              <a:solidFill>
                <a:schemeClr val="hlink"/>
              </a:solidFill>
              <a:prstDash val="sysDot"/>
              <a:round/>
              <a:headEnd/>
              <a:tailEnd/>
            </a:ln>
            <a:effectLst/>
          </p:spPr>
          <p:txBody>
            <a:bodyPr wrap="none" anchor="ctr"/>
            <a:lstStyle/>
            <a:p>
              <a:pPr eaLnBrk="0" hangingPunct="0">
                <a:defRPr/>
              </a:pPr>
              <a:endParaRPr lang="en-US" sz="2400">
                <a:solidFill>
                  <a:srgbClr val="000000"/>
                </a:solidFill>
                <a:latin typeface="Times" pitchFamily="-128" charset="0"/>
              </a:endParaRPr>
            </a:p>
          </p:txBody>
        </p:sp>
        <p:sp>
          <p:nvSpPr>
            <p:cNvPr id="21" name="Text Box 14">
              <a:extLst>
                <a:ext uri="{FF2B5EF4-FFF2-40B4-BE49-F238E27FC236}">
                  <a16:creationId xmlns:a16="http://schemas.microsoft.com/office/drawing/2014/main" id="{8B91D299-AC82-7923-46EA-62C8B935301C}"/>
                </a:ext>
              </a:extLst>
            </p:cNvPr>
            <p:cNvSpPr txBox="1">
              <a:spLocks noChangeArrowheads="1"/>
            </p:cNvSpPr>
            <p:nvPr/>
          </p:nvSpPr>
          <p:spPr bwMode="auto">
            <a:xfrm>
              <a:off x="8703357" y="5745164"/>
              <a:ext cx="1427163" cy="701675"/>
            </a:xfrm>
            <a:prstGeom prst="rect">
              <a:avLst/>
            </a:prstGeom>
            <a:noFill/>
            <a:ln w="9525">
              <a:noFill/>
              <a:miter lim="800000"/>
              <a:headEnd/>
              <a:tailEnd/>
            </a:ln>
            <a:effectLst/>
          </p:spPr>
          <p:txBody>
            <a:bodyPr wrap="none">
              <a:spAutoFit/>
            </a:bodyPr>
            <a:lstStyle/>
            <a:p>
              <a:pPr>
                <a:defRPr/>
              </a:pPr>
              <a:r>
                <a:rPr lang="pt-BR" sz="2000" dirty="0">
                  <a:solidFill>
                    <a:srgbClr val="FC0128"/>
                  </a:solidFill>
                  <a:latin typeface="Arial" charset="0"/>
                </a:rPr>
                <a:t>Operations</a:t>
              </a:r>
            </a:p>
            <a:p>
              <a:pPr>
                <a:defRPr/>
              </a:pPr>
              <a:r>
                <a:rPr lang="pt-BR" sz="2000" dirty="0">
                  <a:solidFill>
                    <a:srgbClr val="FC0128"/>
                  </a:solidFill>
                  <a:latin typeface="Arial" charset="0"/>
                </a:rPr>
                <a:t> (optional)</a:t>
              </a:r>
            </a:p>
          </p:txBody>
        </p:sp>
        <p:sp>
          <p:nvSpPr>
            <p:cNvPr id="22" name="Line 15">
              <a:extLst>
                <a:ext uri="{FF2B5EF4-FFF2-40B4-BE49-F238E27FC236}">
                  <a16:creationId xmlns:a16="http://schemas.microsoft.com/office/drawing/2014/main" id="{A3FDF801-6B17-0712-1FD6-39D853A3E5DC}"/>
                </a:ext>
              </a:extLst>
            </p:cNvPr>
            <p:cNvSpPr>
              <a:spLocks noChangeShapeType="1"/>
            </p:cNvSpPr>
            <p:nvPr/>
          </p:nvSpPr>
          <p:spPr bwMode="auto">
            <a:xfrm>
              <a:off x="7003715" y="5808760"/>
              <a:ext cx="1886523" cy="117377"/>
            </a:xfrm>
            <a:prstGeom prst="line">
              <a:avLst/>
            </a:prstGeom>
            <a:noFill/>
            <a:ln w="28575">
              <a:solidFill>
                <a:schemeClr val="hlink"/>
              </a:solidFill>
              <a:prstDash val="sysDot"/>
              <a:round/>
              <a:headEnd/>
              <a:tailEnd/>
            </a:ln>
            <a:effectLst/>
          </p:spPr>
          <p:txBody>
            <a:bodyPr wrap="none" anchor="ctr"/>
            <a:lstStyle/>
            <a:p>
              <a:pPr eaLnBrk="0" hangingPunct="0">
                <a:defRPr/>
              </a:pPr>
              <a:endParaRPr lang="en-US" sz="2400">
                <a:solidFill>
                  <a:srgbClr val="000000"/>
                </a:solidFill>
                <a:latin typeface="Times" pitchFamily="-128" charset="0"/>
              </a:endParaRPr>
            </a:p>
          </p:txBody>
        </p:sp>
        <p:sp>
          <p:nvSpPr>
            <p:cNvPr id="23" name="Line 16">
              <a:extLst>
                <a:ext uri="{FF2B5EF4-FFF2-40B4-BE49-F238E27FC236}">
                  <a16:creationId xmlns:a16="http://schemas.microsoft.com/office/drawing/2014/main" id="{39FEA00E-D98E-3055-88EC-43BE1DA59400}"/>
                </a:ext>
              </a:extLst>
            </p:cNvPr>
            <p:cNvSpPr>
              <a:spLocks noChangeShapeType="1"/>
            </p:cNvSpPr>
            <p:nvPr/>
          </p:nvSpPr>
          <p:spPr bwMode="auto">
            <a:xfrm>
              <a:off x="6844050" y="6046991"/>
              <a:ext cx="1985927" cy="41989"/>
            </a:xfrm>
            <a:prstGeom prst="line">
              <a:avLst/>
            </a:prstGeom>
            <a:noFill/>
            <a:ln w="28575">
              <a:solidFill>
                <a:schemeClr val="hlink"/>
              </a:solidFill>
              <a:prstDash val="sysDot"/>
              <a:round/>
              <a:headEnd/>
              <a:tailEnd/>
            </a:ln>
            <a:effectLst/>
          </p:spPr>
          <p:txBody>
            <a:bodyPr wrap="none" anchor="ctr"/>
            <a:lstStyle/>
            <a:p>
              <a:pPr eaLnBrk="0" hangingPunct="0">
                <a:defRPr/>
              </a:pPr>
              <a:endParaRPr lang="en-US" sz="2400">
                <a:solidFill>
                  <a:srgbClr val="000000"/>
                </a:solidFill>
                <a:latin typeface="Times" pitchFamily="-128" charset="0"/>
              </a:endParaRPr>
            </a:p>
          </p:txBody>
        </p:sp>
        <p:sp>
          <p:nvSpPr>
            <p:cNvPr id="24" name="Line 17">
              <a:extLst>
                <a:ext uri="{FF2B5EF4-FFF2-40B4-BE49-F238E27FC236}">
                  <a16:creationId xmlns:a16="http://schemas.microsoft.com/office/drawing/2014/main" id="{A63205E3-3B31-F4BF-1431-EA22855C12B4}"/>
                </a:ext>
              </a:extLst>
            </p:cNvPr>
            <p:cNvSpPr>
              <a:spLocks noChangeShapeType="1"/>
            </p:cNvSpPr>
            <p:nvPr/>
          </p:nvSpPr>
          <p:spPr bwMode="auto">
            <a:xfrm flipV="1">
              <a:off x="3451225" y="5100638"/>
              <a:ext cx="1295400" cy="0"/>
            </a:xfrm>
            <a:prstGeom prst="line">
              <a:avLst/>
            </a:prstGeom>
            <a:noFill/>
            <a:ln w="28575">
              <a:solidFill>
                <a:schemeClr val="hlink"/>
              </a:solidFill>
              <a:prstDash val="sysDot"/>
              <a:round/>
              <a:headEnd/>
              <a:tailEnd/>
            </a:ln>
            <a:effectLst/>
          </p:spPr>
          <p:txBody>
            <a:bodyPr wrap="none" anchor="ctr"/>
            <a:lstStyle/>
            <a:p>
              <a:pPr eaLnBrk="0" hangingPunct="0">
                <a:defRPr/>
              </a:pPr>
              <a:endParaRPr lang="en-US" sz="2400">
                <a:solidFill>
                  <a:srgbClr val="000000"/>
                </a:solidFill>
                <a:latin typeface="Times" pitchFamily="-128" charset="0"/>
              </a:endParaRPr>
            </a:p>
          </p:txBody>
        </p:sp>
        <p:sp>
          <p:nvSpPr>
            <p:cNvPr id="25" name="Line 18">
              <a:extLst>
                <a:ext uri="{FF2B5EF4-FFF2-40B4-BE49-F238E27FC236}">
                  <a16:creationId xmlns:a16="http://schemas.microsoft.com/office/drawing/2014/main" id="{B4061629-1927-BEC5-5589-60ADBE6D8B52}"/>
                </a:ext>
              </a:extLst>
            </p:cNvPr>
            <p:cNvSpPr>
              <a:spLocks noChangeShapeType="1"/>
            </p:cNvSpPr>
            <p:nvPr/>
          </p:nvSpPr>
          <p:spPr bwMode="auto">
            <a:xfrm>
              <a:off x="3451225" y="5100638"/>
              <a:ext cx="1295400" cy="304800"/>
            </a:xfrm>
            <a:prstGeom prst="line">
              <a:avLst/>
            </a:prstGeom>
            <a:noFill/>
            <a:ln w="28575">
              <a:solidFill>
                <a:schemeClr val="hlink"/>
              </a:solidFill>
              <a:prstDash val="sysDot"/>
              <a:round/>
              <a:headEnd/>
              <a:tailEnd/>
            </a:ln>
            <a:effectLst/>
          </p:spPr>
          <p:txBody>
            <a:bodyPr wrap="none" anchor="ctr"/>
            <a:lstStyle/>
            <a:p>
              <a:pPr eaLnBrk="0" hangingPunct="0">
                <a:defRPr/>
              </a:pPr>
              <a:endParaRPr lang="en-US" sz="2400">
                <a:solidFill>
                  <a:srgbClr val="000000"/>
                </a:solidFill>
                <a:latin typeface="Times" pitchFamily="-128" charset="0"/>
              </a:endParaRPr>
            </a:p>
          </p:txBody>
        </p:sp>
        <p:sp>
          <p:nvSpPr>
            <p:cNvPr id="26" name="Line 19">
              <a:extLst>
                <a:ext uri="{FF2B5EF4-FFF2-40B4-BE49-F238E27FC236}">
                  <a16:creationId xmlns:a16="http://schemas.microsoft.com/office/drawing/2014/main" id="{CF8C0C99-E44E-2844-C07B-19F00452DD39}"/>
                </a:ext>
              </a:extLst>
            </p:cNvPr>
            <p:cNvSpPr>
              <a:spLocks noChangeShapeType="1"/>
            </p:cNvSpPr>
            <p:nvPr/>
          </p:nvSpPr>
          <p:spPr bwMode="auto">
            <a:xfrm flipV="1">
              <a:off x="6708562" y="6295458"/>
              <a:ext cx="1992285" cy="58994"/>
            </a:xfrm>
            <a:prstGeom prst="line">
              <a:avLst/>
            </a:prstGeom>
            <a:noFill/>
            <a:ln w="28575">
              <a:solidFill>
                <a:schemeClr val="hlink"/>
              </a:solidFill>
              <a:prstDash val="sysDot"/>
              <a:round/>
              <a:headEnd/>
              <a:tailEnd/>
            </a:ln>
            <a:effectLst/>
          </p:spPr>
          <p:txBody>
            <a:bodyPr wrap="none" anchor="ctr"/>
            <a:lstStyle/>
            <a:p>
              <a:pPr eaLnBrk="0" hangingPunct="0">
                <a:defRPr/>
              </a:pPr>
              <a:endParaRPr lang="en-US" sz="2400">
                <a:solidFill>
                  <a:srgbClr val="000000"/>
                </a:solidFill>
                <a:latin typeface="Times" pitchFamily="-128" charset="0"/>
              </a:endParaRPr>
            </a:p>
          </p:txBody>
        </p:sp>
      </p:grpSp>
    </p:spTree>
    <p:extLst>
      <p:ext uri="{BB962C8B-B14F-4D97-AF65-F5344CB8AC3E}">
        <p14:creationId xmlns:p14="http://schemas.microsoft.com/office/powerpoint/2010/main" val="3784856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9DD67-8EE8-97F3-5BA7-F6CF786235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97F72-B547-3309-8B65-4C41B399BD41}"/>
              </a:ext>
            </a:extLst>
          </p:cNvPr>
          <p:cNvSpPr>
            <a:spLocks noGrp="1"/>
          </p:cNvSpPr>
          <p:nvPr>
            <p:ph type="title" idx="4294967295"/>
          </p:nvPr>
        </p:nvSpPr>
        <p:spPr>
          <a:xfrm>
            <a:off x="561176" y="580370"/>
            <a:ext cx="11029950" cy="537190"/>
          </a:xfrm>
        </p:spPr>
        <p:txBody>
          <a:bodyPr/>
          <a:lstStyle/>
          <a:p>
            <a:pPr algn="ctr"/>
            <a:r>
              <a:rPr lang="en-US" altLang="en-US" b="1" dirty="0">
                <a:solidFill>
                  <a:srgbClr val="0070C0"/>
                </a:solidFill>
                <a:latin typeface="Book Antiqua" pitchFamily="18" charset="0"/>
              </a:rPr>
              <a:t>Class Notation</a:t>
            </a:r>
            <a:endParaRPr lang="en-US" b="1" dirty="0">
              <a:solidFill>
                <a:srgbClr val="0070C0"/>
              </a:solidFill>
              <a:effectLst>
                <a:outerShdw blurRad="38100" dist="38100" dir="2700000" algn="tl">
                  <a:srgbClr val="000000">
                    <a:alpha val="43137"/>
                  </a:srgbClr>
                </a:outerShdw>
              </a:effectLst>
            </a:endParaRPr>
          </a:p>
        </p:txBody>
      </p:sp>
      <p:sp>
        <p:nvSpPr>
          <p:cNvPr id="8" name="Content Placeholder 2">
            <a:extLst>
              <a:ext uri="{FF2B5EF4-FFF2-40B4-BE49-F238E27FC236}">
                <a16:creationId xmlns:a16="http://schemas.microsoft.com/office/drawing/2014/main" id="{EDEE56D4-3E0F-A1FA-A914-D738D9F812E4}"/>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9" name="Slide Number Placeholder 3">
            <a:extLst>
              <a:ext uri="{FF2B5EF4-FFF2-40B4-BE49-F238E27FC236}">
                <a16:creationId xmlns:a16="http://schemas.microsoft.com/office/drawing/2014/main" id="{6E90661F-E2C5-A30C-1332-1377505158F9}"/>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9</a:t>
            </a:fld>
            <a:r>
              <a:rPr lang="en-US" sz="1400" b="1" dirty="0"/>
              <a:t> </a:t>
            </a:r>
          </a:p>
        </p:txBody>
      </p:sp>
      <p:sp>
        <p:nvSpPr>
          <p:cNvPr id="3" name="Rectangle 2" descr="M. Mhahudul Hasan">
            <a:extLst>
              <a:ext uri="{FF2B5EF4-FFF2-40B4-BE49-F238E27FC236}">
                <a16:creationId xmlns:a16="http://schemas.microsoft.com/office/drawing/2014/main" id="{F4F48D4C-6DBC-5D5C-C422-30F88CAEBA12}"/>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A183A4A2-AA58-831C-37AD-262BEAEFBD97}"/>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4:  Class Diagram</a:t>
            </a:r>
          </a:p>
        </p:txBody>
      </p:sp>
      <p:sp>
        <p:nvSpPr>
          <p:cNvPr id="12" name="Rectangle 11" descr="M. Mhahudul Hasan">
            <a:extLst>
              <a:ext uri="{FF2B5EF4-FFF2-40B4-BE49-F238E27FC236}">
                <a16:creationId xmlns:a16="http://schemas.microsoft.com/office/drawing/2014/main" id="{FC84CDF6-4B8E-B2E7-98DB-3759EA7E99BA}"/>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5" name="Content Placeholder 2">
            <a:extLst>
              <a:ext uri="{FF2B5EF4-FFF2-40B4-BE49-F238E27FC236}">
                <a16:creationId xmlns:a16="http://schemas.microsoft.com/office/drawing/2014/main" id="{180CB5FA-D08E-0592-F4D8-698034E0FA81}"/>
              </a:ext>
            </a:extLst>
          </p:cNvPr>
          <p:cNvSpPr txBox="1">
            <a:spLocks/>
          </p:cNvSpPr>
          <p:nvPr/>
        </p:nvSpPr>
        <p:spPr>
          <a:xfrm>
            <a:off x="609600" y="1463041"/>
            <a:ext cx="10972800" cy="4446270"/>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just">
              <a:defRPr/>
            </a:pPr>
            <a:r>
              <a:rPr lang="en-US" sz="2400" dirty="0"/>
              <a:t>The </a:t>
            </a:r>
            <a:r>
              <a:rPr lang="en-US" sz="2400" b="1" i="1" dirty="0">
                <a:solidFill>
                  <a:srgbClr val="FF0000"/>
                </a:solidFill>
              </a:rPr>
              <a:t>name compartment </a:t>
            </a:r>
            <a:r>
              <a:rPr lang="en-US" sz="2400" dirty="0"/>
              <a:t>uniquely defines a class (a type of object) within a package. Consequently, classes may have the same name if they reside in different packages. This compartment may contain </a:t>
            </a:r>
            <a:r>
              <a:rPr lang="en-US" sz="2400" b="1" dirty="0"/>
              <a:t>Stereotypes</a:t>
            </a:r>
            <a:r>
              <a:rPr lang="en-US" sz="2400" dirty="0"/>
              <a:t> that helps to understand the type of class in the context of other classes with similar roles within the system.</a:t>
            </a:r>
          </a:p>
          <a:p>
            <a:pPr algn="just">
              <a:defRPr/>
            </a:pPr>
            <a:endParaRPr lang="en-US" sz="2400" dirty="0"/>
          </a:p>
          <a:p>
            <a:pPr algn="just">
              <a:defRPr/>
            </a:pPr>
            <a:r>
              <a:rPr lang="en-US" sz="2400" dirty="0"/>
              <a:t>The </a:t>
            </a:r>
            <a:r>
              <a:rPr lang="en-US" sz="2400" b="1" i="1" dirty="0">
                <a:solidFill>
                  <a:srgbClr val="FF0000"/>
                </a:solidFill>
              </a:rPr>
              <a:t>attribute compartment </a:t>
            </a:r>
            <a:r>
              <a:rPr lang="en-US" sz="2400" dirty="0"/>
              <a:t>contains all the data definitions.</a:t>
            </a:r>
          </a:p>
          <a:p>
            <a:pPr algn="just">
              <a:defRPr/>
            </a:pPr>
            <a:endParaRPr lang="en-US" sz="2400" dirty="0"/>
          </a:p>
          <a:p>
            <a:pPr algn="just">
              <a:defRPr/>
            </a:pPr>
            <a:r>
              <a:rPr lang="en-US" sz="2400" dirty="0"/>
              <a:t>The </a:t>
            </a:r>
            <a:r>
              <a:rPr lang="en-US" sz="2400" b="1" i="1" dirty="0">
                <a:solidFill>
                  <a:srgbClr val="FF0000"/>
                </a:solidFill>
              </a:rPr>
              <a:t>operations compartment </a:t>
            </a:r>
            <a:r>
              <a:rPr lang="en-US" sz="2400" dirty="0"/>
              <a:t>contains a definition for each behavior supported by this type of object.</a:t>
            </a:r>
          </a:p>
        </p:txBody>
      </p:sp>
    </p:spTree>
    <p:extLst>
      <p:ext uri="{BB962C8B-B14F-4D97-AF65-F5344CB8AC3E}">
        <p14:creationId xmlns:p14="http://schemas.microsoft.com/office/powerpoint/2010/main" val="2102788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F660A-B2B9-8B32-9C1B-6850A738F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25F775-DE02-0A11-01A7-0F3C3FA5461E}"/>
              </a:ext>
            </a:extLst>
          </p:cNvPr>
          <p:cNvSpPr>
            <a:spLocks noGrp="1"/>
          </p:cNvSpPr>
          <p:nvPr>
            <p:ph type="title" idx="4294967295"/>
          </p:nvPr>
        </p:nvSpPr>
        <p:spPr>
          <a:xfrm>
            <a:off x="561176" y="580370"/>
            <a:ext cx="11029950" cy="537190"/>
          </a:xfrm>
        </p:spPr>
        <p:txBody>
          <a:bodyPr/>
          <a:lstStyle/>
          <a:p>
            <a:pPr algn="ctr"/>
            <a:r>
              <a:rPr lang="en-US" altLang="en-US" b="1" dirty="0">
                <a:solidFill>
                  <a:srgbClr val="0070C0"/>
                </a:solidFill>
                <a:latin typeface="Book Antiqua" pitchFamily="18" charset="0"/>
              </a:rPr>
              <a:t>Attribute/operation visibility in class notation</a:t>
            </a:r>
            <a:endParaRPr lang="en-US" b="1" dirty="0">
              <a:solidFill>
                <a:srgbClr val="0070C0"/>
              </a:solidFill>
              <a:effectLst>
                <a:outerShdw blurRad="38100" dist="38100" dir="2700000" algn="tl">
                  <a:srgbClr val="000000">
                    <a:alpha val="43137"/>
                  </a:srgbClr>
                </a:outerShdw>
              </a:effectLst>
            </a:endParaRPr>
          </a:p>
        </p:txBody>
      </p:sp>
      <p:sp>
        <p:nvSpPr>
          <p:cNvPr id="8" name="Content Placeholder 2">
            <a:extLst>
              <a:ext uri="{FF2B5EF4-FFF2-40B4-BE49-F238E27FC236}">
                <a16:creationId xmlns:a16="http://schemas.microsoft.com/office/drawing/2014/main" id="{731AB11F-03A6-B842-EA38-F0EA241C4855}"/>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9" name="Slide Number Placeholder 3">
            <a:extLst>
              <a:ext uri="{FF2B5EF4-FFF2-40B4-BE49-F238E27FC236}">
                <a16:creationId xmlns:a16="http://schemas.microsoft.com/office/drawing/2014/main" id="{E04C8104-2CDF-3700-3DE8-10E14464A835}"/>
              </a:ext>
            </a:extLst>
          </p:cNvPr>
          <p:cNvSpPr txBox="1">
            <a:spLocks/>
          </p:cNvSpPr>
          <p:nvPr/>
        </p:nvSpPr>
        <p:spPr>
          <a:xfrm rot="5400000">
            <a:off x="11852787" y="14785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10</a:t>
            </a:fld>
            <a:r>
              <a:rPr lang="en-US" sz="1400" b="1" dirty="0"/>
              <a:t> </a:t>
            </a:r>
          </a:p>
        </p:txBody>
      </p:sp>
      <p:sp>
        <p:nvSpPr>
          <p:cNvPr id="3" name="Rectangle 2" descr="M. Mhahudul Hasan">
            <a:extLst>
              <a:ext uri="{FF2B5EF4-FFF2-40B4-BE49-F238E27FC236}">
                <a16:creationId xmlns:a16="http://schemas.microsoft.com/office/drawing/2014/main" id="{3C5F286E-9B61-76DF-1425-C3E1BC88FE8F}"/>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2B37E5F0-70F1-6AD1-59F8-E7A371DC1998}"/>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4:  Class Diagram</a:t>
            </a:r>
          </a:p>
        </p:txBody>
      </p:sp>
      <p:sp>
        <p:nvSpPr>
          <p:cNvPr id="12" name="Rectangle 11" descr="M. Mhahudul Hasan">
            <a:extLst>
              <a:ext uri="{FF2B5EF4-FFF2-40B4-BE49-F238E27FC236}">
                <a16:creationId xmlns:a16="http://schemas.microsoft.com/office/drawing/2014/main" id="{C7FBD514-E492-7B47-A16D-C54FD16DF5FD}"/>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4" name="Content Placeholder 2">
            <a:extLst>
              <a:ext uri="{FF2B5EF4-FFF2-40B4-BE49-F238E27FC236}">
                <a16:creationId xmlns:a16="http://schemas.microsoft.com/office/drawing/2014/main" id="{ED50C91E-E5B8-866B-EC62-ECE3AC09075B}"/>
              </a:ext>
            </a:extLst>
          </p:cNvPr>
          <p:cNvSpPr txBox="1">
            <a:spLocks/>
          </p:cNvSpPr>
          <p:nvPr/>
        </p:nvSpPr>
        <p:spPr>
          <a:xfrm>
            <a:off x="609600" y="1600201"/>
            <a:ext cx="10972800" cy="4525963"/>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defRPr/>
            </a:pPr>
            <a:r>
              <a:rPr lang="en-US" sz="2200" b="1" dirty="0"/>
              <a:t>Public (+) </a:t>
            </a:r>
            <a:r>
              <a:rPr lang="en-US" sz="2200" dirty="0"/>
              <a:t>visibility allows access to objects of all other classes.</a:t>
            </a:r>
          </a:p>
          <a:p>
            <a:pPr>
              <a:defRPr/>
            </a:pPr>
            <a:r>
              <a:rPr lang="en-US" sz="2200" b="1" dirty="0"/>
              <a:t>Private (-) </a:t>
            </a:r>
            <a:r>
              <a:rPr lang="en-US" sz="2200" dirty="0"/>
              <a:t>visibility limits access to within the class itself. For example, only operations of the class have access to a private attribute.</a:t>
            </a:r>
          </a:p>
          <a:p>
            <a:pPr>
              <a:defRPr/>
            </a:pPr>
            <a:r>
              <a:rPr lang="en-US" sz="2200" b="1" dirty="0"/>
              <a:t>Protected (#) </a:t>
            </a:r>
            <a:r>
              <a:rPr lang="en-US" sz="2200" dirty="0"/>
              <a:t>visibility allows access by subclasses. In the case of </a:t>
            </a:r>
            <a:r>
              <a:rPr lang="en-US" sz="2200" i="1" dirty="0"/>
              <a:t>generalizations </a:t>
            </a:r>
            <a:r>
              <a:rPr lang="en-US" sz="2200" dirty="0"/>
              <a:t>(inheritance), subclasses must have access to the attributes and operations of the superclass, or they cannot be inherited.</a:t>
            </a:r>
          </a:p>
          <a:p>
            <a:pPr>
              <a:defRPr/>
            </a:pPr>
            <a:r>
              <a:rPr lang="en-US" sz="2200" b="1" dirty="0"/>
              <a:t>Package (~) </a:t>
            </a:r>
            <a:r>
              <a:rPr lang="en-US" sz="2200" dirty="0"/>
              <a:t>visibility allows access to other objects in the same package.</a:t>
            </a:r>
          </a:p>
        </p:txBody>
      </p:sp>
    </p:spTree>
    <p:extLst>
      <p:ext uri="{BB962C8B-B14F-4D97-AF65-F5344CB8AC3E}">
        <p14:creationId xmlns:p14="http://schemas.microsoft.com/office/powerpoint/2010/main" val="2324254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50A8C-2714-3DEA-F93D-569BEAD239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F9B3EC-7606-A719-1A9D-7F140E24F398}"/>
              </a:ext>
            </a:extLst>
          </p:cNvPr>
          <p:cNvSpPr>
            <a:spLocks noGrp="1"/>
          </p:cNvSpPr>
          <p:nvPr>
            <p:ph type="title" idx="4294967295"/>
          </p:nvPr>
        </p:nvSpPr>
        <p:spPr>
          <a:xfrm>
            <a:off x="561176" y="580370"/>
            <a:ext cx="11029950" cy="537190"/>
          </a:xfrm>
        </p:spPr>
        <p:txBody>
          <a:bodyPr/>
          <a:lstStyle/>
          <a:p>
            <a:pPr algn="ctr"/>
            <a:r>
              <a:rPr lang="en-US" altLang="en-US" b="1" dirty="0">
                <a:solidFill>
                  <a:srgbClr val="0070C0"/>
                </a:solidFill>
                <a:latin typeface="Book Antiqua" pitchFamily="18" charset="0"/>
              </a:rPr>
              <a:t>Modeling an Attribute</a:t>
            </a:r>
            <a:endParaRPr lang="en-US" b="1" dirty="0">
              <a:solidFill>
                <a:srgbClr val="0070C0"/>
              </a:solidFill>
              <a:effectLst>
                <a:outerShdw blurRad="38100" dist="38100" dir="2700000" algn="tl">
                  <a:srgbClr val="000000">
                    <a:alpha val="43137"/>
                  </a:srgbClr>
                </a:outerShdw>
              </a:effectLst>
            </a:endParaRPr>
          </a:p>
        </p:txBody>
      </p:sp>
      <p:sp>
        <p:nvSpPr>
          <p:cNvPr id="8" name="Content Placeholder 2">
            <a:extLst>
              <a:ext uri="{FF2B5EF4-FFF2-40B4-BE49-F238E27FC236}">
                <a16:creationId xmlns:a16="http://schemas.microsoft.com/office/drawing/2014/main" id="{1552CB59-7C0C-6ED0-B948-E256EDCC978F}"/>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9" name="Slide Number Placeholder 3">
            <a:extLst>
              <a:ext uri="{FF2B5EF4-FFF2-40B4-BE49-F238E27FC236}">
                <a16:creationId xmlns:a16="http://schemas.microsoft.com/office/drawing/2014/main" id="{1566A473-F0A0-5E0C-664C-F8460E261102}"/>
              </a:ext>
            </a:extLst>
          </p:cNvPr>
          <p:cNvSpPr txBox="1">
            <a:spLocks/>
          </p:cNvSpPr>
          <p:nvPr/>
        </p:nvSpPr>
        <p:spPr>
          <a:xfrm rot="5400000">
            <a:off x="11852787" y="12499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11</a:t>
            </a:fld>
            <a:r>
              <a:rPr lang="en-US" sz="1400" b="1" dirty="0"/>
              <a:t> </a:t>
            </a:r>
          </a:p>
        </p:txBody>
      </p:sp>
      <p:sp>
        <p:nvSpPr>
          <p:cNvPr id="3" name="Rectangle 2" descr="M. Mhahudul Hasan">
            <a:extLst>
              <a:ext uri="{FF2B5EF4-FFF2-40B4-BE49-F238E27FC236}">
                <a16:creationId xmlns:a16="http://schemas.microsoft.com/office/drawing/2014/main" id="{B92EFC81-6737-4618-F9CF-7368314F9294}"/>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90F62247-D30D-C2E1-3F7D-B546CC9BA1C7}"/>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4:  Class Diagram</a:t>
            </a:r>
          </a:p>
        </p:txBody>
      </p:sp>
      <p:sp>
        <p:nvSpPr>
          <p:cNvPr id="12" name="Rectangle 11" descr="M. Mhahudul Hasan">
            <a:extLst>
              <a:ext uri="{FF2B5EF4-FFF2-40B4-BE49-F238E27FC236}">
                <a16:creationId xmlns:a16="http://schemas.microsoft.com/office/drawing/2014/main" id="{D8DE9CFB-2B9B-1735-2EA0-7944BEF7747E}"/>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5" name="Content Placeholder 2">
            <a:extLst>
              <a:ext uri="{FF2B5EF4-FFF2-40B4-BE49-F238E27FC236}">
                <a16:creationId xmlns:a16="http://schemas.microsoft.com/office/drawing/2014/main" id="{9482789C-988B-DF6F-B366-DCE5B3135B67}"/>
              </a:ext>
            </a:extLst>
          </p:cNvPr>
          <p:cNvSpPr txBox="1">
            <a:spLocks/>
          </p:cNvSpPr>
          <p:nvPr/>
        </p:nvSpPr>
        <p:spPr>
          <a:xfrm>
            <a:off x="609600" y="1600200"/>
            <a:ext cx="10972800" cy="4800600"/>
          </a:xfrm>
          <a:prstGeom prst="rect">
            <a:avLst/>
          </a:prstGeom>
        </p:spPr>
        <p:txBody>
          <a:bodyPr>
            <a:normAutofit fontScale="925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defRPr/>
            </a:pPr>
            <a:r>
              <a:rPr lang="en-US" sz="2400" b="1" u="sng" dirty="0">
                <a:solidFill>
                  <a:srgbClr val="FF0000"/>
                </a:solidFill>
                <a:uFill>
                  <a:solidFill>
                    <a:srgbClr val="00B0F0"/>
                  </a:solidFill>
                </a:uFill>
              </a:rPr>
              <a:t>visibility</a:t>
            </a:r>
            <a:r>
              <a:rPr lang="en-US" sz="2400" b="1" u="sng" dirty="0">
                <a:uFill>
                  <a:solidFill>
                    <a:srgbClr val="00B0F0"/>
                  </a:solidFill>
                </a:uFill>
              </a:rPr>
              <a:t> </a:t>
            </a:r>
            <a:r>
              <a:rPr lang="en-US" sz="2400" b="1" u="sng" dirty="0">
                <a:solidFill>
                  <a:srgbClr val="00B0F0"/>
                </a:solidFill>
                <a:uFill>
                  <a:solidFill>
                    <a:srgbClr val="00B0F0"/>
                  </a:solidFill>
                </a:uFill>
              </a:rPr>
              <a:t>/ </a:t>
            </a:r>
            <a:r>
              <a:rPr lang="en-US" sz="2400" b="1" u="sng" dirty="0">
                <a:solidFill>
                  <a:srgbClr val="FF0000"/>
                </a:solidFill>
                <a:uFill>
                  <a:solidFill>
                    <a:srgbClr val="00B0F0"/>
                  </a:solidFill>
                </a:uFill>
              </a:rPr>
              <a:t>attribute name : data type </a:t>
            </a:r>
            <a:r>
              <a:rPr lang="en-US" sz="2400" b="1" u="sng" dirty="0">
                <a:solidFill>
                  <a:srgbClr val="00B0F0"/>
                </a:solidFill>
                <a:uFill>
                  <a:solidFill>
                    <a:srgbClr val="00B0F0"/>
                  </a:solidFill>
                </a:uFill>
              </a:rPr>
              <a:t>= default value {constraints}</a:t>
            </a:r>
            <a:endParaRPr lang="en-US" sz="2400" u="sng" dirty="0">
              <a:solidFill>
                <a:srgbClr val="00B0F0"/>
              </a:solidFill>
              <a:uFill>
                <a:solidFill>
                  <a:srgbClr val="00B0F0"/>
                </a:solidFill>
              </a:uFill>
            </a:endParaRPr>
          </a:p>
          <a:p>
            <a:pPr marL="0" indent="0">
              <a:buFont typeface="Wingdings 2" panose="05020102010507070707" pitchFamily="18" charset="2"/>
              <a:buNone/>
              <a:defRPr/>
            </a:pPr>
            <a:endParaRPr lang="en-US" sz="2000" b="1" u="sng" dirty="0"/>
          </a:p>
          <a:p>
            <a:pPr>
              <a:defRPr/>
            </a:pPr>
            <a:r>
              <a:rPr lang="en-US" sz="2000" b="1" dirty="0"/>
              <a:t>Visibility (+, -, #, ~): </a:t>
            </a:r>
            <a:r>
              <a:rPr lang="en-US" sz="2000" dirty="0">
                <a:solidFill>
                  <a:srgbClr val="FF0000"/>
                </a:solidFill>
              </a:rPr>
              <a:t>Required</a:t>
            </a:r>
            <a:r>
              <a:rPr lang="en-US" sz="2000" dirty="0"/>
              <a:t> before code generation</a:t>
            </a:r>
          </a:p>
          <a:p>
            <a:pPr>
              <a:defRPr/>
            </a:pPr>
            <a:r>
              <a:rPr lang="en-US" sz="2000" b="1" dirty="0"/>
              <a:t>Slash (/): </a:t>
            </a:r>
            <a:r>
              <a:rPr lang="en-US" sz="2000" dirty="0"/>
              <a:t>The derived attribute indicator is </a:t>
            </a:r>
            <a:r>
              <a:rPr lang="en-US" sz="2000" dirty="0">
                <a:solidFill>
                  <a:srgbClr val="00B0F0"/>
                </a:solidFill>
              </a:rPr>
              <a:t>optional</a:t>
            </a:r>
            <a:r>
              <a:rPr lang="en-US" sz="2000" dirty="0"/>
              <a:t>. Derived values may be computed or figured out using other data and a set of rules or formulas.</a:t>
            </a:r>
          </a:p>
          <a:p>
            <a:pPr>
              <a:defRPr/>
            </a:pPr>
            <a:r>
              <a:rPr lang="en-US" sz="2000" b="1" dirty="0"/>
              <a:t>Attribute name: </a:t>
            </a:r>
            <a:r>
              <a:rPr lang="en-US" sz="2000" dirty="0">
                <a:solidFill>
                  <a:srgbClr val="FF0000"/>
                </a:solidFill>
              </a:rPr>
              <a:t>Required</a:t>
            </a:r>
            <a:r>
              <a:rPr lang="en-US" sz="2000" dirty="0"/>
              <a:t>. Must be unique within the class.</a:t>
            </a:r>
          </a:p>
          <a:p>
            <a:pPr>
              <a:defRPr/>
            </a:pPr>
            <a:r>
              <a:rPr lang="en-US" sz="2000" b="1" dirty="0"/>
              <a:t>Data type: </a:t>
            </a:r>
            <a:r>
              <a:rPr lang="en-US" sz="2000" dirty="0">
                <a:solidFill>
                  <a:srgbClr val="FF0000"/>
                </a:solidFill>
              </a:rPr>
              <a:t>Required</a:t>
            </a:r>
            <a:r>
              <a:rPr lang="en-US" sz="2000" dirty="0"/>
              <a:t>. This is a big subject. During analysis, the data type should reflect how the client sees the data. You could think of this as the external view.</a:t>
            </a:r>
          </a:p>
          <a:p>
            <a:pPr>
              <a:defRPr/>
            </a:pPr>
            <a:r>
              <a:rPr lang="en-US" sz="2000" b="1" dirty="0"/>
              <a:t>Assignment operator and default value: </a:t>
            </a:r>
            <a:r>
              <a:rPr lang="en-US" sz="2000" dirty="0">
                <a:solidFill>
                  <a:srgbClr val="00B0F0"/>
                </a:solidFill>
              </a:rPr>
              <a:t>Optional</a:t>
            </a:r>
            <a:r>
              <a:rPr lang="en-US" sz="2000" dirty="0"/>
              <a:t>. Default values serve two valuable purposes. First, default values can provide significant ease-of-use improvements for the client. Second and more importantly, they protect the integrity of the system from being corrupted by missing or invalid values.</a:t>
            </a:r>
          </a:p>
          <a:p>
            <a:pPr>
              <a:defRPr/>
            </a:pPr>
            <a:r>
              <a:rPr lang="en-US" sz="2000" b="1" dirty="0"/>
              <a:t>Constraints: </a:t>
            </a:r>
            <a:r>
              <a:rPr lang="en-US" sz="2000" dirty="0">
                <a:solidFill>
                  <a:srgbClr val="00B0F0"/>
                </a:solidFill>
              </a:rPr>
              <a:t>Optional</a:t>
            </a:r>
            <a:r>
              <a:rPr lang="en-US" sz="2000" dirty="0"/>
              <a:t>. Constraints express all the rules required to be fulfilled to access this attribute.</a:t>
            </a:r>
          </a:p>
          <a:p>
            <a:pPr>
              <a:defRPr/>
            </a:pPr>
            <a:r>
              <a:rPr lang="en-US" sz="2000" b="1" dirty="0"/>
              <a:t>Class level attribute (underlined attribute declaration): </a:t>
            </a:r>
            <a:r>
              <a:rPr lang="en-US" sz="2000" dirty="0">
                <a:solidFill>
                  <a:srgbClr val="00B0F0"/>
                </a:solidFill>
              </a:rPr>
              <a:t>Optional</a:t>
            </a:r>
            <a:r>
              <a:rPr lang="en-US" sz="2000" dirty="0"/>
              <a:t>. Denotes that all objects of the class share a single value for the attribute. (This is called a </a:t>
            </a:r>
            <a:r>
              <a:rPr lang="en-US" sz="2000" i="1" dirty="0"/>
              <a:t>static </a:t>
            </a:r>
            <a:r>
              <a:rPr lang="en-US" sz="2000" dirty="0"/>
              <a:t>value in Java.)</a:t>
            </a:r>
            <a:endParaRPr lang="en-US" sz="2000" b="1" u="sng" dirty="0"/>
          </a:p>
        </p:txBody>
      </p:sp>
    </p:spTree>
    <p:extLst>
      <p:ext uri="{BB962C8B-B14F-4D97-AF65-F5344CB8AC3E}">
        <p14:creationId xmlns:p14="http://schemas.microsoft.com/office/powerpoint/2010/main" val="315772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09EAD-8E50-2249-075B-A7EE83A065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3A61F5-913B-6A34-646C-FE087B3E963F}"/>
              </a:ext>
            </a:extLst>
          </p:cNvPr>
          <p:cNvSpPr>
            <a:spLocks noGrp="1"/>
          </p:cNvSpPr>
          <p:nvPr>
            <p:ph type="title" idx="4294967295"/>
          </p:nvPr>
        </p:nvSpPr>
        <p:spPr>
          <a:xfrm>
            <a:off x="561176" y="580370"/>
            <a:ext cx="11029950" cy="537190"/>
          </a:xfrm>
        </p:spPr>
        <p:txBody>
          <a:bodyPr/>
          <a:lstStyle/>
          <a:p>
            <a:pPr algn="ctr"/>
            <a:r>
              <a:rPr lang="en-US" altLang="en-US" b="1" dirty="0">
                <a:solidFill>
                  <a:srgbClr val="0070C0"/>
                </a:solidFill>
                <a:latin typeface="Book Antiqua" pitchFamily="18" charset="0"/>
              </a:rPr>
              <a:t>Modeling an Operation</a:t>
            </a:r>
            <a:endParaRPr lang="en-US" b="1" dirty="0">
              <a:solidFill>
                <a:srgbClr val="0070C0"/>
              </a:solidFill>
              <a:effectLst>
                <a:outerShdw blurRad="38100" dist="38100" dir="2700000" algn="tl">
                  <a:srgbClr val="000000">
                    <a:alpha val="43137"/>
                  </a:srgbClr>
                </a:outerShdw>
              </a:effectLst>
            </a:endParaRPr>
          </a:p>
        </p:txBody>
      </p:sp>
      <p:sp>
        <p:nvSpPr>
          <p:cNvPr id="8" name="Content Placeholder 2">
            <a:extLst>
              <a:ext uri="{FF2B5EF4-FFF2-40B4-BE49-F238E27FC236}">
                <a16:creationId xmlns:a16="http://schemas.microsoft.com/office/drawing/2014/main" id="{22117D29-9764-F5E6-19AA-2191F53A6376}"/>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9" name="Slide Number Placeholder 3">
            <a:extLst>
              <a:ext uri="{FF2B5EF4-FFF2-40B4-BE49-F238E27FC236}">
                <a16:creationId xmlns:a16="http://schemas.microsoft.com/office/drawing/2014/main" id="{585EFA63-43A7-BFD0-A6F1-1B47E1297CE1}"/>
              </a:ext>
            </a:extLst>
          </p:cNvPr>
          <p:cNvSpPr txBox="1">
            <a:spLocks/>
          </p:cNvSpPr>
          <p:nvPr/>
        </p:nvSpPr>
        <p:spPr>
          <a:xfrm rot="5400000">
            <a:off x="11852787" y="17071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12</a:t>
            </a:fld>
            <a:r>
              <a:rPr lang="en-US" sz="1400" b="1" dirty="0"/>
              <a:t> </a:t>
            </a:r>
          </a:p>
        </p:txBody>
      </p:sp>
      <p:sp>
        <p:nvSpPr>
          <p:cNvPr id="3" name="Rectangle 2" descr="M. Mhahudul Hasan">
            <a:extLst>
              <a:ext uri="{FF2B5EF4-FFF2-40B4-BE49-F238E27FC236}">
                <a16:creationId xmlns:a16="http://schemas.microsoft.com/office/drawing/2014/main" id="{27FCD480-D273-7612-B6FF-D3ECCAE5BB70}"/>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A93A8E75-F5EC-457A-EAD6-8E079622C4E4}"/>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4:  Class Diagram</a:t>
            </a:r>
          </a:p>
        </p:txBody>
      </p:sp>
      <p:sp>
        <p:nvSpPr>
          <p:cNvPr id="12" name="Rectangle 11" descr="M. Mhahudul Hasan">
            <a:extLst>
              <a:ext uri="{FF2B5EF4-FFF2-40B4-BE49-F238E27FC236}">
                <a16:creationId xmlns:a16="http://schemas.microsoft.com/office/drawing/2014/main" id="{B98F7DE3-B81F-D941-C2ED-3CEBE7211CD3}"/>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5" name="Content Placeholder 2">
            <a:extLst>
              <a:ext uri="{FF2B5EF4-FFF2-40B4-BE49-F238E27FC236}">
                <a16:creationId xmlns:a16="http://schemas.microsoft.com/office/drawing/2014/main" id="{223C01E0-17E7-B0C7-5D30-89A75C35047C}"/>
              </a:ext>
            </a:extLst>
          </p:cNvPr>
          <p:cNvSpPr txBox="1">
            <a:spLocks/>
          </p:cNvSpPr>
          <p:nvPr/>
        </p:nvSpPr>
        <p:spPr>
          <a:xfrm>
            <a:off x="609600" y="1590575"/>
            <a:ext cx="10972800" cy="4800600"/>
          </a:xfrm>
          <a:prstGeom prst="rect">
            <a:avLst/>
          </a:prstGeom>
        </p:spPr>
        <p:txBody>
          <a:bodyP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None/>
              <a:defRPr/>
            </a:pPr>
            <a:r>
              <a:rPr lang="en-US" sz="1900" b="1" u="sng" dirty="0">
                <a:solidFill>
                  <a:srgbClr val="FF0000"/>
                </a:solidFill>
                <a:uFill>
                  <a:solidFill>
                    <a:srgbClr val="00B0F0"/>
                  </a:solidFill>
                </a:uFill>
              </a:rPr>
              <a:t>visibility</a:t>
            </a:r>
            <a:r>
              <a:rPr lang="en-US" sz="1900" b="1" u="sng" dirty="0">
                <a:uFill>
                  <a:solidFill>
                    <a:srgbClr val="00B0F0"/>
                  </a:solidFill>
                </a:uFill>
              </a:rPr>
              <a:t> </a:t>
            </a:r>
            <a:r>
              <a:rPr lang="en-US" sz="1900" b="1" u="sng" dirty="0" err="1">
                <a:solidFill>
                  <a:srgbClr val="FF0000"/>
                </a:solidFill>
                <a:uFill>
                  <a:solidFill>
                    <a:srgbClr val="00B0F0"/>
                  </a:solidFill>
                </a:uFill>
              </a:rPr>
              <a:t>operationName</a:t>
            </a:r>
            <a:r>
              <a:rPr lang="en-US" sz="1900" b="1" u="sng" dirty="0">
                <a:solidFill>
                  <a:srgbClr val="FF0000"/>
                </a:solidFill>
                <a:uFill>
                  <a:solidFill>
                    <a:srgbClr val="00B0F0"/>
                  </a:solidFill>
                </a:uFill>
              </a:rPr>
              <a:t> (</a:t>
            </a:r>
            <a:r>
              <a:rPr lang="en-US" sz="1900" b="1" u="sng" dirty="0" err="1">
                <a:solidFill>
                  <a:srgbClr val="00B0F0"/>
                </a:solidFill>
                <a:uFill>
                  <a:solidFill>
                    <a:srgbClr val="00B0F0"/>
                  </a:solidFill>
                </a:uFill>
              </a:rPr>
              <a:t>argname</a:t>
            </a:r>
            <a:r>
              <a:rPr lang="en-US" sz="1900" b="1" u="sng" dirty="0">
                <a:solidFill>
                  <a:srgbClr val="00B0F0"/>
                </a:solidFill>
                <a:uFill>
                  <a:solidFill>
                    <a:srgbClr val="00B0F0"/>
                  </a:solidFill>
                </a:uFill>
              </a:rPr>
              <a:t> : data type {constraints}, . . .</a:t>
            </a:r>
            <a:r>
              <a:rPr lang="en-US" sz="1900" b="1" u="sng" dirty="0">
                <a:solidFill>
                  <a:srgbClr val="FF0000"/>
                </a:solidFill>
                <a:uFill>
                  <a:solidFill>
                    <a:srgbClr val="00B0F0"/>
                  </a:solidFill>
                </a:uFill>
              </a:rPr>
              <a:t>)</a:t>
            </a:r>
            <a:r>
              <a:rPr lang="en-US" sz="1900" b="1" u="sng" dirty="0">
                <a:uFill>
                  <a:solidFill>
                    <a:srgbClr val="00B0F0"/>
                  </a:solidFill>
                </a:uFill>
              </a:rPr>
              <a:t> </a:t>
            </a:r>
            <a:r>
              <a:rPr lang="en-US" sz="1900" b="1" u="sng" dirty="0">
                <a:solidFill>
                  <a:srgbClr val="00B0F0"/>
                </a:solidFill>
                <a:uFill>
                  <a:solidFill>
                    <a:srgbClr val="00B0F0"/>
                  </a:solidFill>
                </a:uFill>
              </a:rPr>
              <a:t>: return data type {constraints}</a:t>
            </a:r>
            <a:endParaRPr lang="en-US" sz="1900" u="sng" dirty="0">
              <a:solidFill>
                <a:srgbClr val="00B0F0"/>
              </a:solidFill>
              <a:uFill>
                <a:solidFill>
                  <a:srgbClr val="00B0F0"/>
                </a:solidFill>
              </a:uFill>
            </a:endParaRPr>
          </a:p>
          <a:p>
            <a:pPr algn="just">
              <a:defRPr/>
            </a:pPr>
            <a:endParaRPr lang="en-US" sz="1900" b="1" dirty="0"/>
          </a:p>
          <a:p>
            <a:pPr algn="just">
              <a:defRPr/>
            </a:pPr>
            <a:r>
              <a:rPr lang="en-US" sz="1900" b="1" dirty="0"/>
              <a:t>Visibility (+, -, #, ~): </a:t>
            </a:r>
            <a:r>
              <a:rPr lang="en-US" sz="1900" dirty="0">
                <a:solidFill>
                  <a:srgbClr val="FF0000"/>
                </a:solidFill>
              </a:rPr>
              <a:t>Required</a:t>
            </a:r>
            <a:r>
              <a:rPr lang="en-US" sz="1900" dirty="0"/>
              <a:t> before code generation.</a:t>
            </a:r>
            <a:endParaRPr lang="en-US" sz="1900" b="1" dirty="0"/>
          </a:p>
          <a:p>
            <a:pPr algn="just">
              <a:defRPr/>
            </a:pPr>
            <a:r>
              <a:rPr lang="en-US" sz="1900" b="1" dirty="0"/>
              <a:t>Operation name: </a:t>
            </a:r>
            <a:r>
              <a:rPr lang="en-US" sz="1900" dirty="0">
                <a:solidFill>
                  <a:srgbClr val="FF0000"/>
                </a:solidFill>
              </a:rPr>
              <a:t>Required</a:t>
            </a:r>
            <a:r>
              <a:rPr lang="en-US" sz="1900" dirty="0"/>
              <a:t>.  With </a:t>
            </a:r>
            <a:r>
              <a:rPr lang="en-US" sz="1900" dirty="0">
                <a:solidFill>
                  <a:srgbClr val="FF0000"/>
                </a:solidFill>
              </a:rPr>
              <a:t>( )</a:t>
            </a:r>
            <a:r>
              <a:rPr lang="en-US" sz="1900" dirty="0"/>
              <a:t>.</a:t>
            </a:r>
          </a:p>
          <a:p>
            <a:pPr algn="just">
              <a:defRPr/>
            </a:pPr>
            <a:r>
              <a:rPr lang="en-US" sz="1900" b="1" dirty="0"/>
              <a:t>Parameter List/Arguments:</a:t>
            </a:r>
            <a:r>
              <a:rPr lang="en-US" sz="1900" dirty="0"/>
              <a:t> Any number of arguments is allowed in the parameter. Each argument requires an identifier and a data type. Constraints may be used to define the valid set of values that may be passed in the argument. </a:t>
            </a:r>
          </a:p>
          <a:p>
            <a:pPr algn="just">
              <a:defRPr/>
            </a:pPr>
            <a:r>
              <a:rPr lang="en-US" sz="1900" b="1" dirty="0"/>
              <a:t>Return data type: </a:t>
            </a:r>
            <a:r>
              <a:rPr lang="en-US" sz="1900" dirty="0">
                <a:solidFill>
                  <a:srgbClr val="FF0000"/>
                </a:solidFill>
              </a:rPr>
              <a:t>Required</a:t>
            </a:r>
            <a:r>
              <a:rPr lang="en-US" sz="1900" dirty="0"/>
              <a:t> for a return value, but return values are </a:t>
            </a:r>
            <a:r>
              <a:rPr lang="en-US" sz="1900" dirty="0">
                <a:solidFill>
                  <a:srgbClr val="00B0F0"/>
                </a:solidFill>
              </a:rPr>
              <a:t>optional</a:t>
            </a:r>
            <a:r>
              <a:rPr lang="en-US" sz="1900" dirty="0"/>
              <a:t>.</a:t>
            </a:r>
          </a:p>
          <a:p>
            <a:pPr algn="just">
              <a:defRPr/>
            </a:pPr>
            <a:r>
              <a:rPr lang="en-US" sz="1900" b="1" dirty="0"/>
              <a:t>Class level operation (underlined operation declaration): </a:t>
            </a:r>
            <a:r>
              <a:rPr lang="en-US" sz="1900" dirty="0">
                <a:solidFill>
                  <a:srgbClr val="00B0F0"/>
                </a:solidFill>
              </a:rPr>
              <a:t>Optional</a:t>
            </a:r>
            <a:r>
              <a:rPr lang="en-US" sz="1900" dirty="0"/>
              <a:t>. Denoted as an operation accessible at the class level</a:t>
            </a:r>
          </a:p>
          <a:p>
            <a:pPr algn="just">
              <a:defRPr/>
            </a:pPr>
            <a:r>
              <a:rPr lang="en-US" sz="1900" b="1" dirty="0"/>
              <a:t>Constraints:</a:t>
            </a:r>
            <a:r>
              <a:rPr lang="en-US" sz="1900" dirty="0"/>
              <a:t> </a:t>
            </a:r>
            <a:r>
              <a:rPr lang="en-US" sz="1900" dirty="0">
                <a:solidFill>
                  <a:srgbClr val="00B0F0"/>
                </a:solidFill>
              </a:rPr>
              <a:t>Optional</a:t>
            </a:r>
            <a:r>
              <a:rPr lang="en-US" sz="1900" dirty="0"/>
              <a:t>. In general, constraints express rules that must be enforced in the execution of the operation.</a:t>
            </a:r>
          </a:p>
        </p:txBody>
      </p:sp>
    </p:spTree>
    <p:extLst>
      <p:ext uri="{BB962C8B-B14F-4D97-AF65-F5344CB8AC3E}">
        <p14:creationId xmlns:p14="http://schemas.microsoft.com/office/powerpoint/2010/main" val="140133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82E11-05CA-53A3-6B66-9067F1540193}"/>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85D6E729-04CB-DE13-365A-DD7109575B98}"/>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3" name="Rectangle 2" descr="M. Mhahudul Hasan">
            <a:extLst>
              <a:ext uri="{FF2B5EF4-FFF2-40B4-BE49-F238E27FC236}">
                <a16:creationId xmlns:a16="http://schemas.microsoft.com/office/drawing/2014/main" id="{93331040-97F5-E2FD-4B76-9225FF49E7A6}"/>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6B775210-E4BE-4175-5CAA-85EF8CE3479D}"/>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4:  Class Diagram</a:t>
            </a:r>
          </a:p>
        </p:txBody>
      </p:sp>
      <p:sp>
        <p:nvSpPr>
          <p:cNvPr id="12" name="Rectangle 11" descr="M. Mhahudul Hasan">
            <a:extLst>
              <a:ext uri="{FF2B5EF4-FFF2-40B4-BE49-F238E27FC236}">
                <a16:creationId xmlns:a16="http://schemas.microsoft.com/office/drawing/2014/main" id="{541D6918-26BE-C41B-89AC-278695009C53}"/>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4" name="Title 1">
            <a:extLst>
              <a:ext uri="{FF2B5EF4-FFF2-40B4-BE49-F238E27FC236}">
                <a16:creationId xmlns:a16="http://schemas.microsoft.com/office/drawing/2014/main" id="{5C5DBB35-90F6-928E-2A19-31724F816779}"/>
              </a:ext>
            </a:extLst>
          </p:cNvPr>
          <p:cNvSpPr txBox="1">
            <a:spLocks/>
          </p:cNvSpPr>
          <p:nvPr/>
        </p:nvSpPr>
        <p:spPr>
          <a:xfrm>
            <a:off x="471948" y="614660"/>
            <a:ext cx="11029950" cy="433950"/>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ltLang="en-US" b="1" dirty="0">
                <a:solidFill>
                  <a:srgbClr val="0070C0"/>
                </a:solidFill>
                <a:latin typeface="Book Antiqua" pitchFamily="18" charset="0"/>
              </a:rPr>
              <a:t>Drawing  Class notation</a:t>
            </a:r>
            <a:endParaRPr lang="en-US" b="1" dirty="0">
              <a:solidFill>
                <a:srgbClr val="0070C0"/>
              </a:solidFill>
              <a:effectLst>
                <a:outerShdw blurRad="38100" dist="38100" dir="2700000" algn="tl">
                  <a:srgbClr val="000000">
                    <a:alpha val="43137"/>
                  </a:srgbClr>
                </a:outerShdw>
              </a:effectLst>
            </a:endParaRPr>
          </a:p>
        </p:txBody>
      </p:sp>
      <p:pic>
        <p:nvPicPr>
          <p:cNvPr id="7" name="Picture 2">
            <a:extLst>
              <a:ext uri="{FF2B5EF4-FFF2-40B4-BE49-F238E27FC236}">
                <a16:creationId xmlns:a16="http://schemas.microsoft.com/office/drawing/2014/main" id="{42B94120-3072-9A44-3FD9-197DEA8B86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565" y="1253613"/>
            <a:ext cx="8097078" cy="5318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5">
            <a:extLst>
              <a:ext uri="{FF2B5EF4-FFF2-40B4-BE49-F238E27FC236}">
                <a16:creationId xmlns:a16="http://schemas.microsoft.com/office/drawing/2014/main" id="{AD99FE15-FB78-2EC2-A57F-56BBDBC2C390}"/>
              </a:ext>
            </a:extLst>
          </p:cNvPr>
          <p:cNvSpPr txBox="1">
            <a:spLocks noChangeArrowheads="1"/>
          </p:cNvSpPr>
          <p:nvPr/>
        </p:nvSpPr>
        <p:spPr bwMode="auto">
          <a:xfrm>
            <a:off x="8775642" y="1566056"/>
            <a:ext cx="2525346" cy="417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255" tIns="54128" rIns="108255" bIns="54128">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000" dirty="0">
                <a:latin typeface="Arial" panose="020B0604020202020204" pitchFamily="34" charset="0"/>
              </a:rPr>
              <a:t>Name Compartment</a:t>
            </a:r>
          </a:p>
        </p:txBody>
      </p:sp>
      <p:sp>
        <p:nvSpPr>
          <p:cNvPr id="11" name="TextBox 6">
            <a:extLst>
              <a:ext uri="{FF2B5EF4-FFF2-40B4-BE49-F238E27FC236}">
                <a16:creationId xmlns:a16="http://schemas.microsoft.com/office/drawing/2014/main" id="{E0188771-2640-DE2B-C298-C339DE1AA03D}"/>
              </a:ext>
            </a:extLst>
          </p:cNvPr>
          <p:cNvSpPr txBox="1">
            <a:spLocks noChangeArrowheads="1"/>
          </p:cNvSpPr>
          <p:nvPr/>
        </p:nvSpPr>
        <p:spPr bwMode="auto">
          <a:xfrm>
            <a:off x="8778405" y="2545256"/>
            <a:ext cx="2794651" cy="417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255" tIns="54128" rIns="108255" bIns="54128">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000" dirty="0">
                <a:latin typeface="Arial" panose="020B0604020202020204" pitchFamily="34" charset="0"/>
              </a:rPr>
              <a:t>Attribute Compartment</a:t>
            </a:r>
          </a:p>
        </p:txBody>
      </p:sp>
      <p:sp>
        <p:nvSpPr>
          <p:cNvPr id="13" name="TextBox 7">
            <a:extLst>
              <a:ext uri="{FF2B5EF4-FFF2-40B4-BE49-F238E27FC236}">
                <a16:creationId xmlns:a16="http://schemas.microsoft.com/office/drawing/2014/main" id="{B6213F97-8CE5-5832-5D73-3B0EDC2FE258}"/>
              </a:ext>
            </a:extLst>
          </p:cNvPr>
          <p:cNvSpPr txBox="1">
            <a:spLocks noChangeArrowheads="1"/>
          </p:cNvSpPr>
          <p:nvPr/>
        </p:nvSpPr>
        <p:spPr bwMode="auto">
          <a:xfrm>
            <a:off x="8747551" y="4172783"/>
            <a:ext cx="2966171" cy="417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255" tIns="54128" rIns="108255" bIns="54128">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defRPr>
            </a:lvl9pPr>
          </a:lstStyle>
          <a:p>
            <a:pPr eaLnBrk="1" hangingPunct="1">
              <a:spcBef>
                <a:spcPct val="0"/>
              </a:spcBef>
              <a:buClrTx/>
              <a:buSzTx/>
              <a:buFontTx/>
              <a:buNone/>
            </a:pPr>
            <a:r>
              <a:rPr lang="en-US" altLang="en-US" sz="2000" dirty="0">
                <a:latin typeface="Arial" panose="020B0604020202020204" pitchFamily="34" charset="0"/>
              </a:rPr>
              <a:t>Operation Compartment</a:t>
            </a:r>
          </a:p>
        </p:txBody>
      </p:sp>
      <p:cxnSp>
        <p:nvCxnSpPr>
          <p:cNvPr id="14" name="Straight Arrow Connector 13">
            <a:extLst>
              <a:ext uri="{FF2B5EF4-FFF2-40B4-BE49-F238E27FC236}">
                <a16:creationId xmlns:a16="http://schemas.microsoft.com/office/drawing/2014/main" id="{DCCB3C6E-2F94-7FC2-C941-E6EE8B710099}"/>
              </a:ext>
            </a:extLst>
          </p:cNvPr>
          <p:cNvCxnSpPr/>
          <p:nvPr/>
        </p:nvCxnSpPr>
        <p:spPr>
          <a:xfrm rot="10800000">
            <a:off x="7608684" y="1756083"/>
            <a:ext cx="1082675" cy="188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8FB2BEE-5C5B-52A0-1406-3084A2F5C90B}"/>
              </a:ext>
            </a:extLst>
          </p:cNvPr>
          <p:cNvCxnSpPr/>
          <p:nvPr/>
        </p:nvCxnSpPr>
        <p:spPr>
          <a:xfrm rot="10800000">
            <a:off x="7605506" y="2739723"/>
            <a:ext cx="1082675" cy="188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4A1F92A-5818-F072-2CB9-D82A0BDE10A5}"/>
              </a:ext>
            </a:extLst>
          </p:cNvPr>
          <p:cNvCxnSpPr/>
          <p:nvPr/>
        </p:nvCxnSpPr>
        <p:spPr>
          <a:xfrm rot="10800000">
            <a:off x="7656399" y="4412793"/>
            <a:ext cx="1082675" cy="188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Slide Number Placeholder 3">
            <a:extLst>
              <a:ext uri="{FF2B5EF4-FFF2-40B4-BE49-F238E27FC236}">
                <a16:creationId xmlns:a16="http://schemas.microsoft.com/office/drawing/2014/main" id="{6492E8CA-14B1-F861-B633-FB782048B51A}"/>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13</a:t>
            </a:fld>
            <a:r>
              <a:rPr lang="en-US" sz="1400" b="1" dirty="0"/>
              <a:t> </a:t>
            </a:r>
          </a:p>
        </p:txBody>
      </p:sp>
      <p:sp>
        <p:nvSpPr>
          <p:cNvPr id="18" name="Rectangle 17" descr="M. Mhahudul Hasan">
            <a:extLst>
              <a:ext uri="{FF2B5EF4-FFF2-40B4-BE49-F238E27FC236}">
                <a16:creationId xmlns:a16="http://schemas.microsoft.com/office/drawing/2014/main" id="{1834BF2C-07DC-4DA2-4D38-91C141BCC993}"/>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MOHAIMEN-BIN-NOOR</a:t>
            </a:r>
          </a:p>
        </p:txBody>
      </p:sp>
      <p:sp>
        <p:nvSpPr>
          <p:cNvPr id="19" name="TextBox 18">
            <a:extLst>
              <a:ext uri="{FF2B5EF4-FFF2-40B4-BE49-F238E27FC236}">
                <a16:creationId xmlns:a16="http://schemas.microsoft.com/office/drawing/2014/main" id="{970772C8-7ADD-D56B-3ED0-C7E5FE1B7A05}"/>
              </a:ext>
            </a:extLst>
          </p:cNvPr>
          <p:cNvSpPr txBox="1"/>
          <p:nvPr/>
        </p:nvSpPr>
        <p:spPr>
          <a:xfrm>
            <a:off x="7680223" y="3011581"/>
            <a:ext cx="4133234" cy="926239"/>
          </a:xfrm>
          <a:prstGeom prst="rect">
            <a:avLst/>
          </a:prstGeom>
          <a:noFill/>
        </p:spPr>
        <p:txBody>
          <a:bodyPr wrap="square">
            <a:spAutoFit/>
          </a:bodyPr>
          <a:lstStyle/>
          <a:p>
            <a:r>
              <a:rPr lang="en-US" altLang="en-US" sz="1800" b="1" dirty="0">
                <a:solidFill>
                  <a:srgbClr val="C00000"/>
                </a:solidFill>
                <a:latin typeface="+mj-lt"/>
              </a:rPr>
              <a:t> visibility / attribute name : data type   </a:t>
            </a:r>
            <a:br>
              <a:rPr lang="en-US" altLang="en-US" sz="1800" b="1" dirty="0">
                <a:solidFill>
                  <a:srgbClr val="C00000"/>
                </a:solidFill>
                <a:latin typeface="+mj-lt"/>
              </a:rPr>
            </a:br>
            <a:r>
              <a:rPr lang="en-US" altLang="en-US" sz="1800" b="1" dirty="0">
                <a:solidFill>
                  <a:srgbClr val="C00000"/>
                </a:solidFill>
                <a:latin typeface="+mj-lt"/>
              </a:rPr>
              <a:t>   = default value {constraints}</a:t>
            </a:r>
            <a:br>
              <a:rPr lang="en-US" altLang="en-US" sz="2000" b="1" dirty="0">
                <a:solidFill>
                  <a:srgbClr val="C00000"/>
                </a:solidFill>
                <a:latin typeface="+mj-lt"/>
              </a:rPr>
            </a:br>
            <a:endParaRPr lang="en-US" dirty="0"/>
          </a:p>
        </p:txBody>
      </p:sp>
      <p:sp>
        <p:nvSpPr>
          <p:cNvPr id="20" name="TextBox 19">
            <a:extLst>
              <a:ext uri="{FF2B5EF4-FFF2-40B4-BE49-F238E27FC236}">
                <a16:creationId xmlns:a16="http://schemas.microsoft.com/office/drawing/2014/main" id="{035B455E-624C-AA0C-CA1D-FD2415937248}"/>
              </a:ext>
            </a:extLst>
          </p:cNvPr>
          <p:cNvSpPr txBox="1"/>
          <p:nvPr/>
        </p:nvSpPr>
        <p:spPr>
          <a:xfrm>
            <a:off x="7503243" y="4728157"/>
            <a:ext cx="4472448" cy="923330"/>
          </a:xfrm>
          <a:prstGeom prst="rect">
            <a:avLst/>
          </a:prstGeom>
          <a:noFill/>
        </p:spPr>
        <p:txBody>
          <a:bodyPr wrap="square">
            <a:spAutoFit/>
          </a:bodyPr>
          <a:lstStyle/>
          <a:p>
            <a:pPr algn="ctr">
              <a:buNone/>
            </a:pPr>
            <a:r>
              <a:rPr lang="en-US" altLang="en-US" sz="1800" b="1" dirty="0">
                <a:solidFill>
                  <a:srgbClr val="C00000"/>
                </a:solidFill>
                <a:latin typeface="+mj-lt"/>
              </a:rPr>
              <a:t>visibility </a:t>
            </a:r>
            <a:r>
              <a:rPr lang="en-US" altLang="en-US" sz="1800" b="1" dirty="0" err="1">
                <a:solidFill>
                  <a:srgbClr val="C00000"/>
                </a:solidFill>
                <a:latin typeface="+mj-lt"/>
              </a:rPr>
              <a:t>operationName</a:t>
            </a:r>
            <a:r>
              <a:rPr lang="en-US" altLang="en-US" sz="1800" b="1" dirty="0">
                <a:solidFill>
                  <a:srgbClr val="C00000"/>
                </a:solidFill>
                <a:latin typeface="+mj-lt"/>
              </a:rPr>
              <a:t> ( </a:t>
            </a:r>
            <a:r>
              <a:rPr lang="en-US" altLang="en-US" sz="1800" b="1" dirty="0" err="1">
                <a:solidFill>
                  <a:srgbClr val="C00000"/>
                </a:solidFill>
                <a:latin typeface="+mj-lt"/>
              </a:rPr>
              <a:t>argname</a:t>
            </a:r>
            <a:r>
              <a:rPr lang="en-US" altLang="en-US" sz="1800" b="1" dirty="0">
                <a:solidFill>
                  <a:srgbClr val="C00000"/>
                </a:solidFill>
                <a:latin typeface="+mj-lt"/>
              </a:rPr>
              <a:t> : data type {constraints}, ...) : return data type {constraints} </a:t>
            </a:r>
          </a:p>
        </p:txBody>
      </p:sp>
    </p:spTree>
    <p:extLst>
      <p:ext uri="{BB962C8B-B14F-4D97-AF65-F5344CB8AC3E}">
        <p14:creationId xmlns:p14="http://schemas.microsoft.com/office/powerpoint/2010/main" val="2828448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D1985-268B-CB46-CCEA-E0C7EAF2F5A4}"/>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6C60889D-7F76-8351-ECC6-B92D87325C79}"/>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3" name="Rectangle 2" descr="M. Mhahudul Hasan">
            <a:extLst>
              <a:ext uri="{FF2B5EF4-FFF2-40B4-BE49-F238E27FC236}">
                <a16:creationId xmlns:a16="http://schemas.microsoft.com/office/drawing/2014/main" id="{0892D805-6755-8BEC-9210-9EDA2718661B}"/>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A254F981-5CF7-2ABC-9F97-D030F243945E}"/>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4:  Class Diagram</a:t>
            </a:r>
          </a:p>
        </p:txBody>
      </p:sp>
      <p:sp>
        <p:nvSpPr>
          <p:cNvPr id="12" name="Rectangle 11" descr="M. Mhahudul Hasan">
            <a:extLst>
              <a:ext uri="{FF2B5EF4-FFF2-40B4-BE49-F238E27FC236}">
                <a16:creationId xmlns:a16="http://schemas.microsoft.com/office/drawing/2014/main" id="{4E50141A-C2E8-297E-AEB2-1865409D3F27}"/>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4" name="Title 1">
            <a:extLst>
              <a:ext uri="{FF2B5EF4-FFF2-40B4-BE49-F238E27FC236}">
                <a16:creationId xmlns:a16="http://schemas.microsoft.com/office/drawing/2014/main" id="{2F1F52EC-2C0A-9174-76D9-DB3693B61998}"/>
              </a:ext>
            </a:extLst>
          </p:cNvPr>
          <p:cNvSpPr txBox="1">
            <a:spLocks/>
          </p:cNvSpPr>
          <p:nvPr/>
        </p:nvSpPr>
        <p:spPr>
          <a:xfrm>
            <a:off x="471948" y="637520"/>
            <a:ext cx="11029950" cy="433950"/>
          </a:xfrm>
          <a:prstGeom prst="rect">
            <a:avLst/>
          </a:prstGeom>
        </p:spPr>
        <p:txBody>
          <a:bodyPr vert="horz" lIns="91440" tIns="45720" rIns="91440" bIns="45720" rtlCol="0" anchor="b">
            <a:normAutofit fontScale="90000" lnSpcReduction="2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ltLang="en-US" b="1" dirty="0">
                <a:solidFill>
                  <a:srgbClr val="0070C0"/>
                </a:solidFill>
                <a:latin typeface="Book Antiqua" pitchFamily="18" charset="0"/>
              </a:rPr>
              <a:t>Practice Class Notation</a:t>
            </a:r>
            <a:endParaRPr lang="en-US" b="1" dirty="0">
              <a:solidFill>
                <a:srgbClr val="0070C0"/>
              </a:solidFill>
              <a:effectLst>
                <a:outerShdw blurRad="38100" dist="38100" dir="2700000" algn="tl">
                  <a:srgbClr val="000000">
                    <a:alpha val="43137"/>
                  </a:srgbClr>
                </a:outerShdw>
              </a:effectLst>
            </a:endParaRPr>
          </a:p>
        </p:txBody>
      </p:sp>
      <p:sp>
        <p:nvSpPr>
          <p:cNvPr id="17" name="Slide Number Placeholder 3">
            <a:extLst>
              <a:ext uri="{FF2B5EF4-FFF2-40B4-BE49-F238E27FC236}">
                <a16:creationId xmlns:a16="http://schemas.microsoft.com/office/drawing/2014/main" id="{7574BC8E-BABB-AB66-D91A-46F6494C723B}"/>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14</a:t>
            </a:fld>
            <a:r>
              <a:rPr lang="en-US" sz="1400" b="1" dirty="0"/>
              <a:t> </a:t>
            </a:r>
          </a:p>
        </p:txBody>
      </p:sp>
      <p:sp>
        <p:nvSpPr>
          <p:cNvPr id="18" name="Rectangle 17" descr="M. Mhahudul Hasan">
            <a:extLst>
              <a:ext uri="{FF2B5EF4-FFF2-40B4-BE49-F238E27FC236}">
                <a16:creationId xmlns:a16="http://schemas.microsoft.com/office/drawing/2014/main" id="{82F19107-1F22-7895-54C6-AF94E2BDC8D8}"/>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MOHAIMEN-BIN-NOOR</a:t>
            </a:r>
          </a:p>
        </p:txBody>
      </p:sp>
      <p:sp>
        <p:nvSpPr>
          <p:cNvPr id="2" name="Content Placeholder 5">
            <a:extLst>
              <a:ext uri="{FF2B5EF4-FFF2-40B4-BE49-F238E27FC236}">
                <a16:creationId xmlns:a16="http://schemas.microsoft.com/office/drawing/2014/main" id="{62F0045F-0B2F-1447-C7D9-C3C3B1810B84}"/>
              </a:ext>
            </a:extLst>
          </p:cNvPr>
          <p:cNvSpPr txBox="1">
            <a:spLocks/>
          </p:cNvSpPr>
          <p:nvPr/>
        </p:nvSpPr>
        <p:spPr>
          <a:xfrm>
            <a:off x="483377" y="1537001"/>
            <a:ext cx="6968983" cy="4806649"/>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Font typeface="Wingdings 2" panose="05020102010507070707" pitchFamily="18" charset="2"/>
              <a:buNone/>
            </a:pPr>
            <a:r>
              <a:rPr lang="en-US" sz="2400" dirty="0"/>
              <a:t>In a system, there is a class named </a:t>
            </a:r>
            <a:r>
              <a:rPr lang="en-US" sz="2400" b="1" dirty="0"/>
              <a:t>Book</a:t>
            </a:r>
            <a:r>
              <a:rPr lang="en-US" sz="2400" dirty="0"/>
              <a:t>. </a:t>
            </a:r>
          </a:p>
          <a:p>
            <a:pPr marL="0" indent="0" algn="just">
              <a:buFont typeface="Wingdings 2" panose="05020102010507070707" pitchFamily="18" charset="2"/>
              <a:buNone/>
            </a:pPr>
            <a:r>
              <a:rPr lang="en-US" sz="2400" dirty="0"/>
              <a:t>It has five attributes: </a:t>
            </a:r>
            <a:r>
              <a:rPr lang="en-US" sz="2400" b="1" dirty="0"/>
              <a:t>Title</a:t>
            </a:r>
            <a:r>
              <a:rPr lang="en-US" sz="2400" dirty="0"/>
              <a:t>, </a:t>
            </a:r>
            <a:r>
              <a:rPr lang="en-US" sz="2400" b="1" dirty="0" err="1"/>
              <a:t>BookId</a:t>
            </a:r>
            <a:r>
              <a:rPr lang="en-US" sz="2400" b="1" dirty="0"/>
              <a:t>, </a:t>
            </a:r>
            <a:r>
              <a:rPr lang="en-US" sz="2400" b="1" dirty="0" err="1"/>
              <a:t>AuthorName</a:t>
            </a:r>
            <a:r>
              <a:rPr lang="en-US" sz="2400" dirty="0"/>
              <a:t>, </a:t>
            </a:r>
            <a:r>
              <a:rPr lang="en-US" sz="2400" b="1" dirty="0"/>
              <a:t>Price, </a:t>
            </a:r>
            <a:r>
              <a:rPr lang="en-US" sz="2400" dirty="0"/>
              <a:t> and </a:t>
            </a:r>
            <a:r>
              <a:rPr lang="en-US" sz="2400" b="1" dirty="0"/>
              <a:t>Pages</a:t>
            </a:r>
            <a:r>
              <a:rPr lang="en-US" sz="2400" dirty="0"/>
              <a:t>. All the attributes are private and Price is only accessible by admin user. Title and </a:t>
            </a:r>
            <a:r>
              <a:rPr lang="en-US" sz="2400" dirty="0" err="1"/>
              <a:t>AuthorName</a:t>
            </a:r>
            <a:r>
              <a:rPr lang="en-US" sz="2400" dirty="0"/>
              <a:t> are String in type,  </a:t>
            </a:r>
            <a:r>
              <a:rPr lang="en-US" sz="2400" dirty="0" err="1"/>
              <a:t>BookId</a:t>
            </a:r>
            <a:r>
              <a:rPr lang="en-US" sz="2400" dirty="0"/>
              <a:t> and Pages are in integer and Price is in double. </a:t>
            </a:r>
          </a:p>
          <a:p>
            <a:pPr marL="0" indent="0" algn="just">
              <a:buFont typeface="Wingdings 2" panose="05020102010507070707" pitchFamily="18" charset="2"/>
              <a:buNone/>
            </a:pPr>
            <a:r>
              <a:rPr lang="en-US" sz="2400" dirty="0"/>
              <a:t>There are three methods in this class. They are: </a:t>
            </a:r>
            <a:r>
              <a:rPr lang="en-US" sz="2400" b="1" dirty="0" err="1"/>
              <a:t>borrowStatus</a:t>
            </a:r>
            <a:r>
              <a:rPr lang="en-US" sz="2400" dirty="0"/>
              <a:t>() which returns a </a:t>
            </a:r>
            <a:r>
              <a:rPr lang="en-US" sz="2400" dirty="0" err="1"/>
              <a:t>boolean</a:t>
            </a:r>
            <a:r>
              <a:rPr lang="en-US" sz="2400" dirty="0"/>
              <a:t> value, </a:t>
            </a:r>
            <a:r>
              <a:rPr lang="en-US" sz="2400" b="1" dirty="0" err="1"/>
              <a:t>EnableDiscount</a:t>
            </a:r>
            <a:r>
              <a:rPr lang="en-US" sz="2400" b="1" dirty="0"/>
              <a:t>(</a:t>
            </a:r>
            <a:r>
              <a:rPr lang="en-US" sz="2400" b="1" dirty="0" err="1"/>
              <a:t>boolean</a:t>
            </a:r>
            <a:r>
              <a:rPr lang="en-US" sz="2400" b="1" dirty="0"/>
              <a:t> Status) </a:t>
            </a:r>
            <a:r>
              <a:rPr lang="en-US" sz="2400" dirty="0"/>
              <a:t>which returns nothing and </a:t>
            </a:r>
            <a:r>
              <a:rPr lang="en-US" sz="2400" b="1" dirty="0" err="1"/>
              <a:t>setTitle</a:t>
            </a:r>
            <a:r>
              <a:rPr lang="en-US" sz="2400" b="1" dirty="0"/>
              <a:t>(String title)</a:t>
            </a:r>
            <a:r>
              <a:rPr lang="en-US" sz="2400" dirty="0"/>
              <a:t> which returns nothing. All the methods are public.</a:t>
            </a:r>
            <a:endParaRPr lang="en-US" sz="2400" b="1" dirty="0"/>
          </a:p>
        </p:txBody>
      </p:sp>
      <p:pic>
        <p:nvPicPr>
          <p:cNvPr id="21" name="Picture 20" descr="A white text box with black text&#10;&#10;AI-generated content may be incorrect.">
            <a:extLst>
              <a:ext uri="{FF2B5EF4-FFF2-40B4-BE49-F238E27FC236}">
                <a16:creationId xmlns:a16="http://schemas.microsoft.com/office/drawing/2014/main" id="{6C8C2CA0-BE74-88C1-9F9B-13F46A219BD7}"/>
              </a:ext>
            </a:extLst>
          </p:cNvPr>
          <p:cNvPicPr>
            <a:picLocks noChangeAspect="1"/>
          </p:cNvPicPr>
          <p:nvPr/>
        </p:nvPicPr>
        <p:blipFill>
          <a:blip r:embed="rId2"/>
          <a:stretch>
            <a:fillRect/>
          </a:stretch>
        </p:blipFill>
        <p:spPr>
          <a:xfrm>
            <a:off x="7475220" y="2103121"/>
            <a:ext cx="4451459" cy="3440430"/>
          </a:xfrm>
          <a:prstGeom prst="rect">
            <a:avLst/>
          </a:prstGeom>
        </p:spPr>
      </p:pic>
    </p:spTree>
    <p:extLst>
      <p:ext uri="{BB962C8B-B14F-4D97-AF65-F5344CB8AC3E}">
        <p14:creationId xmlns:p14="http://schemas.microsoft.com/office/powerpoint/2010/main" val="3331727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615BF-33A2-0F73-0C02-EA698EB2711D}"/>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C1D9839A-128F-62CF-8CE9-FF5D60D87409}"/>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3" name="Rectangle 2" descr="M. Mhahudul Hasan">
            <a:extLst>
              <a:ext uri="{FF2B5EF4-FFF2-40B4-BE49-F238E27FC236}">
                <a16:creationId xmlns:a16="http://schemas.microsoft.com/office/drawing/2014/main" id="{C25B355A-4DB5-3CB7-E462-07C4DAAE7A80}"/>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A60B068D-FF41-4C4C-8A6E-E5D80D4C174F}"/>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4:  Class Diagram</a:t>
            </a:r>
          </a:p>
        </p:txBody>
      </p:sp>
      <p:sp>
        <p:nvSpPr>
          <p:cNvPr id="12" name="Rectangle 11" descr="M. Mhahudul Hasan">
            <a:extLst>
              <a:ext uri="{FF2B5EF4-FFF2-40B4-BE49-F238E27FC236}">
                <a16:creationId xmlns:a16="http://schemas.microsoft.com/office/drawing/2014/main" id="{2A5F9365-44D5-2930-AD40-14675A853C18}"/>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4" name="Title 1">
            <a:extLst>
              <a:ext uri="{FF2B5EF4-FFF2-40B4-BE49-F238E27FC236}">
                <a16:creationId xmlns:a16="http://schemas.microsoft.com/office/drawing/2014/main" id="{FD945D33-2EBC-22F3-71F1-61B1A99CD789}"/>
              </a:ext>
            </a:extLst>
          </p:cNvPr>
          <p:cNvSpPr txBox="1">
            <a:spLocks/>
          </p:cNvSpPr>
          <p:nvPr/>
        </p:nvSpPr>
        <p:spPr>
          <a:xfrm>
            <a:off x="471948" y="637520"/>
            <a:ext cx="11029950" cy="433950"/>
          </a:xfrm>
          <a:prstGeom prst="rect">
            <a:avLst/>
          </a:prstGeom>
        </p:spPr>
        <p:txBody>
          <a:bodyPr vert="horz" lIns="91440" tIns="45720" rIns="91440" bIns="45720" rtlCol="0" anchor="b">
            <a:normAutofit fontScale="90000" lnSpcReduction="2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ltLang="en-US" b="1" dirty="0">
                <a:solidFill>
                  <a:srgbClr val="0070C0"/>
                </a:solidFill>
                <a:latin typeface="Book Antiqua" pitchFamily="18" charset="0"/>
              </a:rPr>
              <a:t>Relationship in class diagram</a:t>
            </a:r>
            <a:endParaRPr lang="en-US" b="1" dirty="0">
              <a:solidFill>
                <a:srgbClr val="0070C0"/>
              </a:solidFill>
              <a:effectLst>
                <a:outerShdw blurRad="38100" dist="38100" dir="2700000" algn="tl">
                  <a:srgbClr val="000000">
                    <a:alpha val="43137"/>
                  </a:srgbClr>
                </a:outerShdw>
              </a:effectLst>
            </a:endParaRPr>
          </a:p>
        </p:txBody>
      </p:sp>
      <p:sp>
        <p:nvSpPr>
          <p:cNvPr id="17" name="Slide Number Placeholder 3">
            <a:extLst>
              <a:ext uri="{FF2B5EF4-FFF2-40B4-BE49-F238E27FC236}">
                <a16:creationId xmlns:a16="http://schemas.microsoft.com/office/drawing/2014/main" id="{FDF3AF76-EB17-7274-022C-26A6BE10A8A2}"/>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15</a:t>
            </a:fld>
            <a:r>
              <a:rPr lang="en-US" sz="1400" b="1" dirty="0"/>
              <a:t> </a:t>
            </a:r>
          </a:p>
        </p:txBody>
      </p:sp>
      <p:sp>
        <p:nvSpPr>
          <p:cNvPr id="18" name="Rectangle 17" descr="M. Mhahudul Hasan">
            <a:extLst>
              <a:ext uri="{FF2B5EF4-FFF2-40B4-BE49-F238E27FC236}">
                <a16:creationId xmlns:a16="http://schemas.microsoft.com/office/drawing/2014/main" id="{A09CCA4B-CD30-2F8C-B099-236B470F6C7E}"/>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MOHAIMEN-BIN-NOOR</a:t>
            </a:r>
          </a:p>
        </p:txBody>
      </p:sp>
      <p:sp>
        <p:nvSpPr>
          <p:cNvPr id="2" name="Content Placeholder 5">
            <a:extLst>
              <a:ext uri="{FF2B5EF4-FFF2-40B4-BE49-F238E27FC236}">
                <a16:creationId xmlns:a16="http://schemas.microsoft.com/office/drawing/2014/main" id="{34E04341-F3B7-6DBE-A6AA-ACBCCD218A23}"/>
              </a:ext>
            </a:extLst>
          </p:cNvPr>
          <p:cNvSpPr txBox="1">
            <a:spLocks/>
          </p:cNvSpPr>
          <p:nvPr/>
        </p:nvSpPr>
        <p:spPr>
          <a:xfrm>
            <a:off x="483377" y="1537001"/>
            <a:ext cx="11255233" cy="4806649"/>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just"/>
            <a:r>
              <a:rPr lang="en-US" sz="2400" b="1" dirty="0"/>
              <a:t>Association - </a:t>
            </a:r>
            <a:r>
              <a:rPr lang="en-US" sz="2400" dirty="0"/>
              <a:t>a formal term for a type of relationship that this type of object may participate in. </a:t>
            </a:r>
            <a:r>
              <a:rPr lang="en-US" sz="2400" dirty="0">
                <a:solidFill>
                  <a:srgbClr val="FF0000"/>
                </a:solidFill>
              </a:rPr>
              <a:t>HAS A</a:t>
            </a:r>
            <a:r>
              <a:rPr lang="en-US" sz="2400" dirty="0"/>
              <a:t> relationship.</a:t>
            </a:r>
          </a:p>
          <a:p>
            <a:pPr lvl="1" algn="just"/>
            <a:r>
              <a:rPr lang="en-US" sz="2200" dirty="0"/>
              <a:t>Simple Association</a:t>
            </a:r>
          </a:p>
          <a:p>
            <a:pPr lvl="1" algn="just"/>
            <a:r>
              <a:rPr lang="en-US" sz="2200" dirty="0"/>
              <a:t>Reflexive Association</a:t>
            </a:r>
          </a:p>
          <a:p>
            <a:pPr lvl="1" algn="just"/>
            <a:r>
              <a:rPr lang="en-US" sz="2200" dirty="0"/>
              <a:t>Qualified Association</a:t>
            </a:r>
          </a:p>
          <a:p>
            <a:pPr lvl="1" algn="just"/>
            <a:r>
              <a:rPr lang="en-US" sz="2200" dirty="0"/>
              <a:t>Association Class</a:t>
            </a:r>
          </a:p>
          <a:p>
            <a:pPr lvl="1" algn="just"/>
            <a:r>
              <a:rPr lang="en-US" sz="2200" dirty="0"/>
              <a:t>Aggregate Association/ Aggregation</a:t>
            </a:r>
          </a:p>
          <a:p>
            <a:pPr lvl="1" algn="just"/>
            <a:r>
              <a:rPr lang="en-US" sz="2200" dirty="0"/>
              <a:t>Composite Association/ Composition</a:t>
            </a:r>
          </a:p>
          <a:p>
            <a:pPr algn="just"/>
            <a:r>
              <a:rPr lang="en-US" sz="2400" b="1" dirty="0"/>
              <a:t>Generalization – </a:t>
            </a:r>
            <a:r>
              <a:rPr lang="en-US" sz="2400" dirty="0"/>
              <a:t>When a class inherits another class. </a:t>
            </a:r>
            <a:r>
              <a:rPr lang="en-US" sz="2400" dirty="0">
                <a:solidFill>
                  <a:srgbClr val="FF0000"/>
                </a:solidFill>
              </a:rPr>
              <a:t>IS A</a:t>
            </a:r>
            <a:r>
              <a:rPr lang="en-US" sz="2400" dirty="0"/>
              <a:t> relationship.</a:t>
            </a:r>
          </a:p>
          <a:p>
            <a:pPr algn="just"/>
            <a:r>
              <a:rPr lang="en-US" sz="2400" b="1" dirty="0"/>
              <a:t>Realization – </a:t>
            </a:r>
            <a:r>
              <a:rPr lang="en-US" sz="2400" dirty="0"/>
              <a:t>When a class implements an interface.</a:t>
            </a:r>
          </a:p>
        </p:txBody>
      </p:sp>
    </p:spTree>
    <p:extLst>
      <p:ext uri="{BB962C8B-B14F-4D97-AF65-F5344CB8AC3E}">
        <p14:creationId xmlns:p14="http://schemas.microsoft.com/office/powerpoint/2010/main" val="2820722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44E5A-1BAF-4AEF-EC40-610BE5A68C9F}"/>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8738C3A3-4F1E-2F0A-A900-C3D783D68365}"/>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3" name="Rectangle 2" descr="M. Mhahudul Hasan">
            <a:extLst>
              <a:ext uri="{FF2B5EF4-FFF2-40B4-BE49-F238E27FC236}">
                <a16:creationId xmlns:a16="http://schemas.microsoft.com/office/drawing/2014/main" id="{1D8D7E93-EEB4-9A29-994F-1C29BDEF7750}"/>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4D1B5A5C-B591-0CAB-3CF0-01DBA18C4BDC}"/>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4:  Class Diagram</a:t>
            </a:r>
          </a:p>
        </p:txBody>
      </p:sp>
      <p:sp>
        <p:nvSpPr>
          <p:cNvPr id="12" name="Rectangle 11" descr="M. Mhahudul Hasan">
            <a:extLst>
              <a:ext uri="{FF2B5EF4-FFF2-40B4-BE49-F238E27FC236}">
                <a16:creationId xmlns:a16="http://schemas.microsoft.com/office/drawing/2014/main" id="{695B3586-C807-8590-F8A0-70C25397BAA7}"/>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17" name="Slide Number Placeholder 3">
            <a:extLst>
              <a:ext uri="{FF2B5EF4-FFF2-40B4-BE49-F238E27FC236}">
                <a16:creationId xmlns:a16="http://schemas.microsoft.com/office/drawing/2014/main" id="{16B1ED05-B20C-8537-72DC-D291846AE05D}"/>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16</a:t>
            </a:fld>
            <a:r>
              <a:rPr lang="en-US" sz="1400" b="1" dirty="0"/>
              <a:t> </a:t>
            </a:r>
          </a:p>
        </p:txBody>
      </p:sp>
      <p:sp>
        <p:nvSpPr>
          <p:cNvPr id="18" name="Rectangle 17" descr="M. Mhahudul Hasan">
            <a:extLst>
              <a:ext uri="{FF2B5EF4-FFF2-40B4-BE49-F238E27FC236}">
                <a16:creationId xmlns:a16="http://schemas.microsoft.com/office/drawing/2014/main" id="{78337702-A362-CEA1-1CFD-6FAB26C8CFD7}"/>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MOHAIMEN-BIN-NOOR</a:t>
            </a:r>
          </a:p>
        </p:txBody>
      </p:sp>
      <p:sp>
        <p:nvSpPr>
          <p:cNvPr id="5" name="Title 1">
            <a:extLst>
              <a:ext uri="{FF2B5EF4-FFF2-40B4-BE49-F238E27FC236}">
                <a16:creationId xmlns:a16="http://schemas.microsoft.com/office/drawing/2014/main" id="{C1FB36BB-9303-8518-6A1B-0995847CAC49}"/>
              </a:ext>
            </a:extLst>
          </p:cNvPr>
          <p:cNvSpPr txBox="1">
            <a:spLocks/>
          </p:cNvSpPr>
          <p:nvPr/>
        </p:nvSpPr>
        <p:spPr>
          <a:xfrm>
            <a:off x="412955" y="495197"/>
            <a:ext cx="11029950" cy="62568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ltLang="en-US" b="1" dirty="0">
                <a:solidFill>
                  <a:srgbClr val="0070C0"/>
                </a:solidFill>
                <a:latin typeface="Book Antiqua" pitchFamily="18" charset="0"/>
              </a:rPr>
              <a:t>Association </a:t>
            </a:r>
            <a:endParaRPr lang="en-US" b="1" dirty="0">
              <a:solidFill>
                <a:srgbClr val="0070C0"/>
              </a:solidFill>
              <a:effectLst>
                <a:outerShdw blurRad="38100" dist="38100" dir="2700000" algn="tl">
                  <a:srgbClr val="000000">
                    <a:alpha val="43137"/>
                  </a:srgbClr>
                </a:outerShdw>
              </a:effectLst>
            </a:endParaRPr>
          </a:p>
        </p:txBody>
      </p:sp>
      <p:sp>
        <p:nvSpPr>
          <p:cNvPr id="7" name="Content Placeholder 3">
            <a:extLst>
              <a:ext uri="{FF2B5EF4-FFF2-40B4-BE49-F238E27FC236}">
                <a16:creationId xmlns:a16="http://schemas.microsoft.com/office/drawing/2014/main" id="{44A26B67-7921-476A-B561-FC109D348421}"/>
              </a:ext>
            </a:extLst>
          </p:cNvPr>
          <p:cNvSpPr txBox="1">
            <a:spLocks/>
          </p:cNvSpPr>
          <p:nvPr/>
        </p:nvSpPr>
        <p:spPr>
          <a:xfrm>
            <a:off x="539258" y="1173839"/>
            <a:ext cx="8936212" cy="4243981"/>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buFont typeface="Wingdings 2" panose="05020102010507070707" pitchFamily="18" charset="2"/>
              <a:buNone/>
            </a:pPr>
            <a:r>
              <a:rPr lang="en-GB" sz="2200" dirty="0">
                <a:solidFill>
                  <a:srgbClr val="C00000"/>
                </a:solidFill>
                <a:latin typeface="+mj-lt"/>
              </a:rPr>
              <a:t>Associations may optionally have the following:</a:t>
            </a:r>
          </a:p>
          <a:p>
            <a:pPr>
              <a:buFont typeface="Wingdings" pitchFamily="2" charset="2"/>
              <a:buChar char="q"/>
            </a:pPr>
            <a:r>
              <a:rPr lang="en-GB" sz="2200" dirty="0">
                <a:latin typeface="+mj-lt"/>
              </a:rPr>
              <a:t> </a:t>
            </a:r>
            <a:r>
              <a:rPr lang="en-GB" sz="2200" b="1" dirty="0">
                <a:latin typeface="+mj-lt"/>
              </a:rPr>
              <a:t>Association name</a:t>
            </a:r>
            <a:endParaRPr lang="en-GB" sz="2200" dirty="0">
              <a:latin typeface="+mj-lt"/>
            </a:endParaRPr>
          </a:p>
          <a:p>
            <a:pPr lvl="1">
              <a:buFont typeface="Wingdings" pitchFamily="2" charset="2"/>
              <a:buChar char="§"/>
            </a:pPr>
            <a:r>
              <a:rPr lang="en-GB" sz="2200" dirty="0">
                <a:latin typeface="+mj-lt"/>
              </a:rPr>
              <a:t>Should be a verb or verb phrase;</a:t>
            </a:r>
          </a:p>
          <a:p>
            <a:pPr>
              <a:buFont typeface="Wingdings" pitchFamily="2" charset="2"/>
              <a:buChar char="q"/>
            </a:pPr>
            <a:r>
              <a:rPr lang="en-GB" sz="2200" dirty="0">
                <a:latin typeface="+mj-lt"/>
              </a:rPr>
              <a:t> </a:t>
            </a:r>
            <a:r>
              <a:rPr lang="en-GB" sz="2200" b="1" dirty="0">
                <a:latin typeface="+mj-lt"/>
              </a:rPr>
              <a:t>Role names</a:t>
            </a:r>
          </a:p>
          <a:p>
            <a:pPr lvl="1">
              <a:buFont typeface="Wingdings" pitchFamily="2" charset="2"/>
              <a:buChar char="§"/>
            </a:pPr>
            <a:r>
              <a:rPr lang="en-GB" sz="2200" dirty="0">
                <a:latin typeface="+mj-lt"/>
              </a:rPr>
              <a:t>should be a noun or noun phrase describing the role;</a:t>
            </a:r>
          </a:p>
          <a:p>
            <a:pPr>
              <a:buFont typeface="Wingdings" pitchFamily="2" charset="2"/>
              <a:buChar char="q"/>
            </a:pPr>
            <a:r>
              <a:rPr lang="en-GB" sz="2200" dirty="0">
                <a:latin typeface="+mj-lt"/>
              </a:rPr>
              <a:t> </a:t>
            </a:r>
            <a:r>
              <a:rPr lang="en-GB" sz="2200" b="1" dirty="0">
                <a:latin typeface="+mj-lt"/>
              </a:rPr>
              <a:t>Multiplicity</a:t>
            </a:r>
          </a:p>
          <a:p>
            <a:pPr lvl="1">
              <a:buFont typeface="Wingdings" pitchFamily="2" charset="2"/>
              <a:buChar char="§"/>
            </a:pPr>
            <a:r>
              <a:rPr lang="en-GB" sz="2200" dirty="0">
                <a:latin typeface="+mj-lt"/>
              </a:rPr>
              <a:t>The number of objects that can participate in a relation</a:t>
            </a:r>
          </a:p>
          <a:p>
            <a:pPr>
              <a:buFont typeface="Wingdings" pitchFamily="2" charset="2"/>
              <a:buChar char="q"/>
            </a:pPr>
            <a:r>
              <a:rPr lang="en-GB" sz="2200" dirty="0">
                <a:latin typeface="+mj-lt"/>
              </a:rPr>
              <a:t> </a:t>
            </a:r>
            <a:r>
              <a:rPr lang="en-GB" sz="2200" b="1" dirty="0">
                <a:latin typeface="+mj-lt"/>
              </a:rPr>
              <a:t>Navigability</a:t>
            </a:r>
          </a:p>
          <a:p>
            <a:pPr lvl="1"/>
            <a:r>
              <a:rPr lang="en-GB" sz="2200" dirty="0"/>
              <a:t>The direction of Arrows</a:t>
            </a:r>
            <a:endParaRPr lang="en-US" altLang="en-US" sz="2200" dirty="0">
              <a:latin typeface="+mj-lt"/>
            </a:endParaRPr>
          </a:p>
        </p:txBody>
      </p:sp>
      <p:pic>
        <p:nvPicPr>
          <p:cNvPr id="2" name="Picture 2">
            <a:extLst>
              <a:ext uri="{FF2B5EF4-FFF2-40B4-BE49-F238E27FC236}">
                <a16:creationId xmlns:a16="http://schemas.microsoft.com/office/drawing/2014/main" id="{0ED0086C-A1D7-C78F-E83F-73524FBBB19F}"/>
              </a:ext>
            </a:extLst>
          </p:cNvPr>
          <p:cNvPicPr>
            <a:picLocks noChangeAspect="1" noChangeArrowheads="1"/>
          </p:cNvPicPr>
          <p:nvPr/>
        </p:nvPicPr>
        <p:blipFill>
          <a:blip r:embed="rId2" cstate="print"/>
          <a:srcRect/>
          <a:stretch>
            <a:fillRect/>
          </a:stretch>
        </p:blipFill>
        <p:spPr bwMode="auto">
          <a:xfrm>
            <a:off x="6697980" y="4408294"/>
            <a:ext cx="5128260" cy="2247776"/>
          </a:xfrm>
          <a:prstGeom prst="rect">
            <a:avLst/>
          </a:prstGeom>
          <a:noFill/>
          <a:ln w="9525">
            <a:noFill/>
            <a:miter lim="800000"/>
            <a:headEnd/>
            <a:tailEnd/>
          </a:ln>
        </p:spPr>
      </p:pic>
    </p:spTree>
    <p:extLst>
      <p:ext uri="{BB962C8B-B14F-4D97-AF65-F5344CB8AC3E}">
        <p14:creationId xmlns:p14="http://schemas.microsoft.com/office/powerpoint/2010/main" val="4214380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97839-0521-0627-26F1-E0FC49DDAD34}"/>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8541F07F-1183-DA64-A20A-CF6E4289FC33}"/>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3" name="Rectangle 2" descr="M. Mhahudul Hasan">
            <a:extLst>
              <a:ext uri="{FF2B5EF4-FFF2-40B4-BE49-F238E27FC236}">
                <a16:creationId xmlns:a16="http://schemas.microsoft.com/office/drawing/2014/main" id="{D54223FF-4957-4867-8E11-0C79C2A65CB3}"/>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31762DCC-5C84-EBC9-1765-6E8A945416D7}"/>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4:  Class Diagram</a:t>
            </a:r>
          </a:p>
        </p:txBody>
      </p:sp>
      <p:sp>
        <p:nvSpPr>
          <p:cNvPr id="12" name="Rectangle 11" descr="M. Mhahudul Hasan">
            <a:extLst>
              <a:ext uri="{FF2B5EF4-FFF2-40B4-BE49-F238E27FC236}">
                <a16:creationId xmlns:a16="http://schemas.microsoft.com/office/drawing/2014/main" id="{200F0912-2B30-784C-248E-2E0AF7A89B35}"/>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17" name="Slide Number Placeholder 3">
            <a:extLst>
              <a:ext uri="{FF2B5EF4-FFF2-40B4-BE49-F238E27FC236}">
                <a16:creationId xmlns:a16="http://schemas.microsoft.com/office/drawing/2014/main" id="{E17C3327-540D-3C4C-7E0F-B6060A278665}"/>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17</a:t>
            </a:fld>
            <a:r>
              <a:rPr lang="en-US" sz="1400" b="1" dirty="0"/>
              <a:t> </a:t>
            </a:r>
          </a:p>
        </p:txBody>
      </p:sp>
      <p:sp>
        <p:nvSpPr>
          <p:cNvPr id="18" name="Rectangle 17" descr="M. Mhahudul Hasan">
            <a:extLst>
              <a:ext uri="{FF2B5EF4-FFF2-40B4-BE49-F238E27FC236}">
                <a16:creationId xmlns:a16="http://schemas.microsoft.com/office/drawing/2014/main" id="{769665E2-1C38-2D98-6785-03C2DC6C262A}"/>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MOHAIMEN-BIN-NOOR</a:t>
            </a:r>
          </a:p>
        </p:txBody>
      </p:sp>
      <p:sp>
        <p:nvSpPr>
          <p:cNvPr id="2" name="Title 1">
            <a:extLst>
              <a:ext uri="{FF2B5EF4-FFF2-40B4-BE49-F238E27FC236}">
                <a16:creationId xmlns:a16="http://schemas.microsoft.com/office/drawing/2014/main" id="{0360ED0A-E105-E891-1266-E92FF9DB6CA3}"/>
              </a:ext>
            </a:extLst>
          </p:cNvPr>
          <p:cNvSpPr txBox="1">
            <a:spLocks/>
          </p:cNvSpPr>
          <p:nvPr/>
        </p:nvSpPr>
        <p:spPr>
          <a:xfrm>
            <a:off x="442451" y="554191"/>
            <a:ext cx="11029950" cy="507693"/>
          </a:xfrm>
          <a:prstGeom prst="rect">
            <a:avLst/>
          </a:prstGeom>
        </p:spPr>
        <p:txBody>
          <a:bodyPr vert="horz" lIns="91440" tIns="45720" rIns="91440" bIns="45720" rtlCol="0" anchor="b">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ltLang="en-US" b="1" dirty="0">
                <a:solidFill>
                  <a:srgbClr val="0070C0"/>
                </a:solidFill>
                <a:latin typeface="Book Antiqua" pitchFamily="18" charset="0"/>
              </a:rPr>
              <a:t>Association multiplicity</a:t>
            </a:r>
            <a:endParaRPr lang="en-US" b="1" dirty="0">
              <a:solidFill>
                <a:srgbClr val="0070C0"/>
              </a:solidFill>
              <a:effectLst>
                <a:outerShdw blurRad="38100" dist="38100" dir="2700000" algn="tl">
                  <a:srgbClr val="000000">
                    <a:alpha val="43137"/>
                  </a:srgbClr>
                </a:outerShdw>
              </a:effectLst>
            </a:endParaRPr>
          </a:p>
        </p:txBody>
      </p:sp>
      <p:graphicFrame>
        <p:nvGraphicFramePr>
          <p:cNvPr id="4" name="Group 72">
            <a:extLst>
              <a:ext uri="{FF2B5EF4-FFF2-40B4-BE49-F238E27FC236}">
                <a16:creationId xmlns:a16="http://schemas.microsoft.com/office/drawing/2014/main" id="{3408D22D-ABDF-5D7B-5237-B27BB2FA5954}"/>
              </a:ext>
            </a:extLst>
          </p:cNvPr>
          <p:cNvGraphicFramePr>
            <a:graphicFrameLocks noGrp="1"/>
          </p:cNvGraphicFramePr>
          <p:nvPr>
            <p:extLst>
              <p:ext uri="{D42A27DB-BD31-4B8C-83A1-F6EECF244321}">
                <p14:modId xmlns:p14="http://schemas.microsoft.com/office/powerpoint/2010/main" val="642533500"/>
              </p:ext>
            </p:extLst>
          </p:nvPr>
        </p:nvGraphicFramePr>
        <p:xfrm>
          <a:off x="2581685" y="1581027"/>
          <a:ext cx="7217833" cy="3357494"/>
        </p:xfrm>
        <a:graphic>
          <a:graphicData uri="http://schemas.openxmlformats.org/drawingml/2006/table">
            <a:tbl>
              <a:tblPr/>
              <a:tblGrid>
                <a:gridCol w="5593821">
                  <a:extLst>
                    <a:ext uri="{9D8B030D-6E8A-4147-A177-3AD203B41FA5}">
                      <a16:colId xmlns:a16="http://schemas.microsoft.com/office/drawing/2014/main" val="20000"/>
                    </a:ext>
                  </a:extLst>
                </a:gridCol>
                <a:gridCol w="1624012">
                  <a:extLst>
                    <a:ext uri="{9D8B030D-6E8A-4147-A177-3AD203B41FA5}">
                      <a16:colId xmlns:a16="http://schemas.microsoft.com/office/drawing/2014/main" val="20001"/>
                    </a:ext>
                  </a:extLst>
                </a:gridCol>
              </a:tblGrid>
              <a:tr h="39412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Exactly one</a:t>
                      </a:r>
                    </a:p>
                  </a:txBody>
                  <a:tcPr marL="108268" marR="108268" marT="54134" marB="541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1</a:t>
                      </a:r>
                    </a:p>
                  </a:txBody>
                  <a:tcPr marL="108268" marR="108268" marT="54134" marB="541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412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Many</a:t>
                      </a:r>
                    </a:p>
                  </a:txBody>
                  <a:tcPr marL="108268" marR="108268" marT="54134" marB="541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a:t>
                      </a:r>
                    </a:p>
                  </a:txBody>
                  <a:tcPr marL="108268" marR="108268" marT="54134" marB="541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867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Zero or more</a:t>
                      </a:r>
                    </a:p>
                  </a:txBody>
                  <a:tcPr marL="108268" marR="108268" marT="54134" marB="541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0..*</a:t>
                      </a:r>
                    </a:p>
                  </a:txBody>
                  <a:tcPr marL="108268" marR="108268" marT="54134" marB="541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412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One or more</a:t>
                      </a:r>
                    </a:p>
                  </a:txBody>
                  <a:tcPr marL="108268" marR="108268" marT="54134" marB="541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1..*</a:t>
                      </a:r>
                    </a:p>
                  </a:txBody>
                  <a:tcPr marL="108268" marR="108268" marT="54134" marB="541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867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Zero or one (optional association)</a:t>
                      </a:r>
                    </a:p>
                  </a:txBody>
                  <a:tcPr marL="108268" marR="108268" marT="54134" marB="541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0..1</a:t>
                      </a:r>
                    </a:p>
                  </a:txBody>
                  <a:tcPr marL="108268" marR="108268" marT="54134" marB="541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412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Specified range</a:t>
                      </a:r>
                    </a:p>
                  </a:txBody>
                  <a:tcPr marL="108268" marR="108268" marT="54134" marB="541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2..4</a:t>
                      </a:r>
                    </a:p>
                  </a:txBody>
                  <a:tcPr marL="108268" marR="108268" marT="54134" marB="541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2595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Multiple, disjoint ranges</a:t>
                      </a:r>
                    </a:p>
                  </a:txBody>
                  <a:tcPr marL="108268" marR="108268" marT="54134" marB="541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mj-lt"/>
                          <a:cs typeface="Times New Roman" pitchFamily="18" charset="0"/>
                        </a:rPr>
                        <a:t>2, 4..6, 8</a:t>
                      </a:r>
                    </a:p>
                  </a:txBody>
                  <a:tcPr marL="108268" marR="108268" marT="54134" marB="541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18067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C816-1FDB-72CE-AA0C-CCA2E942928B}"/>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265D57E1-AC79-66F1-AB05-2017AC895A16}"/>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3" name="Rectangle 2" descr="M. Mhahudul Hasan">
            <a:extLst>
              <a:ext uri="{FF2B5EF4-FFF2-40B4-BE49-F238E27FC236}">
                <a16:creationId xmlns:a16="http://schemas.microsoft.com/office/drawing/2014/main" id="{AD341381-2656-5277-EB0D-27C240906FD4}"/>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EC17AE4E-7C62-57AF-BC31-B9E216F877A8}"/>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4:  Class Diagram</a:t>
            </a:r>
          </a:p>
        </p:txBody>
      </p:sp>
      <p:sp>
        <p:nvSpPr>
          <p:cNvPr id="12" name="Rectangle 11" descr="M. Mhahudul Hasan">
            <a:extLst>
              <a:ext uri="{FF2B5EF4-FFF2-40B4-BE49-F238E27FC236}">
                <a16:creationId xmlns:a16="http://schemas.microsoft.com/office/drawing/2014/main" id="{877382BD-6A63-E50D-D430-732CF742C118}"/>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17" name="Slide Number Placeholder 3">
            <a:extLst>
              <a:ext uri="{FF2B5EF4-FFF2-40B4-BE49-F238E27FC236}">
                <a16:creationId xmlns:a16="http://schemas.microsoft.com/office/drawing/2014/main" id="{A34A7742-E76F-2BE2-9ACE-116564176F7C}"/>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18</a:t>
            </a:fld>
            <a:r>
              <a:rPr lang="en-US" sz="1400" b="1" dirty="0"/>
              <a:t> </a:t>
            </a:r>
          </a:p>
        </p:txBody>
      </p:sp>
      <p:sp>
        <p:nvSpPr>
          <p:cNvPr id="18" name="Rectangle 17" descr="M. Mhahudul Hasan">
            <a:extLst>
              <a:ext uri="{FF2B5EF4-FFF2-40B4-BE49-F238E27FC236}">
                <a16:creationId xmlns:a16="http://schemas.microsoft.com/office/drawing/2014/main" id="{FDA5EC21-A4EE-F526-E32D-8CACCEDEDCF4}"/>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MOHAIMEN-BIN-NOOR</a:t>
            </a:r>
          </a:p>
        </p:txBody>
      </p:sp>
      <p:sp>
        <p:nvSpPr>
          <p:cNvPr id="2" name="Title 1">
            <a:extLst>
              <a:ext uri="{FF2B5EF4-FFF2-40B4-BE49-F238E27FC236}">
                <a16:creationId xmlns:a16="http://schemas.microsoft.com/office/drawing/2014/main" id="{570C4D5F-AC3F-BED4-8EAB-035DC5AD60CB}"/>
              </a:ext>
            </a:extLst>
          </p:cNvPr>
          <p:cNvSpPr txBox="1">
            <a:spLocks/>
          </p:cNvSpPr>
          <p:nvPr/>
        </p:nvSpPr>
        <p:spPr>
          <a:xfrm>
            <a:off x="442451" y="554191"/>
            <a:ext cx="11029950" cy="507693"/>
          </a:xfrm>
          <a:prstGeom prst="rect">
            <a:avLst/>
          </a:prstGeom>
        </p:spPr>
        <p:txBody>
          <a:bodyPr vert="horz" lIns="91440" tIns="45720" rIns="91440" bIns="45720" rtlCol="0" anchor="b">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ltLang="en-US" b="1" dirty="0">
                <a:solidFill>
                  <a:srgbClr val="0070C0"/>
                </a:solidFill>
                <a:latin typeface="Book Antiqua" pitchFamily="18" charset="0"/>
              </a:rPr>
              <a:t>Association</a:t>
            </a:r>
            <a:endParaRPr lang="en-US" b="1" dirty="0">
              <a:solidFill>
                <a:srgbClr val="0070C0"/>
              </a:solidFill>
              <a:effectLst>
                <a:outerShdw blurRad="38100" dist="38100" dir="2700000" algn="tl">
                  <a:srgbClr val="000000">
                    <a:alpha val="43137"/>
                  </a:srgbClr>
                </a:outerShdw>
              </a:effectLst>
            </a:endParaRPr>
          </a:p>
        </p:txBody>
      </p:sp>
      <p:pic>
        <p:nvPicPr>
          <p:cNvPr id="9" name="Picture 3">
            <a:extLst>
              <a:ext uri="{FF2B5EF4-FFF2-40B4-BE49-F238E27FC236}">
                <a16:creationId xmlns:a16="http://schemas.microsoft.com/office/drawing/2014/main" id="{F282AC98-AE95-AE17-73E7-D3E214DA1784}"/>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6576060" y="2609850"/>
            <a:ext cx="5029200" cy="246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
            <a:extLst>
              <a:ext uri="{FF2B5EF4-FFF2-40B4-BE49-F238E27FC236}">
                <a16:creationId xmlns:a16="http://schemas.microsoft.com/office/drawing/2014/main" id="{61B6D7A6-B83E-D4D7-0D3F-97AA6C3483F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55371" y="2537460"/>
            <a:ext cx="4290648"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Placeholder 13">
            <a:extLst>
              <a:ext uri="{FF2B5EF4-FFF2-40B4-BE49-F238E27FC236}">
                <a16:creationId xmlns:a16="http://schemas.microsoft.com/office/drawing/2014/main" id="{B1A8B681-2D85-482F-BCEA-0C85E17A3805}"/>
              </a:ext>
            </a:extLst>
          </p:cNvPr>
          <p:cNvSpPr>
            <a:spLocks noGrp="1"/>
          </p:cNvSpPr>
          <p:nvPr>
            <p:ph type="body" idx="4294967295"/>
          </p:nvPr>
        </p:nvSpPr>
        <p:spPr>
          <a:xfrm>
            <a:off x="617220" y="1622425"/>
            <a:ext cx="5086350" cy="536575"/>
          </a:xfrm>
        </p:spPr>
        <p:txBody>
          <a:bodyPr>
            <a:normAutofit/>
          </a:bodyPr>
          <a:lstStyle/>
          <a:p>
            <a:pPr marL="342900" indent="-342900">
              <a:buClr>
                <a:srgbClr val="0070C0"/>
              </a:buClr>
              <a:buFont typeface="Wingdings" panose="05000000000000000000" pitchFamily="2" charset="2"/>
              <a:buChar char="q"/>
            </a:pPr>
            <a:r>
              <a:rPr lang="en-US" altLang="en-US" sz="2200" b="1" dirty="0">
                <a:solidFill>
                  <a:schemeClr val="tx2"/>
                </a:solidFill>
              </a:rPr>
              <a:t>Simple Association</a:t>
            </a:r>
          </a:p>
        </p:txBody>
      </p:sp>
      <p:sp>
        <p:nvSpPr>
          <p:cNvPr id="16" name="Text Placeholder 15">
            <a:extLst>
              <a:ext uri="{FF2B5EF4-FFF2-40B4-BE49-F238E27FC236}">
                <a16:creationId xmlns:a16="http://schemas.microsoft.com/office/drawing/2014/main" id="{AAF49611-1437-3483-4BE4-B7B819CE8E0A}"/>
              </a:ext>
            </a:extLst>
          </p:cNvPr>
          <p:cNvSpPr>
            <a:spLocks noGrp="1"/>
          </p:cNvSpPr>
          <p:nvPr>
            <p:ph type="body" sz="quarter" idx="4294967295"/>
          </p:nvPr>
        </p:nvSpPr>
        <p:spPr>
          <a:xfrm>
            <a:off x="6098223" y="1610995"/>
            <a:ext cx="5087937" cy="552450"/>
          </a:xfrm>
        </p:spPr>
        <p:txBody>
          <a:bodyPr>
            <a:normAutofit/>
          </a:bodyPr>
          <a:lstStyle/>
          <a:p>
            <a:pPr marL="342900" indent="-342900">
              <a:buFont typeface="Wingdings" panose="05000000000000000000" pitchFamily="2" charset="2"/>
              <a:buChar char="q"/>
            </a:pPr>
            <a:r>
              <a:rPr lang="en-US" altLang="en-US" sz="2200" b="1" dirty="0">
                <a:solidFill>
                  <a:schemeClr val="tx2"/>
                </a:solidFill>
              </a:rPr>
              <a:t>Reflexive Association</a:t>
            </a:r>
          </a:p>
        </p:txBody>
      </p:sp>
    </p:spTree>
    <p:extLst>
      <p:ext uri="{BB962C8B-B14F-4D97-AF65-F5344CB8AC3E}">
        <p14:creationId xmlns:p14="http://schemas.microsoft.com/office/powerpoint/2010/main" val="1970695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8109C-308B-231E-4265-ADA04756A23A}"/>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4D53C50C-49D1-58D2-5BE9-CF911A8689D0}"/>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3" name="Rectangle 2" descr="M. Mhahudul Hasan">
            <a:extLst>
              <a:ext uri="{FF2B5EF4-FFF2-40B4-BE49-F238E27FC236}">
                <a16:creationId xmlns:a16="http://schemas.microsoft.com/office/drawing/2014/main" id="{ED390B4D-9338-194D-A33A-237E05B09AC6}"/>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F48EE229-F41B-2DD8-6BAF-90B3E28EFF0B}"/>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4:  Class Diagram</a:t>
            </a:r>
          </a:p>
        </p:txBody>
      </p:sp>
      <p:sp>
        <p:nvSpPr>
          <p:cNvPr id="12" name="Rectangle 11" descr="M. Mhahudul Hasan">
            <a:extLst>
              <a:ext uri="{FF2B5EF4-FFF2-40B4-BE49-F238E27FC236}">
                <a16:creationId xmlns:a16="http://schemas.microsoft.com/office/drawing/2014/main" id="{77F0C396-83F0-9C6E-E3AD-ACA15D29AD5C}"/>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17" name="Slide Number Placeholder 3">
            <a:extLst>
              <a:ext uri="{FF2B5EF4-FFF2-40B4-BE49-F238E27FC236}">
                <a16:creationId xmlns:a16="http://schemas.microsoft.com/office/drawing/2014/main" id="{83F18306-A73C-548D-FA1E-13FEC713F609}"/>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19</a:t>
            </a:fld>
            <a:r>
              <a:rPr lang="en-US" sz="1400" b="1" dirty="0"/>
              <a:t> </a:t>
            </a:r>
          </a:p>
        </p:txBody>
      </p:sp>
      <p:sp>
        <p:nvSpPr>
          <p:cNvPr id="18" name="Rectangle 17" descr="M. Mhahudul Hasan">
            <a:extLst>
              <a:ext uri="{FF2B5EF4-FFF2-40B4-BE49-F238E27FC236}">
                <a16:creationId xmlns:a16="http://schemas.microsoft.com/office/drawing/2014/main" id="{84D75D14-B1A1-4015-87F6-6306C00D9AA4}"/>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MOHAIMEN-BIN-NOOR</a:t>
            </a:r>
          </a:p>
        </p:txBody>
      </p:sp>
      <p:sp>
        <p:nvSpPr>
          <p:cNvPr id="2" name="Title 1">
            <a:extLst>
              <a:ext uri="{FF2B5EF4-FFF2-40B4-BE49-F238E27FC236}">
                <a16:creationId xmlns:a16="http://schemas.microsoft.com/office/drawing/2014/main" id="{698E8DA7-A8A4-66C3-6FAE-14199CA5C890}"/>
              </a:ext>
            </a:extLst>
          </p:cNvPr>
          <p:cNvSpPr txBox="1">
            <a:spLocks/>
          </p:cNvSpPr>
          <p:nvPr/>
        </p:nvSpPr>
        <p:spPr>
          <a:xfrm>
            <a:off x="442451" y="554191"/>
            <a:ext cx="11029950" cy="507693"/>
          </a:xfrm>
          <a:prstGeom prst="rect">
            <a:avLst/>
          </a:prstGeom>
        </p:spPr>
        <p:txBody>
          <a:bodyPr vert="horz" lIns="91440" tIns="45720" rIns="91440" bIns="45720" rtlCol="0" anchor="b">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ltLang="en-US" b="1" dirty="0">
                <a:solidFill>
                  <a:srgbClr val="0070C0"/>
                </a:solidFill>
                <a:latin typeface="Book Antiqua" pitchFamily="18" charset="0"/>
              </a:rPr>
              <a:t>Association</a:t>
            </a:r>
            <a:endParaRPr lang="en-US" b="1" dirty="0">
              <a:solidFill>
                <a:srgbClr val="0070C0"/>
              </a:solidFill>
              <a:effectLst>
                <a:outerShdw blurRad="38100" dist="38100" dir="2700000" algn="tl">
                  <a:srgbClr val="000000">
                    <a:alpha val="43137"/>
                  </a:srgbClr>
                </a:outerShdw>
              </a:effectLst>
            </a:endParaRPr>
          </a:p>
        </p:txBody>
      </p:sp>
      <p:sp>
        <p:nvSpPr>
          <p:cNvPr id="14" name="Text Placeholder 13">
            <a:extLst>
              <a:ext uri="{FF2B5EF4-FFF2-40B4-BE49-F238E27FC236}">
                <a16:creationId xmlns:a16="http://schemas.microsoft.com/office/drawing/2014/main" id="{9295A5B9-3575-1409-B106-50D89BC3454F}"/>
              </a:ext>
            </a:extLst>
          </p:cNvPr>
          <p:cNvSpPr>
            <a:spLocks noGrp="1"/>
          </p:cNvSpPr>
          <p:nvPr>
            <p:ph type="body" idx="4294967295"/>
          </p:nvPr>
        </p:nvSpPr>
        <p:spPr>
          <a:xfrm>
            <a:off x="617220" y="1622425"/>
            <a:ext cx="5086350" cy="536575"/>
          </a:xfrm>
        </p:spPr>
        <p:txBody>
          <a:bodyPr>
            <a:normAutofit/>
          </a:bodyPr>
          <a:lstStyle/>
          <a:p>
            <a:pPr marL="342900" indent="-342900">
              <a:buClr>
                <a:srgbClr val="0070C0"/>
              </a:buClr>
              <a:buFont typeface="Wingdings" panose="05000000000000000000" pitchFamily="2" charset="2"/>
              <a:buChar char="q"/>
            </a:pPr>
            <a:r>
              <a:rPr lang="en-US" altLang="en-US" sz="2200" b="1" dirty="0">
                <a:solidFill>
                  <a:schemeClr val="tx2"/>
                </a:solidFill>
              </a:rPr>
              <a:t>Qualified Association</a:t>
            </a:r>
          </a:p>
        </p:txBody>
      </p:sp>
      <p:sp>
        <p:nvSpPr>
          <p:cNvPr id="16" name="Text Placeholder 15">
            <a:extLst>
              <a:ext uri="{FF2B5EF4-FFF2-40B4-BE49-F238E27FC236}">
                <a16:creationId xmlns:a16="http://schemas.microsoft.com/office/drawing/2014/main" id="{94FBB638-A6BB-B200-DA6D-5A2786324CA9}"/>
              </a:ext>
            </a:extLst>
          </p:cNvPr>
          <p:cNvSpPr>
            <a:spLocks noGrp="1"/>
          </p:cNvSpPr>
          <p:nvPr>
            <p:ph type="body" sz="quarter" idx="4294967295"/>
          </p:nvPr>
        </p:nvSpPr>
        <p:spPr>
          <a:xfrm>
            <a:off x="6098223" y="1610995"/>
            <a:ext cx="5087937" cy="552450"/>
          </a:xfrm>
        </p:spPr>
        <p:txBody>
          <a:bodyPr>
            <a:normAutofit/>
          </a:bodyPr>
          <a:lstStyle/>
          <a:p>
            <a:pPr marL="342900" indent="-342900">
              <a:buFont typeface="Wingdings" panose="05000000000000000000" pitchFamily="2" charset="2"/>
              <a:buChar char="q"/>
            </a:pPr>
            <a:r>
              <a:rPr lang="en-US" altLang="en-US" sz="2200" b="1" dirty="0">
                <a:solidFill>
                  <a:schemeClr val="tx2"/>
                </a:solidFill>
              </a:rPr>
              <a:t>Association Class</a:t>
            </a:r>
          </a:p>
        </p:txBody>
      </p:sp>
      <p:pic>
        <p:nvPicPr>
          <p:cNvPr id="4" name="Picture 4">
            <a:extLst>
              <a:ext uri="{FF2B5EF4-FFF2-40B4-BE49-F238E27FC236}">
                <a16:creationId xmlns:a16="http://schemas.microsoft.com/office/drawing/2014/main" id="{F125CCEE-75FC-AD41-992D-27220C36340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8211" y="2564130"/>
            <a:ext cx="5162549" cy="2807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064FF2E8-01A8-0596-058B-3EFE101B3D5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72250" y="2960370"/>
            <a:ext cx="561975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3597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03EE8-DD57-233C-725C-D7BAB215470A}"/>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B6AFB0DF-E34D-ADD7-200D-CA661D7FD7CD}"/>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3" name="Rectangle 2" descr="M. Mhahudul Hasan">
            <a:extLst>
              <a:ext uri="{FF2B5EF4-FFF2-40B4-BE49-F238E27FC236}">
                <a16:creationId xmlns:a16="http://schemas.microsoft.com/office/drawing/2014/main" id="{34297339-3939-F60A-1D64-A9DAA388BA18}"/>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0D09BAEF-DD02-9DF6-B0B6-6001E9A9BD49}"/>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4:  Class Diagram</a:t>
            </a:r>
          </a:p>
        </p:txBody>
      </p:sp>
      <p:sp>
        <p:nvSpPr>
          <p:cNvPr id="12" name="Rectangle 11" descr="M. Mhahudul Hasan">
            <a:extLst>
              <a:ext uri="{FF2B5EF4-FFF2-40B4-BE49-F238E27FC236}">
                <a16:creationId xmlns:a16="http://schemas.microsoft.com/office/drawing/2014/main" id="{6106AEDC-AE2D-0141-22D8-F7C264492BDC}"/>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17" name="Slide Number Placeholder 3">
            <a:extLst>
              <a:ext uri="{FF2B5EF4-FFF2-40B4-BE49-F238E27FC236}">
                <a16:creationId xmlns:a16="http://schemas.microsoft.com/office/drawing/2014/main" id="{7CFD7D93-CE44-7551-A3CC-032B6BD1E850}"/>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20</a:t>
            </a:fld>
            <a:r>
              <a:rPr lang="en-US" sz="1400" b="1" dirty="0"/>
              <a:t> </a:t>
            </a:r>
          </a:p>
        </p:txBody>
      </p:sp>
      <p:sp>
        <p:nvSpPr>
          <p:cNvPr id="18" name="Rectangle 17" descr="M. Mhahudul Hasan">
            <a:extLst>
              <a:ext uri="{FF2B5EF4-FFF2-40B4-BE49-F238E27FC236}">
                <a16:creationId xmlns:a16="http://schemas.microsoft.com/office/drawing/2014/main" id="{CC4BFA15-6FD0-5F23-C4DF-BC6539040168}"/>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MOHAIMEN-BIN-NOOR</a:t>
            </a:r>
          </a:p>
        </p:txBody>
      </p:sp>
      <p:sp>
        <p:nvSpPr>
          <p:cNvPr id="2" name="Title 1">
            <a:extLst>
              <a:ext uri="{FF2B5EF4-FFF2-40B4-BE49-F238E27FC236}">
                <a16:creationId xmlns:a16="http://schemas.microsoft.com/office/drawing/2014/main" id="{94751296-DE74-FD11-8EDA-8F70D92F4382}"/>
              </a:ext>
            </a:extLst>
          </p:cNvPr>
          <p:cNvSpPr txBox="1">
            <a:spLocks/>
          </p:cNvSpPr>
          <p:nvPr/>
        </p:nvSpPr>
        <p:spPr>
          <a:xfrm>
            <a:off x="442451" y="554191"/>
            <a:ext cx="11029950" cy="507693"/>
          </a:xfrm>
          <a:prstGeom prst="rect">
            <a:avLst/>
          </a:prstGeom>
        </p:spPr>
        <p:txBody>
          <a:bodyPr vert="horz" lIns="91440" tIns="45720" rIns="91440" bIns="45720" rtlCol="0" anchor="b">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ltLang="en-US" b="1" dirty="0">
                <a:solidFill>
                  <a:srgbClr val="0070C0"/>
                </a:solidFill>
                <a:latin typeface="Book Antiqua" pitchFamily="18" charset="0"/>
              </a:rPr>
              <a:t>Association</a:t>
            </a:r>
            <a:endParaRPr lang="en-US" b="1" dirty="0">
              <a:solidFill>
                <a:srgbClr val="0070C0"/>
              </a:solidFill>
              <a:effectLst>
                <a:outerShdw blurRad="38100" dist="38100" dir="2700000" algn="tl">
                  <a:srgbClr val="000000">
                    <a:alpha val="43137"/>
                  </a:srgbClr>
                </a:outerShdw>
              </a:effectLst>
            </a:endParaRPr>
          </a:p>
        </p:txBody>
      </p:sp>
      <p:sp>
        <p:nvSpPr>
          <p:cNvPr id="14" name="Text Placeholder 13">
            <a:extLst>
              <a:ext uri="{FF2B5EF4-FFF2-40B4-BE49-F238E27FC236}">
                <a16:creationId xmlns:a16="http://schemas.microsoft.com/office/drawing/2014/main" id="{E1D58E00-F112-2F37-69B9-5A6FD338FFB6}"/>
              </a:ext>
            </a:extLst>
          </p:cNvPr>
          <p:cNvSpPr>
            <a:spLocks noGrp="1"/>
          </p:cNvSpPr>
          <p:nvPr>
            <p:ph type="body" idx="4294967295"/>
          </p:nvPr>
        </p:nvSpPr>
        <p:spPr>
          <a:xfrm>
            <a:off x="388620" y="1839595"/>
            <a:ext cx="6583680" cy="3601085"/>
          </a:xfrm>
        </p:spPr>
        <p:txBody>
          <a:bodyPr>
            <a:normAutofit/>
          </a:bodyPr>
          <a:lstStyle/>
          <a:p>
            <a:pPr marL="342900" indent="-342900" algn="just">
              <a:buClr>
                <a:srgbClr val="0070C0"/>
              </a:buClr>
              <a:buFont typeface="Wingdings" panose="05000000000000000000" pitchFamily="2" charset="2"/>
              <a:buChar char="q"/>
            </a:pPr>
            <a:r>
              <a:rPr lang="en-US" altLang="en-US" sz="2200" b="1" dirty="0">
                <a:solidFill>
                  <a:schemeClr val="tx2"/>
                </a:solidFill>
              </a:rPr>
              <a:t>Aggregate Association </a:t>
            </a:r>
            <a:r>
              <a:rPr lang="en-US" altLang="en-US" sz="2200" dirty="0">
                <a:solidFill>
                  <a:schemeClr val="tx2"/>
                </a:solidFill>
              </a:rPr>
              <a:t>– Whole-Part Relationship</a:t>
            </a:r>
          </a:p>
          <a:p>
            <a:pPr marL="342900" indent="-342900" algn="just">
              <a:buClr>
                <a:srgbClr val="0070C0"/>
              </a:buClr>
              <a:buFont typeface="Wingdings" panose="05000000000000000000" pitchFamily="2" charset="2"/>
              <a:buChar char="q"/>
            </a:pPr>
            <a:endParaRPr lang="en-US" altLang="en-US" sz="2200" dirty="0">
              <a:solidFill>
                <a:schemeClr val="tx2"/>
              </a:solidFill>
            </a:endParaRPr>
          </a:p>
          <a:p>
            <a:pPr marL="342900" indent="-342900" algn="just">
              <a:buClr>
                <a:srgbClr val="0070C0"/>
              </a:buClr>
              <a:buFont typeface="Wingdings" panose="05000000000000000000" pitchFamily="2" charset="2"/>
              <a:buChar char="q"/>
            </a:pPr>
            <a:endParaRPr lang="en-US" altLang="en-US" sz="2200" dirty="0"/>
          </a:p>
          <a:p>
            <a:pPr marL="342900" indent="-342900" algn="just">
              <a:buClr>
                <a:srgbClr val="0070C0"/>
              </a:buClr>
              <a:buFont typeface="Wingdings" panose="05000000000000000000" pitchFamily="2" charset="2"/>
              <a:buChar char="q"/>
            </a:pPr>
            <a:endParaRPr lang="en-US" altLang="en-US" sz="2200" dirty="0">
              <a:solidFill>
                <a:schemeClr val="tx2"/>
              </a:solidFill>
            </a:endParaRPr>
          </a:p>
          <a:p>
            <a:pPr marL="342900" indent="-342900" algn="just">
              <a:buClr>
                <a:srgbClr val="0070C0"/>
              </a:buClr>
              <a:buFont typeface="Wingdings" panose="05000000000000000000" pitchFamily="2" charset="2"/>
              <a:buChar char="q"/>
            </a:pPr>
            <a:r>
              <a:rPr lang="en-US" altLang="en-US" sz="2200" b="1" dirty="0">
                <a:solidFill>
                  <a:schemeClr val="tx2"/>
                </a:solidFill>
              </a:rPr>
              <a:t>Composite Association – </a:t>
            </a:r>
            <a:r>
              <a:rPr lang="en-US" altLang="en-US" sz="2200" dirty="0"/>
              <a:t>Special Type of Aggregation where the life span of the part depends on the life span of the aggregate</a:t>
            </a:r>
            <a:endParaRPr lang="en-US" altLang="en-US" sz="2200" dirty="0">
              <a:solidFill>
                <a:schemeClr val="tx2"/>
              </a:solidFill>
            </a:endParaRPr>
          </a:p>
        </p:txBody>
      </p:sp>
      <p:pic>
        <p:nvPicPr>
          <p:cNvPr id="7" name="Picture 3">
            <a:extLst>
              <a:ext uri="{FF2B5EF4-FFF2-40B4-BE49-F238E27FC236}">
                <a16:creationId xmlns:a16="http://schemas.microsoft.com/office/drawing/2014/main" id="{E1251FBA-E7E1-C5B1-55E5-06B8F1FFCCA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67699" y="1866900"/>
            <a:ext cx="4829991" cy="309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4516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43E72-AD41-2397-F1B5-0AFCC925C835}"/>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DB9F37CF-FEFF-4550-AB4A-F2734021BEEF}"/>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3" name="Rectangle 2" descr="M. Mhahudul Hasan">
            <a:extLst>
              <a:ext uri="{FF2B5EF4-FFF2-40B4-BE49-F238E27FC236}">
                <a16:creationId xmlns:a16="http://schemas.microsoft.com/office/drawing/2014/main" id="{BC584B8F-112C-6180-1EE4-0FDCB8C8ED21}"/>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D1CBC317-CB3F-35CD-1CF5-D82C16A3AEC0}"/>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4:  Class Diagram</a:t>
            </a:r>
          </a:p>
        </p:txBody>
      </p:sp>
      <p:sp>
        <p:nvSpPr>
          <p:cNvPr id="12" name="Rectangle 11" descr="M. Mhahudul Hasan">
            <a:extLst>
              <a:ext uri="{FF2B5EF4-FFF2-40B4-BE49-F238E27FC236}">
                <a16:creationId xmlns:a16="http://schemas.microsoft.com/office/drawing/2014/main" id="{57C9510D-9319-3635-D1D8-1899943AB19F}"/>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17" name="Slide Number Placeholder 3">
            <a:extLst>
              <a:ext uri="{FF2B5EF4-FFF2-40B4-BE49-F238E27FC236}">
                <a16:creationId xmlns:a16="http://schemas.microsoft.com/office/drawing/2014/main" id="{12ACB669-F5E1-DD79-E7E0-F04AA46222D0}"/>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21</a:t>
            </a:fld>
            <a:r>
              <a:rPr lang="en-US" sz="1400" b="1" dirty="0"/>
              <a:t> </a:t>
            </a:r>
          </a:p>
        </p:txBody>
      </p:sp>
      <p:sp>
        <p:nvSpPr>
          <p:cNvPr id="18" name="Rectangle 17" descr="M. Mhahudul Hasan">
            <a:extLst>
              <a:ext uri="{FF2B5EF4-FFF2-40B4-BE49-F238E27FC236}">
                <a16:creationId xmlns:a16="http://schemas.microsoft.com/office/drawing/2014/main" id="{94DE2D1D-9C2C-8880-AA48-087DCB41D21C}"/>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MOHAIMEN-BIN-NOOR</a:t>
            </a:r>
          </a:p>
        </p:txBody>
      </p:sp>
      <p:sp>
        <p:nvSpPr>
          <p:cNvPr id="2" name="Title 1">
            <a:extLst>
              <a:ext uri="{FF2B5EF4-FFF2-40B4-BE49-F238E27FC236}">
                <a16:creationId xmlns:a16="http://schemas.microsoft.com/office/drawing/2014/main" id="{44489BF7-6CA3-3799-5E75-33AED6DFF816}"/>
              </a:ext>
            </a:extLst>
          </p:cNvPr>
          <p:cNvSpPr txBox="1">
            <a:spLocks/>
          </p:cNvSpPr>
          <p:nvPr/>
        </p:nvSpPr>
        <p:spPr>
          <a:xfrm>
            <a:off x="442451" y="554191"/>
            <a:ext cx="11029950" cy="507693"/>
          </a:xfrm>
          <a:prstGeom prst="rect">
            <a:avLst/>
          </a:prstGeom>
        </p:spPr>
        <p:txBody>
          <a:bodyPr vert="horz" lIns="91440" tIns="45720" rIns="91440" bIns="45720" rtlCol="0" anchor="b">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ltLang="en-US" b="1" dirty="0">
                <a:solidFill>
                  <a:srgbClr val="0070C0"/>
                </a:solidFill>
                <a:latin typeface="Book Antiqua" pitchFamily="18" charset="0"/>
              </a:rPr>
              <a:t>Generalization</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2">
            <a:extLst>
              <a:ext uri="{FF2B5EF4-FFF2-40B4-BE49-F238E27FC236}">
                <a16:creationId xmlns:a16="http://schemas.microsoft.com/office/drawing/2014/main" id="{2513881B-E7BE-D883-85A2-B23B2E23D535}"/>
              </a:ext>
            </a:extLst>
          </p:cNvPr>
          <p:cNvSpPr txBox="1">
            <a:spLocks/>
          </p:cNvSpPr>
          <p:nvPr/>
        </p:nvSpPr>
        <p:spPr>
          <a:xfrm>
            <a:off x="388620" y="1581150"/>
            <a:ext cx="8229600" cy="2110740"/>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just"/>
            <a:r>
              <a:rPr lang="en-US" sz="2200" dirty="0"/>
              <a:t>Generalization is the process of organizing the properties of a set of objects that share the same purpose.</a:t>
            </a:r>
          </a:p>
          <a:p>
            <a:pPr algn="just"/>
            <a:endParaRPr lang="en-US" sz="2200" dirty="0"/>
          </a:p>
          <a:p>
            <a:pPr algn="just"/>
            <a:r>
              <a:rPr lang="en-US" sz="2200" dirty="0"/>
              <a:t>A generalization is not an association.</a:t>
            </a:r>
          </a:p>
        </p:txBody>
      </p:sp>
      <p:pic>
        <p:nvPicPr>
          <p:cNvPr id="5" name="Picture 2">
            <a:extLst>
              <a:ext uri="{FF2B5EF4-FFF2-40B4-BE49-F238E27FC236}">
                <a16:creationId xmlns:a16="http://schemas.microsoft.com/office/drawing/2014/main" id="{E373E0FA-341F-0EEB-0668-9A5A494A8CA8}"/>
              </a:ext>
            </a:extLst>
          </p:cNvPr>
          <p:cNvPicPr>
            <a:picLocks noChangeAspect="1" noChangeArrowheads="1"/>
          </p:cNvPicPr>
          <p:nvPr/>
        </p:nvPicPr>
        <p:blipFill>
          <a:blip r:embed="rId2" cstate="print"/>
          <a:srcRect/>
          <a:stretch>
            <a:fillRect/>
          </a:stretch>
        </p:blipFill>
        <p:spPr bwMode="auto">
          <a:xfrm>
            <a:off x="6134340" y="2392680"/>
            <a:ext cx="6057660" cy="3657600"/>
          </a:xfrm>
          <a:prstGeom prst="rect">
            <a:avLst/>
          </a:prstGeom>
          <a:noFill/>
          <a:ln w="9525">
            <a:noFill/>
            <a:miter lim="800000"/>
            <a:headEnd/>
            <a:tailEnd/>
          </a:ln>
        </p:spPr>
      </p:pic>
    </p:spTree>
    <p:extLst>
      <p:ext uri="{BB962C8B-B14F-4D97-AF65-F5344CB8AC3E}">
        <p14:creationId xmlns:p14="http://schemas.microsoft.com/office/powerpoint/2010/main" val="495663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F34E2-D499-D358-FF6B-2B4DEFD7337E}"/>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126A13D7-9C3E-6C3F-09F7-6753D1BA6433}"/>
              </a:ext>
            </a:extLst>
          </p:cNvPr>
          <p:cNvSpPr>
            <a:spLocks noGrp="1"/>
          </p:cNvSpPr>
          <p:nvPr/>
        </p:nvSpPr>
        <p:spPr>
          <a:xfrm>
            <a:off x="-137653" y="391007"/>
            <a:ext cx="640572" cy="275843"/>
          </a:xfrm>
          <a:prstGeom prst="rect">
            <a:avLst/>
          </a:prstGeom>
        </p:spPr>
        <p:txBody>
          <a:bodyPr vert="horz" lIns="91440" tIns="45720" rIns="91440" bIns="45720" rtlCol="0" anchor="ctr">
            <a:normAutofit fontScale="4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a:t>
            </a:r>
          </a:p>
        </p:txBody>
      </p:sp>
      <p:sp>
        <p:nvSpPr>
          <p:cNvPr id="3" name="Rectangle 2" descr="M. Mhahudul Hasan">
            <a:extLst>
              <a:ext uri="{FF2B5EF4-FFF2-40B4-BE49-F238E27FC236}">
                <a16:creationId xmlns:a16="http://schemas.microsoft.com/office/drawing/2014/main" id="{49342B09-D8F3-E056-D3CE-BE34B90C3F1E}"/>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66CED39E-308E-CF28-9023-658A5721D04C}"/>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4:  Class Diagram</a:t>
            </a:r>
          </a:p>
        </p:txBody>
      </p:sp>
      <p:sp>
        <p:nvSpPr>
          <p:cNvPr id="12" name="Rectangle 11" descr="M. Mhahudul Hasan">
            <a:extLst>
              <a:ext uri="{FF2B5EF4-FFF2-40B4-BE49-F238E27FC236}">
                <a16:creationId xmlns:a16="http://schemas.microsoft.com/office/drawing/2014/main" id="{5F0388F3-1009-60F7-7AC0-109E60E7CDC3}"/>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MOHAIMEN-BIN-NOOR</a:t>
            </a:r>
          </a:p>
        </p:txBody>
      </p:sp>
      <p:sp>
        <p:nvSpPr>
          <p:cNvPr id="17" name="Slide Number Placeholder 3">
            <a:extLst>
              <a:ext uri="{FF2B5EF4-FFF2-40B4-BE49-F238E27FC236}">
                <a16:creationId xmlns:a16="http://schemas.microsoft.com/office/drawing/2014/main" id="{E5021343-6D6B-FC55-3F45-63429B555C21}"/>
              </a:ext>
            </a:extLst>
          </p:cNvPr>
          <p:cNvSpPr txBox="1">
            <a:spLocks/>
          </p:cNvSpPr>
          <p:nvPr/>
        </p:nvSpPr>
        <p:spPr>
          <a:xfrm rot="5400000">
            <a:off x="11852787" y="16223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22</a:t>
            </a:fld>
            <a:r>
              <a:rPr lang="en-US" sz="1400" b="1" dirty="0"/>
              <a:t> </a:t>
            </a:r>
          </a:p>
        </p:txBody>
      </p:sp>
      <p:sp>
        <p:nvSpPr>
          <p:cNvPr id="18" name="Rectangle 17" descr="M. Mhahudul Hasan">
            <a:extLst>
              <a:ext uri="{FF2B5EF4-FFF2-40B4-BE49-F238E27FC236}">
                <a16:creationId xmlns:a16="http://schemas.microsoft.com/office/drawing/2014/main" id="{0C40A772-4A41-89CE-2EF2-CBA237F92EEF}"/>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MOHAIMEN-BIN-NOOR</a:t>
            </a:r>
          </a:p>
        </p:txBody>
      </p:sp>
      <p:sp>
        <p:nvSpPr>
          <p:cNvPr id="2" name="Title 1">
            <a:extLst>
              <a:ext uri="{FF2B5EF4-FFF2-40B4-BE49-F238E27FC236}">
                <a16:creationId xmlns:a16="http://schemas.microsoft.com/office/drawing/2014/main" id="{082903C3-4147-CA5E-3116-80A3CEC492D3}"/>
              </a:ext>
            </a:extLst>
          </p:cNvPr>
          <p:cNvSpPr txBox="1">
            <a:spLocks/>
          </p:cNvSpPr>
          <p:nvPr/>
        </p:nvSpPr>
        <p:spPr>
          <a:xfrm>
            <a:off x="442451" y="554191"/>
            <a:ext cx="11029950" cy="507693"/>
          </a:xfrm>
          <a:prstGeom prst="rect">
            <a:avLst/>
          </a:prstGeom>
        </p:spPr>
        <p:txBody>
          <a:bodyPr vert="horz" lIns="91440" tIns="45720" rIns="91440" bIns="45720" rtlCol="0" anchor="b">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ltLang="en-US" b="1" dirty="0">
                <a:solidFill>
                  <a:srgbClr val="0070C0"/>
                </a:solidFill>
                <a:latin typeface="Book Antiqua" pitchFamily="18" charset="0"/>
              </a:rPr>
              <a:t>example</a:t>
            </a:r>
            <a:endParaRPr lang="en-US" b="1" dirty="0">
              <a:solidFill>
                <a:srgbClr val="0070C0"/>
              </a:solidFill>
              <a:effectLst>
                <a:outerShdw blurRad="38100" dist="38100" dir="2700000" algn="tl">
                  <a:srgbClr val="000000">
                    <a:alpha val="43137"/>
                  </a:srgbClr>
                </a:outerShdw>
              </a:effectLst>
            </a:endParaRPr>
          </a:p>
        </p:txBody>
      </p:sp>
      <p:sp>
        <p:nvSpPr>
          <p:cNvPr id="7" name="Content Placeholder 2">
            <a:extLst>
              <a:ext uri="{FF2B5EF4-FFF2-40B4-BE49-F238E27FC236}">
                <a16:creationId xmlns:a16="http://schemas.microsoft.com/office/drawing/2014/main" id="{6AFC5AF6-A55C-89AF-5145-77D591DB3616}"/>
              </a:ext>
            </a:extLst>
          </p:cNvPr>
          <p:cNvSpPr txBox="1">
            <a:spLocks/>
          </p:cNvSpPr>
          <p:nvPr/>
        </p:nvSpPr>
        <p:spPr>
          <a:xfrm>
            <a:off x="609600" y="1565909"/>
            <a:ext cx="5859780" cy="4926331"/>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a:buFont typeface="Wingdings 2" panose="05020102010507070707" pitchFamily="18" charset="2"/>
              <a:buNone/>
            </a:pPr>
            <a:r>
              <a:rPr lang="en-US" altLang="en-US" sz="2200" b="1" dirty="0"/>
              <a:t>Problem statement: </a:t>
            </a:r>
            <a:r>
              <a:rPr lang="en-US" altLang="en-US" sz="2200" dirty="0"/>
              <a:t>“Our Company maintains a group of race cars. Our cars use some of our new 8-cylinder engines and new transmissions. Once the engines are assembled, the pistons, carburetor, and plugs cannot be swapped between engines due to changes caused by the high temperatures.</a:t>
            </a:r>
          </a:p>
          <a:p>
            <a:pPr marL="0" indent="0" algn="just">
              <a:buFont typeface="Wingdings 2" panose="05020102010507070707" pitchFamily="18" charset="2"/>
              <a:buNone/>
            </a:pPr>
            <a:r>
              <a:rPr lang="en-US" altLang="en-US" sz="2200" dirty="0"/>
              <a:t>“We want to keep records of the performance achieved by each engine in each car and each transmission in combination with each engine. Our drivers evaluate each car to give us their assessment of the handling. We need a system to track the configurations and the drivers’ assessments.”</a:t>
            </a:r>
          </a:p>
        </p:txBody>
      </p:sp>
      <p:pic>
        <p:nvPicPr>
          <p:cNvPr id="9" name="Picture 3">
            <a:extLst>
              <a:ext uri="{FF2B5EF4-FFF2-40B4-BE49-F238E27FC236}">
                <a16:creationId xmlns:a16="http://schemas.microsoft.com/office/drawing/2014/main" id="{83FBD406-0818-B0D4-3D2F-591B2796B49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777990" y="1985010"/>
            <a:ext cx="5184308" cy="384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2560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1798</TotalTime>
  <Words>1809</Words>
  <Application>Microsoft Office PowerPoint</Application>
  <PresentationFormat>Widescreen</PresentationFormat>
  <Paragraphs>264</Paragraphs>
  <Slides>22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Book Antiqua</vt:lpstr>
      <vt:lpstr>Calibri</vt:lpstr>
      <vt:lpstr>Gill Sans MT</vt:lpstr>
      <vt:lpstr>Helvetica</vt:lpstr>
      <vt:lpstr>Times</vt:lpstr>
      <vt:lpstr>Wingdings</vt:lpstr>
      <vt:lpstr>Wingdings 2</vt:lpstr>
      <vt:lpstr>Dividend</vt:lpstr>
      <vt:lpstr>PowerPoint Presentation</vt:lpstr>
      <vt:lpstr>CRC – Class responsibility collaborators</vt:lpstr>
      <vt:lpstr>CRC – Class responsibility collaborators</vt:lpstr>
      <vt:lpstr>CRC Process</vt:lpstr>
      <vt:lpstr>CRC Process</vt:lpstr>
      <vt:lpstr>Sample CRC card</vt:lpstr>
      <vt:lpstr>Class Diagram - Introduction</vt:lpstr>
      <vt:lpstr>Class</vt:lpstr>
      <vt:lpstr>Class Notation</vt:lpstr>
      <vt:lpstr>Attribute/operation visibility in class notation</vt:lpstr>
      <vt:lpstr>Modeling an Attribute</vt:lpstr>
      <vt:lpstr>Modeling an Operation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OOAD - Ch.01 - Why do We Model Things</dc:title>
  <dc:subject>Object Oriented Analysis and Design (OOAD)</dc:subject>
  <dc:creator>M. Mahmudul Hasan</dc:creator>
  <cp:lastModifiedBy>Mohaimen-Bin-Noor</cp:lastModifiedBy>
  <cp:revision>104</cp:revision>
  <cp:lastPrinted>2021-01-26T07:46:39Z</cp:lastPrinted>
  <dcterms:created xsi:type="dcterms:W3CDTF">2019-05-13T08:37:20Z</dcterms:created>
  <dcterms:modified xsi:type="dcterms:W3CDTF">2025-03-25T07:24:58Z</dcterms:modified>
</cp:coreProperties>
</file>