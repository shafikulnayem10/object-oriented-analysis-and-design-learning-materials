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7"/>
  </p:notesMasterIdLst>
  <p:sldIdLst>
    <p:sldId id="256" r:id="rId2"/>
    <p:sldId id="295" r:id="rId3"/>
    <p:sldId id="330" r:id="rId4"/>
    <p:sldId id="329" r:id="rId5"/>
    <p:sldId id="296" r:id="rId6"/>
    <p:sldId id="301" r:id="rId7"/>
    <p:sldId id="302" r:id="rId8"/>
    <p:sldId id="303" r:id="rId9"/>
    <p:sldId id="304" r:id="rId10"/>
    <p:sldId id="305" r:id="rId11"/>
    <p:sldId id="306" r:id="rId12"/>
    <p:sldId id="307" r:id="rId13"/>
    <p:sldId id="308" r:id="rId14"/>
    <p:sldId id="332" r:id="rId15"/>
    <p:sldId id="297" r:id="rId16"/>
    <p:sldId id="309" r:id="rId17"/>
    <p:sldId id="310" r:id="rId18"/>
    <p:sldId id="311" r:id="rId19"/>
    <p:sldId id="312" r:id="rId20"/>
    <p:sldId id="314" r:id="rId21"/>
    <p:sldId id="315" r:id="rId22"/>
    <p:sldId id="316" r:id="rId23"/>
    <p:sldId id="317" r:id="rId24"/>
    <p:sldId id="318" r:id="rId25"/>
    <p:sldId id="319" r:id="rId26"/>
    <p:sldId id="320" r:id="rId27"/>
    <p:sldId id="322" r:id="rId28"/>
    <p:sldId id="321" r:id="rId29"/>
    <p:sldId id="323" r:id="rId30"/>
    <p:sldId id="324" r:id="rId31"/>
    <p:sldId id="326" r:id="rId32"/>
    <p:sldId id="327" r:id="rId33"/>
    <p:sldId id="325" r:id="rId34"/>
    <p:sldId id="298" r:id="rId35"/>
    <p:sldId id="33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0" d="100"/>
          <a:sy n="60" d="100"/>
        </p:scale>
        <p:origin x="64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3/11/2025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3/11/2025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3/11/2025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3/11/2025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3/11/2025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3/11/2025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3/11/2025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3/11/2025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scholar.google.com/citations?user=VqMvaIIAAAAJ&amp;hl=en" TargetMode="External"/><Relationship Id="rId3" Type="http://schemas.openxmlformats.org/officeDocument/2006/relationships/hyperlink" Target="http://www.dit.hua.gr/~m.hasan"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www.linkedin.com/in/m-mahmudul-hasan-93043a87/" TargetMode="External"/><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image" Target="../media/image4.jpeg"/><Relationship Id="rId4" Type="http://schemas.openxmlformats.org/officeDocument/2006/relationships/hyperlink" Target="https://www.researchgate.net/profile/M_Mahmudul_Hasan" TargetMode="Externa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3</a:t>
            </a:r>
            <a:br>
              <a:rPr lang="en-US" sz="3000" dirty="0">
                <a:solidFill>
                  <a:srgbClr val="C00000"/>
                </a:solidFill>
              </a:rPr>
            </a:br>
            <a:br>
              <a:rPr lang="en-US" sz="3000" dirty="0">
                <a:solidFill>
                  <a:schemeClr val="tx2"/>
                </a:solidFill>
              </a:rPr>
            </a:br>
            <a:r>
              <a:rPr lang="en-US" sz="3000" dirty="0">
                <a:solidFill>
                  <a:schemeClr val="tx2"/>
                </a:solidFill>
              </a:rPr>
              <a:t>class diagram</a:t>
            </a: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 Mahmudul </a:t>
            </a:r>
            <a:r>
              <a:rPr lang="en-US" sz="2400" dirty="0" err="1">
                <a:solidFill>
                  <a:srgbClr val="7030A0"/>
                </a:solidFill>
              </a:rPr>
              <a:t>hasan</a:t>
            </a:r>
            <a:endParaRPr lang="en-US" sz="2400" dirty="0">
              <a:solidFill>
                <a:srgbClr val="7030A0"/>
              </a:solidFill>
            </a:endParaRPr>
          </a:p>
          <a:p>
            <a:r>
              <a:rPr lang="en-US" sz="2000" dirty="0">
                <a:solidFill>
                  <a:schemeClr val="tx1"/>
                </a:solidFill>
              </a:rPr>
              <a:t>Assistant Professor, CS, AIUB</a:t>
            </a:r>
          </a:p>
          <a:p>
            <a:r>
              <a:rPr lang="en-US" sz="2300" cap="none" dirty="0">
                <a:hlinkClick r:id="rId3"/>
              </a:rPr>
              <a:t>http://www.dit.hua.gr/~m.hasan</a:t>
            </a:r>
            <a:r>
              <a:rPr lang="en-US" sz="2300" cap="none" dirty="0"/>
              <a:t>   </a:t>
            </a:r>
          </a:p>
        </p:txBody>
      </p:sp>
      <p:pic>
        <p:nvPicPr>
          <p:cNvPr id="25" name="Picture 24">
            <a:hlinkClick r:id="rId4"/>
            <a:extLst>
              <a:ext uri="{FF2B5EF4-FFF2-40B4-BE49-F238E27FC236}">
                <a16:creationId xmlns:a16="http://schemas.microsoft.com/office/drawing/2014/main" id="{50ADB631-A102-4E27-9E4F-8BEAA32309AE}"/>
              </a:ext>
            </a:extLst>
          </p:cNvPr>
          <p:cNvPicPr>
            <a:picLocks noChangeAspect="1"/>
          </p:cNvPicPr>
          <p:nvPr/>
        </p:nvPicPr>
        <p:blipFill>
          <a:blip r:embed="rId5"/>
          <a:stretch>
            <a:fillRect/>
          </a:stretch>
        </p:blipFill>
        <p:spPr>
          <a:xfrm>
            <a:off x="4725936" y="5191026"/>
            <a:ext cx="775212" cy="762000"/>
          </a:xfrm>
          <a:prstGeom prst="rect">
            <a:avLst/>
          </a:prstGeom>
        </p:spPr>
      </p:pic>
      <p:pic>
        <p:nvPicPr>
          <p:cNvPr id="26" name="Picture 25">
            <a:hlinkClick r:id="rId6"/>
            <a:extLst>
              <a:ext uri="{FF2B5EF4-FFF2-40B4-BE49-F238E27FC236}">
                <a16:creationId xmlns:a16="http://schemas.microsoft.com/office/drawing/2014/main" id="{5178D95F-BBA9-4DB7-8929-D0378B8248EA}"/>
              </a:ext>
            </a:extLst>
          </p:cNvPr>
          <p:cNvPicPr>
            <a:picLocks noChangeAspect="1"/>
          </p:cNvPicPr>
          <p:nvPr/>
        </p:nvPicPr>
        <p:blipFill>
          <a:blip r:embed="rId7"/>
          <a:stretch>
            <a:fillRect/>
          </a:stretch>
        </p:blipFill>
        <p:spPr>
          <a:xfrm>
            <a:off x="8939933" y="5210199"/>
            <a:ext cx="1966006" cy="641961"/>
          </a:xfrm>
          <a:prstGeom prst="rect">
            <a:avLst/>
          </a:prstGeom>
        </p:spPr>
      </p:pic>
      <p:pic>
        <p:nvPicPr>
          <p:cNvPr id="27" name="Picture 26">
            <a:hlinkClick r:id="rId8"/>
            <a:extLst>
              <a:ext uri="{FF2B5EF4-FFF2-40B4-BE49-F238E27FC236}">
                <a16:creationId xmlns:a16="http://schemas.microsoft.com/office/drawing/2014/main" id="{6C55067C-425B-4011-BE53-FC42477C2FFE}"/>
              </a:ext>
            </a:extLst>
          </p:cNvPr>
          <p:cNvPicPr>
            <a:picLocks noChangeAspect="1"/>
          </p:cNvPicPr>
          <p:nvPr/>
        </p:nvPicPr>
        <p:blipFill>
          <a:blip r:embed="rId9"/>
          <a:stretch>
            <a:fillRect/>
          </a:stretch>
        </p:blipFill>
        <p:spPr>
          <a:xfrm>
            <a:off x="6058975" y="5279923"/>
            <a:ext cx="2465593" cy="542310"/>
          </a:xfrm>
          <a:prstGeom prst="rect">
            <a:avLst/>
          </a:prstGeom>
        </p:spPr>
      </p:pic>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10"/>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11"/>
          <a:srcRect/>
          <a:stretch>
            <a:fillRect/>
          </a:stretch>
        </p:blipFill>
        <p:spPr bwMode="auto">
          <a:xfrm>
            <a:off x="486697" y="5279921"/>
            <a:ext cx="3598606" cy="1080425"/>
          </a:xfrm>
          <a:prstGeom prst="rect">
            <a:avLst/>
          </a:prstGeom>
          <a:noFill/>
        </p:spPr>
      </p:pic>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2736" y="554192"/>
            <a:ext cx="11029950" cy="551938"/>
          </a:xfrm>
        </p:spPr>
        <p:txBody>
          <a:bodyPr/>
          <a:lstStyle/>
          <a:p>
            <a:pPr algn="ctr"/>
            <a:r>
              <a:rPr lang="en-US" altLang="en-US" b="1" dirty="0">
                <a:solidFill>
                  <a:srgbClr val="0070C0"/>
                </a:solidFill>
                <a:latin typeface="Book Antiqua" pitchFamily="18" charset="0"/>
              </a:rPr>
              <a:t>What  is  class?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07922" y="1113759"/>
            <a:ext cx="9926638" cy="4711853"/>
          </a:xfrm>
        </p:spPr>
        <p:txBody>
          <a:bodyPr>
            <a:noAutofit/>
          </a:bodyPr>
          <a:lstStyle/>
          <a:p>
            <a:pPr marL="514350" indent="-514350" eaLnBrk="0" hangingPunct="0">
              <a:buClr>
                <a:schemeClr val="accent1"/>
              </a:buClr>
              <a:buSzPct val="80000"/>
              <a:buFont typeface="Wingdings" pitchFamily="2" charset="2"/>
              <a:buChar char="q"/>
            </a:pPr>
            <a:r>
              <a:rPr lang="en-US" altLang="en-US" sz="2200" dirty="0">
                <a:solidFill>
                  <a:srgbClr val="7030A0"/>
                </a:solidFill>
                <a:latin typeface="+mj-lt"/>
              </a:rPr>
              <a:t>A class describes a group of objects with</a:t>
            </a:r>
          </a:p>
          <a:p>
            <a:pPr lvl="1" eaLnBrk="0" hangingPunct="0">
              <a:buSzPct val="90000"/>
              <a:buFont typeface="Wingdings" panose="05000000000000000000" pitchFamily="2" charset="2"/>
              <a:buChar char=""/>
            </a:pPr>
            <a:r>
              <a:rPr lang="en-US" altLang="en-US" sz="2200" dirty="0">
                <a:latin typeface="+mj-lt"/>
              </a:rPr>
              <a:t>  similar properties (attributes), </a:t>
            </a:r>
          </a:p>
          <a:p>
            <a:pPr lvl="1" eaLnBrk="0" hangingPunct="0">
              <a:buSzPct val="90000"/>
              <a:buFont typeface="Wingdings" panose="05000000000000000000" pitchFamily="2" charset="2"/>
              <a:buChar char=""/>
            </a:pPr>
            <a:r>
              <a:rPr lang="en-US" altLang="en-US" sz="2200" dirty="0">
                <a:latin typeface="+mj-lt"/>
              </a:rPr>
              <a:t>  common behavior (operations), </a:t>
            </a:r>
          </a:p>
          <a:p>
            <a:pPr lvl="1" eaLnBrk="0" hangingPunct="0">
              <a:buSzPct val="90000"/>
              <a:buFont typeface="Wingdings" panose="05000000000000000000" pitchFamily="2" charset="2"/>
              <a:buChar char=""/>
            </a:pPr>
            <a:r>
              <a:rPr lang="en-US" altLang="en-US" sz="2200" dirty="0">
                <a:latin typeface="+mj-lt"/>
              </a:rPr>
              <a:t>  common relationships to other objects, </a:t>
            </a:r>
          </a:p>
          <a:p>
            <a:pPr lvl="1" eaLnBrk="0" hangingPunct="0">
              <a:buSzPct val="90000"/>
              <a:buFont typeface="Wingdings" panose="05000000000000000000" pitchFamily="2" charset="2"/>
              <a:buChar char=""/>
            </a:pPr>
            <a:r>
              <a:rPr lang="en-US" altLang="en-US" sz="2200" dirty="0">
                <a:latin typeface="+mj-lt"/>
              </a:rPr>
              <a:t>  and common meaning (“semantics”).</a:t>
            </a:r>
          </a:p>
          <a:p>
            <a:pPr lvl="1" eaLnBrk="0" hangingPunct="0">
              <a:buSzPct val="90000"/>
              <a:buFont typeface="Wingdings" panose="05000000000000000000" pitchFamily="2" charset="2"/>
              <a:buChar char=""/>
            </a:pPr>
            <a:endParaRPr lang="en-US" altLang="en-US" sz="2200" dirty="0">
              <a:latin typeface="+mj-lt"/>
            </a:endParaRPr>
          </a:p>
          <a:p>
            <a:pPr eaLnBrk="0" hangingPunct="0">
              <a:buClr>
                <a:schemeClr val="accent1"/>
              </a:buClr>
              <a:buSzPct val="80000"/>
              <a:buFont typeface="Wingdings" pitchFamily="2" charset="2"/>
              <a:buChar char="q"/>
            </a:pPr>
            <a:r>
              <a:rPr lang="en-US" altLang="en-US" sz="2200" dirty="0">
                <a:latin typeface="+mj-lt"/>
              </a:rPr>
              <a:t> </a:t>
            </a:r>
            <a:r>
              <a:rPr lang="en-US" altLang="en-US" sz="2200" dirty="0">
                <a:solidFill>
                  <a:srgbClr val="7030A0"/>
                </a:solidFill>
                <a:latin typeface="+mj-lt"/>
              </a:rPr>
              <a:t>Examples</a:t>
            </a:r>
          </a:p>
          <a:p>
            <a:pPr lvl="1" eaLnBrk="0" hangingPunct="0">
              <a:buSzPct val="90000"/>
              <a:buFont typeface="Wingdings" panose="05000000000000000000" pitchFamily="2" charset="2"/>
              <a:buChar char=""/>
            </a:pPr>
            <a:r>
              <a:rPr lang="en-US" altLang="en-US" sz="2200" dirty="0">
                <a:solidFill>
                  <a:srgbClr val="000080"/>
                </a:solidFill>
                <a:latin typeface="+mj-lt"/>
              </a:rPr>
              <a:t>  Employee</a:t>
            </a:r>
            <a:r>
              <a:rPr lang="en-US" altLang="en-US" sz="2200" dirty="0">
                <a:latin typeface="+mj-lt"/>
              </a:rPr>
              <a:t>: </a:t>
            </a:r>
            <a:br>
              <a:rPr lang="en-US" altLang="en-US" sz="2200" dirty="0">
                <a:latin typeface="+mj-lt"/>
              </a:rPr>
            </a:br>
            <a:r>
              <a:rPr lang="en-US" altLang="en-US" sz="2200" dirty="0">
                <a:latin typeface="+mj-lt"/>
              </a:rPr>
              <a:t>  -  has a name, employee id, and department; </a:t>
            </a:r>
            <a:br>
              <a:rPr lang="en-US" altLang="en-US" sz="2200" dirty="0">
                <a:latin typeface="+mj-lt"/>
              </a:rPr>
            </a:br>
            <a:r>
              <a:rPr lang="en-US" altLang="en-US" sz="2200" dirty="0">
                <a:latin typeface="+mj-lt"/>
              </a:rPr>
              <a:t>  -  an employee works in one or more projects</a:t>
            </a:r>
            <a:endParaRPr lang="en-GB" altLang="en-US" sz="2200" dirty="0">
              <a:latin typeface="+mj-lt"/>
            </a:endParaRPr>
          </a:p>
        </p:txBody>
      </p:sp>
      <p:grpSp>
        <p:nvGrpSpPr>
          <p:cNvPr id="6" name="Group 5"/>
          <p:cNvGrpSpPr/>
          <p:nvPr/>
        </p:nvGrpSpPr>
        <p:grpSpPr>
          <a:xfrm>
            <a:off x="5282874" y="3264109"/>
            <a:ext cx="6375746" cy="2519362"/>
            <a:chOff x="2155826" y="4338638"/>
            <a:chExt cx="7974694" cy="2519362"/>
          </a:xfrm>
        </p:grpSpPr>
        <p:sp>
          <p:nvSpPr>
            <p:cNvPr id="7" name="Rectangle 6"/>
            <p:cNvSpPr>
              <a:spLocks noChangeArrowheads="1"/>
            </p:cNvSpPr>
            <p:nvPr/>
          </p:nvSpPr>
          <p:spPr bwMode="auto">
            <a:xfrm>
              <a:off x="4670426" y="4338638"/>
              <a:ext cx="2500313" cy="2519362"/>
            </a:xfrm>
            <a:prstGeom prst="rect">
              <a:avLst/>
            </a:prstGeom>
            <a:solidFill>
              <a:srgbClr val="FFFFCC"/>
            </a:solid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8" name="Rectangle 7"/>
            <p:cNvSpPr>
              <a:spLocks noChangeArrowheads="1"/>
            </p:cNvSpPr>
            <p:nvPr/>
          </p:nvSpPr>
          <p:spPr bwMode="auto">
            <a:xfrm>
              <a:off x="5203825" y="4338639"/>
              <a:ext cx="1194988" cy="307777"/>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pt-BR" altLang="en-US" sz="2000" b="1" dirty="0">
                  <a:solidFill>
                    <a:srgbClr val="000000"/>
                  </a:solidFill>
                  <a:latin typeface="Helvetica" panose="020B0604020202020204" pitchFamily="34" charset="0"/>
                </a:rPr>
                <a:t>Student</a:t>
              </a:r>
              <a:endParaRPr lang="pt-BR" altLang="en-US" sz="2000" dirty="0">
                <a:solidFill>
                  <a:srgbClr val="000000"/>
                </a:solidFill>
                <a:latin typeface="Helvetica" panose="020B0604020202020204" pitchFamily="34" charset="0"/>
              </a:endParaRPr>
            </a:p>
          </p:txBody>
        </p:sp>
        <p:sp>
          <p:nvSpPr>
            <p:cNvPr id="9" name="Rectangle 8"/>
            <p:cNvSpPr>
              <a:spLocks noChangeArrowheads="1"/>
            </p:cNvSpPr>
            <p:nvPr/>
          </p:nvSpPr>
          <p:spPr bwMode="auto">
            <a:xfrm>
              <a:off x="4670426" y="4719638"/>
              <a:ext cx="2500313" cy="21383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0" name="Rectangle 9"/>
            <p:cNvSpPr>
              <a:spLocks noChangeArrowheads="1"/>
            </p:cNvSpPr>
            <p:nvPr/>
          </p:nvSpPr>
          <p:spPr bwMode="auto">
            <a:xfrm>
              <a:off x="4670426" y="5557838"/>
              <a:ext cx="2500313" cy="13001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1" name="Rectangle 10"/>
            <p:cNvSpPr>
              <a:spLocks noChangeArrowheads="1"/>
            </p:cNvSpPr>
            <p:nvPr/>
          </p:nvSpPr>
          <p:spPr bwMode="auto">
            <a:xfrm>
              <a:off x="4746625" y="4719638"/>
              <a:ext cx="1674187"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Name</a:t>
              </a:r>
            </a:p>
            <a:p>
              <a:pPr>
                <a:lnSpc>
                  <a:spcPct val="90000"/>
                </a:lnSpc>
                <a:defRPr/>
              </a:pPr>
              <a:r>
                <a:rPr lang="pt-BR" sz="2000" dirty="0">
                  <a:solidFill>
                    <a:srgbClr val="000000"/>
                  </a:solidFill>
                  <a:latin typeface="Helvetica" pitchFamily="-128" charset="0"/>
                </a:rPr>
                <a:t>ID #</a:t>
              </a:r>
            </a:p>
            <a:p>
              <a:pPr>
                <a:lnSpc>
                  <a:spcPct val="90000"/>
                </a:lnSpc>
                <a:defRPr/>
              </a:pPr>
              <a:r>
                <a:rPr lang="pt-BR" sz="2000" dirty="0">
                  <a:solidFill>
                    <a:srgbClr val="000000"/>
                  </a:solidFill>
                  <a:latin typeface="Helvetica" pitchFamily="-128" charset="0"/>
                </a:rPr>
                <a:t>Department</a:t>
              </a:r>
            </a:p>
          </p:txBody>
        </p:sp>
        <p:sp>
          <p:nvSpPr>
            <p:cNvPr id="12" name="Rectangle 11"/>
            <p:cNvSpPr>
              <a:spLocks noChangeArrowheads="1"/>
            </p:cNvSpPr>
            <p:nvPr/>
          </p:nvSpPr>
          <p:spPr bwMode="auto">
            <a:xfrm>
              <a:off x="4746625" y="5634038"/>
              <a:ext cx="1924813"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Registration()</a:t>
              </a:r>
            </a:p>
            <a:p>
              <a:pPr>
                <a:lnSpc>
                  <a:spcPct val="90000"/>
                </a:lnSpc>
                <a:defRPr/>
              </a:pPr>
              <a:r>
                <a:rPr lang="pt-BR" sz="2000" dirty="0">
                  <a:solidFill>
                    <a:srgbClr val="000000"/>
                  </a:solidFill>
                  <a:latin typeface="Helvetica" pitchFamily="-128" charset="0"/>
                </a:rPr>
                <a:t>Assignment()</a:t>
              </a:r>
            </a:p>
            <a:p>
              <a:pPr>
                <a:lnSpc>
                  <a:spcPct val="90000"/>
                </a:lnSpc>
                <a:defRPr/>
              </a:pPr>
              <a:r>
                <a:rPr lang="pt-BR" sz="2000" dirty="0">
                  <a:solidFill>
                    <a:srgbClr val="000000"/>
                  </a:solidFill>
                  <a:latin typeface="Helvetica" pitchFamily="-128" charset="0"/>
                </a:rPr>
                <a:t>Exam Reult()</a:t>
              </a:r>
            </a:p>
          </p:txBody>
        </p:sp>
        <p:sp>
          <p:nvSpPr>
            <p:cNvPr id="13" name="Text Box 10"/>
            <p:cNvSpPr txBox="1">
              <a:spLocks noChangeArrowheads="1"/>
            </p:cNvSpPr>
            <p:nvPr/>
          </p:nvSpPr>
          <p:spPr bwMode="auto">
            <a:xfrm>
              <a:off x="7794626" y="4567239"/>
              <a:ext cx="2301875" cy="3968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Name (mandatory)</a:t>
              </a:r>
            </a:p>
          </p:txBody>
        </p:sp>
        <p:sp>
          <p:nvSpPr>
            <p:cNvPr id="14" name="Text Box 11"/>
            <p:cNvSpPr txBox="1">
              <a:spLocks noChangeArrowheads="1"/>
            </p:cNvSpPr>
            <p:nvPr/>
          </p:nvSpPr>
          <p:spPr bwMode="auto">
            <a:xfrm>
              <a:off x="2155826" y="4719639"/>
              <a:ext cx="1312863" cy="701675"/>
            </a:xfrm>
            <a:prstGeom prst="rect">
              <a:avLst/>
            </a:prstGeom>
            <a:noFill/>
            <a:ln w="9525">
              <a:noFill/>
              <a:miter lim="800000"/>
              <a:headEnd/>
              <a:tailEnd/>
            </a:ln>
            <a:effectLst/>
          </p:spPr>
          <p:txBody>
            <a:bodyPr wrap="none">
              <a:spAutoFit/>
            </a:bodyPr>
            <a:lstStyle/>
            <a:p>
              <a:pPr algn="ctr">
                <a:defRPr/>
              </a:pPr>
              <a:r>
                <a:rPr lang="pt-BR" sz="2000">
                  <a:solidFill>
                    <a:srgbClr val="FC0128"/>
                  </a:solidFill>
                  <a:latin typeface="Arial" charset="0"/>
                </a:rPr>
                <a:t>Attributes</a:t>
              </a:r>
            </a:p>
            <a:p>
              <a:pPr algn="ctr">
                <a:defRPr/>
              </a:pPr>
              <a:r>
                <a:rPr lang="pt-BR" sz="2000">
                  <a:solidFill>
                    <a:srgbClr val="FC0128"/>
                  </a:solidFill>
                  <a:latin typeface="Arial" charset="0"/>
                </a:rPr>
                <a:t> (optional)</a:t>
              </a:r>
            </a:p>
          </p:txBody>
        </p:sp>
        <p:sp>
          <p:nvSpPr>
            <p:cNvPr id="15" name="Line 12"/>
            <p:cNvSpPr>
              <a:spLocks noChangeShapeType="1"/>
            </p:cNvSpPr>
            <p:nvPr/>
          </p:nvSpPr>
          <p:spPr bwMode="auto">
            <a:xfrm>
              <a:off x="6651625" y="4491038"/>
              <a:ext cx="12192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6" name="Line 13"/>
            <p:cNvSpPr>
              <a:spLocks noChangeShapeType="1"/>
            </p:cNvSpPr>
            <p:nvPr/>
          </p:nvSpPr>
          <p:spPr bwMode="auto">
            <a:xfrm flipV="1">
              <a:off x="3451225" y="4872038"/>
              <a:ext cx="1295400" cy="2286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7" name="Text Box 14"/>
            <p:cNvSpPr txBox="1">
              <a:spLocks noChangeArrowheads="1"/>
            </p:cNvSpPr>
            <p:nvPr/>
          </p:nvSpPr>
          <p:spPr bwMode="auto">
            <a:xfrm>
              <a:off x="8703357" y="5745164"/>
              <a:ext cx="1427163" cy="7016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Operations</a:t>
              </a:r>
            </a:p>
            <a:p>
              <a:pPr>
                <a:defRPr/>
              </a:pPr>
              <a:r>
                <a:rPr lang="pt-BR" sz="2000" dirty="0">
                  <a:solidFill>
                    <a:srgbClr val="FC0128"/>
                  </a:solidFill>
                  <a:latin typeface="Arial" charset="0"/>
                </a:rPr>
                <a:t> (optional)</a:t>
              </a:r>
            </a:p>
          </p:txBody>
        </p:sp>
        <p:sp>
          <p:nvSpPr>
            <p:cNvPr id="18" name="Line 15"/>
            <p:cNvSpPr>
              <a:spLocks noChangeShapeType="1"/>
            </p:cNvSpPr>
            <p:nvPr/>
          </p:nvSpPr>
          <p:spPr bwMode="auto">
            <a:xfrm>
              <a:off x="7003715" y="5808760"/>
              <a:ext cx="1886523" cy="117377"/>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9" name="Line 16"/>
            <p:cNvSpPr>
              <a:spLocks noChangeShapeType="1"/>
            </p:cNvSpPr>
            <p:nvPr/>
          </p:nvSpPr>
          <p:spPr bwMode="auto">
            <a:xfrm>
              <a:off x="6844050" y="6046991"/>
              <a:ext cx="1985927" cy="41989"/>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0" name="Line 17"/>
            <p:cNvSpPr>
              <a:spLocks noChangeShapeType="1"/>
            </p:cNvSpPr>
            <p:nvPr/>
          </p:nvSpPr>
          <p:spPr bwMode="auto">
            <a:xfrm flipV="1">
              <a:off x="3451225" y="5100638"/>
              <a:ext cx="1295400" cy="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1" name="Line 18"/>
            <p:cNvSpPr>
              <a:spLocks noChangeShapeType="1"/>
            </p:cNvSpPr>
            <p:nvPr/>
          </p:nvSpPr>
          <p:spPr bwMode="auto">
            <a:xfrm>
              <a:off x="3451225" y="5100638"/>
              <a:ext cx="12954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2" name="Line 19"/>
            <p:cNvSpPr>
              <a:spLocks noChangeShapeType="1"/>
            </p:cNvSpPr>
            <p:nvPr/>
          </p:nvSpPr>
          <p:spPr bwMode="auto">
            <a:xfrm flipV="1">
              <a:off x="6708562" y="6295458"/>
              <a:ext cx="1992285" cy="58994"/>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grpSp>
      <p:sp>
        <p:nvSpPr>
          <p:cNvPr id="24" name="Slide Number Placeholder 3">
            <a:extLst>
              <a:ext uri="{FF2B5EF4-FFF2-40B4-BE49-F238E27FC236}">
                <a16:creationId xmlns:a16="http://schemas.microsoft.com/office/drawing/2014/main" id="{6D3A5343-953E-404C-906D-3AFBBA01DBD4}"/>
              </a:ext>
            </a:extLst>
          </p:cNvPr>
          <p:cNvSpPr txBox="1">
            <a:spLocks/>
          </p:cNvSpPr>
          <p:nvPr/>
        </p:nvSpPr>
        <p:spPr>
          <a:xfrm rot="5400000">
            <a:off x="11749548" y="265470"/>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25" name="Content Placeholder 2">
            <a:extLst>
              <a:ext uri="{FF2B5EF4-FFF2-40B4-BE49-F238E27FC236}">
                <a16:creationId xmlns:a16="http://schemas.microsoft.com/office/drawing/2014/main" id="{89ECE504-B724-448A-A5B8-4B5D10349464}"/>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3" name="Rectangle 22" descr="M. Mhahudul Hasan">
            <a:extLst>
              <a:ext uri="{FF2B5EF4-FFF2-40B4-BE49-F238E27FC236}">
                <a16:creationId xmlns:a16="http://schemas.microsoft.com/office/drawing/2014/main" id="{100099A1-C38F-4A49-BBC0-27E8ACE3E3C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26" name="Rectangle 25" descr="M. Mhahudul Hasan">
            <a:extLst>
              <a:ext uri="{FF2B5EF4-FFF2-40B4-BE49-F238E27FC236}">
                <a16:creationId xmlns:a16="http://schemas.microsoft.com/office/drawing/2014/main" id="{691EAADD-A85B-41E7-B8D8-8B67A6F71E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7" name="Rectangle 26" descr="M. Mhahudul Hasan">
            <a:extLst>
              <a:ext uri="{FF2B5EF4-FFF2-40B4-BE49-F238E27FC236}">
                <a16:creationId xmlns:a16="http://schemas.microsoft.com/office/drawing/2014/main" id="{5203ABA0-986A-45B3-A549-8574F807EEDE}"/>
              </a:ext>
            </a:extLst>
          </p:cNvPr>
          <p:cNvSpPr/>
          <p:nvPr/>
        </p:nvSpPr>
        <p:spPr>
          <a:xfrm>
            <a:off x="0" y="6651522"/>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400" y="613185"/>
            <a:ext cx="11029950" cy="448699"/>
          </a:xfrm>
        </p:spPr>
        <p:txBody>
          <a:bodyPr>
            <a:normAutofit fontScale="90000"/>
          </a:bodyPr>
          <a:lstStyle/>
          <a:p>
            <a:r>
              <a:rPr lang="en-US" altLang="en-US" b="1" dirty="0">
                <a:solidFill>
                  <a:srgbClr val="002060"/>
                </a:solidFill>
                <a:latin typeface="Book Antiqua" pitchFamily="18" charset="0"/>
              </a:rPr>
              <a:t>                                                      </a:t>
            </a:r>
            <a:r>
              <a:rPr lang="en-US" altLang="en-US" b="1" dirty="0" err="1">
                <a:solidFill>
                  <a:srgbClr val="002060"/>
                </a:solidFill>
                <a:latin typeface="Book Antiqua" pitchFamily="18" charset="0"/>
              </a:rPr>
              <a:t>Crc</a:t>
            </a:r>
            <a:r>
              <a:rPr lang="en-US" altLang="en-US" b="1" dirty="0">
                <a:solidFill>
                  <a:srgbClr val="002060"/>
                </a:solidFill>
                <a:latin typeface="Book Antiqua" pitchFamily="18" charset="0"/>
              </a:rPr>
              <a:t> card</a:t>
            </a:r>
            <a:endParaRPr lang="en-US" b="1" dirty="0">
              <a:solidFill>
                <a:srgbClr val="00206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78630" y="1480421"/>
            <a:ext cx="11233150" cy="849312"/>
          </a:xfrm>
        </p:spPr>
        <p:txBody>
          <a:bodyPr>
            <a:noAutofit/>
          </a:bodyPr>
          <a:lstStyle/>
          <a:p>
            <a:pPr>
              <a:buFont typeface="Wingdings" pitchFamily="2" charset="2"/>
              <a:buChar char="q"/>
            </a:pPr>
            <a:r>
              <a:rPr lang="en-US" altLang="en-US" sz="2000" b="1" dirty="0">
                <a:solidFill>
                  <a:srgbClr val="C00000"/>
                </a:solidFill>
                <a:latin typeface="+mj-lt"/>
              </a:rPr>
              <a:t>C</a:t>
            </a:r>
            <a:r>
              <a:rPr lang="en-US" altLang="en-US" sz="2000" dirty="0">
                <a:latin typeface="+mj-lt"/>
              </a:rPr>
              <a:t>lass </a:t>
            </a:r>
            <a:r>
              <a:rPr lang="en-US" altLang="en-US" sz="2000" b="1" dirty="0">
                <a:solidFill>
                  <a:srgbClr val="C00000"/>
                </a:solidFill>
                <a:latin typeface="+mj-lt"/>
              </a:rPr>
              <a:t>R</a:t>
            </a:r>
            <a:r>
              <a:rPr lang="en-US" altLang="en-US" sz="2000" dirty="0">
                <a:latin typeface="+mj-lt"/>
              </a:rPr>
              <a:t>esponsibility </a:t>
            </a:r>
            <a:r>
              <a:rPr lang="en-US" altLang="en-US" sz="2000" b="1" dirty="0">
                <a:solidFill>
                  <a:srgbClr val="C00000"/>
                </a:solidFill>
                <a:latin typeface="+mj-lt"/>
              </a:rPr>
              <a:t>C</a:t>
            </a:r>
            <a:r>
              <a:rPr lang="en-US" altLang="en-US" sz="2000" dirty="0">
                <a:latin typeface="+mj-lt"/>
              </a:rPr>
              <a:t>ollaboration</a:t>
            </a:r>
          </a:p>
          <a:p>
            <a:pPr>
              <a:buFont typeface="Wingdings" pitchFamily="2" charset="2"/>
              <a:buChar char="q"/>
            </a:pPr>
            <a:r>
              <a:rPr lang="en-US" altLang="en-US" sz="2000" dirty="0">
                <a:latin typeface="+mj-lt"/>
              </a:rPr>
              <a:t>CRC goals: provide the simplest possible conceptual introduction to OO design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88" y="2597822"/>
            <a:ext cx="5760721" cy="357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noChangeArrowheads="1"/>
          </p:cNvPicPr>
          <p:nvPr/>
        </p:nvPicPr>
        <p:blipFill>
          <a:blip r:embed="rId3"/>
          <a:srcRect/>
          <a:stretch>
            <a:fillRect/>
          </a:stretch>
        </p:blipFill>
        <p:spPr bwMode="auto">
          <a:xfrm>
            <a:off x="6677999" y="2580968"/>
            <a:ext cx="5029200" cy="3657600"/>
          </a:xfrm>
          <a:prstGeom prst="rect">
            <a:avLst/>
          </a:prstGeom>
          <a:noFill/>
          <a:ln w="12700">
            <a:noFill/>
            <a:miter lim="800000"/>
            <a:headEnd/>
            <a:tailEnd/>
          </a:ln>
        </p:spPr>
      </p:pic>
      <p:sp>
        <p:nvSpPr>
          <p:cNvPr id="8" name="Slide Number Placeholder 3">
            <a:extLst>
              <a:ext uri="{FF2B5EF4-FFF2-40B4-BE49-F238E27FC236}">
                <a16:creationId xmlns:a16="http://schemas.microsoft.com/office/drawing/2014/main" id="{145E2030-5BF4-40BA-A10C-9306DE1110CF}"/>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9" name="Content Placeholder 2">
            <a:extLst>
              <a:ext uri="{FF2B5EF4-FFF2-40B4-BE49-F238E27FC236}">
                <a16:creationId xmlns:a16="http://schemas.microsoft.com/office/drawing/2014/main" id="{B2A456F0-16A2-41F9-8846-203FDD4BF61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Rectangle 9" descr="M. Mhahudul Hasan">
            <a:extLst>
              <a:ext uri="{FF2B5EF4-FFF2-40B4-BE49-F238E27FC236}">
                <a16:creationId xmlns:a16="http://schemas.microsoft.com/office/drawing/2014/main" id="{DA2BB489-F6EE-4DDA-9814-3EE06A0577D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1" name="Rectangle 10" descr="M. Mhahudul Hasan">
            <a:extLst>
              <a:ext uri="{FF2B5EF4-FFF2-40B4-BE49-F238E27FC236}">
                <a16:creationId xmlns:a16="http://schemas.microsoft.com/office/drawing/2014/main" id="{3271837C-BBC3-4DC7-9BD9-B6786143B43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2" name="Rectangle 11" descr="M. Mhahudul Hasan">
            <a:extLst>
              <a:ext uri="{FF2B5EF4-FFF2-40B4-BE49-F238E27FC236}">
                <a16:creationId xmlns:a16="http://schemas.microsoft.com/office/drawing/2014/main" id="{0EAF3F8C-DCB3-4CB0-ADF7-9E9E471B2E0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2760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9" y="598436"/>
            <a:ext cx="11029950" cy="581435"/>
          </a:xfrm>
        </p:spPr>
        <p:txBody>
          <a:bodyPr/>
          <a:lstStyle/>
          <a:p>
            <a:pPr algn="ctr"/>
            <a:r>
              <a:rPr lang="en-US" altLang="en-US" b="1" dirty="0" err="1">
                <a:solidFill>
                  <a:srgbClr val="0070C0"/>
                </a:solidFill>
                <a:latin typeface="Book Antiqua" pitchFamily="18" charset="0"/>
              </a:rPr>
              <a:t>Crc</a:t>
            </a:r>
            <a:r>
              <a:rPr lang="en-US" altLang="en-US" b="1" dirty="0">
                <a:solidFill>
                  <a:srgbClr val="0070C0"/>
                </a:solidFill>
                <a:latin typeface="Book Antiqua" pitchFamily="18" charset="0"/>
              </a:rPr>
              <a:t>  card</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2655" y="1368527"/>
            <a:ext cx="10972597" cy="4722557"/>
          </a:xfrm>
        </p:spPr>
        <p:txBody>
          <a:bodyPr>
            <a:noAutofit/>
          </a:bodyPr>
          <a:lstStyle/>
          <a:p>
            <a:pPr marL="216512" indent="-292290">
              <a:buFont typeface="Wingdings" pitchFamily="2" charset="2"/>
              <a:buChar char="q"/>
              <a:defRPr/>
            </a:pPr>
            <a:r>
              <a:rPr lang="en-US" sz="2200" dirty="0">
                <a:latin typeface="+mj-lt"/>
              </a:rPr>
              <a:t>A CRC card is a 3-x-5" or 4-x-6" lined index card. </a:t>
            </a:r>
          </a:p>
          <a:p>
            <a:pPr marL="216512" indent="-292290">
              <a:buFont typeface="Wingdings" pitchFamily="2" charset="2"/>
              <a:buChar char="q"/>
              <a:defRPr/>
            </a:pPr>
            <a:r>
              <a:rPr lang="en-US" sz="2200" dirty="0">
                <a:solidFill>
                  <a:srgbClr val="C00000"/>
                </a:solidFill>
                <a:latin typeface="+mj-lt"/>
              </a:rPr>
              <a:t>The physical nature</a:t>
            </a:r>
            <a:r>
              <a:rPr lang="en-US" sz="2200" dirty="0">
                <a:latin typeface="+mj-lt"/>
              </a:rPr>
              <a:t> of the cards emphasizes the division of responsibility across objects. </a:t>
            </a:r>
          </a:p>
          <a:p>
            <a:pPr marL="216512" indent="-292290">
              <a:buFont typeface="Wingdings" pitchFamily="2" charset="2"/>
              <a:buChar char="q"/>
              <a:defRPr/>
            </a:pPr>
            <a:r>
              <a:rPr lang="en-US" sz="2200" dirty="0">
                <a:solidFill>
                  <a:srgbClr val="C00000"/>
                </a:solidFill>
                <a:latin typeface="+mj-lt"/>
              </a:rPr>
              <a:t>The physical size</a:t>
            </a:r>
            <a:r>
              <a:rPr lang="en-US" sz="2200" dirty="0">
                <a:latin typeface="+mj-lt"/>
              </a:rPr>
              <a:t> of the cards also helps to establish limits for the size and complexity of the classes. </a:t>
            </a:r>
          </a:p>
          <a:p>
            <a:pPr marL="216512" indent="-292290">
              <a:buFont typeface="Wingdings" pitchFamily="2" charset="2"/>
              <a:buChar char="q"/>
              <a:defRPr/>
            </a:pPr>
            <a:r>
              <a:rPr lang="en-US" sz="2200" dirty="0">
                <a:latin typeface="+mj-lt"/>
              </a:rPr>
              <a:t>The CRC card technique does not use the UML, instead it is used to discover information about classes </a:t>
            </a:r>
            <a:br>
              <a:rPr lang="en-US" sz="2200" dirty="0">
                <a:latin typeface="+mj-lt"/>
              </a:rPr>
            </a:br>
            <a:r>
              <a:rPr lang="en-US" sz="2200" dirty="0">
                <a:latin typeface="+mj-lt"/>
              </a:rPr>
              <a:t> that is then placed into a UML Class diagram.</a:t>
            </a:r>
          </a:p>
          <a:p>
            <a:pPr marL="216512" indent="-292290">
              <a:buFont typeface="Wingdings" pitchFamily="2" charset="2"/>
              <a:buChar char="q"/>
              <a:defRPr/>
            </a:pPr>
            <a:r>
              <a:rPr lang="en-US" sz="2200" dirty="0">
                <a:latin typeface="+mj-lt"/>
              </a:rPr>
              <a:t>The body of the card is divided in half. </a:t>
            </a:r>
          </a:p>
          <a:p>
            <a:pPr lvl="1" indent="-292290">
              <a:buFont typeface="Wingdings" pitchFamily="2" charset="2"/>
              <a:buChar char="§"/>
              <a:defRPr/>
            </a:pPr>
            <a:r>
              <a:rPr lang="en-US" sz="2200" dirty="0">
                <a:latin typeface="+mj-lt"/>
              </a:rPr>
              <a:t>The left column/half lists the responsibilities of the class</a:t>
            </a:r>
          </a:p>
          <a:p>
            <a:pPr lvl="1" indent="-292290">
              <a:buFont typeface="Wingdings" pitchFamily="2" charset="2"/>
              <a:buChar char="§"/>
              <a:defRPr/>
            </a:pPr>
            <a:r>
              <a:rPr lang="en-US" sz="2200" dirty="0">
                <a:latin typeface="+mj-lt"/>
              </a:rPr>
              <a:t>The right column/half lists the other objects that it works with, the collaborators, </a:t>
            </a:r>
            <a:br>
              <a:rPr lang="en-US" sz="2200" dirty="0">
                <a:latin typeface="+mj-lt"/>
              </a:rPr>
            </a:br>
            <a:r>
              <a:rPr lang="en-US" sz="2200" dirty="0">
                <a:latin typeface="+mj-lt"/>
              </a:rPr>
              <a:t>to fulfill each responsibility.</a:t>
            </a:r>
          </a:p>
        </p:txBody>
      </p:sp>
      <p:sp>
        <p:nvSpPr>
          <p:cNvPr id="5" name="Slide Number Placeholder 3">
            <a:extLst>
              <a:ext uri="{FF2B5EF4-FFF2-40B4-BE49-F238E27FC236}">
                <a16:creationId xmlns:a16="http://schemas.microsoft.com/office/drawing/2014/main" id="{A1731005-03BA-455E-978F-7CDDA46D107B}"/>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6" name="Content Placeholder 2">
            <a:extLst>
              <a:ext uri="{FF2B5EF4-FFF2-40B4-BE49-F238E27FC236}">
                <a16:creationId xmlns:a16="http://schemas.microsoft.com/office/drawing/2014/main" id="{D8CBD3A7-3D98-4CCC-9ADA-C069C8BAE5AE}"/>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D9554B4-0BEC-4C7C-ADAD-9DD9E034BA99}"/>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40493980-1119-46E1-BD7B-8CB122DFC82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98BE3DDE-888E-4386-9A02-13D58A4E61B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83988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80450"/>
            <a:ext cx="11029950" cy="566686"/>
          </a:xfrm>
        </p:spPr>
        <p:txBody>
          <a:bodyPr/>
          <a:lstStyle/>
          <a:p>
            <a:pPr algn="ctr"/>
            <a:r>
              <a:rPr lang="en-US" altLang="en-US" b="1" dirty="0">
                <a:solidFill>
                  <a:srgbClr val="0070C0"/>
                </a:solidFill>
                <a:latin typeface="Book Antiqua" pitchFamily="18" charset="0"/>
              </a:rPr>
              <a:t>             Class  Notation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3458" y="1158005"/>
            <a:ext cx="11400503" cy="5169053"/>
          </a:xfrm>
        </p:spPr>
        <p:txBody>
          <a:bodyPr>
            <a:noAutofit/>
          </a:bodyPr>
          <a:lstStyle/>
          <a:p>
            <a:pPr>
              <a:buFont typeface="Wingdings" pitchFamily="2" charset="2"/>
              <a:buChar char="q"/>
            </a:pPr>
            <a:r>
              <a:rPr lang="en-US" altLang="en-US" sz="2200" dirty="0">
                <a:latin typeface="+mj-lt"/>
              </a:rPr>
              <a:t>The Class diagram represents classes, their component parts, and the way in which classes of objects are related to one another.</a:t>
            </a:r>
          </a:p>
          <a:p>
            <a:pPr>
              <a:buFont typeface="Wingdings" pitchFamily="2" charset="2"/>
              <a:buChar char="q"/>
            </a:pPr>
            <a:r>
              <a:rPr lang="en-US" altLang="en-US" sz="2200" dirty="0">
                <a:latin typeface="+mj-lt"/>
              </a:rPr>
              <a:t>The Class diagram includes:</a:t>
            </a:r>
          </a:p>
          <a:p>
            <a:pPr>
              <a:buFont typeface="Wingdings" pitchFamily="2" charset="2"/>
              <a:buChar char="§"/>
            </a:pPr>
            <a:r>
              <a:rPr lang="en-US" altLang="en-US" sz="2200" dirty="0">
                <a:solidFill>
                  <a:srgbClr val="C00000"/>
                </a:solidFill>
                <a:latin typeface="+mj-lt"/>
              </a:rPr>
              <a:t>Attributes</a:t>
            </a:r>
            <a:r>
              <a:rPr lang="en-US" altLang="en-US" sz="2200" dirty="0">
                <a:latin typeface="+mj-lt"/>
              </a:rPr>
              <a:t> describe the appearance and knowledge of a class of objects (e.g., birds have wings).</a:t>
            </a:r>
          </a:p>
          <a:p>
            <a:pPr>
              <a:buFont typeface="Wingdings" pitchFamily="2" charset="2"/>
              <a:buChar char="§"/>
            </a:pPr>
            <a:r>
              <a:rPr lang="en-US" altLang="en-US" sz="2200" dirty="0">
                <a:solidFill>
                  <a:srgbClr val="C00000"/>
                </a:solidFill>
                <a:latin typeface="+mj-lt"/>
              </a:rPr>
              <a:t>Operations </a:t>
            </a:r>
            <a:r>
              <a:rPr lang="en-US" altLang="en-US" sz="2200" dirty="0">
                <a:latin typeface="+mj-lt"/>
              </a:rPr>
              <a:t>define the behavior that a class of objects can manifest (e.g., dog is barking).</a:t>
            </a:r>
          </a:p>
          <a:p>
            <a:pPr>
              <a:buFont typeface="Wingdings" pitchFamily="2" charset="2"/>
              <a:buChar char="§"/>
            </a:pPr>
            <a:r>
              <a:rPr lang="en-US" altLang="en-US" sz="2200" dirty="0">
                <a:solidFill>
                  <a:srgbClr val="C00000"/>
                </a:solidFill>
                <a:latin typeface="+mj-lt"/>
              </a:rPr>
              <a:t>Stereotypes</a:t>
            </a:r>
            <a:r>
              <a:rPr lang="en-US" altLang="en-US" sz="2200" dirty="0">
                <a:latin typeface="+mj-lt"/>
              </a:rPr>
              <a:t> help you understand this type of object in the context of other classes of objects with similar roles within the system’s design.</a:t>
            </a:r>
          </a:p>
          <a:p>
            <a:pPr>
              <a:buFont typeface="Wingdings" pitchFamily="2" charset="2"/>
              <a:buChar char="§"/>
            </a:pPr>
            <a:r>
              <a:rPr lang="en-US" altLang="en-US" sz="2200" dirty="0">
                <a:solidFill>
                  <a:srgbClr val="C00000"/>
                </a:solidFill>
                <a:latin typeface="+mj-lt"/>
              </a:rPr>
              <a:t>Properties</a:t>
            </a:r>
            <a:r>
              <a:rPr lang="en-US" altLang="en-US" sz="2200" dirty="0">
                <a:latin typeface="+mj-lt"/>
              </a:rPr>
              <a:t> provide a way to track the maintenance and status of the class definition</a:t>
            </a:r>
            <a:br>
              <a:rPr lang="en-US" altLang="en-US" sz="2200" dirty="0">
                <a:latin typeface="+mj-lt"/>
              </a:rPr>
            </a:br>
            <a:r>
              <a:rPr lang="en-US" altLang="en-US" sz="2200" dirty="0">
                <a:latin typeface="+mj-lt"/>
              </a:rPr>
              <a:t> (e.g., properties of a class attribute can be </a:t>
            </a:r>
            <a:r>
              <a:rPr lang="en-US" altLang="en-US" sz="2200" dirty="0">
                <a:solidFill>
                  <a:srgbClr val="7030A0"/>
                </a:solidFill>
                <a:latin typeface="+mj-lt"/>
              </a:rPr>
              <a:t>public/private/protected</a:t>
            </a:r>
            <a:r>
              <a:rPr lang="en-US" altLang="en-US" sz="2200" dirty="0">
                <a:latin typeface="+mj-lt"/>
              </a:rPr>
              <a:t>)</a:t>
            </a:r>
          </a:p>
          <a:p>
            <a:pPr>
              <a:buFont typeface="Wingdings" pitchFamily="2" charset="2"/>
              <a:buChar char="q"/>
            </a:pPr>
            <a:r>
              <a:rPr lang="en-US" sz="2200" dirty="0">
                <a:solidFill>
                  <a:srgbClr val="C00000"/>
                </a:solidFill>
              </a:rPr>
              <a:t>Classes are used to represent objects. Objects can be anything having properties and responsibility.</a:t>
            </a:r>
            <a:endParaRPr lang="en-US" altLang="en-US" sz="2200" dirty="0">
              <a:latin typeface="+mj-lt"/>
            </a:endParaRPr>
          </a:p>
        </p:txBody>
      </p:sp>
      <p:sp>
        <p:nvSpPr>
          <p:cNvPr id="7" name="Slide Number Placeholder 3">
            <a:extLst>
              <a:ext uri="{FF2B5EF4-FFF2-40B4-BE49-F238E27FC236}">
                <a16:creationId xmlns:a16="http://schemas.microsoft.com/office/drawing/2014/main" id="{B594681C-5272-435D-8A87-071A6C781D43}"/>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8" name="Content Placeholder 2">
            <a:extLst>
              <a:ext uri="{FF2B5EF4-FFF2-40B4-BE49-F238E27FC236}">
                <a16:creationId xmlns:a16="http://schemas.microsoft.com/office/drawing/2014/main" id="{BC5099A1-1D4B-496B-B360-8A81230F3BA9}"/>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5A8DC306-DB4C-42CE-BD74-0025E20DABD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9" name="Rectangle 8" descr="M. Mhahudul Hasan">
            <a:extLst>
              <a:ext uri="{FF2B5EF4-FFF2-40B4-BE49-F238E27FC236}">
                <a16:creationId xmlns:a16="http://schemas.microsoft.com/office/drawing/2014/main" id="{B3122E2B-3CF8-47AF-9675-92257620D5E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BE621983-2A9D-45E3-8971-1E27524736B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2538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0219" y="524695"/>
            <a:ext cx="11029950" cy="537190"/>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30123" y="1316191"/>
            <a:ext cx="11455400" cy="4270375"/>
          </a:xfrm>
        </p:spPr>
        <p:txBody>
          <a:bodyPr>
            <a:noAutofit/>
          </a:bodyPr>
          <a:lstStyle/>
          <a:p>
            <a:pPr>
              <a:buFont typeface="Wingdings" pitchFamily="2" charset="2"/>
              <a:buChar char="q"/>
            </a:pPr>
            <a:r>
              <a:rPr lang="en-US" altLang="en-US" sz="2200" dirty="0">
                <a:latin typeface="+mj-lt"/>
              </a:rPr>
              <a:t>An attribute describes a piece of information that an object owns or knows about itself.</a:t>
            </a:r>
          </a:p>
          <a:p>
            <a:pPr>
              <a:buFont typeface="Wingdings" pitchFamily="2" charset="2"/>
              <a:buChar char="q"/>
            </a:pPr>
            <a:r>
              <a:rPr lang="en-US" altLang="en-US" sz="2200" dirty="0">
                <a:latin typeface="+mj-lt"/>
              </a:rPr>
              <a:t> Attribute visibility:</a:t>
            </a:r>
            <a:endParaRPr lang="en-US" altLang="en-US" sz="2200" dirty="0">
              <a:solidFill>
                <a:srgbClr val="C00000"/>
              </a:solidFill>
              <a:latin typeface="+mj-lt"/>
            </a:endParaRPr>
          </a:p>
          <a:p>
            <a:pPr>
              <a:buFont typeface="Wingdings" pitchFamily="2" charset="2"/>
              <a:buChar char="§"/>
            </a:pPr>
            <a:r>
              <a:rPr lang="en-US" altLang="en-US" sz="2200" dirty="0">
                <a:solidFill>
                  <a:srgbClr val="C00000"/>
                </a:solidFill>
                <a:latin typeface="+mj-lt"/>
              </a:rPr>
              <a:t>Public (+) visibility</a:t>
            </a:r>
            <a:r>
              <a:rPr lang="en-US" altLang="en-US" sz="2200" dirty="0">
                <a:latin typeface="+mj-lt"/>
              </a:rPr>
              <a:t> allows access to objects of all other classes. Default accesses specifier. </a:t>
            </a:r>
          </a:p>
          <a:p>
            <a:pPr>
              <a:buFont typeface="Wingdings" pitchFamily="2" charset="2"/>
              <a:buChar char="§"/>
            </a:pPr>
            <a:r>
              <a:rPr lang="en-US" altLang="en-US" sz="2200" dirty="0">
                <a:solidFill>
                  <a:srgbClr val="C00000"/>
                </a:solidFill>
                <a:latin typeface="+mj-lt"/>
              </a:rPr>
              <a:t>Private (-) visibility </a:t>
            </a:r>
            <a:r>
              <a:rPr lang="en-US" altLang="en-US" sz="2200" dirty="0">
                <a:latin typeface="+mj-lt"/>
              </a:rPr>
              <a:t>limits access to within the class itself except </a:t>
            </a:r>
            <a:r>
              <a:rPr lang="en-US" altLang="en-US" sz="2200" dirty="0">
                <a:solidFill>
                  <a:srgbClr val="0070C0"/>
                </a:solidFill>
                <a:latin typeface="+mj-lt"/>
              </a:rPr>
              <a:t>friend function</a:t>
            </a:r>
            <a:r>
              <a:rPr lang="en-US" altLang="en-US" sz="2200" dirty="0">
                <a:latin typeface="+mj-lt"/>
              </a:rPr>
              <a:t>.</a:t>
            </a:r>
            <a:br>
              <a:rPr lang="en-US" altLang="en-US" sz="2200" dirty="0">
                <a:latin typeface="+mj-lt"/>
              </a:rPr>
            </a:br>
            <a:r>
              <a:rPr lang="en-US" altLang="en-US" sz="2200" dirty="0">
                <a:latin typeface="+mj-lt"/>
              </a:rPr>
              <a:t>For example, only operations of the class have access to a private attribute.</a:t>
            </a:r>
          </a:p>
          <a:p>
            <a:pPr>
              <a:buFont typeface="Wingdings" pitchFamily="2" charset="2"/>
              <a:buChar char="§"/>
            </a:pPr>
            <a:r>
              <a:rPr lang="en-US" altLang="en-US" sz="2200" dirty="0">
                <a:solidFill>
                  <a:srgbClr val="C00000"/>
                </a:solidFill>
                <a:latin typeface="+mj-lt"/>
              </a:rPr>
              <a:t>Protected (#) visibility </a:t>
            </a:r>
            <a:r>
              <a:rPr lang="en-US" altLang="en-US" sz="2200" dirty="0">
                <a:latin typeface="+mj-lt"/>
              </a:rPr>
              <a:t>allows access by subclasses. In case of </a:t>
            </a:r>
            <a:r>
              <a:rPr lang="en-US" altLang="en-US" sz="2200" dirty="0">
                <a:solidFill>
                  <a:srgbClr val="0070C0"/>
                </a:solidFill>
                <a:latin typeface="+mj-lt"/>
              </a:rPr>
              <a:t>generalizations</a:t>
            </a:r>
            <a:r>
              <a:rPr lang="en-US" altLang="en-US" sz="2200" dirty="0">
                <a:latin typeface="+mj-lt"/>
              </a:rPr>
              <a:t> (</a:t>
            </a:r>
            <a:r>
              <a:rPr lang="en-US" altLang="en-US" sz="2200" dirty="0">
                <a:solidFill>
                  <a:srgbClr val="7030A0"/>
                </a:solidFill>
                <a:latin typeface="+mj-lt"/>
              </a:rPr>
              <a:t>inheritance</a:t>
            </a:r>
            <a:r>
              <a:rPr lang="en-US" altLang="en-US" sz="2200" dirty="0">
                <a:latin typeface="+mj-lt"/>
              </a:rPr>
              <a:t>), subclasses must have access to the attributes and operations of the super-class or they cannot be inherited.</a:t>
            </a:r>
          </a:p>
          <a:p>
            <a:pPr>
              <a:buFont typeface="Wingdings" pitchFamily="2" charset="2"/>
              <a:buChar char="§"/>
            </a:pPr>
            <a:r>
              <a:rPr lang="en-US" altLang="en-US" sz="2200" dirty="0">
                <a:solidFill>
                  <a:srgbClr val="C00000"/>
                </a:solidFill>
                <a:latin typeface="+mj-lt"/>
              </a:rPr>
              <a:t>Package (~) visibility </a:t>
            </a:r>
            <a:r>
              <a:rPr lang="en-US" altLang="en-US" sz="2200" dirty="0">
                <a:latin typeface="+mj-lt"/>
              </a:rPr>
              <a:t>allows access to other objects in the same package.</a:t>
            </a:r>
          </a:p>
        </p:txBody>
      </p:sp>
      <p:sp>
        <p:nvSpPr>
          <p:cNvPr id="5" name="Slide Number Placeholder 3">
            <a:extLst>
              <a:ext uri="{FF2B5EF4-FFF2-40B4-BE49-F238E27FC236}">
                <a16:creationId xmlns:a16="http://schemas.microsoft.com/office/drawing/2014/main" id="{8A6FC450-7A51-4844-BCA0-004440EE9F4B}"/>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6" name="Content Placeholder 2">
            <a:extLst>
              <a:ext uri="{FF2B5EF4-FFF2-40B4-BE49-F238E27FC236}">
                <a16:creationId xmlns:a16="http://schemas.microsoft.com/office/drawing/2014/main" id="{1F8AF52D-7388-40CD-97AE-894D96B4E17B}"/>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5B7C077-6F25-4F2C-8197-C119CCC489D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AC7CE251-B39F-4BD7-B774-DC2F1A65218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DA020ABB-43DF-49E2-ABC1-7388E3F7B87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990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233" y="524694"/>
            <a:ext cx="11029950" cy="581435"/>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94148" y="1507920"/>
            <a:ext cx="11455400" cy="4584700"/>
          </a:xfrm>
        </p:spPr>
        <p:txBody>
          <a:bodyPr>
            <a:noAutofit/>
          </a:bodyPr>
          <a:lstStyle/>
          <a:p>
            <a:pPr>
              <a:buNone/>
            </a:pPr>
            <a:r>
              <a:rPr lang="en-US" altLang="en-US" sz="2800" b="1" dirty="0">
                <a:solidFill>
                  <a:srgbClr val="C00000"/>
                </a:solidFill>
                <a:latin typeface="+mj-lt"/>
              </a:rPr>
              <a:t>   </a:t>
            </a:r>
            <a:r>
              <a:rPr lang="en-US" altLang="en-US" sz="2800" b="1" u="sng" dirty="0">
                <a:solidFill>
                  <a:srgbClr val="C00000"/>
                </a:solidFill>
                <a:latin typeface="+mj-lt"/>
              </a:rPr>
              <a:t>visibility / attribute name : data type = default value {constraints}</a:t>
            </a:r>
            <a:br>
              <a:rPr lang="en-US" altLang="en-US" sz="3200" b="1" dirty="0">
                <a:solidFill>
                  <a:srgbClr val="C00000"/>
                </a:solidFill>
                <a:latin typeface="+mj-lt"/>
              </a:rPr>
            </a:br>
            <a:endParaRPr lang="en-US" altLang="en-US" sz="2000" b="1" dirty="0">
              <a:solidFill>
                <a:srgbClr val="C00000"/>
              </a:solidFill>
              <a:latin typeface="+mj-lt"/>
            </a:endParaRPr>
          </a:p>
          <a:p>
            <a:r>
              <a:rPr lang="en-US" altLang="en-US" sz="2200" dirty="0">
                <a:solidFill>
                  <a:srgbClr val="C00000"/>
                </a:solidFill>
                <a:latin typeface="+mj-lt"/>
              </a:rPr>
              <a:t>Visibility (+, -, #, ~): </a:t>
            </a:r>
            <a:r>
              <a:rPr lang="en-US" altLang="en-US" sz="2200" i="1" dirty="0">
                <a:latin typeface="+mj-lt"/>
              </a:rPr>
              <a:t>Required before code generation.</a:t>
            </a:r>
            <a:r>
              <a:rPr lang="en-US" altLang="en-US" sz="2200" dirty="0">
                <a:latin typeface="+mj-lt"/>
              </a:rPr>
              <a:t> The programming language will typically specify the valid options. For example, the minus sign represents the visibility “private” meaning only members of the class that defines the attribute may see the attribute.</a:t>
            </a:r>
          </a:p>
          <a:p>
            <a:r>
              <a:rPr lang="en-US" altLang="en-US" sz="2200" dirty="0">
                <a:latin typeface="+mj-lt"/>
              </a:rPr>
              <a:t> </a:t>
            </a:r>
            <a:r>
              <a:rPr lang="en-US" altLang="en-US" sz="2200" dirty="0">
                <a:solidFill>
                  <a:srgbClr val="C00000"/>
                </a:solidFill>
                <a:latin typeface="+mj-lt"/>
              </a:rPr>
              <a:t>Slash (/): </a:t>
            </a:r>
            <a:r>
              <a:rPr lang="en-US" altLang="en-US" sz="2200" dirty="0">
                <a:latin typeface="+mj-lt"/>
              </a:rPr>
              <a:t>The derived attribute indicator is </a:t>
            </a:r>
            <a:r>
              <a:rPr lang="en-US" altLang="en-US" sz="2200" i="1" dirty="0">
                <a:latin typeface="+mj-lt"/>
              </a:rPr>
              <a:t>Optional</a:t>
            </a:r>
            <a:r>
              <a:rPr lang="en-US" altLang="en-US" sz="2200" dirty="0">
                <a:latin typeface="+mj-lt"/>
              </a:rPr>
              <a:t>. Derived values may be computed or figured out using other data and a set of rules or formulas. Consequently, there are more design decisions that need to be addressed regarding the handling of this data. Often this flag is used as a placeholder until the design decisions resolve the handling of the data (C = A* B).</a:t>
            </a:r>
          </a:p>
          <a:p>
            <a:r>
              <a:rPr lang="en-US" altLang="en-US" sz="2200" dirty="0">
                <a:solidFill>
                  <a:srgbClr val="C00000"/>
                </a:solidFill>
                <a:latin typeface="+mj-lt"/>
              </a:rPr>
              <a:t>Attribute name: </a:t>
            </a:r>
            <a:r>
              <a:rPr lang="en-US" altLang="en-US" sz="2200" i="1" dirty="0">
                <a:latin typeface="+mj-lt"/>
              </a:rPr>
              <a:t>Required.</a:t>
            </a:r>
            <a:r>
              <a:rPr lang="en-US" altLang="en-US" sz="2200" dirty="0">
                <a:latin typeface="+mj-lt"/>
              </a:rPr>
              <a:t> Must be unique within the class. It is recommended that attribute name should be a </a:t>
            </a:r>
            <a:r>
              <a:rPr lang="en-US" altLang="en-US" sz="2200" dirty="0">
                <a:solidFill>
                  <a:srgbClr val="7030A0"/>
                </a:solidFill>
                <a:latin typeface="+mj-lt"/>
              </a:rPr>
              <a:t>meaningful name </a:t>
            </a:r>
            <a:r>
              <a:rPr lang="en-US" altLang="en-US" sz="2200" dirty="0">
                <a:latin typeface="+mj-lt"/>
              </a:rPr>
              <a:t>with the value it stores, i.e., at least </a:t>
            </a:r>
            <a:r>
              <a:rPr lang="en-US" altLang="en-US" sz="2200" dirty="0">
                <a:solidFill>
                  <a:srgbClr val="7030A0"/>
                </a:solidFill>
                <a:latin typeface="+mj-lt"/>
              </a:rPr>
              <a:t>three character </a:t>
            </a:r>
            <a:r>
              <a:rPr lang="en-US" altLang="en-US" sz="2200" dirty="0">
                <a:latin typeface="+mj-lt"/>
              </a:rPr>
              <a:t>long.</a:t>
            </a:r>
            <a:endParaRPr lang="en-US" altLang="en-US" sz="2000" dirty="0">
              <a:latin typeface="+mj-lt"/>
            </a:endParaRPr>
          </a:p>
        </p:txBody>
      </p:sp>
      <p:sp>
        <p:nvSpPr>
          <p:cNvPr id="5" name="Slide Number Placeholder 3">
            <a:extLst>
              <a:ext uri="{FF2B5EF4-FFF2-40B4-BE49-F238E27FC236}">
                <a16:creationId xmlns:a16="http://schemas.microsoft.com/office/drawing/2014/main" id="{10C053F0-63EF-4390-A33F-BA0B98D4B1DE}"/>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6" name="Content Placeholder 2">
            <a:extLst>
              <a:ext uri="{FF2B5EF4-FFF2-40B4-BE49-F238E27FC236}">
                <a16:creationId xmlns:a16="http://schemas.microsoft.com/office/drawing/2014/main" id="{80864EF7-1631-476A-A9C4-779F4E0694AB}"/>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C3883B59-C699-4687-A6A4-46D0A906F1B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55A3C9C5-DC9E-47B8-BCA5-93A5DCF0787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51BCB7D6-354E-414A-BD14-7BF053CC9E6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3705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7484" y="539443"/>
            <a:ext cx="11029950" cy="566686"/>
          </a:xfrm>
        </p:spPr>
        <p:txBody>
          <a:bodyPr>
            <a:normAutofit/>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97387" y="1301442"/>
            <a:ext cx="11455400" cy="4754563"/>
          </a:xfrm>
        </p:spPr>
        <p:txBody>
          <a:bodyPr>
            <a:noAutofit/>
          </a:bodyPr>
          <a:lstStyle/>
          <a:p>
            <a:pPr>
              <a:buNone/>
            </a:pPr>
            <a:endParaRPr lang="en-US" altLang="en-US" sz="2200" dirty="0">
              <a:latin typeface="Bell MT" pitchFamily="18" charset="0"/>
            </a:endParaRPr>
          </a:p>
          <a:p>
            <a:r>
              <a:rPr lang="en-US" altLang="en-US" sz="2200" dirty="0">
                <a:solidFill>
                  <a:srgbClr val="C00000"/>
                </a:solidFill>
                <a:latin typeface="+mj-lt"/>
              </a:rPr>
              <a:t>Data type: </a:t>
            </a:r>
            <a:r>
              <a:rPr lang="en-US" altLang="en-US" sz="2200" i="1" dirty="0">
                <a:latin typeface="+mj-lt"/>
              </a:rPr>
              <a:t>Required.</a:t>
            </a:r>
            <a:r>
              <a:rPr lang="en-US" altLang="en-US" sz="2200" dirty="0">
                <a:latin typeface="+mj-lt"/>
              </a:rPr>
              <a:t> During analysis, the data type should reflect how the client sees the data. You could think of this as the external view. During design, the data type will need to represent the programming language data type for the environment in which the class will be coded. These two pieces of information can give the programmer some very specific insights for the coding of get and set methods to support access to the attribute value.</a:t>
            </a:r>
          </a:p>
          <a:p>
            <a:r>
              <a:rPr lang="en-US" altLang="en-US" sz="2200" dirty="0">
                <a:solidFill>
                  <a:srgbClr val="C00000"/>
                </a:solidFill>
                <a:latin typeface="+mj-lt"/>
              </a:rPr>
              <a:t>Assignment operator and default value: </a:t>
            </a:r>
            <a:r>
              <a:rPr lang="en-US" altLang="en-US" sz="2200" i="1" dirty="0">
                <a:latin typeface="+mj-lt"/>
              </a:rPr>
              <a:t>Optional.</a:t>
            </a:r>
            <a:r>
              <a:rPr lang="en-US" altLang="en-US" sz="2200" dirty="0">
                <a:latin typeface="+mj-lt"/>
              </a:rPr>
              <a:t> Default values (</a:t>
            </a:r>
            <a:r>
              <a:rPr lang="en-US" altLang="en-US" sz="2200" dirty="0">
                <a:solidFill>
                  <a:srgbClr val="7030A0"/>
                </a:solidFill>
                <a:latin typeface="+mj-lt"/>
              </a:rPr>
              <a:t>usually zero</a:t>
            </a:r>
            <a:r>
              <a:rPr lang="en-US" altLang="en-US" sz="2200" dirty="0">
                <a:latin typeface="+mj-lt"/>
              </a:rPr>
              <a:t>) serve two valuable purposes. </a:t>
            </a:r>
          </a:p>
          <a:p>
            <a:pPr>
              <a:buNone/>
            </a:pPr>
            <a:r>
              <a:rPr lang="en-US" altLang="en-US" sz="2200" dirty="0">
                <a:latin typeface="+mj-lt"/>
              </a:rPr>
              <a:t>    -  First, default values can provide significant ease-of-use improvements for the client.</a:t>
            </a:r>
            <a:br>
              <a:rPr lang="en-US" altLang="en-US" sz="2200" dirty="0">
                <a:latin typeface="+mj-lt"/>
              </a:rPr>
            </a:br>
            <a:r>
              <a:rPr lang="en-US" altLang="en-US" sz="2200" dirty="0">
                <a:latin typeface="+mj-lt"/>
              </a:rPr>
              <a:t>-  Second and more importantly, they </a:t>
            </a:r>
            <a:r>
              <a:rPr lang="en-US" altLang="en-US" sz="2200" dirty="0">
                <a:solidFill>
                  <a:srgbClr val="7030A0"/>
                </a:solidFill>
                <a:latin typeface="+mj-lt"/>
              </a:rPr>
              <a:t>protect the integrity of the system from being corrupted </a:t>
            </a:r>
            <a:br>
              <a:rPr lang="en-US" altLang="en-US" sz="2200" dirty="0">
                <a:solidFill>
                  <a:srgbClr val="7030A0"/>
                </a:solidFill>
                <a:latin typeface="+mj-lt"/>
              </a:rPr>
            </a:br>
            <a:r>
              <a:rPr lang="en-US" altLang="en-US" sz="2200" dirty="0">
                <a:solidFill>
                  <a:srgbClr val="7030A0"/>
                </a:solidFill>
                <a:latin typeface="+mj-lt"/>
              </a:rPr>
              <a:t>     by missing or invalid values.</a:t>
            </a:r>
            <a:br>
              <a:rPr lang="en-US" altLang="en-US" sz="2200" dirty="0">
                <a:latin typeface="+mj-lt"/>
              </a:rPr>
            </a:br>
            <a:r>
              <a:rPr lang="en-US" altLang="en-US" sz="2200" dirty="0">
                <a:latin typeface="+mj-lt"/>
              </a:rPr>
              <a:t>-  A common example is the tendency to let numeric attributes default to zero. If the application </a:t>
            </a:r>
            <a:br>
              <a:rPr lang="en-US" altLang="en-US" sz="2200" dirty="0">
                <a:latin typeface="+mj-lt"/>
              </a:rPr>
            </a:br>
            <a:r>
              <a:rPr lang="en-US" altLang="en-US" sz="2200" dirty="0">
                <a:latin typeface="+mj-lt"/>
              </a:rPr>
              <a:t>   ever attempts to divide using this value, you will have to handle resulting errors that could </a:t>
            </a:r>
            <a:br>
              <a:rPr lang="en-US" altLang="en-US" sz="2200" dirty="0">
                <a:latin typeface="+mj-lt"/>
              </a:rPr>
            </a:br>
            <a:r>
              <a:rPr lang="en-US" altLang="en-US" sz="2200" dirty="0">
                <a:latin typeface="+mj-lt"/>
              </a:rPr>
              <a:t>   have been avoided easily with the use of a default.</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C64DA752-9C8F-46FD-A8BE-376D0B78B2E4}"/>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6" name="Content Placeholder 2">
            <a:extLst>
              <a:ext uri="{FF2B5EF4-FFF2-40B4-BE49-F238E27FC236}">
                <a16:creationId xmlns:a16="http://schemas.microsoft.com/office/drawing/2014/main" id="{8032ABAA-46E3-4B52-9989-FBFA2B48C984}"/>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B8ABCFC-CE8B-4F40-BE35-E326C4CCD76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5190B832-2E56-4E07-B4F6-41F358B9812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674EBE78-DDFD-4DFB-B278-9B846BA5DA0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78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4968" y="495197"/>
            <a:ext cx="11029950" cy="581435"/>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38393" y="1463675"/>
            <a:ext cx="11455400" cy="2768600"/>
          </a:xfrm>
        </p:spPr>
        <p:txBody>
          <a:bodyPr>
            <a:noAutofit/>
          </a:bodyPr>
          <a:lstStyle/>
          <a:p>
            <a:pPr>
              <a:buNone/>
            </a:pPr>
            <a:endParaRPr lang="en-US" altLang="en-US" sz="2200" dirty="0">
              <a:latin typeface="Bell MT" pitchFamily="18" charset="0"/>
            </a:endParaRPr>
          </a:p>
          <a:p>
            <a:r>
              <a:rPr lang="en-US" altLang="en-US" sz="2200" dirty="0">
                <a:solidFill>
                  <a:srgbClr val="C00000"/>
                </a:solidFill>
                <a:latin typeface="+mj-lt"/>
              </a:rPr>
              <a:t>Constraints: </a:t>
            </a:r>
            <a:r>
              <a:rPr lang="en-US" altLang="en-US" sz="2200" dirty="0">
                <a:latin typeface="+mj-lt"/>
              </a:rPr>
              <a:t>Constraints express all the </a:t>
            </a:r>
            <a:r>
              <a:rPr lang="en-US" altLang="en-US" sz="2200" dirty="0">
                <a:solidFill>
                  <a:srgbClr val="0070C0"/>
                </a:solidFill>
                <a:latin typeface="+mj-lt"/>
              </a:rPr>
              <a:t>rules required </a:t>
            </a:r>
            <a:r>
              <a:rPr lang="en-US" altLang="en-US" sz="2200" dirty="0">
                <a:latin typeface="+mj-lt"/>
              </a:rPr>
              <a:t>to guarantee the integrity of this piece of information.  Any time another object tries to alter the attribute value, it must pass the rules established in the constraints. The constraints are typically implemented/enforced in any method that attempts to set the attribute value, e.g. </a:t>
            </a:r>
            <a:r>
              <a:rPr lang="en-US" altLang="en-US" sz="2200" dirty="0">
                <a:solidFill>
                  <a:srgbClr val="0070C0"/>
                </a:solidFill>
                <a:latin typeface="+mj-lt"/>
              </a:rPr>
              <a:t>{ID is assign by the system}</a:t>
            </a:r>
          </a:p>
          <a:p>
            <a:r>
              <a:rPr lang="en-US" altLang="en-US" sz="2200" dirty="0">
                <a:solidFill>
                  <a:srgbClr val="C00000"/>
                </a:solidFill>
                <a:latin typeface="+mj-lt"/>
              </a:rPr>
              <a:t>Static Class level attribute (underlined attribute declaration): </a:t>
            </a:r>
            <a:r>
              <a:rPr lang="en-US" altLang="en-US" sz="2200" i="1" dirty="0">
                <a:latin typeface="+mj-lt"/>
              </a:rPr>
              <a:t>Optional.</a:t>
            </a:r>
            <a:r>
              <a:rPr lang="en-US" altLang="en-US" sz="2200" dirty="0">
                <a:latin typeface="+mj-lt"/>
              </a:rPr>
              <a:t> Denotes that all </a:t>
            </a:r>
            <a:r>
              <a:rPr lang="en-US" altLang="en-US" sz="2200" dirty="0">
                <a:solidFill>
                  <a:srgbClr val="7030A0"/>
                </a:solidFill>
                <a:latin typeface="+mj-lt"/>
              </a:rPr>
              <a:t>objects of the class share a single value for the attribute</a:t>
            </a:r>
            <a:r>
              <a:rPr lang="en-US" altLang="en-US" sz="2200" dirty="0">
                <a:latin typeface="+mj-lt"/>
              </a:rPr>
              <a:t>. (This is called a </a:t>
            </a:r>
            <a:r>
              <a:rPr lang="en-US" altLang="en-US" sz="2200" i="1" dirty="0">
                <a:latin typeface="+mj-lt"/>
              </a:rPr>
              <a:t>static </a:t>
            </a:r>
            <a:r>
              <a:rPr lang="en-US" altLang="en-US" sz="2200" dirty="0">
                <a:latin typeface="+mj-lt"/>
              </a:rPr>
              <a:t>value in Java.)</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6998A5D5-5310-42DE-B456-E66B88E18A75}"/>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6" name="Content Placeholder 2">
            <a:extLst>
              <a:ext uri="{FF2B5EF4-FFF2-40B4-BE49-F238E27FC236}">
                <a16:creationId xmlns:a16="http://schemas.microsoft.com/office/drawing/2014/main" id="{A88B8EBD-6F44-4A09-9DF1-7A2789BCAA2A}"/>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8A4A54B7-B8F8-4C89-90DF-BA48A4FC5DD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88179143-007D-4905-A1DB-0F1A11815D9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5BA322F7-00DA-4980-8D19-646800477F9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513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9443"/>
            <a:ext cx="11029950" cy="537190"/>
          </a:xfrm>
        </p:spPr>
        <p:txBody>
          <a:body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1051" y="1375134"/>
            <a:ext cx="11456987" cy="2470150"/>
          </a:xfrm>
        </p:spPr>
        <p:txBody>
          <a:bodyPr>
            <a:noAutofit/>
          </a:bodyPr>
          <a:lstStyle/>
          <a:p>
            <a:pPr>
              <a:buNone/>
            </a:pPr>
            <a:endParaRPr lang="en-US" altLang="en-US" sz="2200" dirty="0">
              <a:latin typeface="Bell MT" pitchFamily="18" charset="0"/>
            </a:endParaRPr>
          </a:p>
          <a:p>
            <a:pPr>
              <a:buFont typeface="Wingdings" pitchFamily="2" charset="2"/>
              <a:buChar char="q"/>
            </a:pPr>
            <a:r>
              <a:rPr lang="en-US" altLang="en-US" sz="2200" dirty="0">
                <a:latin typeface="+mj-lt"/>
              </a:rPr>
              <a:t>Objects have behaviors, things they can do and things that can be done to them. These behaviors are modeled as operations.</a:t>
            </a:r>
          </a:p>
          <a:p>
            <a:pPr>
              <a:buFont typeface="Wingdings" pitchFamily="2" charset="2"/>
              <a:buChar char="q"/>
            </a:pPr>
            <a:r>
              <a:rPr lang="en-US" altLang="en-US" sz="2200" dirty="0">
                <a:latin typeface="+mj-lt"/>
              </a:rPr>
              <a:t>Operations require a name, arguments, and sometimes a return. </a:t>
            </a:r>
          </a:p>
          <a:p>
            <a:pPr>
              <a:buFont typeface="Wingdings" pitchFamily="2" charset="2"/>
              <a:buChar char="q"/>
            </a:pPr>
            <a:r>
              <a:rPr lang="en-US" altLang="en-US" sz="2200" dirty="0">
                <a:latin typeface="+mj-lt"/>
              </a:rPr>
              <a:t>Arguments, or input parameters, are simply attributes, so they are specified using the attribute notation (name, data type, constraints, and default), although it is very common to use the abbreviated form of name and data type only.</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DFD5FB63-C8CC-4CD3-8668-145E5258D4A2}"/>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6" name="Content Placeholder 2">
            <a:extLst>
              <a:ext uri="{FF2B5EF4-FFF2-40B4-BE49-F238E27FC236}">
                <a16:creationId xmlns:a16="http://schemas.microsoft.com/office/drawing/2014/main" id="{9EA25DBA-C6CF-4C5F-B94F-D7EB8B008021}"/>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AD8EF163-35CA-44F3-A2F0-050761E2DB8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D47F68FE-9BD1-4945-AA32-7DAB492CC54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872FF4C7-FF32-4F4B-938F-18015C809FD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7715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397387" y="608268"/>
            <a:ext cx="11455400" cy="5674546"/>
          </a:xfrm>
        </p:spPr>
        <p:txBody>
          <a:bodyPr>
            <a:noAutofit/>
          </a:bodyPr>
          <a:lstStyle/>
          <a:p>
            <a:pPr>
              <a:buNone/>
            </a:pPr>
            <a:endParaRPr lang="en-US" altLang="en-US" sz="2000" dirty="0">
              <a:latin typeface="Bell MT" pitchFamily="18" charset="0"/>
            </a:endParaRPr>
          </a:p>
          <a:p>
            <a:pPr algn="ctr">
              <a:buNone/>
            </a:pPr>
            <a:r>
              <a:rPr lang="en-US" altLang="en-US" sz="2800" b="1" u="sng" dirty="0">
                <a:solidFill>
                  <a:srgbClr val="C00000"/>
                </a:solidFill>
                <a:latin typeface="+mj-lt"/>
              </a:rPr>
              <a:t>visibility </a:t>
            </a:r>
            <a:r>
              <a:rPr lang="en-US" altLang="en-US" sz="2800" b="1" u="sng" dirty="0" err="1">
                <a:solidFill>
                  <a:srgbClr val="C00000"/>
                </a:solidFill>
                <a:latin typeface="+mj-lt"/>
              </a:rPr>
              <a:t>operationName</a:t>
            </a:r>
            <a:r>
              <a:rPr lang="en-US" altLang="en-US" sz="2800" b="1" u="sng" dirty="0">
                <a:solidFill>
                  <a:srgbClr val="C00000"/>
                </a:solidFill>
                <a:latin typeface="+mj-lt"/>
              </a:rPr>
              <a:t> ( </a:t>
            </a:r>
            <a:r>
              <a:rPr lang="en-US" altLang="en-US" sz="2800" b="1" u="sng" dirty="0" err="1">
                <a:solidFill>
                  <a:srgbClr val="C00000"/>
                </a:solidFill>
                <a:latin typeface="+mj-lt"/>
              </a:rPr>
              <a:t>argname</a:t>
            </a:r>
            <a:r>
              <a:rPr lang="en-US" altLang="en-US" sz="2800" b="1" u="sng" dirty="0">
                <a:solidFill>
                  <a:srgbClr val="C00000"/>
                </a:solidFill>
                <a:latin typeface="+mj-lt"/>
              </a:rPr>
              <a:t> : data type {constraints}, ...) : return data type {constraints}</a:t>
            </a:r>
          </a:p>
          <a:p>
            <a:r>
              <a:rPr lang="en-US" altLang="en-US" sz="2200" dirty="0">
                <a:solidFill>
                  <a:srgbClr val="C00000"/>
                </a:solidFill>
                <a:latin typeface="+mj-lt"/>
              </a:rPr>
              <a:t>Visibility (+, -, #, ~): </a:t>
            </a:r>
            <a:r>
              <a:rPr lang="en-US" altLang="en-US" sz="2200" i="1" dirty="0">
                <a:latin typeface="+mj-lt"/>
              </a:rPr>
              <a:t>Required before code generation.</a:t>
            </a:r>
            <a:r>
              <a:rPr lang="en-US" altLang="en-US" sz="2200" dirty="0">
                <a:latin typeface="+mj-lt"/>
              </a:rPr>
              <a:t> The visibility values are defined by the programming language, but typically include public (+), private (-), protected (#), and package (~).</a:t>
            </a:r>
            <a:endParaRPr lang="en-US" altLang="en-US" sz="2200" dirty="0">
              <a:solidFill>
                <a:srgbClr val="C00000"/>
              </a:solidFill>
              <a:latin typeface="+mj-lt"/>
            </a:endParaRPr>
          </a:p>
          <a:p>
            <a:r>
              <a:rPr lang="en-US" altLang="en-US" sz="2200" dirty="0">
                <a:solidFill>
                  <a:srgbClr val="C00000"/>
                </a:solidFill>
                <a:latin typeface="+mj-lt"/>
              </a:rPr>
              <a:t>Operation name: </a:t>
            </a:r>
            <a:r>
              <a:rPr lang="en-US" altLang="en-US" sz="2200" i="1" dirty="0">
                <a:latin typeface="+mj-lt"/>
              </a:rPr>
              <a:t>Required</a:t>
            </a:r>
            <a:r>
              <a:rPr lang="en-US" altLang="en-US" sz="2200" dirty="0">
                <a:latin typeface="+mj-lt"/>
              </a:rPr>
              <a:t>. Does not have to be unique, but the combination of name and parameters does need to be unique within a class.</a:t>
            </a:r>
          </a:p>
          <a:p>
            <a:r>
              <a:rPr lang="en-US" altLang="en-US" sz="2200" dirty="0">
                <a:solidFill>
                  <a:srgbClr val="C00000"/>
                </a:solidFill>
                <a:latin typeface="+mj-lt"/>
              </a:rPr>
              <a:t>Arguments/parameters:</a:t>
            </a:r>
            <a:r>
              <a:rPr lang="en-US" altLang="en-US" sz="2200" dirty="0">
                <a:latin typeface="+mj-lt"/>
              </a:rPr>
              <a:t> Parameter is the list of arguments. Any number of arguments is allowed in the parameter. Each argument requires an identifier and a data type. Constraints may be used to define the valid set of values that may be passed in the argument. But constraints are not supported in many tools and will not be reflected in the code for the operation, at least not at this point. </a:t>
            </a:r>
            <a:endParaRPr lang="en-US" altLang="en-US" sz="2000" dirty="0">
              <a:latin typeface="+mj-lt"/>
            </a:endParaRPr>
          </a:p>
        </p:txBody>
      </p:sp>
      <p:sp>
        <p:nvSpPr>
          <p:cNvPr id="7" name="Title 1">
            <a:extLst>
              <a:ext uri="{FF2B5EF4-FFF2-40B4-BE49-F238E27FC236}">
                <a16:creationId xmlns:a16="http://schemas.microsoft.com/office/drawing/2014/main" id="{4786EB75-9973-40B8-8861-4941A1A191E7}"/>
              </a:ext>
            </a:extLst>
          </p:cNvPr>
          <p:cNvSpPr txBox="1">
            <a:spLocks/>
          </p:cNvSpPr>
          <p:nvPr/>
        </p:nvSpPr>
        <p:spPr>
          <a:xfrm>
            <a:off x="0" y="539443"/>
            <a:ext cx="11029950" cy="53719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5" name="Slide Number Placeholder 3">
            <a:extLst>
              <a:ext uri="{FF2B5EF4-FFF2-40B4-BE49-F238E27FC236}">
                <a16:creationId xmlns:a16="http://schemas.microsoft.com/office/drawing/2014/main" id="{D9C1E53C-D875-491A-96C8-F14C57758694}"/>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6" name="Content Placeholder 2">
            <a:extLst>
              <a:ext uri="{FF2B5EF4-FFF2-40B4-BE49-F238E27FC236}">
                <a16:creationId xmlns:a16="http://schemas.microsoft.com/office/drawing/2014/main" id="{F63E00A7-D1BE-4058-83C4-676D07323D35}"/>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Rectangle 7" descr="M. Mhahudul Hasan">
            <a:extLst>
              <a:ext uri="{FF2B5EF4-FFF2-40B4-BE49-F238E27FC236}">
                <a16:creationId xmlns:a16="http://schemas.microsoft.com/office/drawing/2014/main" id="{603CC123-DC03-4D90-BF93-662F92985E5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9" name="Rectangle 8" descr="M. Mhahudul Hasan">
            <a:extLst>
              <a:ext uri="{FF2B5EF4-FFF2-40B4-BE49-F238E27FC236}">
                <a16:creationId xmlns:a16="http://schemas.microsoft.com/office/drawing/2014/main" id="{4122C467-6305-4FB2-842E-E08B3D13947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1EE914EB-EE9E-4D5C-83A5-52514AA25BE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33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426884" y="1460090"/>
            <a:ext cx="11455400" cy="4380271"/>
          </a:xfrm>
        </p:spPr>
        <p:txBody>
          <a:bodyPr>
            <a:noAutofit/>
          </a:bodyPr>
          <a:lstStyle/>
          <a:p>
            <a:r>
              <a:rPr lang="en-US" altLang="en-US" sz="2200" dirty="0">
                <a:solidFill>
                  <a:srgbClr val="C00000"/>
                </a:solidFill>
              </a:rPr>
              <a:t>Argument name: </a:t>
            </a:r>
            <a:r>
              <a:rPr lang="en-US" altLang="en-US" sz="2200" i="1" dirty="0"/>
              <a:t>Required for each parameter, but parameters are optional.</a:t>
            </a:r>
            <a:r>
              <a:rPr lang="en-US" altLang="en-US" sz="2200" dirty="0"/>
              <a:t> Any number of arguments is allowed.</a:t>
            </a:r>
          </a:p>
          <a:p>
            <a:r>
              <a:rPr lang="en-US" altLang="en-US" sz="2200" dirty="0">
                <a:solidFill>
                  <a:srgbClr val="C00000"/>
                </a:solidFill>
                <a:latin typeface="+mj-lt"/>
              </a:rPr>
              <a:t>Argument data type: </a:t>
            </a:r>
            <a:r>
              <a:rPr lang="en-US" altLang="en-US" sz="2200" i="1" dirty="0">
                <a:latin typeface="+mj-lt"/>
              </a:rPr>
              <a:t>Required for each parameter, but parameters are optional.</a:t>
            </a:r>
            <a:r>
              <a:rPr lang="en-US" altLang="en-US" sz="2200" dirty="0">
                <a:latin typeface="+mj-lt"/>
              </a:rPr>
              <a:t> </a:t>
            </a:r>
          </a:p>
          <a:p>
            <a:r>
              <a:rPr lang="en-US" altLang="en-US" sz="2200" dirty="0">
                <a:solidFill>
                  <a:srgbClr val="C00000"/>
                </a:solidFill>
                <a:latin typeface="+mj-lt"/>
              </a:rPr>
              <a:t>Constraints:</a:t>
            </a:r>
            <a:r>
              <a:rPr lang="en-US" altLang="en-US" sz="2200" dirty="0">
                <a:latin typeface="+mj-lt"/>
              </a:rPr>
              <a:t> </a:t>
            </a:r>
            <a:r>
              <a:rPr lang="en-US" altLang="en-US" sz="2200" i="1" dirty="0">
                <a:latin typeface="+mj-lt"/>
              </a:rPr>
              <a:t>Optional</a:t>
            </a:r>
            <a:r>
              <a:rPr lang="en-US" altLang="en-US" sz="2200" dirty="0">
                <a:latin typeface="+mj-lt"/>
              </a:rPr>
              <a:t>. In general, constraints express rules that must be enforced in the execution of the operation. In the case of parameters, they express criteria that the values must satisfy before they may be used by the operation. You can think of them as operation level pre-conditions.</a:t>
            </a:r>
          </a:p>
          <a:p>
            <a:r>
              <a:rPr lang="en-US" altLang="en-US" sz="2200" dirty="0">
                <a:solidFill>
                  <a:srgbClr val="C00000"/>
                </a:solidFill>
                <a:latin typeface="+mj-lt"/>
              </a:rPr>
              <a:t>Return data type: </a:t>
            </a:r>
            <a:r>
              <a:rPr lang="en-US" altLang="en-US" sz="2200" i="1" dirty="0">
                <a:latin typeface="+mj-lt"/>
              </a:rPr>
              <a:t>Required for a return value, but return values are optional</a:t>
            </a:r>
            <a:r>
              <a:rPr lang="en-US" altLang="en-US" sz="2200" dirty="0">
                <a:latin typeface="+mj-lt"/>
              </a:rPr>
              <a:t>. The UML only allows for the type, not the name, which is consistent with most programming languages. There may only be one return data type, which again is consistent with most programming languages.</a:t>
            </a:r>
          </a:p>
        </p:txBody>
      </p:sp>
      <p:sp>
        <p:nvSpPr>
          <p:cNvPr id="7" name="Title 1">
            <a:extLst>
              <a:ext uri="{FF2B5EF4-FFF2-40B4-BE49-F238E27FC236}">
                <a16:creationId xmlns:a16="http://schemas.microsoft.com/office/drawing/2014/main" id="{9B92B5DD-3DEB-42C2-9D05-66011B75ED6C}"/>
              </a:ext>
            </a:extLst>
          </p:cNvPr>
          <p:cNvSpPr txBox="1">
            <a:spLocks/>
          </p:cNvSpPr>
          <p:nvPr/>
        </p:nvSpPr>
        <p:spPr>
          <a:xfrm>
            <a:off x="0" y="539443"/>
            <a:ext cx="11029950" cy="53719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8" name="Slide Number Placeholder 3">
            <a:extLst>
              <a:ext uri="{FF2B5EF4-FFF2-40B4-BE49-F238E27FC236}">
                <a16:creationId xmlns:a16="http://schemas.microsoft.com/office/drawing/2014/main" id="{76D8AD4F-49CA-4D1B-9B6A-66E2A6D17BC6}"/>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9" name="Content Placeholder 2">
            <a:extLst>
              <a:ext uri="{FF2B5EF4-FFF2-40B4-BE49-F238E27FC236}">
                <a16:creationId xmlns:a16="http://schemas.microsoft.com/office/drawing/2014/main" id="{56033957-9551-4530-B9F7-2DFC88FA10D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252494EF-01C1-4CEF-A1F6-73C9BE3C0F0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BAC87049-CF62-4B09-9C8C-AC4811562E5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31F74B85-FF77-4A78-9E6F-54168622931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8125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68940"/>
            <a:ext cx="11029950" cy="433950"/>
          </a:xfrm>
        </p:spPr>
        <p:txBody>
          <a:bodyPr>
            <a:normAutofit fontScale="90000"/>
          </a:bodyPr>
          <a:lstStyle/>
          <a:p>
            <a:pPr algn="ctr"/>
            <a:r>
              <a:rPr lang="en-US" altLang="en-US" b="1" dirty="0">
                <a:solidFill>
                  <a:srgbClr val="0070C0"/>
                </a:solidFill>
                <a:latin typeface="Book Antiqua" pitchFamily="18" charset="0"/>
              </a:rPr>
              <a:t>Drawing  Class notation</a:t>
            </a:r>
            <a:endParaRPr lang="en-US" b="1" dirty="0">
              <a:solidFill>
                <a:srgbClr val="0070C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565" y="1253613"/>
            <a:ext cx="8097078" cy="531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p:cNvSpPr txBox="1">
            <a:spLocks noChangeArrowheads="1"/>
          </p:cNvSpPr>
          <p:nvPr/>
        </p:nvSpPr>
        <p:spPr bwMode="auto">
          <a:xfrm>
            <a:off x="8775642" y="1566056"/>
            <a:ext cx="2525346"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Name Compartment</a:t>
            </a:r>
          </a:p>
        </p:txBody>
      </p:sp>
      <p:sp>
        <p:nvSpPr>
          <p:cNvPr id="9" name="TextBox 6"/>
          <p:cNvSpPr txBox="1">
            <a:spLocks noChangeArrowheads="1"/>
          </p:cNvSpPr>
          <p:nvPr/>
        </p:nvSpPr>
        <p:spPr bwMode="auto">
          <a:xfrm>
            <a:off x="8778405" y="2545256"/>
            <a:ext cx="279465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Attribute Compartment</a:t>
            </a:r>
          </a:p>
        </p:txBody>
      </p:sp>
      <p:sp>
        <p:nvSpPr>
          <p:cNvPr id="10" name="TextBox 7"/>
          <p:cNvSpPr txBox="1">
            <a:spLocks noChangeArrowheads="1"/>
          </p:cNvSpPr>
          <p:nvPr/>
        </p:nvSpPr>
        <p:spPr bwMode="auto">
          <a:xfrm>
            <a:off x="8747551" y="4172783"/>
            <a:ext cx="296617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Operation Compartment</a:t>
            </a:r>
          </a:p>
        </p:txBody>
      </p:sp>
      <p:cxnSp>
        <p:nvCxnSpPr>
          <p:cNvPr id="11" name="Straight Arrow Connector 10"/>
          <p:cNvCxnSpPr/>
          <p:nvPr/>
        </p:nvCxnSpPr>
        <p:spPr>
          <a:xfrm rot="10800000">
            <a:off x="7608684" y="175608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7605506" y="273972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7656399" y="441279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B6F5FC89-7AF5-42C1-A961-6175B2C349B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15" name="Content Placeholder 2">
            <a:extLst>
              <a:ext uri="{FF2B5EF4-FFF2-40B4-BE49-F238E27FC236}">
                <a16:creationId xmlns:a16="http://schemas.microsoft.com/office/drawing/2014/main" id="{4A0C7522-B9AC-44BA-9B41-44005763662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6" name="Rectangle 15" descr="M. Mhahudul Hasan">
            <a:extLst>
              <a:ext uri="{FF2B5EF4-FFF2-40B4-BE49-F238E27FC236}">
                <a16:creationId xmlns:a16="http://schemas.microsoft.com/office/drawing/2014/main" id="{C35E6640-BCB7-4FA5-BB9C-4FEFE758FEF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7" name="Rectangle 16" descr="M. Mhahudul Hasan">
            <a:extLst>
              <a:ext uri="{FF2B5EF4-FFF2-40B4-BE49-F238E27FC236}">
                <a16:creationId xmlns:a16="http://schemas.microsoft.com/office/drawing/2014/main" id="{D20071B2-97B5-40D3-B30B-B4F7CE90E6C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8" name="Rectangle 17" descr="M. Mhahudul Hasan">
            <a:extLst>
              <a:ext uri="{FF2B5EF4-FFF2-40B4-BE49-F238E27FC236}">
                <a16:creationId xmlns:a16="http://schemas.microsoft.com/office/drawing/2014/main" id="{50F4903E-A772-4C7E-A447-822F48C11B8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8D30F195-61D8-4F09-B4F7-ABEE8B0F057E}"/>
              </a:ext>
            </a:extLst>
          </p:cNvPr>
          <p:cNvSpPr txBox="1"/>
          <p:nvPr/>
        </p:nvSpPr>
        <p:spPr>
          <a:xfrm>
            <a:off x="7680223" y="3011581"/>
            <a:ext cx="4133234" cy="926239"/>
          </a:xfrm>
          <a:prstGeom prst="rect">
            <a:avLst/>
          </a:prstGeom>
          <a:noFill/>
        </p:spPr>
        <p:txBody>
          <a:bodyPr wrap="square">
            <a:spAutoFit/>
          </a:bodyPr>
          <a:lstStyle/>
          <a:p>
            <a:r>
              <a:rPr lang="en-US" altLang="en-US" sz="1800" b="1" dirty="0">
                <a:solidFill>
                  <a:srgbClr val="C00000"/>
                </a:solidFill>
                <a:latin typeface="+mj-lt"/>
              </a:rPr>
              <a:t> visibility / attribute name : data type   </a:t>
            </a:r>
            <a:br>
              <a:rPr lang="en-US" altLang="en-US" sz="1800" b="1" dirty="0">
                <a:solidFill>
                  <a:srgbClr val="C00000"/>
                </a:solidFill>
                <a:latin typeface="+mj-lt"/>
              </a:rPr>
            </a:br>
            <a:r>
              <a:rPr lang="en-US" altLang="en-US" sz="1800" b="1" dirty="0">
                <a:solidFill>
                  <a:srgbClr val="C00000"/>
                </a:solidFill>
                <a:latin typeface="+mj-lt"/>
              </a:rPr>
              <a:t>   = default value {constraints}</a:t>
            </a:r>
            <a:br>
              <a:rPr lang="en-US" altLang="en-US" sz="2000" b="1" dirty="0">
                <a:solidFill>
                  <a:srgbClr val="C00000"/>
                </a:solidFill>
                <a:latin typeface="+mj-lt"/>
              </a:rPr>
            </a:br>
            <a:endParaRPr lang="en-US" dirty="0"/>
          </a:p>
        </p:txBody>
      </p:sp>
      <p:sp>
        <p:nvSpPr>
          <p:cNvPr id="20" name="TextBox 19">
            <a:extLst>
              <a:ext uri="{FF2B5EF4-FFF2-40B4-BE49-F238E27FC236}">
                <a16:creationId xmlns:a16="http://schemas.microsoft.com/office/drawing/2014/main" id="{0152A982-EA83-43B6-A95B-167E18FC8267}"/>
              </a:ext>
            </a:extLst>
          </p:cNvPr>
          <p:cNvSpPr txBox="1"/>
          <p:nvPr/>
        </p:nvSpPr>
        <p:spPr>
          <a:xfrm>
            <a:off x="7503243" y="4728157"/>
            <a:ext cx="4472448" cy="923330"/>
          </a:xfrm>
          <a:prstGeom prst="rect">
            <a:avLst/>
          </a:prstGeom>
          <a:noFill/>
        </p:spPr>
        <p:txBody>
          <a:bodyPr wrap="square">
            <a:spAutoFit/>
          </a:bodyPr>
          <a:lstStyle/>
          <a:p>
            <a:pPr algn="ctr">
              <a:buNone/>
            </a:pPr>
            <a:r>
              <a:rPr lang="en-US" altLang="en-US" sz="1800" b="1" dirty="0">
                <a:solidFill>
                  <a:srgbClr val="C00000"/>
                </a:solidFill>
                <a:latin typeface="+mj-lt"/>
              </a:rPr>
              <a:t>visibility </a:t>
            </a:r>
            <a:r>
              <a:rPr lang="en-US" altLang="en-US" sz="1800" b="1" dirty="0" err="1">
                <a:solidFill>
                  <a:srgbClr val="C00000"/>
                </a:solidFill>
                <a:latin typeface="+mj-lt"/>
              </a:rPr>
              <a:t>operationName</a:t>
            </a:r>
            <a:r>
              <a:rPr lang="en-US" altLang="en-US" sz="1800" b="1" dirty="0">
                <a:solidFill>
                  <a:srgbClr val="C00000"/>
                </a:solidFill>
                <a:latin typeface="+mj-lt"/>
              </a:rPr>
              <a:t> ( </a:t>
            </a:r>
            <a:r>
              <a:rPr lang="en-US" altLang="en-US" sz="1800" b="1" dirty="0" err="1">
                <a:solidFill>
                  <a:srgbClr val="C00000"/>
                </a:solidFill>
                <a:latin typeface="+mj-lt"/>
              </a:rPr>
              <a:t>argname</a:t>
            </a:r>
            <a:r>
              <a:rPr lang="en-US" altLang="en-US" sz="1800" b="1" dirty="0">
                <a:solidFill>
                  <a:srgbClr val="C00000"/>
                </a:solidFill>
                <a:latin typeface="+mj-lt"/>
              </a:rPr>
              <a:t> : data type {constraints}, ...) : return data type {constraints} </a:t>
            </a:r>
          </a:p>
        </p:txBody>
      </p:sp>
    </p:spTree>
    <p:extLst>
      <p:ext uri="{BB962C8B-B14F-4D97-AF65-F5344CB8AC3E}">
        <p14:creationId xmlns:p14="http://schemas.microsoft.com/office/powerpoint/2010/main" val="932752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a:extLst>
              <a:ext uri="{FF2B5EF4-FFF2-40B4-BE49-F238E27FC236}">
                <a16:creationId xmlns:a16="http://schemas.microsoft.com/office/drawing/2014/main" id="{B6F5FC89-7AF5-42C1-A961-6175B2C349B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15" name="Content Placeholder 2">
            <a:extLst>
              <a:ext uri="{FF2B5EF4-FFF2-40B4-BE49-F238E27FC236}">
                <a16:creationId xmlns:a16="http://schemas.microsoft.com/office/drawing/2014/main" id="{4A0C7522-B9AC-44BA-9B41-44005763662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6" name="Rectangle 15" descr="M. Mhahudul Hasan">
            <a:extLst>
              <a:ext uri="{FF2B5EF4-FFF2-40B4-BE49-F238E27FC236}">
                <a16:creationId xmlns:a16="http://schemas.microsoft.com/office/drawing/2014/main" id="{C35E6640-BCB7-4FA5-BB9C-4FEFE758FEF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7" name="Rectangle 16" descr="M. Mhahudul Hasan">
            <a:extLst>
              <a:ext uri="{FF2B5EF4-FFF2-40B4-BE49-F238E27FC236}">
                <a16:creationId xmlns:a16="http://schemas.microsoft.com/office/drawing/2014/main" id="{D20071B2-97B5-40D3-B30B-B4F7CE90E6C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8" name="Rectangle 17" descr="M. Mhahudul Hasan">
            <a:extLst>
              <a:ext uri="{FF2B5EF4-FFF2-40B4-BE49-F238E27FC236}">
                <a16:creationId xmlns:a16="http://schemas.microsoft.com/office/drawing/2014/main" id="{50F4903E-A772-4C7E-A447-822F48C11B8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581192" y="702156"/>
            <a:ext cx="11029616" cy="700365"/>
          </a:xfrm>
        </p:spPr>
        <p:txBody>
          <a:bodyPr/>
          <a:lstStyle/>
          <a:p>
            <a:r>
              <a:rPr lang="en-US" dirty="0"/>
              <a:t>Practice Class Notation</a:t>
            </a:r>
          </a:p>
        </p:txBody>
      </p:sp>
      <p:sp>
        <p:nvSpPr>
          <p:cNvPr id="6" name="Content Placeholder 5"/>
          <p:cNvSpPr>
            <a:spLocks noGrp="1"/>
          </p:cNvSpPr>
          <p:nvPr>
            <p:ph idx="1"/>
          </p:nvPr>
        </p:nvSpPr>
        <p:spPr>
          <a:xfrm>
            <a:off x="517667" y="2222801"/>
            <a:ext cx="11029615" cy="3678303"/>
          </a:xfrm>
        </p:spPr>
        <p:txBody>
          <a:bodyPr>
            <a:normAutofit/>
          </a:bodyPr>
          <a:lstStyle/>
          <a:p>
            <a:pPr marL="0" indent="0" algn="just">
              <a:buNone/>
            </a:pPr>
            <a:r>
              <a:rPr lang="en-US" sz="2800" dirty="0"/>
              <a:t>In a system, there is a class named </a:t>
            </a:r>
            <a:r>
              <a:rPr lang="en-US" sz="2800" b="1" dirty="0"/>
              <a:t>Book</a:t>
            </a:r>
            <a:r>
              <a:rPr lang="en-US" sz="2800" dirty="0"/>
              <a:t>. It has five attributes: </a:t>
            </a:r>
            <a:r>
              <a:rPr lang="en-US" sz="2800" b="1" dirty="0"/>
              <a:t>Title</a:t>
            </a:r>
            <a:r>
              <a:rPr lang="en-US" sz="2800" dirty="0"/>
              <a:t>, </a:t>
            </a:r>
            <a:r>
              <a:rPr lang="en-US" sz="2800" b="1" dirty="0" err="1"/>
              <a:t>BookId</a:t>
            </a:r>
            <a:r>
              <a:rPr lang="en-US" sz="2800" b="1" dirty="0"/>
              <a:t>, </a:t>
            </a:r>
            <a:r>
              <a:rPr lang="en-US" sz="2800" b="1" dirty="0" err="1"/>
              <a:t>AuthorName</a:t>
            </a:r>
            <a:r>
              <a:rPr lang="en-US" sz="2800" dirty="0"/>
              <a:t>, </a:t>
            </a:r>
            <a:r>
              <a:rPr lang="en-US" sz="2800" b="1" dirty="0"/>
              <a:t>Price, </a:t>
            </a:r>
            <a:r>
              <a:rPr lang="en-US" sz="2800" dirty="0"/>
              <a:t> and </a:t>
            </a:r>
            <a:r>
              <a:rPr lang="en-US" sz="2800" b="1" dirty="0"/>
              <a:t>Pages</a:t>
            </a:r>
            <a:r>
              <a:rPr lang="en-US" sz="2800" dirty="0"/>
              <a:t>. All the attributes are private and Price is only accessible by admin user. Title and </a:t>
            </a:r>
            <a:r>
              <a:rPr lang="en-US" sz="2800" dirty="0" err="1"/>
              <a:t>AuthorName</a:t>
            </a:r>
            <a:r>
              <a:rPr lang="en-US" sz="2800" dirty="0"/>
              <a:t> are String in type,  </a:t>
            </a:r>
            <a:r>
              <a:rPr lang="en-US" sz="2800" dirty="0" err="1"/>
              <a:t>BookId</a:t>
            </a:r>
            <a:r>
              <a:rPr lang="en-US" sz="2800" dirty="0"/>
              <a:t> and Pages are in integer and Price is in double. There are three methods in this class. They are: </a:t>
            </a:r>
            <a:r>
              <a:rPr lang="en-US" sz="2800" b="1" dirty="0" err="1"/>
              <a:t>borrowStatus</a:t>
            </a:r>
            <a:r>
              <a:rPr lang="en-US" sz="2800" dirty="0"/>
              <a:t>() which returns a </a:t>
            </a:r>
            <a:r>
              <a:rPr lang="en-US" sz="2800" dirty="0" err="1"/>
              <a:t>boolean</a:t>
            </a:r>
            <a:r>
              <a:rPr lang="en-US" sz="2800" dirty="0"/>
              <a:t> value, </a:t>
            </a:r>
            <a:r>
              <a:rPr lang="en-US" sz="2800" b="1" dirty="0" err="1"/>
              <a:t>EnableDiscount</a:t>
            </a:r>
            <a:r>
              <a:rPr lang="en-US" sz="2800" b="1" dirty="0"/>
              <a:t>(</a:t>
            </a:r>
            <a:r>
              <a:rPr lang="en-US" sz="2800" b="1" dirty="0" err="1"/>
              <a:t>boolean</a:t>
            </a:r>
            <a:r>
              <a:rPr lang="en-US" sz="2800" b="1" dirty="0"/>
              <a:t> Status) </a:t>
            </a:r>
            <a:r>
              <a:rPr lang="en-US" sz="2800" dirty="0"/>
              <a:t>which returns nothing and </a:t>
            </a:r>
            <a:r>
              <a:rPr lang="en-US" sz="2800" b="1" dirty="0" err="1"/>
              <a:t>setTitle</a:t>
            </a:r>
            <a:r>
              <a:rPr lang="en-US" sz="2800" b="1" dirty="0"/>
              <a:t>(String title)</a:t>
            </a:r>
            <a:r>
              <a:rPr lang="en-US" sz="2800" dirty="0"/>
              <a:t> which returns nothing. All the methods are public.</a:t>
            </a:r>
            <a:endParaRPr lang="en-US" sz="2800" b="1" dirty="0"/>
          </a:p>
        </p:txBody>
      </p:sp>
    </p:spTree>
    <p:extLst>
      <p:ext uri="{BB962C8B-B14F-4D97-AF65-F5344CB8AC3E}">
        <p14:creationId xmlns:p14="http://schemas.microsoft.com/office/powerpoint/2010/main" val="419176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987" y="568940"/>
            <a:ext cx="11029950" cy="551938"/>
          </a:xfrm>
        </p:spPr>
        <p:txBody>
          <a:bodyPr/>
          <a:lstStyle/>
          <a:p>
            <a:pPr algn="ctr"/>
            <a:r>
              <a:rPr lang="en-US" altLang="en-US" b="1" dirty="0">
                <a:solidFill>
                  <a:srgbClr val="0070C0"/>
                </a:solidFill>
                <a:latin typeface="Book Antiqua" pitchFamily="18" charset="0"/>
              </a:rPr>
              <a:t>Class  diagram relationships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53961" y="1379231"/>
            <a:ext cx="11168063" cy="4888833"/>
          </a:xfrm>
        </p:spPr>
        <p:txBody>
          <a:bodyPr>
            <a:noAutofit/>
          </a:bodyPr>
          <a:lstStyle/>
          <a:p>
            <a:pPr>
              <a:buFont typeface="Wingdings" pitchFamily="2" charset="2"/>
              <a:buChar char="§"/>
            </a:pPr>
            <a:r>
              <a:rPr lang="en-US" altLang="en-US" sz="2200" b="1" dirty="0">
                <a:solidFill>
                  <a:srgbClr val="C00000"/>
                </a:solidFill>
                <a:latin typeface="+mj-lt"/>
              </a:rPr>
              <a:t>Association</a:t>
            </a:r>
            <a:r>
              <a:rPr lang="en-US" altLang="en-US" sz="2200" dirty="0">
                <a:latin typeface="+mj-lt"/>
              </a:rPr>
              <a:t> is just a formal term for a type of relationship that this type of object may participate in.  Associations may come in many variations, including </a:t>
            </a:r>
            <a:r>
              <a:rPr lang="en-US" altLang="en-US" sz="2200" dirty="0">
                <a:solidFill>
                  <a:srgbClr val="7030A0"/>
                </a:solidFill>
                <a:latin typeface="+mj-lt"/>
              </a:rPr>
              <a:t>simple, aggregate and composite, and </a:t>
            </a:r>
            <a:r>
              <a:rPr lang="en-US" altLang="en-US" sz="2200" dirty="0">
                <a:solidFill>
                  <a:srgbClr val="C00000"/>
                </a:solidFill>
                <a:latin typeface="+mj-lt"/>
              </a:rPr>
              <a:t>Reflexive</a:t>
            </a:r>
            <a:r>
              <a:rPr lang="en-US" altLang="en-US" sz="2200" dirty="0">
                <a:latin typeface="+mj-lt"/>
              </a:rPr>
              <a:t> (e.g., </a:t>
            </a:r>
            <a:r>
              <a:rPr lang="en-US" altLang="en-US" sz="2200" dirty="0">
                <a:solidFill>
                  <a:srgbClr val="C00000"/>
                </a:solidFill>
                <a:latin typeface="+mj-lt"/>
              </a:rPr>
              <a:t>relationships among objects of the same classes</a:t>
            </a:r>
            <a:r>
              <a:rPr lang="en-US" altLang="en-US" sz="2200" dirty="0">
                <a:latin typeface="+mj-lt"/>
              </a:rPr>
              <a:t>).</a:t>
            </a:r>
          </a:p>
          <a:p>
            <a:pPr>
              <a:buFont typeface="Wingdings" pitchFamily="2" charset="2"/>
              <a:buChar char="§"/>
            </a:pPr>
            <a:r>
              <a:rPr lang="en-US" sz="2200" dirty="0">
                <a:solidFill>
                  <a:srgbClr val="C00000"/>
                </a:solidFill>
              </a:rPr>
              <a:t>Association Class encapsulates information about relationship</a:t>
            </a:r>
            <a:endParaRPr lang="en-US" altLang="en-US" sz="2200" b="1" dirty="0">
              <a:solidFill>
                <a:srgbClr val="C00000"/>
              </a:solidFill>
              <a:latin typeface="+mj-lt"/>
            </a:endParaRPr>
          </a:p>
          <a:p>
            <a:pPr>
              <a:buFont typeface="Wingdings" pitchFamily="2" charset="2"/>
              <a:buChar char="§"/>
            </a:pPr>
            <a:r>
              <a:rPr lang="en-US" altLang="en-US" sz="2200" b="1" dirty="0">
                <a:solidFill>
                  <a:srgbClr val="C00000"/>
                </a:solidFill>
                <a:latin typeface="+mj-lt"/>
              </a:rPr>
              <a:t>Inheritance</a:t>
            </a:r>
            <a:r>
              <a:rPr lang="en-US" altLang="en-US" sz="2200" dirty="0">
                <a:latin typeface="+mj-lt"/>
              </a:rPr>
              <a:t> allows you to organize the class definitions to simplify and facilitate their implementation.</a:t>
            </a:r>
          </a:p>
          <a:p>
            <a:pPr>
              <a:buFont typeface="Wingdings" pitchFamily="2" charset="2"/>
              <a:buChar char="q"/>
            </a:pPr>
            <a:r>
              <a:rPr lang="en-US" altLang="en-US" sz="2200" dirty="0">
                <a:latin typeface="+mj-lt"/>
              </a:rPr>
              <a:t>Although other diagrams are necessary, but their primary purpose is to support the construction and testing of the Class diagram. </a:t>
            </a:r>
          </a:p>
          <a:p>
            <a:pPr>
              <a:buFont typeface="Wingdings" pitchFamily="2" charset="2"/>
              <a:buChar char="q"/>
            </a:pPr>
            <a:r>
              <a:rPr lang="en-US" altLang="en-US" sz="2200" dirty="0">
                <a:latin typeface="+mj-lt"/>
              </a:rPr>
              <a:t>Whenever another diagram reveals </a:t>
            </a:r>
            <a:r>
              <a:rPr lang="en-US" altLang="en-US" sz="2200" dirty="0">
                <a:solidFill>
                  <a:srgbClr val="C00000"/>
                </a:solidFill>
                <a:latin typeface="+mj-lt"/>
              </a:rPr>
              <a:t>new or modified </a:t>
            </a:r>
            <a:r>
              <a:rPr lang="en-US" altLang="en-US" sz="2200" dirty="0">
                <a:latin typeface="+mj-lt"/>
              </a:rPr>
              <a:t>information about a class, the Class diagram must be updated to include the new information. If this new information is not passed on to the Class diagram, it will not be reflected in your code.</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4140BB55-68BC-42F9-AE18-8E9E8AC1A4DF}"/>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6" name="Content Placeholder 2">
            <a:extLst>
              <a:ext uri="{FF2B5EF4-FFF2-40B4-BE49-F238E27FC236}">
                <a16:creationId xmlns:a16="http://schemas.microsoft.com/office/drawing/2014/main" id="{AAC1B4B5-72D1-45DF-9815-E6101E97A3AB}"/>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C3B9467-85B2-4B9F-92D1-C0D631BC96C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129F47F2-4995-474D-A51E-409822143F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075F9FE4-094D-4393-93DF-4B038074966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541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477" y="524694"/>
            <a:ext cx="11029950" cy="522441"/>
          </a:xfrm>
        </p:spPr>
        <p:txBody>
          <a:bodyPr/>
          <a:lstStyle/>
          <a:p>
            <a:pPr algn="ctr"/>
            <a:r>
              <a:rPr lang="en-US" altLang="en-US" b="1" dirty="0">
                <a:solidFill>
                  <a:srgbClr val="0070C0"/>
                </a:solidFill>
                <a:latin typeface="Book Antiqua" pitchFamily="18" charset="0"/>
              </a:rPr>
              <a:t>associations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4175" y="1120878"/>
            <a:ext cx="11350625" cy="5557121"/>
          </a:xfrm>
        </p:spPr>
        <p:txBody>
          <a:bodyPr>
            <a:noAutofit/>
          </a:bodyPr>
          <a:lstStyle/>
          <a:p>
            <a:pPr>
              <a:buFont typeface="Wingdings" pitchFamily="2" charset="2"/>
              <a:buChar char="q"/>
            </a:pPr>
            <a:r>
              <a:rPr lang="en-US" altLang="en-US" sz="2200" dirty="0">
                <a:latin typeface="+mj-lt"/>
              </a:rPr>
              <a:t>A semantic relationship between two or more classes that specifies connections among their instances.</a:t>
            </a:r>
          </a:p>
          <a:p>
            <a:pPr>
              <a:buFont typeface="Wingdings" pitchFamily="2" charset="2"/>
              <a:buChar char="q"/>
            </a:pPr>
            <a:r>
              <a:rPr lang="en-US" altLang="en-US" sz="2200" dirty="0">
                <a:latin typeface="+mj-lt"/>
              </a:rPr>
              <a:t>A structural relationship, specifying that objects of one class are connected to objects of a second class.</a:t>
            </a:r>
          </a:p>
          <a:p>
            <a:pPr>
              <a:buFont typeface="Wingdings" pitchFamily="2" charset="2"/>
              <a:buChar char="q"/>
            </a:pPr>
            <a:r>
              <a:rPr lang="en-US" altLang="en-US" sz="2200" dirty="0">
                <a:latin typeface="+mj-lt"/>
              </a:rPr>
              <a:t>Example: “An Employee works for a Company”</a:t>
            </a:r>
          </a:p>
          <a:p>
            <a:pPr>
              <a:buFont typeface="Wingdings" pitchFamily="2" charset="2"/>
              <a:buChar char="q"/>
            </a:pPr>
            <a:endParaRPr lang="en-US" altLang="en-US" sz="2200" dirty="0">
              <a:latin typeface="+mj-lt"/>
            </a:endParaRPr>
          </a:p>
          <a:p>
            <a:pPr>
              <a:buNone/>
            </a:pPr>
            <a:endParaRPr lang="en-US" altLang="en-US" sz="2200" dirty="0">
              <a:latin typeface="+mj-lt"/>
            </a:endParaRPr>
          </a:p>
          <a:p>
            <a:pPr>
              <a:buNone/>
            </a:pPr>
            <a:endParaRPr lang="en-US" altLang="en-US" sz="2200" dirty="0">
              <a:latin typeface="+mj-lt"/>
            </a:endParaRPr>
          </a:p>
          <a:p>
            <a:pPr>
              <a:buFont typeface="Wingdings" pitchFamily="2" charset="2"/>
              <a:buChar char="q"/>
            </a:pPr>
            <a:r>
              <a:rPr lang="en-US" altLang="en-US" sz="2200" dirty="0">
                <a:latin typeface="+mj-lt"/>
              </a:rPr>
              <a:t>An association between two classes indicates that objects at one end of an association “recognize” objects at the other end and may send messages to them.</a:t>
            </a:r>
          </a:p>
          <a:p>
            <a:pPr>
              <a:buFont typeface="Wingdings" pitchFamily="2" charset="2"/>
              <a:buChar char="§"/>
            </a:pPr>
            <a:r>
              <a:rPr lang="en-US" altLang="en-US" sz="2200" dirty="0">
                <a:solidFill>
                  <a:srgbClr val="C00000"/>
                </a:solidFill>
                <a:latin typeface="+mj-lt"/>
              </a:rPr>
              <a:t>This property will help us discover less trivial associations using interaction diagrams.</a:t>
            </a:r>
          </a:p>
          <a:p>
            <a:pPr>
              <a:buFont typeface="Wingdings" pitchFamily="2" charset="2"/>
              <a:buChar char="§"/>
            </a:pPr>
            <a:r>
              <a:rPr lang="en-US" sz="2200" dirty="0">
                <a:solidFill>
                  <a:srgbClr val="FF0000"/>
                </a:solidFill>
              </a:rPr>
              <a:t>Qualified association in class diagram indicates a qualifier to be used for Indexing</a:t>
            </a:r>
          </a:p>
          <a:p>
            <a:pPr>
              <a:buFont typeface="Wingdings" pitchFamily="2" charset="2"/>
              <a:buChar char="§"/>
            </a:pPr>
            <a:endParaRPr lang="en-US" altLang="en-US" sz="2200" dirty="0">
              <a:latin typeface="+mj-lt"/>
            </a:endParaRPr>
          </a:p>
        </p:txBody>
      </p:sp>
      <p:grpSp>
        <p:nvGrpSpPr>
          <p:cNvPr id="6" name="Group 28"/>
          <p:cNvGrpSpPr>
            <a:grpSpLocks/>
          </p:cNvGrpSpPr>
          <p:nvPr/>
        </p:nvGrpSpPr>
        <p:grpSpPr bwMode="auto">
          <a:xfrm>
            <a:off x="2014401" y="3676295"/>
            <a:ext cx="6613472" cy="306613"/>
            <a:chOff x="672" y="3264"/>
            <a:chExt cx="3323" cy="288"/>
          </a:xfrm>
        </p:grpSpPr>
        <p:sp>
          <p:nvSpPr>
            <p:cNvPr id="7" name="Rectangle 11"/>
            <p:cNvSpPr>
              <a:spLocks noChangeArrowheads="1"/>
            </p:cNvSpPr>
            <p:nvPr/>
          </p:nvSpPr>
          <p:spPr bwMode="auto">
            <a:xfrm>
              <a:off x="3227" y="3264"/>
              <a:ext cx="768" cy="288"/>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b="1" dirty="0">
                  <a:latin typeface="Arial" panose="020B0604020202020204" pitchFamily="34" charset="0"/>
                </a:rPr>
                <a:t>Company</a:t>
              </a:r>
            </a:p>
          </p:txBody>
        </p:sp>
        <p:sp>
          <p:nvSpPr>
            <p:cNvPr id="9" name="Rectangle 17"/>
            <p:cNvSpPr>
              <a:spLocks noChangeArrowheads="1"/>
            </p:cNvSpPr>
            <p:nvPr/>
          </p:nvSpPr>
          <p:spPr bwMode="auto">
            <a:xfrm>
              <a:off x="672" y="3264"/>
              <a:ext cx="768" cy="288"/>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b="1" dirty="0">
                  <a:latin typeface="Arial" panose="020B0604020202020204" pitchFamily="34" charset="0"/>
                </a:rPr>
                <a:t>Employee</a:t>
              </a:r>
            </a:p>
          </p:txBody>
        </p:sp>
        <p:sp>
          <p:nvSpPr>
            <p:cNvPr id="10" name="Line 22"/>
            <p:cNvSpPr>
              <a:spLocks noChangeShapeType="1"/>
            </p:cNvSpPr>
            <p:nvPr/>
          </p:nvSpPr>
          <p:spPr bwMode="auto">
            <a:xfrm>
              <a:off x="1440" y="3408"/>
              <a:ext cx="1769" cy="5"/>
            </a:xfrm>
            <a:prstGeom prst="line">
              <a:avLst/>
            </a:prstGeom>
            <a:ln>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en-US" b="1"/>
            </a:p>
          </p:txBody>
        </p:sp>
      </p:grpSp>
      <p:sp>
        <p:nvSpPr>
          <p:cNvPr id="8" name="Slide Number Placeholder 3">
            <a:extLst>
              <a:ext uri="{FF2B5EF4-FFF2-40B4-BE49-F238E27FC236}">
                <a16:creationId xmlns:a16="http://schemas.microsoft.com/office/drawing/2014/main" id="{E0A02AAC-F9C5-47FA-BAA3-272B154F2113}"/>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11" name="Content Placeholder 2">
            <a:extLst>
              <a:ext uri="{FF2B5EF4-FFF2-40B4-BE49-F238E27FC236}">
                <a16:creationId xmlns:a16="http://schemas.microsoft.com/office/drawing/2014/main" id="{F62047A0-24CC-46C8-A369-62B92BF8345E}"/>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2" name="Rectangle 11" descr="M. Mhahudul Hasan">
            <a:extLst>
              <a:ext uri="{FF2B5EF4-FFF2-40B4-BE49-F238E27FC236}">
                <a16:creationId xmlns:a16="http://schemas.microsoft.com/office/drawing/2014/main" id="{08778712-4EAA-4FBC-9709-9F5D8686ED92}"/>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3" name="Rectangle 12" descr="M. Mhahudul Hasan">
            <a:extLst>
              <a:ext uri="{FF2B5EF4-FFF2-40B4-BE49-F238E27FC236}">
                <a16:creationId xmlns:a16="http://schemas.microsoft.com/office/drawing/2014/main" id="{5A6959BA-3AFB-4B42-B081-1E3817C5387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4" name="Rectangle 13" descr="M. Mhahudul Hasan">
            <a:extLst>
              <a:ext uri="{FF2B5EF4-FFF2-40B4-BE49-F238E27FC236}">
                <a16:creationId xmlns:a16="http://schemas.microsoft.com/office/drawing/2014/main" id="{1D13D68F-1C4F-4ED8-93E6-643D5374080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F3BB193-C022-4C4E-8BAF-3271374EE122}"/>
              </a:ext>
            </a:extLst>
          </p:cNvPr>
          <p:cNvSpPr txBox="1"/>
          <p:nvPr/>
        </p:nvSpPr>
        <p:spPr>
          <a:xfrm>
            <a:off x="4527755" y="3362632"/>
            <a:ext cx="1460090" cy="368710"/>
          </a:xfrm>
          <a:prstGeom prst="rect">
            <a:avLst/>
          </a:prstGeom>
          <a:noFill/>
        </p:spPr>
        <p:txBody>
          <a:bodyPr wrap="square" rtlCol="0">
            <a:spAutoFit/>
          </a:bodyPr>
          <a:lstStyle/>
          <a:p>
            <a:r>
              <a:rPr lang="en-US" dirty="0"/>
              <a:t>Works for</a:t>
            </a:r>
          </a:p>
        </p:txBody>
      </p:sp>
    </p:spTree>
    <p:extLst>
      <p:ext uri="{BB962C8B-B14F-4D97-AF65-F5344CB8AC3E}">
        <p14:creationId xmlns:p14="http://schemas.microsoft.com/office/powerpoint/2010/main" val="97405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495197"/>
            <a:ext cx="11029950" cy="625680"/>
          </a:xfrm>
        </p:spPr>
        <p:txBody>
          <a:bodyPr>
            <a:normAutofit/>
          </a:bodyPr>
          <a:lstStyle/>
          <a:p>
            <a:pPr algn="ctr"/>
            <a:r>
              <a:rPr lang="en-US" altLang="en-US" b="1" dirty="0">
                <a:solidFill>
                  <a:srgbClr val="0070C0"/>
                </a:solidFill>
                <a:latin typeface="Book Antiqua" pitchFamily="18" charset="0"/>
              </a:rPr>
              <a:t>Associations </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6398" y="1219558"/>
            <a:ext cx="11233150" cy="5313977"/>
          </a:xfrm>
        </p:spPr>
        <p:txBody>
          <a:bodyPr>
            <a:noAutofit/>
          </a:bodyPr>
          <a:lstStyle/>
          <a:p>
            <a:pPr>
              <a:buNone/>
            </a:pPr>
            <a:r>
              <a:rPr lang="en-GB" sz="2200" dirty="0">
                <a:solidFill>
                  <a:srgbClr val="C00000"/>
                </a:solidFill>
                <a:latin typeface="+mj-lt"/>
              </a:rPr>
              <a:t>Associations may optionally have the following:</a:t>
            </a:r>
          </a:p>
          <a:p>
            <a:pPr>
              <a:buFont typeface="Wingdings" pitchFamily="2" charset="2"/>
              <a:buChar char="q"/>
            </a:pPr>
            <a:r>
              <a:rPr lang="en-GB" sz="2200" dirty="0">
                <a:latin typeface="+mj-lt"/>
              </a:rPr>
              <a:t> </a:t>
            </a:r>
            <a:r>
              <a:rPr lang="en-GB" sz="2200" b="1" dirty="0">
                <a:latin typeface="+mj-lt"/>
              </a:rPr>
              <a:t>Association name</a:t>
            </a:r>
          </a:p>
          <a:p>
            <a:pPr lvl="1">
              <a:buFont typeface="Wingdings" pitchFamily="2" charset="2"/>
              <a:buChar char="§"/>
            </a:pPr>
            <a:r>
              <a:rPr lang="en-GB" sz="2200" dirty="0">
                <a:latin typeface="+mj-lt"/>
              </a:rPr>
              <a:t>Small black arrowhead to indicate the direction in which the name should be read</a:t>
            </a:r>
          </a:p>
          <a:p>
            <a:pPr lvl="1">
              <a:buFont typeface="Wingdings" pitchFamily="2" charset="2"/>
              <a:buChar char="§"/>
            </a:pPr>
            <a:r>
              <a:rPr lang="en-GB" sz="2200" dirty="0">
                <a:latin typeface="+mj-lt"/>
              </a:rPr>
              <a:t>Should be a verb or verb phrase;</a:t>
            </a:r>
          </a:p>
          <a:p>
            <a:pPr>
              <a:buFont typeface="Wingdings" pitchFamily="2" charset="2"/>
              <a:buChar char="q"/>
            </a:pPr>
            <a:r>
              <a:rPr lang="en-GB" sz="2200" dirty="0">
                <a:latin typeface="+mj-lt"/>
              </a:rPr>
              <a:t> </a:t>
            </a:r>
            <a:r>
              <a:rPr lang="en-GB" sz="2200" b="1" dirty="0">
                <a:latin typeface="+mj-lt"/>
              </a:rPr>
              <a:t>Role names</a:t>
            </a:r>
          </a:p>
          <a:p>
            <a:pPr lvl="1">
              <a:buFont typeface="Wingdings" pitchFamily="2" charset="2"/>
              <a:buChar char="§"/>
            </a:pPr>
            <a:r>
              <a:rPr lang="en-GB" sz="2200" dirty="0">
                <a:latin typeface="+mj-lt"/>
              </a:rPr>
              <a:t>on one or both association ends;</a:t>
            </a:r>
          </a:p>
          <a:p>
            <a:pPr lvl="1">
              <a:buFont typeface="Wingdings" pitchFamily="2" charset="2"/>
              <a:buChar char="§"/>
            </a:pPr>
            <a:r>
              <a:rPr lang="en-GB" sz="2200" dirty="0">
                <a:latin typeface="+mj-lt"/>
              </a:rPr>
              <a:t>should be a noun or noun phrase describing the semantics of the role;</a:t>
            </a:r>
          </a:p>
          <a:p>
            <a:pPr>
              <a:buFont typeface="Wingdings" pitchFamily="2" charset="2"/>
              <a:buChar char="q"/>
            </a:pPr>
            <a:r>
              <a:rPr lang="en-GB" sz="2200" dirty="0">
                <a:latin typeface="+mj-lt"/>
              </a:rPr>
              <a:t> </a:t>
            </a:r>
            <a:r>
              <a:rPr lang="en-GB" sz="2200" b="1" dirty="0">
                <a:latin typeface="+mj-lt"/>
              </a:rPr>
              <a:t>Multiplicity</a:t>
            </a:r>
          </a:p>
          <a:p>
            <a:pPr lvl="1">
              <a:buFont typeface="Wingdings" pitchFamily="2" charset="2"/>
              <a:buChar char="§"/>
            </a:pPr>
            <a:r>
              <a:rPr lang="en-GB" sz="2200" dirty="0">
                <a:latin typeface="+mj-lt"/>
              </a:rPr>
              <a:t>The number of objects that can participate in an instantiated relation</a:t>
            </a:r>
          </a:p>
          <a:p>
            <a:pPr>
              <a:buFont typeface="Wingdings" pitchFamily="2" charset="2"/>
              <a:buChar char="q"/>
            </a:pPr>
            <a:r>
              <a:rPr lang="en-GB" sz="2200" dirty="0">
                <a:latin typeface="+mj-lt"/>
              </a:rPr>
              <a:t> </a:t>
            </a:r>
            <a:r>
              <a:rPr lang="en-GB" sz="2200" b="1" dirty="0">
                <a:latin typeface="+mj-lt"/>
              </a:rPr>
              <a:t>Navigability</a:t>
            </a:r>
          </a:p>
          <a:p>
            <a:pPr lvl="1"/>
            <a:r>
              <a:rPr lang="en-GB" sz="2200" dirty="0"/>
              <a:t>The direction of Arrows</a:t>
            </a:r>
            <a:endParaRPr lang="en-US" altLang="en-US" sz="2200" dirty="0">
              <a:latin typeface="+mj-lt"/>
            </a:endParaRPr>
          </a:p>
        </p:txBody>
      </p:sp>
      <p:grpSp>
        <p:nvGrpSpPr>
          <p:cNvPr id="12" name="Group 11"/>
          <p:cNvGrpSpPr/>
          <p:nvPr/>
        </p:nvGrpSpPr>
        <p:grpSpPr>
          <a:xfrm>
            <a:off x="5742180" y="2700217"/>
            <a:ext cx="6283234" cy="1421113"/>
            <a:chOff x="1622425" y="4773614"/>
            <a:chExt cx="8534400" cy="1730375"/>
          </a:xfrm>
        </p:grpSpPr>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425" y="4773614"/>
              <a:ext cx="85344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0"/>
            <p:cNvSpPr txBox="1">
              <a:spLocks noChangeArrowheads="1"/>
            </p:cNvSpPr>
            <p:nvPr/>
          </p:nvSpPr>
          <p:spPr bwMode="auto">
            <a:xfrm>
              <a:off x="4224339" y="5651498"/>
              <a:ext cx="142875" cy="6252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4000" dirty="0"/>
                <a:t>*</a:t>
              </a:r>
            </a:p>
          </p:txBody>
        </p:sp>
        <p:sp>
          <p:nvSpPr>
            <p:cNvPr id="17" name="Text Box 10"/>
            <p:cNvSpPr txBox="1">
              <a:spLocks noChangeArrowheads="1"/>
            </p:cNvSpPr>
            <p:nvPr/>
          </p:nvSpPr>
          <p:spPr bwMode="auto">
            <a:xfrm>
              <a:off x="9191625" y="5589587"/>
              <a:ext cx="73025" cy="6252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4000" dirty="0"/>
                <a:t>*</a:t>
              </a:r>
            </a:p>
          </p:txBody>
        </p:sp>
      </p:grpSp>
      <p:sp>
        <p:nvSpPr>
          <p:cNvPr id="8" name="Slide Number Placeholder 3">
            <a:extLst>
              <a:ext uri="{FF2B5EF4-FFF2-40B4-BE49-F238E27FC236}">
                <a16:creationId xmlns:a16="http://schemas.microsoft.com/office/drawing/2014/main" id="{4D16269C-36DB-451B-BF22-E2D0B2B58E2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9" name="Content Placeholder 2">
            <a:extLst>
              <a:ext uri="{FF2B5EF4-FFF2-40B4-BE49-F238E27FC236}">
                <a16:creationId xmlns:a16="http://schemas.microsoft.com/office/drawing/2014/main" id="{AF4A6B34-AE28-4722-9499-DC64AAA9599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Rectangle 9" descr="M. Mhahudul Hasan">
            <a:extLst>
              <a:ext uri="{FF2B5EF4-FFF2-40B4-BE49-F238E27FC236}">
                <a16:creationId xmlns:a16="http://schemas.microsoft.com/office/drawing/2014/main" id="{03DA1D95-9A3D-4B9B-B460-010DAFA8547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1" name="Rectangle 10" descr="M. Mhahudul Hasan">
            <a:extLst>
              <a:ext uri="{FF2B5EF4-FFF2-40B4-BE49-F238E27FC236}">
                <a16:creationId xmlns:a16="http://schemas.microsoft.com/office/drawing/2014/main" id="{FE098CD1-D48E-4153-82F9-FD520CB52D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4" name="Rectangle 13" descr="M. Mhahudul Hasan">
            <a:extLst>
              <a:ext uri="{FF2B5EF4-FFF2-40B4-BE49-F238E27FC236}">
                <a16:creationId xmlns:a16="http://schemas.microsoft.com/office/drawing/2014/main" id="{D642AE8A-CC36-4F56-9934-0996E24BD4F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64795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1729" y="495199"/>
            <a:ext cx="11029950" cy="551938"/>
          </a:xfrm>
        </p:spPr>
        <p:txBody>
          <a:bodyPr/>
          <a:lstStyle/>
          <a:p>
            <a:pPr algn="ctr"/>
            <a:r>
              <a:rPr lang="en-US" altLang="en-US" b="1" dirty="0">
                <a:solidFill>
                  <a:srgbClr val="0070C0"/>
                </a:solidFill>
                <a:latin typeface="Book Antiqua" pitchFamily="18" charset="0"/>
              </a:rPr>
              <a:t>Association  multiplicity </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80219" y="1106129"/>
            <a:ext cx="11769213" cy="5353666"/>
          </a:xfrm>
        </p:spPr>
        <p:txBody>
          <a:bodyPr>
            <a:noAutofit/>
          </a:bodyPr>
          <a:lstStyle/>
          <a:p>
            <a:pPr>
              <a:lnSpc>
                <a:spcPct val="90000"/>
              </a:lnSpc>
              <a:buFont typeface="Wingdings" pitchFamily="2" charset="2"/>
              <a:buChar char="§"/>
            </a:pPr>
            <a:r>
              <a:rPr lang="en-US" sz="2200" dirty="0">
                <a:solidFill>
                  <a:srgbClr val="C00000"/>
                </a:solidFill>
              </a:rPr>
              <a:t>Association multiplicity limits the number of objects that can participate in an association.</a:t>
            </a:r>
            <a:endParaRPr lang="en-US" altLang="en-US" sz="2200" dirty="0">
              <a:solidFill>
                <a:srgbClr val="C00000"/>
              </a:solidFill>
              <a:latin typeface="+mj-lt"/>
            </a:endParaRPr>
          </a:p>
          <a:p>
            <a:pPr>
              <a:lnSpc>
                <a:spcPct val="90000"/>
              </a:lnSpc>
              <a:buFont typeface="Wingdings" pitchFamily="2" charset="2"/>
              <a:buChar char="§"/>
            </a:pPr>
            <a:r>
              <a:rPr lang="en-US" altLang="en-US" sz="2200" dirty="0">
                <a:latin typeface="+mj-lt"/>
              </a:rPr>
              <a:t>Provides a lower and upper bound on the number of instances (at opposite end)</a:t>
            </a:r>
          </a:p>
          <a:p>
            <a:pPr>
              <a:lnSpc>
                <a:spcPct val="90000"/>
              </a:lnSpc>
              <a:buFont typeface="Wingdings" pitchFamily="2" charset="2"/>
              <a:buChar char="§"/>
            </a:pPr>
            <a:r>
              <a:rPr lang="en-US" altLang="en-US" sz="2200" dirty="0">
                <a:latin typeface="+mj-lt"/>
              </a:rPr>
              <a:t>Indicates whether an association is mandatory</a:t>
            </a:r>
            <a:br>
              <a:rPr lang="en-US" altLang="en-US" sz="2200" dirty="0">
                <a:latin typeface="+mj-lt"/>
              </a:rPr>
            </a:br>
            <a:endParaRPr lang="en-US" altLang="en-US" sz="2200" dirty="0">
              <a:solidFill>
                <a:srgbClr val="C00000"/>
              </a:solidFill>
              <a:latin typeface="+mj-lt"/>
            </a:endParaRPr>
          </a:p>
          <a:p>
            <a:pPr>
              <a:buNone/>
            </a:pPr>
            <a:r>
              <a:rPr lang="en-GB" sz="2200" b="1" u="sng" dirty="0">
                <a:solidFill>
                  <a:srgbClr val="C00000"/>
                </a:solidFill>
                <a:latin typeface="+mj-lt"/>
              </a:rPr>
              <a:t>Ask questions about the associations:</a:t>
            </a:r>
            <a:br>
              <a:rPr lang="en-GB" sz="2200" b="1" u="sng" dirty="0">
                <a:solidFill>
                  <a:srgbClr val="C00000"/>
                </a:solidFill>
                <a:latin typeface="+mj-lt"/>
              </a:rPr>
            </a:br>
            <a:endParaRPr lang="en-GB" sz="2200" b="1" u="sng" dirty="0">
              <a:solidFill>
                <a:srgbClr val="C00000"/>
              </a:solidFill>
              <a:latin typeface="+mj-lt"/>
            </a:endParaRPr>
          </a:p>
          <a:p>
            <a:pPr>
              <a:buFont typeface="Wingdings" pitchFamily="2" charset="2"/>
              <a:buChar char="q"/>
            </a:pPr>
            <a:r>
              <a:rPr lang="en-GB" sz="2200" dirty="0">
                <a:solidFill>
                  <a:srgbClr val="7030A0"/>
                </a:solidFill>
                <a:latin typeface="+mj-lt"/>
              </a:rPr>
              <a:t>Can a company exist without any employee?</a:t>
            </a:r>
          </a:p>
          <a:p>
            <a:pPr lvl="1">
              <a:buFont typeface="Wingdings" pitchFamily="2" charset="2"/>
              <a:buChar char="§"/>
            </a:pPr>
            <a:r>
              <a:rPr lang="en-GB" sz="2200" dirty="0">
                <a:latin typeface="+mj-lt"/>
              </a:rPr>
              <a:t>If yes, then the association is optional at the Employee end - zero or more (0..*)</a:t>
            </a:r>
          </a:p>
          <a:p>
            <a:pPr lvl="1">
              <a:buFont typeface="Wingdings" pitchFamily="2" charset="2"/>
              <a:buChar char="§"/>
            </a:pPr>
            <a:r>
              <a:rPr lang="en-GB" sz="2200" dirty="0">
                <a:latin typeface="+mj-lt"/>
              </a:rPr>
              <a:t>If no, then it is not optional - one or more (1..*)</a:t>
            </a:r>
          </a:p>
          <a:p>
            <a:pPr lvl="1">
              <a:buFont typeface="Wingdings" pitchFamily="2" charset="2"/>
              <a:buChar char="§"/>
            </a:pPr>
            <a:r>
              <a:rPr lang="en-GB" sz="2200" dirty="0">
                <a:latin typeface="+mj-lt"/>
              </a:rPr>
              <a:t>If it must have only one employee - exactly one (1)</a:t>
            </a:r>
          </a:p>
          <a:p>
            <a:pPr>
              <a:buFont typeface="Wingdings" pitchFamily="2" charset="2"/>
              <a:buChar char="q"/>
            </a:pPr>
            <a:r>
              <a:rPr lang="en-GB" sz="2200" dirty="0">
                <a:solidFill>
                  <a:srgbClr val="7030A0"/>
                </a:solidFill>
                <a:latin typeface="+mj-lt"/>
              </a:rPr>
              <a:t>What about the other end of the association? Can an employee work for more than one company?</a:t>
            </a:r>
          </a:p>
          <a:p>
            <a:pPr lvl="1">
              <a:buFont typeface="Wingdings" pitchFamily="2" charset="2"/>
              <a:buChar char="§"/>
            </a:pPr>
            <a:r>
              <a:rPr lang="en-GB" sz="2200" dirty="0">
                <a:latin typeface="+mj-lt"/>
              </a:rPr>
              <a:t>If no, the correct multiplicity is 1.</a:t>
            </a:r>
            <a:endParaRPr lang="en-US" altLang="en-US" sz="2200" dirty="0">
              <a:latin typeface="+mj-lt"/>
            </a:endParaRPr>
          </a:p>
        </p:txBody>
      </p:sp>
      <p:grpSp>
        <p:nvGrpSpPr>
          <p:cNvPr id="9" name="Group 8"/>
          <p:cNvGrpSpPr/>
          <p:nvPr/>
        </p:nvGrpSpPr>
        <p:grpSpPr>
          <a:xfrm>
            <a:off x="6081813" y="2768483"/>
            <a:ext cx="5865223" cy="705395"/>
            <a:chOff x="2279651" y="4149725"/>
            <a:chExt cx="6408738" cy="647700"/>
          </a:xfrm>
        </p:grpSpPr>
        <p:sp>
          <p:nvSpPr>
            <p:cNvPr id="10" name="Rectangle 9"/>
            <p:cNvSpPr/>
            <p:nvPr/>
          </p:nvSpPr>
          <p:spPr>
            <a:xfrm>
              <a:off x="2279651" y="4221163"/>
              <a:ext cx="1800225" cy="576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Company</a:t>
              </a:r>
            </a:p>
          </p:txBody>
        </p:sp>
        <p:sp>
          <p:nvSpPr>
            <p:cNvPr id="11" name="Rectangle 10"/>
            <p:cNvSpPr/>
            <p:nvPr/>
          </p:nvSpPr>
          <p:spPr>
            <a:xfrm>
              <a:off x="6888164" y="4221163"/>
              <a:ext cx="1800225" cy="576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Employee</a:t>
              </a:r>
            </a:p>
          </p:txBody>
        </p:sp>
        <p:cxnSp>
          <p:nvCxnSpPr>
            <p:cNvPr id="12" name="Straight Connector 11"/>
            <p:cNvCxnSpPr>
              <a:stCxn id="10" idx="3"/>
              <a:endCxn id="11" idx="1"/>
            </p:cNvCxnSpPr>
            <p:nvPr/>
          </p:nvCxnSpPr>
          <p:spPr>
            <a:xfrm>
              <a:off x="4079875" y="4508500"/>
              <a:ext cx="28082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933630" y="4149726"/>
              <a:ext cx="883096" cy="275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a:defRPr/>
              </a:pPr>
              <a:r>
                <a:rPr lang="en-US" dirty="0">
                  <a:solidFill>
                    <a:schemeClr val="tx1"/>
                  </a:solidFill>
                  <a:latin typeface="Times New Roman" pitchFamily="18" charset="0"/>
                  <a:cs typeface="Times New Roman" pitchFamily="18" charset="0"/>
                </a:rPr>
                <a:t>0 .. *</a:t>
              </a:r>
            </a:p>
          </p:txBody>
        </p:sp>
        <p:sp>
          <p:nvSpPr>
            <p:cNvPr id="15" name="Rectangle 14"/>
            <p:cNvSpPr/>
            <p:nvPr/>
          </p:nvSpPr>
          <p:spPr>
            <a:xfrm>
              <a:off x="4224338" y="4149725"/>
              <a:ext cx="647700" cy="2873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a:defRPr/>
              </a:pPr>
              <a:r>
                <a:rPr lang="en-US" dirty="0">
                  <a:solidFill>
                    <a:schemeClr val="tx1"/>
                  </a:solidFill>
                  <a:latin typeface="Times New Roman" pitchFamily="18" charset="0"/>
                  <a:cs typeface="Times New Roman" pitchFamily="18" charset="0"/>
                </a:rPr>
                <a:t>1</a:t>
              </a:r>
            </a:p>
          </p:txBody>
        </p:sp>
      </p:grpSp>
      <p:sp>
        <p:nvSpPr>
          <p:cNvPr id="13" name="Slide Number Placeholder 3">
            <a:extLst>
              <a:ext uri="{FF2B5EF4-FFF2-40B4-BE49-F238E27FC236}">
                <a16:creationId xmlns:a16="http://schemas.microsoft.com/office/drawing/2014/main" id="{AE7C24E2-B384-4879-BD60-4275F605A8E7}"/>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16" name="Content Placeholder 2">
            <a:extLst>
              <a:ext uri="{FF2B5EF4-FFF2-40B4-BE49-F238E27FC236}">
                <a16:creationId xmlns:a16="http://schemas.microsoft.com/office/drawing/2014/main" id="{33D66620-D7C3-429A-88AF-CC928137FB6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7" name="Rectangle 16" descr="M. Mhahudul Hasan">
            <a:extLst>
              <a:ext uri="{FF2B5EF4-FFF2-40B4-BE49-F238E27FC236}">
                <a16:creationId xmlns:a16="http://schemas.microsoft.com/office/drawing/2014/main" id="{A3AFF1AF-DC53-4354-BAC8-E47139CF393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8" name="Rectangle 17" descr="M. Mhahudul Hasan">
            <a:extLst>
              <a:ext uri="{FF2B5EF4-FFF2-40B4-BE49-F238E27FC236}">
                <a16:creationId xmlns:a16="http://schemas.microsoft.com/office/drawing/2014/main" id="{01074667-0A7D-4633-8AAB-3720B33ABEB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9" name="Rectangle 18" descr="M. Mhahudul Hasan">
            <a:extLst>
              <a:ext uri="{FF2B5EF4-FFF2-40B4-BE49-F238E27FC236}">
                <a16:creationId xmlns:a16="http://schemas.microsoft.com/office/drawing/2014/main" id="{855640BE-E479-44C2-A07E-DF123E8D5A6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581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54191"/>
            <a:ext cx="11029950" cy="507693"/>
          </a:xfrm>
        </p:spPr>
        <p:txBody>
          <a:bodyPr>
            <a:normAutofit fontScale="90000"/>
          </a:bodyPr>
          <a:lstStyle/>
          <a:p>
            <a:pPr algn="ctr"/>
            <a:r>
              <a:rPr lang="en-US" altLang="en-US" b="1" dirty="0">
                <a:solidFill>
                  <a:srgbClr val="0070C0"/>
                </a:solidFill>
                <a:latin typeface="Book Antiqua" pitchFamily="18" charset="0"/>
              </a:rPr>
              <a:t>multiplicity  indicator</a:t>
            </a:r>
            <a:endParaRPr lang="en-US" b="1" dirty="0">
              <a:solidFill>
                <a:srgbClr val="0070C0"/>
              </a:solidFill>
              <a:effectLst>
                <a:outerShdw blurRad="38100" dist="38100" dir="2700000" algn="tl">
                  <a:srgbClr val="000000">
                    <a:alpha val="43137"/>
                  </a:srgbClr>
                </a:outerShdw>
              </a:effectLst>
            </a:endParaRPr>
          </a:p>
        </p:txBody>
      </p:sp>
      <p:graphicFrame>
        <p:nvGraphicFramePr>
          <p:cNvPr id="16" name="Group 72"/>
          <p:cNvGraphicFramePr>
            <a:graphicFrameLocks noGrp="1"/>
          </p:cNvGraphicFramePr>
          <p:nvPr>
            <p:extLst>
              <p:ext uri="{D42A27DB-BD31-4B8C-83A1-F6EECF244321}">
                <p14:modId xmlns:p14="http://schemas.microsoft.com/office/powerpoint/2010/main" val="4004767970"/>
              </p:ext>
            </p:extLst>
          </p:nvPr>
        </p:nvGraphicFramePr>
        <p:xfrm>
          <a:off x="2581685" y="1581027"/>
          <a:ext cx="7217833" cy="3357494"/>
        </p:xfrm>
        <a:graphic>
          <a:graphicData uri="http://schemas.openxmlformats.org/drawingml/2006/table">
            <a:tbl>
              <a:tblPr/>
              <a:tblGrid>
                <a:gridCol w="5593821">
                  <a:extLst>
                    <a:ext uri="{9D8B030D-6E8A-4147-A177-3AD203B41FA5}">
                      <a16:colId xmlns:a16="http://schemas.microsoft.com/office/drawing/2014/main" val="20000"/>
                    </a:ext>
                  </a:extLst>
                </a:gridCol>
                <a:gridCol w="1624012">
                  <a:extLst>
                    <a:ext uri="{9D8B030D-6E8A-4147-A177-3AD203B41FA5}">
                      <a16:colId xmlns:a16="http://schemas.microsoft.com/office/drawing/2014/main" val="20001"/>
                    </a:ext>
                  </a:extLst>
                </a:gridCol>
              </a:tblGrid>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Exactly one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Many</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One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one (optional association)</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Specified range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2..4</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59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Multiple, disjoint ranges</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2, 4..6, 8</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Slide Number Placeholder 3">
            <a:extLst>
              <a:ext uri="{FF2B5EF4-FFF2-40B4-BE49-F238E27FC236}">
                <a16:creationId xmlns:a16="http://schemas.microsoft.com/office/drawing/2014/main" id="{DB2CFB3C-6C52-45AC-A1E9-2313DF68DB6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5" name="Content Placeholder 2">
            <a:extLst>
              <a:ext uri="{FF2B5EF4-FFF2-40B4-BE49-F238E27FC236}">
                <a16:creationId xmlns:a16="http://schemas.microsoft.com/office/drawing/2014/main" id="{96A10457-5D8F-4D38-9F10-20C9143D14E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180976DB-A99F-4073-8E75-E9D8D3E2759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 name="Rectangle 6" descr="M. Mhahudul Hasan">
            <a:extLst>
              <a:ext uri="{FF2B5EF4-FFF2-40B4-BE49-F238E27FC236}">
                <a16:creationId xmlns:a16="http://schemas.microsoft.com/office/drawing/2014/main" id="{B48CFAA5-2F0B-4E34-B95D-50BF6B95040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8" name="Rectangle 7" descr="M. Mhahudul Hasan">
            <a:extLst>
              <a:ext uri="{FF2B5EF4-FFF2-40B4-BE49-F238E27FC236}">
                <a16:creationId xmlns:a16="http://schemas.microsoft.com/office/drawing/2014/main" id="{27604170-4042-44B8-9E8C-C48A11353F8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7960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0"/>
            <a:ext cx="11029950" cy="507693"/>
          </a:xfrm>
        </p:spPr>
        <p:txBody>
          <a:bodyPr>
            <a:normAutofit fontScale="90000"/>
          </a:bodyPr>
          <a:lstStyle/>
          <a:p>
            <a:pPr algn="ctr"/>
            <a:r>
              <a:rPr lang="en-US" altLang="en-US" b="1" dirty="0">
                <a:solidFill>
                  <a:srgbClr val="0070C0"/>
                </a:solidFill>
                <a:latin typeface="Book Antiqua" pitchFamily="18" charset="0"/>
              </a:rPr>
              <a:t>aggregation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691" y="1354241"/>
            <a:ext cx="11233150" cy="1698625"/>
          </a:xfrm>
        </p:spPr>
        <p:txBody>
          <a:bodyPr>
            <a:noAutofit/>
          </a:bodyPr>
          <a:lstStyle/>
          <a:p>
            <a:pPr>
              <a:buFont typeface="Wingdings" pitchFamily="2" charset="2"/>
              <a:buChar char="q"/>
            </a:pPr>
            <a:r>
              <a:rPr lang="en-US" altLang="en-US" sz="2200" dirty="0">
                <a:latin typeface="+mj-lt"/>
              </a:rPr>
              <a:t>A special form of association that models a whole- part relationship between an aggregate (the whole) and its parts (shared class i.e., </a:t>
            </a:r>
            <a:r>
              <a:rPr lang="en-US" altLang="en-US" sz="2200" b="1" dirty="0">
                <a:latin typeface="+mj-lt"/>
              </a:rPr>
              <a:t>Part </a:t>
            </a:r>
            <a:r>
              <a:rPr lang="en-US" altLang="en-US" sz="2200" dirty="0">
                <a:latin typeface="+mj-lt"/>
              </a:rPr>
              <a:t>by </a:t>
            </a:r>
            <a:r>
              <a:rPr lang="en-US" altLang="en-US" sz="2200" b="1" dirty="0">
                <a:latin typeface="+mj-lt"/>
              </a:rPr>
              <a:t>Whole</a:t>
            </a:r>
            <a:r>
              <a:rPr lang="en-US" altLang="en-US" sz="2200" dirty="0">
                <a:latin typeface="+mj-lt"/>
              </a:rPr>
              <a:t> class)</a:t>
            </a:r>
          </a:p>
          <a:p>
            <a:pPr>
              <a:buFont typeface="Wingdings" pitchFamily="2" charset="2"/>
              <a:buChar char="§"/>
            </a:pPr>
            <a:r>
              <a:rPr lang="en-US" altLang="en-US" sz="2200" dirty="0">
                <a:solidFill>
                  <a:srgbClr val="C00000"/>
                </a:solidFill>
                <a:latin typeface="+mj-lt"/>
              </a:rPr>
              <a:t>Models a “is a part-part of”  “has-a” relationship.</a:t>
            </a:r>
          </a:p>
          <a:p>
            <a:pPr>
              <a:lnSpc>
                <a:spcPct val="90000"/>
              </a:lnSpc>
              <a:buNone/>
            </a:pPr>
            <a:endParaRPr lang="en-US" altLang="en-US" sz="2200" dirty="0">
              <a:latin typeface="+mj-lt"/>
            </a:endParaRPr>
          </a:p>
        </p:txBody>
      </p:sp>
      <p:sp>
        <p:nvSpPr>
          <p:cNvPr id="64" name="AutoShape 11"/>
          <p:cNvSpPr>
            <a:spLocks noChangeArrowheads="1"/>
          </p:cNvSpPr>
          <p:nvPr/>
        </p:nvSpPr>
        <p:spPr bwMode="auto">
          <a:xfrm>
            <a:off x="3001434" y="4244790"/>
            <a:ext cx="1082675" cy="463368"/>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Whole</a:t>
            </a:r>
          </a:p>
        </p:txBody>
      </p:sp>
      <p:sp>
        <p:nvSpPr>
          <p:cNvPr id="65" name="AutoShape 12"/>
          <p:cNvSpPr>
            <a:spLocks noChangeArrowheads="1"/>
          </p:cNvSpPr>
          <p:nvPr/>
        </p:nvSpPr>
        <p:spPr bwMode="auto">
          <a:xfrm>
            <a:off x="5462835" y="4168653"/>
            <a:ext cx="1082675" cy="416175"/>
          </a:xfrm>
          <a:prstGeom prst="wedgeRectCallout">
            <a:avLst>
              <a:gd name="adj1" fmla="val -37507"/>
              <a:gd name="adj2" fmla="val -10650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Part</a:t>
            </a:r>
          </a:p>
        </p:txBody>
      </p:sp>
      <p:grpSp>
        <p:nvGrpSpPr>
          <p:cNvPr id="79" name="Group 28"/>
          <p:cNvGrpSpPr>
            <a:grpSpLocks/>
          </p:cNvGrpSpPr>
          <p:nvPr/>
        </p:nvGrpSpPr>
        <p:grpSpPr bwMode="auto">
          <a:xfrm>
            <a:off x="2425901" y="3330697"/>
            <a:ext cx="5942132" cy="599632"/>
            <a:chOff x="576" y="2894"/>
            <a:chExt cx="4708" cy="391"/>
          </a:xfrm>
        </p:grpSpPr>
        <p:grpSp>
          <p:nvGrpSpPr>
            <p:cNvPr id="80" name="Group 19"/>
            <p:cNvGrpSpPr>
              <a:grpSpLocks/>
            </p:cNvGrpSpPr>
            <p:nvPr/>
          </p:nvGrpSpPr>
          <p:grpSpPr bwMode="auto">
            <a:xfrm>
              <a:off x="576" y="2976"/>
              <a:ext cx="912" cy="288"/>
              <a:chOff x="720" y="2976"/>
              <a:chExt cx="768" cy="288"/>
            </a:xfrm>
          </p:grpSpPr>
          <p:sp>
            <p:nvSpPr>
              <p:cNvPr id="92"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93" name="Text Box 6"/>
              <p:cNvSpPr txBox="1">
                <a:spLocks noChangeArrowheads="1"/>
              </p:cNvSpPr>
              <p:nvPr/>
            </p:nvSpPr>
            <p:spPr bwMode="auto">
              <a:xfrm>
                <a:off x="768" y="3024"/>
                <a:ext cx="70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000" b="1" dirty="0">
                    <a:latin typeface="Arial" panose="020B0604020202020204" pitchFamily="34" charset="0"/>
                  </a:rPr>
                  <a:t>Car</a:t>
                </a:r>
              </a:p>
            </p:txBody>
          </p:sp>
        </p:grpSp>
        <p:sp>
          <p:nvSpPr>
            <p:cNvPr id="81"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b="1" dirty="0">
                  <a:latin typeface="Arial" panose="020B0604020202020204" pitchFamily="34" charset="0"/>
                </a:rPr>
                <a:t>Door</a:t>
              </a:r>
            </a:p>
          </p:txBody>
        </p:sp>
        <p:sp>
          <p:nvSpPr>
            <p:cNvPr id="82" name="Line 9"/>
            <p:cNvSpPr>
              <a:spLocks noChangeShapeType="1"/>
            </p:cNvSpPr>
            <p:nvPr/>
          </p:nvSpPr>
          <p:spPr bwMode="auto">
            <a:xfrm flipV="1">
              <a:off x="1632" y="312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grpSp>
          <p:nvGrpSpPr>
            <p:cNvPr id="84" name="Group 18"/>
            <p:cNvGrpSpPr>
              <a:grpSpLocks/>
            </p:cNvGrpSpPr>
            <p:nvPr/>
          </p:nvGrpSpPr>
          <p:grpSpPr bwMode="auto">
            <a:xfrm flipH="1">
              <a:off x="3360" y="3048"/>
              <a:ext cx="1104" cy="144"/>
              <a:chOff x="1920" y="3432"/>
              <a:chExt cx="1104" cy="144"/>
            </a:xfrm>
          </p:grpSpPr>
          <p:sp>
            <p:nvSpPr>
              <p:cNvPr id="90"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1"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grpSp>
        <p:grpSp>
          <p:nvGrpSpPr>
            <p:cNvPr id="85" name="Group 20"/>
            <p:cNvGrpSpPr>
              <a:grpSpLocks/>
            </p:cNvGrpSpPr>
            <p:nvPr/>
          </p:nvGrpSpPr>
          <p:grpSpPr bwMode="auto">
            <a:xfrm>
              <a:off x="4464" y="2976"/>
              <a:ext cx="820" cy="309"/>
              <a:chOff x="720" y="2976"/>
              <a:chExt cx="820" cy="309"/>
            </a:xfrm>
          </p:grpSpPr>
          <p:sp>
            <p:nvSpPr>
              <p:cNvPr id="88"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89" name="Text Box 22"/>
              <p:cNvSpPr txBox="1">
                <a:spLocks noChangeArrowheads="1"/>
              </p:cNvSpPr>
              <p:nvPr/>
            </p:nvSpPr>
            <p:spPr bwMode="auto">
              <a:xfrm>
                <a:off x="768" y="3024"/>
                <a:ext cx="772"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000" b="1" dirty="0">
                    <a:latin typeface="Arial" panose="020B0604020202020204" pitchFamily="34" charset="0"/>
                  </a:rPr>
                  <a:t>House</a:t>
                </a:r>
              </a:p>
            </p:txBody>
          </p:sp>
        </p:grpSp>
        <p:sp>
          <p:nvSpPr>
            <p:cNvPr id="86" name="Text Box 23"/>
            <p:cNvSpPr txBox="1">
              <a:spLocks noChangeArrowheads="1"/>
            </p:cNvSpPr>
            <p:nvPr/>
          </p:nvSpPr>
          <p:spPr bwMode="auto">
            <a:xfrm>
              <a:off x="3339" y="2894"/>
              <a:ext cx="651"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1..*</a:t>
              </a:r>
            </a:p>
          </p:txBody>
        </p:sp>
        <p:sp>
          <p:nvSpPr>
            <p:cNvPr id="87" name="Text Box 24"/>
            <p:cNvSpPr txBox="1">
              <a:spLocks noChangeArrowheads="1"/>
            </p:cNvSpPr>
            <p:nvPr/>
          </p:nvSpPr>
          <p:spPr bwMode="auto">
            <a:xfrm>
              <a:off x="2100" y="2894"/>
              <a:ext cx="570"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2..*</a:t>
              </a:r>
            </a:p>
          </p:txBody>
        </p:sp>
      </p:grpSp>
      <p:sp>
        <p:nvSpPr>
          <p:cNvPr id="21" name="Slide Number Placeholder 3">
            <a:extLst>
              <a:ext uri="{FF2B5EF4-FFF2-40B4-BE49-F238E27FC236}">
                <a16:creationId xmlns:a16="http://schemas.microsoft.com/office/drawing/2014/main" id="{E80D486A-1D5E-4DFD-A512-6AA0A2A2409A}"/>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22" name="Content Placeholder 2">
            <a:extLst>
              <a:ext uri="{FF2B5EF4-FFF2-40B4-BE49-F238E27FC236}">
                <a16:creationId xmlns:a16="http://schemas.microsoft.com/office/drawing/2014/main" id="{C4BE1FF7-3AF4-46F1-9A85-BBE261195F7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3" name="Rectangle 22" descr="M. Mhahudul Hasan">
            <a:extLst>
              <a:ext uri="{FF2B5EF4-FFF2-40B4-BE49-F238E27FC236}">
                <a16:creationId xmlns:a16="http://schemas.microsoft.com/office/drawing/2014/main" id="{9EFED1CC-2BBD-4B9B-9595-BFD540CB797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4" name="Rectangle 23" descr="M. Mhahudul Hasan">
            <a:extLst>
              <a:ext uri="{FF2B5EF4-FFF2-40B4-BE49-F238E27FC236}">
                <a16:creationId xmlns:a16="http://schemas.microsoft.com/office/drawing/2014/main" id="{82DC139E-4000-4BA7-94B8-FB1BCFCA7C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5" name="Rectangle 24" descr="M. Mhahudul Hasan">
            <a:extLst>
              <a:ext uri="{FF2B5EF4-FFF2-40B4-BE49-F238E27FC236}">
                <a16:creationId xmlns:a16="http://schemas.microsoft.com/office/drawing/2014/main" id="{866E980F-A2F5-4A1B-98D7-03611A26AEC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utoShape 11">
            <a:extLst>
              <a:ext uri="{FF2B5EF4-FFF2-40B4-BE49-F238E27FC236}">
                <a16:creationId xmlns:a16="http://schemas.microsoft.com/office/drawing/2014/main" id="{102F7A80-CA96-4940-AA53-10D5C6DB4E2F}"/>
              </a:ext>
            </a:extLst>
          </p:cNvPr>
          <p:cNvSpPr>
            <a:spLocks noChangeArrowheads="1"/>
          </p:cNvSpPr>
          <p:nvPr/>
        </p:nvSpPr>
        <p:spPr bwMode="auto">
          <a:xfrm>
            <a:off x="7740582" y="4293951"/>
            <a:ext cx="1082675" cy="463368"/>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Whole</a:t>
            </a:r>
          </a:p>
        </p:txBody>
      </p:sp>
    </p:spTree>
    <p:extLst>
      <p:ext uri="{BB962C8B-B14F-4D97-AF65-F5344CB8AC3E}">
        <p14:creationId xmlns:p14="http://schemas.microsoft.com/office/powerpoint/2010/main" val="1227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7484" y="509947"/>
            <a:ext cx="11029950" cy="566686"/>
          </a:xfrm>
        </p:spPr>
        <p:txBody>
          <a:bodyPr/>
          <a:lstStyle/>
          <a:p>
            <a:pPr algn="ctr"/>
            <a:r>
              <a:rPr lang="en-US" altLang="en-US" b="1" dirty="0">
                <a:solidFill>
                  <a:srgbClr val="0070C0"/>
                </a:solidFill>
                <a:latin typeface="Book Antiqua" pitchFamily="18" charset="0"/>
              </a:rPr>
              <a:t>aggregation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333" y="1293300"/>
            <a:ext cx="11012487" cy="4779962"/>
          </a:xfrm>
        </p:spPr>
        <p:txBody>
          <a:bodyPr>
            <a:noAutofit/>
          </a:bodyPr>
          <a:lstStyle/>
          <a:p>
            <a:pPr>
              <a:lnSpc>
                <a:spcPct val="90000"/>
              </a:lnSpc>
              <a:buFont typeface="Wingdings" pitchFamily="2" charset="2"/>
              <a:buChar char="q"/>
            </a:pPr>
            <a:r>
              <a:rPr lang="en-US" altLang="en-US" sz="2200" dirty="0">
                <a:latin typeface="+mj-lt"/>
              </a:rPr>
              <a:t>Is the phrase “part of” used to describe the relationship?</a:t>
            </a:r>
          </a:p>
          <a:p>
            <a:pPr lvl="2">
              <a:lnSpc>
                <a:spcPct val="90000"/>
              </a:lnSpc>
            </a:pPr>
            <a:r>
              <a:rPr lang="en-US" altLang="en-US" sz="2200" dirty="0">
                <a:solidFill>
                  <a:srgbClr val="C00000"/>
                </a:solidFill>
                <a:latin typeface="+mj-lt"/>
              </a:rPr>
              <a:t>A door is “part of” a car </a:t>
            </a:r>
            <a:br>
              <a:rPr lang="en-US" altLang="en-US" sz="2200" dirty="0">
                <a:solidFill>
                  <a:srgbClr val="C00000"/>
                </a:solidFill>
                <a:latin typeface="+mj-lt"/>
              </a:rPr>
            </a:br>
            <a:endParaRPr lang="en-US" altLang="en-US" sz="2200" dirty="0">
              <a:solidFill>
                <a:srgbClr val="C00000"/>
              </a:solidFill>
              <a:latin typeface="+mj-lt"/>
            </a:endParaRPr>
          </a:p>
          <a:p>
            <a:pPr>
              <a:lnSpc>
                <a:spcPct val="90000"/>
              </a:lnSpc>
              <a:buFont typeface="Wingdings" pitchFamily="2" charset="2"/>
              <a:buChar char="q"/>
            </a:pPr>
            <a:r>
              <a:rPr lang="en-US" altLang="en-US" sz="2200" dirty="0">
                <a:latin typeface="+mj-lt"/>
              </a:rPr>
              <a:t>Are some operations on the whole automatically applied to its parts?</a:t>
            </a:r>
          </a:p>
          <a:p>
            <a:pPr lvl="2">
              <a:lnSpc>
                <a:spcPct val="90000"/>
              </a:lnSpc>
            </a:pPr>
            <a:r>
              <a:rPr lang="en-US" altLang="en-US" sz="2200" dirty="0">
                <a:solidFill>
                  <a:srgbClr val="C00000"/>
                </a:solidFill>
                <a:latin typeface="+mj-lt"/>
              </a:rPr>
              <a:t>Move the car, move the door.</a:t>
            </a:r>
            <a:br>
              <a:rPr lang="en-US" altLang="en-US" sz="2200" dirty="0">
                <a:solidFill>
                  <a:srgbClr val="C00000"/>
                </a:solidFill>
                <a:latin typeface="+mj-lt"/>
              </a:rPr>
            </a:br>
            <a:endParaRPr lang="en-US" altLang="en-US" sz="2200" dirty="0">
              <a:solidFill>
                <a:srgbClr val="C00000"/>
              </a:solidFill>
              <a:latin typeface="+mj-lt"/>
              <a:ea typeface="Batang" panose="02030600000101010101" pitchFamily="18" charset="-127"/>
            </a:endParaRPr>
          </a:p>
          <a:p>
            <a:pPr>
              <a:lnSpc>
                <a:spcPct val="90000"/>
              </a:lnSpc>
              <a:buFont typeface="Wingdings" pitchFamily="2" charset="2"/>
              <a:buChar char="q"/>
            </a:pPr>
            <a:r>
              <a:rPr lang="en-US" altLang="en-US" sz="2200" dirty="0">
                <a:latin typeface="+mj-lt"/>
              </a:rPr>
              <a:t>Are some attribute values propagated from the whole to all or some of its parts?</a:t>
            </a:r>
          </a:p>
          <a:p>
            <a:pPr lvl="2">
              <a:lnSpc>
                <a:spcPct val="90000"/>
              </a:lnSpc>
            </a:pPr>
            <a:r>
              <a:rPr lang="en-US" altLang="en-US" sz="2200" dirty="0">
                <a:solidFill>
                  <a:srgbClr val="C00000"/>
                </a:solidFill>
                <a:latin typeface="+mj-lt"/>
              </a:rPr>
              <a:t>The car is blue; therefore, the door is blue.</a:t>
            </a:r>
            <a:br>
              <a:rPr lang="en-US" altLang="en-US" sz="2200" dirty="0">
                <a:solidFill>
                  <a:srgbClr val="C00000"/>
                </a:solidFill>
                <a:latin typeface="+mj-lt"/>
              </a:rPr>
            </a:br>
            <a:endParaRPr lang="en-US" altLang="en-US" sz="2200" dirty="0">
              <a:solidFill>
                <a:srgbClr val="C00000"/>
              </a:solidFill>
              <a:latin typeface="+mj-lt"/>
            </a:endParaRPr>
          </a:p>
          <a:p>
            <a:pPr>
              <a:lnSpc>
                <a:spcPct val="90000"/>
              </a:lnSpc>
              <a:buFont typeface="Wingdings" pitchFamily="2" charset="2"/>
              <a:buChar char="q"/>
            </a:pPr>
            <a:r>
              <a:rPr lang="en-US" altLang="en-US" sz="2200" dirty="0">
                <a:latin typeface="+mj-lt"/>
              </a:rPr>
              <a:t>Is there an intrinsic asymmetry to the relationship where one class is subordinate to the other (inheritance) ?</a:t>
            </a:r>
          </a:p>
          <a:p>
            <a:pPr lvl="2">
              <a:lnSpc>
                <a:spcPct val="90000"/>
              </a:lnSpc>
            </a:pPr>
            <a:r>
              <a:rPr lang="en-US" altLang="en-US" sz="2200" dirty="0">
                <a:solidFill>
                  <a:srgbClr val="C00000"/>
                </a:solidFill>
                <a:latin typeface="+mj-lt"/>
              </a:rPr>
              <a:t>A door </a:t>
            </a:r>
            <a:r>
              <a:rPr lang="en-US" altLang="en-US" sz="2200" b="1" dirty="0">
                <a:solidFill>
                  <a:srgbClr val="C00000"/>
                </a:solidFill>
                <a:latin typeface="+mj-lt"/>
              </a:rPr>
              <a:t>is</a:t>
            </a:r>
            <a:r>
              <a:rPr lang="en-US" altLang="en-US" sz="2200" dirty="0">
                <a:solidFill>
                  <a:srgbClr val="C00000"/>
                </a:solidFill>
                <a:latin typeface="+mj-lt"/>
              </a:rPr>
              <a:t> part of a car.  A car </a:t>
            </a:r>
            <a:r>
              <a:rPr lang="en-US" altLang="en-US" sz="2200" b="1" dirty="0">
                <a:solidFill>
                  <a:srgbClr val="C00000"/>
                </a:solidFill>
                <a:latin typeface="+mj-lt"/>
              </a:rPr>
              <a:t>is not</a:t>
            </a:r>
            <a:r>
              <a:rPr lang="en-US" altLang="en-US" sz="2200" dirty="0">
                <a:solidFill>
                  <a:srgbClr val="C00000"/>
                </a:solidFill>
                <a:latin typeface="+mj-lt"/>
              </a:rPr>
              <a:t> part of a door.</a:t>
            </a:r>
            <a:endParaRPr lang="en-US" altLang="en-US" sz="2200" dirty="0">
              <a:latin typeface="+mj-lt"/>
            </a:endParaRPr>
          </a:p>
        </p:txBody>
      </p:sp>
      <p:sp>
        <p:nvSpPr>
          <p:cNvPr id="5" name="Slide Number Placeholder 3">
            <a:extLst>
              <a:ext uri="{FF2B5EF4-FFF2-40B4-BE49-F238E27FC236}">
                <a16:creationId xmlns:a16="http://schemas.microsoft.com/office/drawing/2014/main" id="{133F9B3D-259D-46E0-A3EE-09F97E60F58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6" name="Content Placeholder 2">
            <a:extLst>
              <a:ext uri="{FF2B5EF4-FFF2-40B4-BE49-F238E27FC236}">
                <a16:creationId xmlns:a16="http://schemas.microsoft.com/office/drawing/2014/main" id="{F191DEF2-1E63-468C-AB2E-C6CF5EE10EC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F54A635B-BFF0-4BE0-9F5F-61D015B7157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8B41A5F-BC37-487B-BEB3-CEEEB522C06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CEBCE48F-D006-4A8D-A2A9-CF75DBAE5FC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8015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24695"/>
            <a:ext cx="11029950" cy="551938"/>
          </a:xfrm>
        </p:spPr>
        <p:txBody>
          <a:bodyPr/>
          <a:lstStyle/>
          <a:p>
            <a:pPr algn="ctr"/>
            <a:r>
              <a:rPr lang="en-US" altLang="en-US" b="1" dirty="0">
                <a:solidFill>
                  <a:srgbClr val="0070C0"/>
                </a:solidFill>
                <a:latin typeface="Book Antiqua" pitchFamily="18" charset="0"/>
              </a:rPr>
              <a:t>Composition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690" y="1149863"/>
            <a:ext cx="11117263" cy="3790847"/>
          </a:xfrm>
        </p:spPr>
        <p:txBody>
          <a:bodyPr>
            <a:noAutofit/>
          </a:bodyPr>
          <a:lstStyle/>
          <a:p>
            <a:pPr>
              <a:buFont typeface="Wingdings" pitchFamily="2" charset="2"/>
              <a:buChar char="q"/>
            </a:pPr>
            <a:r>
              <a:rPr lang="en-US" altLang="en-US" sz="2200" dirty="0">
                <a:latin typeface="+mj-lt"/>
              </a:rPr>
              <a:t>A strong form of aggregation</a:t>
            </a:r>
          </a:p>
          <a:p>
            <a:pPr lvl="1">
              <a:buFont typeface="Wingdings" pitchFamily="2" charset="2"/>
              <a:buChar char="§"/>
            </a:pPr>
            <a:r>
              <a:rPr lang="en-US" altLang="en-US" sz="2200" dirty="0">
                <a:solidFill>
                  <a:srgbClr val="C00000"/>
                </a:solidFill>
                <a:latin typeface="+mj-lt"/>
              </a:rPr>
              <a:t>The whole is the sole (only) owner of its part.</a:t>
            </a:r>
          </a:p>
          <a:p>
            <a:pPr lvl="2">
              <a:buFontTx/>
              <a:buChar char="-"/>
            </a:pPr>
            <a:r>
              <a:rPr lang="en-US" altLang="en-US" sz="2200" dirty="0">
                <a:solidFill>
                  <a:srgbClr val="002060"/>
                </a:solidFill>
                <a:latin typeface="+mj-lt"/>
              </a:rPr>
              <a:t>The part object may belong to only one whole</a:t>
            </a:r>
          </a:p>
          <a:p>
            <a:pPr lvl="1">
              <a:buFont typeface="Wingdings" pitchFamily="2" charset="2"/>
              <a:buChar char="§"/>
            </a:pPr>
            <a:r>
              <a:rPr lang="en-US" altLang="en-US" sz="2200" dirty="0">
                <a:solidFill>
                  <a:srgbClr val="C00000"/>
                </a:solidFill>
                <a:latin typeface="+mj-lt"/>
              </a:rPr>
              <a:t>The lifetime of the part is dependent upon the whole. </a:t>
            </a:r>
          </a:p>
          <a:p>
            <a:pPr lvl="2">
              <a:buFontTx/>
              <a:buChar char="-"/>
            </a:pPr>
            <a:r>
              <a:rPr lang="en-US" altLang="en-US" sz="2200" dirty="0">
                <a:solidFill>
                  <a:srgbClr val="002060"/>
                </a:solidFill>
                <a:latin typeface="+mj-lt"/>
              </a:rPr>
              <a:t>The composite must manage the creation and destruction of its parts.</a:t>
            </a:r>
          </a:p>
          <a:p>
            <a:pPr lvl="2">
              <a:buFontTx/>
              <a:buChar char="-"/>
            </a:pPr>
            <a:r>
              <a:rPr lang="en-GB" sz="2200" dirty="0">
                <a:solidFill>
                  <a:srgbClr val="002060"/>
                </a:solidFill>
                <a:latin typeface="+mj-lt"/>
              </a:rPr>
              <a:t>if the whole is removed from the model, so is the part.</a:t>
            </a:r>
          </a:p>
          <a:p>
            <a:pPr lvl="2">
              <a:buFontTx/>
              <a:buChar char="-"/>
            </a:pPr>
            <a:r>
              <a:rPr lang="en-GB" sz="2200" dirty="0">
                <a:solidFill>
                  <a:srgbClr val="002060"/>
                </a:solidFill>
                <a:latin typeface="+mj-lt"/>
              </a:rPr>
              <a:t>the whole is responsible for the disposition of its parts</a:t>
            </a:r>
            <a:endParaRPr lang="en-US" altLang="en-US" sz="2200" dirty="0">
              <a:latin typeface="+mj-lt"/>
            </a:endParaRPr>
          </a:p>
        </p:txBody>
      </p:sp>
      <p:sp>
        <p:nvSpPr>
          <p:cNvPr id="5" name="Slide Number Placeholder 3">
            <a:extLst>
              <a:ext uri="{FF2B5EF4-FFF2-40B4-BE49-F238E27FC236}">
                <a16:creationId xmlns:a16="http://schemas.microsoft.com/office/drawing/2014/main" id="{89D98E39-D2D6-4FEB-B6E7-AD40253D313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6" name="Content Placeholder 2">
            <a:extLst>
              <a:ext uri="{FF2B5EF4-FFF2-40B4-BE49-F238E27FC236}">
                <a16:creationId xmlns:a16="http://schemas.microsoft.com/office/drawing/2014/main" id="{EDEB258E-F3DB-4CFA-B4D8-F9E5F461F41D}"/>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FE62D69-AAE3-4742-9B7E-A6439ED5E2E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03A04C11-0127-4EA8-A142-B8A5BE0D412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06739E20-B159-4211-B683-09FC5E6697D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81900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54192"/>
            <a:ext cx="11029950" cy="537190"/>
          </a:xfrm>
        </p:spPr>
        <p:txBody>
          <a:bodyPr/>
          <a:lstStyle/>
          <a:p>
            <a:pPr algn="ctr"/>
            <a:r>
              <a:rPr lang="en-US" altLang="en-US" b="1" dirty="0">
                <a:solidFill>
                  <a:srgbClr val="0070C0"/>
                </a:solidFill>
                <a:latin typeface="Book Antiqua" pitchFamily="18" charset="0"/>
              </a:rPr>
              <a:t>Aggregation &amp; Composition</a:t>
            </a:r>
            <a:endParaRPr lang="en-US" b="1" dirty="0">
              <a:solidFill>
                <a:srgbClr val="0070C0"/>
              </a:solidFill>
              <a:effectLst>
                <a:outerShdw blurRad="38100" dist="38100" dir="2700000" algn="tl">
                  <a:srgbClr val="000000">
                    <a:alpha val="43137"/>
                  </a:srgbClr>
                </a:outerShdw>
              </a:effectLst>
            </a:endParaRPr>
          </a:p>
        </p:txBody>
      </p:sp>
      <p:sp>
        <p:nvSpPr>
          <p:cNvPr id="40" name="Content Placeholder 3"/>
          <p:cNvSpPr>
            <a:spLocks noGrp="1"/>
          </p:cNvSpPr>
          <p:nvPr>
            <p:ph idx="4294967295"/>
          </p:nvPr>
        </p:nvSpPr>
        <p:spPr>
          <a:xfrm>
            <a:off x="7285704" y="1319213"/>
            <a:ext cx="4419600" cy="1976437"/>
          </a:xfrm>
        </p:spPr>
        <p:txBody>
          <a:bodyPr>
            <a:noAutofit/>
          </a:bodyPr>
          <a:lstStyle/>
          <a:p>
            <a:pPr>
              <a:buFont typeface="Wingdings" pitchFamily="2" charset="2"/>
              <a:buChar char="§"/>
            </a:pPr>
            <a:r>
              <a:rPr lang="en-US" altLang="en-US" sz="2200" dirty="0">
                <a:latin typeface="+mj-lt"/>
              </a:rPr>
              <a:t>Person has relationships with both Car and Train, but Engine has only one relationship with Car</a:t>
            </a:r>
          </a:p>
          <a:p>
            <a:pPr>
              <a:buFont typeface="Wingdings" pitchFamily="2" charset="2"/>
              <a:buChar char="§"/>
            </a:pPr>
            <a:r>
              <a:rPr lang="en-US" altLang="en-US" sz="2200" dirty="0">
                <a:solidFill>
                  <a:srgbClr val="C00000"/>
                </a:solidFill>
                <a:latin typeface="+mj-lt"/>
              </a:rPr>
              <a:t>Whole side can not be zero in composition</a:t>
            </a:r>
          </a:p>
        </p:txBody>
      </p:sp>
      <p:grpSp>
        <p:nvGrpSpPr>
          <p:cNvPr id="7" name="Group 6"/>
          <p:cNvGrpSpPr/>
          <p:nvPr/>
        </p:nvGrpSpPr>
        <p:grpSpPr>
          <a:xfrm>
            <a:off x="764624" y="2011680"/>
            <a:ext cx="9924521" cy="4309701"/>
            <a:chOff x="2697164" y="2489201"/>
            <a:chExt cx="6988175" cy="2576513"/>
          </a:xfrm>
        </p:grpSpPr>
        <p:sp>
          <p:nvSpPr>
            <p:cNvPr id="8" name="Rectangle 4"/>
            <p:cNvSpPr>
              <a:spLocks noChangeArrowheads="1"/>
            </p:cNvSpPr>
            <p:nvPr/>
          </p:nvSpPr>
          <p:spPr bwMode="auto">
            <a:xfrm>
              <a:off x="5211764" y="24892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:Engine</a:t>
              </a:r>
            </a:p>
            <a:p>
              <a:pPr algn="ctr" eaLnBrk="0" hangingPunct="0">
                <a:defRPr/>
              </a:pPr>
              <a:endParaRPr lang="en-US" sz="2700" kern="0" dirty="0">
                <a:solidFill>
                  <a:srgbClr val="000000"/>
                </a:solidFill>
                <a:latin typeface="Times" pitchFamily="-128" charset="0"/>
              </a:endParaRPr>
            </a:p>
          </p:txBody>
        </p:sp>
        <p:sp>
          <p:nvSpPr>
            <p:cNvPr id="9" name="Rectangle 5"/>
            <p:cNvSpPr>
              <a:spLocks noChangeArrowheads="1"/>
            </p:cNvSpPr>
            <p:nvPr/>
          </p:nvSpPr>
          <p:spPr bwMode="auto">
            <a:xfrm>
              <a:off x="5592764" y="4394201"/>
              <a:ext cx="1120775" cy="671513"/>
            </a:xfrm>
            <a:prstGeom prst="rect">
              <a:avLst/>
            </a:prstGeom>
            <a:noFill/>
            <a:ln w="19050">
              <a:solidFill>
                <a:srgbClr val="000000"/>
              </a:solidFill>
              <a:miter lim="800000"/>
              <a:headEnd/>
              <a:tailEnd/>
            </a:ln>
            <a:effectLst/>
          </p:spPr>
          <p:txBody>
            <a:bodyPr wrap="none" anchorCtr="1"/>
            <a:lstStyle/>
            <a:p>
              <a:pPr algn="ctr" eaLnBrk="0" hangingPunct="0">
                <a:defRPr/>
              </a:pPr>
              <a:r>
                <a:rPr lang="en-US" kern="0">
                  <a:solidFill>
                    <a:srgbClr val="000000"/>
                  </a:solidFill>
                  <a:latin typeface="Helvetica" pitchFamily="-128" charset="0"/>
                </a:rPr>
                <a:t>:Person</a:t>
              </a:r>
            </a:p>
          </p:txBody>
        </p:sp>
        <p:sp>
          <p:nvSpPr>
            <p:cNvPr id="10" name="Rectangle 6"/>
            <p:cNvSpPr>
              <a:spLocks noChangeArrowheads="1"/>
            </p:cNvSpPr>
            <p:nvPr/>
          </p:nvSpPr>
          <p:spPr bwMode="auto">
            <a:xfrm>
              <a:off x="2697164" y="37846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:Car</a:t>
              </a:r>
            </a:p>
            <a:p>
              <a:pPr algn="ctr" eaLnBrk="0" hangingPunct="0">
                <a:defRPr/>
              </a:pPr>
              <a:endParaRPr lang="en-US" sz="2700" kern="0" dirty="0">
                <a:solidFill>
                  <a:srgbClr val="000000"/>
                </a:solidFill>
                <a:latin typeface="Times" pitchFamily="-128" charset="0"/>
              </a:endParaRPr>
            </a:p>
          </p:txBody>
        </p:sp>
        <p:sp>
          <p:nvSpPr>
            <p:cNvPr id="11" name="Rectangle 7"/>
            <p:cNvSpPr>
              <a:spLocks noChangeArrowheads="1"/>
            </p:cNvSpPr>
            <p:nvPr/>
          </p:nvSpPr>
          <p:spPr bwMode="auto">
            <a:xfrm>
              <a:off x="8564564" y="38608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:Train</a:t>
              </a:r>
            </a:p>
            <a:p>
              <a:pPr algn="ctr" eaLnBrk="0" hangingPunct="0">
                <a:defRPr/>
              </a:pPr>
              <a:endParaRPr lang="en-US" sz="2700" kern="0" dirty="0">
                <a:solidFill>
                  <a:srgbClr val="000000"/>
                </a:solidFill>
                <a:latin typeface="Times" pitchFamily="-128" charset="0"/>
              </a:endParaRPr>
            </a:p>
          </p:txBody>
        </p:sp>
        <p:cxnSp>
          <p:nvCxnSpPr>
            <p:cNvPr id="12" name="AutoShape 8"/>
            <p:cNvCxnSpPr>
              <a:cxnSpLocks noChangeShapeType="1"/>
              <a:stCxn id="15" idx="3"/>
              <a:endCxn id="9" idx="1"/>
            </p:cNvCxnSpPr>
            <p:nvPr/>
          </p:nvCxnSpPr>
          <p:spPr bwMode="auto">
            <a:xfrm>
              <a:off x="4227514" y="4332288"/>
              <a:ext cx="1355725" cy="398462"/>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13" name="AutoShape 9"/>
            <p:cNvCxnSpPr>
              <a:cxnSpLocks noChangeShapeType="1"/>
              <a:stCxn id="14" idx="3"/>
              <a:endCxn id="8" idx="1"/>
            </p:cNvCxnSpPr>
            <p:nvPr/>
          </p:nvCxnSpPr>
          <p:spPr bwMode="auto">
            <a:xfrm flipV="1">
              <a:off x="4235450" y="2825750"/>
              <a:ext cx="966788" cy="1092200"/>
            </a:xfrm>
            <a:prstGeom prst="bentConnector3">
              <a:avLst>
                <a:gd name="adj1" fmla="val 49755"/>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sp>
          <p:nvSpPr>
            <p:cNvPr id="14" name="AutoShape 10"/>
            <p:cNvSpPr>
              <a:spLocks noChangeArrowheads="1"/>
            </p:cNvSpPr>
            <p:nvPr/>
          </p:nvSpPr>
          <p:spPr bwMode="auto">
            <a:xfrm>
              <a:off x="3840163" y="3784600"/>
              <a:ext cx="381000" cy="266700"/>
            </a:xfrm>
            <a:prstGeom prst="diamond">
              <a:avLst/>
            </a:prstGeom>
            <a:solidFill>
              <a:srgbClr val="000000"/>
            </a:solidFill>
            <a:ln w="28575">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15" name="AutoShape 11"/>
            <p:cNvSpPr>
              <a:spLocks noChangeArrowheads="1"/>
            </p:cNvSpPr>
            <p:nvPr/>
          </p:nvSpPr>
          <p:spPr bwMode="auto">
            <a:xfrm>
              <a:off x="3836988" y="4211638"/>
              <a:ext cx="381000" cy="241300"/>
            </a:xfrm>
            <a:prstGeom prst="diamond">
              <a:avLst/>
            </a:prstGeom>
            <a:solidFill>
              <a:srgbClr val="FFFFFF"/>
            </a:solidFill>
            <a:ln w="19050">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16" name="Text Box 12"/>
            <p:cNvSpPr txBox="1">
              <a:spLocks noChangeArrowheads="1"/>
            </p:cNvSpPr>
            <p:nvPr/>
          </p:nvSpPr>
          <p:spPr bwMode="auto">
            <a:xfrm>
              <a:off x="4144965" y="36322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17" name="Text Box 13"/>
            <p:cNvSpPr txBox="1">
              <a:spLocks noChangeArrowheads="1"/>
            </p:cNvSpPr>
            <p:nvPr/>
          </p:nvSpPr>
          <p:spPr bwMode="auto">
            <a:xfrm>
              <a:off x="4144963" y="4317998"/>
              <a:ext cx="37157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0..1</a:t>
              </a:r>
            </a:p>
          </p:txBody>
        </p:sp>
        <p:cxnSp>
          <p:nvCxnSpPr>
            <p:cNvPr id="18" name="AutoShape 14"/>
            <p:cNvCxnSpPr>
              <a:cxnSpLocks noChangeShapeType="1"/>
              <a:stCxn id="38" idx="3"/>
              <a:endCxn id="20" idx="1"/>
            </p:cNvCxnSpPr>
            <p:nvPr/>
          </p:nvCxnSpPr>
          <p:spPr bwMode="auto">
            <a:xfrm>
              <a:off x="7126289" y="3663950"/>
              <a:ext cx="1042987" cy="342900"/>
            </a:xfrm>
            <a:prstGeom prst="bentConnector3">
              <a:avLst>
                <a:gd name="adj1" fmla="val 50227"/>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19" name="AutoShape 15"/>
            <p:cNvCxnSpPr>
              <a:cxnSpLocks noChangeShapeType="1"/>
              <a:stCxn id="9" idx="3"/>
              <a:endCxn id="21" idx="1"/>
            </p:cNvCxnSpPr>
            <p:nvPr/>
          </p:nvCxnSpPr>
          <p:spPr bwMode="auto">
            <a:xfrm flipV="1">
              <a:off x="6723064" y="4445000"/>
              <a:ext cx="1450975" cy="28575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sp>
          <p:nvSpPr>
            <p:cNvPr id="20" name="AutoShape 16"/>
            <p:cNvSpPr>
              <a:spLocks noChangeArrowheads="1"/>
            </p:cNvSpPr>
            <p:nvPr/>
          </p:nvSpPr>
          <p:spPr bwMode="auto">
            <a:xfrm>
              <a:off x="8183563" y="3860800"/>
              <a:ext cx="381000" cy="292100"/>
            </a:xfrm>
            <a:prstGeom prst="diamond">
              <a:avLst/>
            </a:prstGeom>
            <a:solidFill>
              <a:srgbClr val="000000"/>
            </a:solidFill>
            <a:ln w="28575">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21" name="AutoShape 17"/>
            <p:cNvSpPr>
              <a:spLocks noChangeArrowheads="1"/>
            </p:cNvSpPr>
            <p:nvPr/>
          </p:nvSpPr>
          <p:spPr bwMode="auto">
            <a:xfrm>
              <a:off x="8183563" y="4318000"/>
              <a:ext cx="381000" cy="254000"/>
            </a:xfrm>
            <a:prstGeom prst="diamond">
              <a:avLst/>
            </a:prstGeom>
            <a:solidFill>
              <a:srgbClr val="FFFFFF"/>
            </a:solidFill>
            <a:ln w="19050">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22" name="Text Box 18"/>
            <p:cNvSpPr txBox="1">
              <a:spLocks noChangeArrowheads="1"/>
            </p:cNvSpPr>
            <p:nvPr/>
          </p:nvSpPr>
          <p:spPr bwMode="auto">
            <a:xfrm>
              <a:off x="7802562" y="4394199"/>
              <a:ext cx="37157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0..1</a:t>
              </a:r>
            </a:p>
          </p:txBody>
        </p:sp>
        <p:sp>
          <p:nvSpPr>
            <p:cNvPr id="23" name="Text Box 19"/>
            <p:cNvSpPr txBox="1">
              <a:spLocks noChangeArrowheads="1"/>
            </p:cNvSpPr>
            <p:nvPr/>
          </p:nvSpPr>
          <p:spPr bwMode="auto">
            <a:xfrm>
              <a:off x="7116763" y="3403600"/>
              <a:ext cx="347874"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4" name="Text Box 20"/>
            <p:cNvSpPr txBox="1">
              <a:spLocks noChangeArrowheads="1"/>
            </p:cNvSpPr>
            <p:nvPr/>
          </p:nvSpPr>
          <p:spPr bwMode="auto">
            <a:xfrm>
              <a:off x="6964363" y="4699002"/>
              <a:ext cx="87611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passengers</a:t>
              </a:r>
            </a:p>
          </p:txBody>
        </p:sp>
        <p:sp>
          <p:nvSpPr>
            <p:cNvPr id="25" name="Text Box 21"/>
            <p:cNvSpPr txBox="1">
              <a:spLocks noChangeArrowheads="1"/>
            </p:cNvSpPr>
            <p:nvPr/>
          </p:nvSpPr>
          <p:spPr bwMode="auto">
            <a:xfrm>
              <a:off x="4678363" y="4699002"/>
              <a:ext cx="491222"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driver</a:t>
              </a:r>
            </a:p>
          </p:txBody>
        </p:sp>
        <p:sp>
          <p:nvSpPr>
            <p:cNvPr id="26" name="Text Box 22"/>
            <p:cNvSpPr txBox="1">
              <a:spLocks noChangeArrowheads="1"/>
            </p:cNvSpPr>
            <p:nvPr/>
          </p:nvSpPr>
          <p:spPr bwMode="auto">
            <a:xfrm>
              <a:off x="5287964" y="46990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7" name="Text Box 23"/>
            <p:cNvSpPr txBox="1">
              <a:spLocks noChangeArrowheads="1"/>
            </p:cNvSpPr>
            <p:nvPr/>
          </p:nvSpPr>
          <p:spPr bwMode="auto">
            <a:xfrm>
              <a:off x="4906964" y="25654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8" name="Text Box 24"/>
            <p:cNvSpPr txBox="1">
              <a:spLocks noChangeArrowheads="1"/>
            </p:cNvSpPr>
            <p:nvPr/>
          </p:nvSpPr>
          <p:spPr bwMode="auto">
            <a:xfrm>
              <a:off x="7883265" y="3737570"/>
              <a:ext cx="210169" cy="202401"/>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9" name="Text Box 25"/>
            <p:cNvSpPr txBox="1">
              <a:spLocks noChangeArrowheads="1"/>
            </p:cNvSpPr>
            <p:nvPr/>
          </p:nvSpPr>
          <p:spPr bwMode="auto">
            <a:xfrm>
              <a:off x="6659563" y="4470400"/>
              <a:ext cx="347874"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a:t>
              </a:r>
            </a:p>
          </p:txBody>
        </p:sp>
        <p:sp>
          <p:nvSpPr>
            <p:cNvPr id="30" name="Text Box 26"/>
            <p:cNvSpPr txBox="1">
              <a:spLocks noChangeArrowheads="1"/>
            </p:cNvSpPr>
            <p:nvPr/>
          </p:nvSpPr>
          <p:spPr bwMode="auto">
            <a:xfrm>
              <a:off x="2925765" y="3175002"/>
              <a:ext cx="914494" cy="192456"/>
            </a:xfrm>
            <a:prstGeom prst="rect">
              <a:avLst/>
            </a:prstGeom>
            <a:noFill/>
            <a:ln w="9525">
              <a:noFill/>
              <a:miter lim="800000"/>
              <a:headEnd/>
              <a:tailEnd/>
            </a:ln>
            <a:effectLst/>
          </p:spPr>
          <p:txBody>
            <a:bodyPr wrap="none">
              <a:spAutoFit/>
            </a:bodyPr>
            <a:lstStyle/>
            <a:p>
              <a:pPr>
                <a:defRPr/>
              </a:pPr>
              <a:r>
                <a:rPr lang="en-US" sz="1600" b="1" i="1" dirty="0">
                  <a:solidFill>
                    <a:srgbClr val="FC0128"/>
                  </a:solidFill>
                  <a:latin typeface="Comic Sans MS" pitchFamily="-128" charset="0"/>
                </a:rPr>
                <a:t>composition</a:t>
              </a:r>
            </a:p>
          </p:txBody>
        </p:sp>
        <p:sp>
          <p:nvSpPr>
            <p:cNvPr id="31" name="Line 27"/>
            <p:cNvSpPr>
              <a:spLocks noChangeShapeType="1"/>
            </p:cNvSpPr>
            <p:nvPr/>
          </p:nvSpPr>
          <p:spPr bwMode="auto">
            <a:xfrm>
              <a:off x="3687764" y="3479800"/>
              <a:ext cx="282575" cy="420688"/>
            </a:xfrm>
            <a:prstGeom prst="line">
              <a:avLst/>
            </a:prstGeom>
            <a:noFill/>
            <a:ln w="3175">
              <a:solidFill>
                <a:srgbClr val="FC0128"/>
              </a:solidFill>
              <a:round/>
              <a:headEnd/>
              <a:tailEnd type="triangle" w="med" len="me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32" name="Text Box 28"/>
            <p:cNvSpPr txBox="1">
              <a:spLocks noChangeArrowheads="1"/>
            </p:cNvSpPr>
            <p:nvPr/>
          </p:nvSpPr>
          <p:spPr bwMode="auto">
            <a:xfrm>
              <a:off x="3154364" y="4851398"/>
              <a:ext cx="1169987" cy="192456"/>
            </a:xfrm>
            <a:prstGeom prst="rect">
              <a:avLst/>
            </a:prstGeom>
            <a:noFill/>
            <a:ln w="9525">
              <a:noFill/>
              <a:miter lim="800000"/>
              <a:headEnd/>
              <a:tailEnd/>
            </a:ln>
            <a:effectLst/>
          </p:spPr>
          <p:txBody>
            <a:bodyPr>
              <a:spAutoFit/>
            </a:bodyPr>
            <a:lstStyle/>
            <a:p>
              <a:pPr>
                <a:defRPr/>
              </a:pPr>
              <a:r>
                <a:rPr lang="en-US" sz="1600" b="1" i="1" dirty="0">
                  <a:solidFill>
                    <a:srgbClr val="FC0128"/>
                  </a:solidFill>
                  <a:latin typeface="Comic Sans MS" pitchFamily="-128" charset="0"/>
                </a:rPr>
                <a:t>aggregation</a:t>
              </a:r>
            </a:p>
          </p:txBody>
        </p:sp>
        <p:sp>
          <p:nvSpPr>
            <p:cNvPr id="33" name="Line 29"/>
            <p:cNvSpPr>
              <a:spLocks noChangeShapeType="1"/>
            </p:cNvSpPr>
            <p:nvPr/>
          </p:nvSpPr>
          <p:spPr bwMode="auto">
            <a:xfrm flipV="1">
              <a:off x="3840163" y="4318000"/>
              <a:ext cx="127000" cy="609600"/>
            </a:xfrm>
            <a:prstGeom prst="line">
              <a:avLst/>
            </a:prstGeom>
            <a:noFill/>
            <a:ln w="3175">
              <a:solidFill>
                <a:srgbClr val="FC0128"/>
              </a:solidFill>
              <a:round/>
              <a:headEnd/>
              <a:tailEnd type="triangle" w="med" len="me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34" name="Rectangle 30"/>
            <p:cNvSpPr>
              <a:spLocks noChangeArrowheads="1"/>
            </p:cNvSpPr>
            <p:nvPr/>
          </p:nvSpPr>
          <p:spPr bwMode="auto">
            <a:xfrm>
              <a:off x="2697164" y="41656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5" name="Rectangle 31"/>
            <p:cNvSpPr>
              <a:spLocks noChangeArrowheads="1"/>
            </p:cNvSpPr>
            <p:nvPr/>
          </p:nvSpPr>
          <p:spPr bwMode="auto">
            <a:xfrm>
              <a:off x="5211764" y="28702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6" name="Rectangle 32"/>
            <p:cNvSpPr>
              <a:spLocks noChangeArrowheads="1"/>
            </p:cNvSpPr>
            <p:nvPr/>
          </p:nvSpPr>
          <p:spPr bwMode="auto">
            <a:xfrm>
              <a:off x="5592764" y="47752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7" name="Rectangle 33"/>
            <p:cNvSpPr>
              <a:spLocks noChangeArrowheads="1"/>
            </p:cNvSpPr>
            <p:nvPr/>
          </p:nvSpPr>
          <p:spPr bwMode="auto">
            <a:xfrm>
              <a:off x="8564564" y="42418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8" name="Rectangle 34"/>
            <p:cNvSpPr>
              <a:spLocks noChangeArrowheads="1"/>
            </p:cNvSpPr>
            <p:nvPr/>
          </p:nvSpPr>
          <p:spPr bwMode="auto">
            <a:xfrm>
              <a:off x="5668963" y="3327401"/>
              <a:ext cx="1447800"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:steam engine</a:t>
              </a:r>
            </a:p>
            <a:p>
              <a:pPr algn="ctr" eaLnBrk="0" hangingPunct="0">
                <a:defRPr/>
              </a:pPr>
              <a:endParaRPr lang="en-US" sz="2700" kern="0" dirty="0">
                <a:solidFill>
                  <a:srgbClr val="000000"/>
                </a:solidFill>
                <a:latin typeface="Times" pitchFamily="-128" charset="0"/>
              </a:endParaRPr>
            </a:p>
          </p:txBody>
        </p:sp>
        <p:sp>
          <p:nvSpPr>
            <p:cNvPr id="39" name="Rectangle 35"/>
            <p:cNvSpPr>
              <a:spLocks noChangeArrowheads="1"/>
            </p:cNvSpPr>
            <p:nvPr/>
          </p:nvSpPr>
          <p:spPr bwMode="auto">
            <a:xfrm>
              <a:off x="5668963" y="3708400"/>
              <a:ext cx="1447800" cy="152400"/>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grpSp>
      <p:sp>
        <p:nvSpPr>
          <p:cNvPr id="41" name="Slide Number Placeholder 3">
            <a:extLst>
              <a:ext uri="{FF2B5EF4-FFF2-40B4-BE49-F238E27FC236}">
                <a16:creationId xmlns:a16="http://schemas.microsoft.com/office/drawing/2014/main" id="{978A4C07-05A5-4DBE-B738-C887229D72A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23</a:t>
            </a:fld>
            <a:r>
              <a:rPr lang="en-US" sz="1400" b="1" dirty="0"/>
              <a:t> </a:t>
            </a:r>
          </a:p>
        </p:txBody>
      </p:sp>
      <p:sp>
        <p:nvSpPr>
          <p:cNvPr id="42" name="Content Placeholder 2">
            <a:extLst>
              <a:ext uri="{FF2B5EF4-FFF2-40B4-BE49-F238E27FC236}">
                <a16:creationId xmlns:a16="http://schemas.microsoft.com/office/drawing/2014/main" id="{B2089F56-BDDA-4D43-B705-3240EDB40BC9}"/>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43" name="Rectangle 42" descr="M. Mhahudul Hasan">
            <a:extLst>
              <a:ext uri="{FF2B5EF4-FFF2-40B4-BE49-F238E27FC236}">
                <a16:creationId xmlns:a16="http://schemas.microsoft.com/office/drawing/2014/main" id="{A36B6E71-190F-40E8-9879-A6FF7CD9687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44" name="Rectangle 43" descr="M. Mhahudul Hasan">
            <a:extLst>
              <a:ext uri="{FF2B5EF4-FFF2-40B4-BE49-F238E27FC236}">
                <a16:creationId xmlns:a16="http://schemas.microsoft.com/office/drawing/2014/main" id="{2394EEE5-EFC6-4792-A9DB-14FE1711729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45" name="Rectangle 44" descr="M. Mhahudul Hasan">
            <a:extLst>
              <a:ext uri="{FF2B5EF4-FFF2-40B4-BE49-F238E27FC236}">
                <a16:creationId xmlns:a16="http://schemas.microsoft.com/office/drawing/2014/main" id="{82E13F66-6713-49E3-9BF9-6C4D0F6978E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70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1"/>
            <a:ext cx="11029950" cy="566686"/>
          </a:xfrm>
        </p:spPr>
        <p:txBody>
          <a:bodyPr/>
          <a:lstStyle/>
          <a:p>
            <a:pPr algn="ctr"/>
            <a:r>
              <a:rPr lang="en-US" altLang="en-US" b="1" dirty="0">
                <a:solidFill>
                  <a:srgbClr val="0070C0"/>
                </a:solidFill>
                <a:latin typeface="Book Antiqua" pitchFamily="18" charset="0"/>
              </a:rPr>
              <a:t>generalization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04326" y="1502339"/>
            <a:ext cx="11012487" cy="3382962"/>
          </a:xfrm>
        </p:spPr>
        <p:txBody>
          <a:bodyPr>
            <a:noAutofit/>
          </a:bodyPr>
          <a:lstStyle/>
          <a:p>
            <a:pPr>
              <a:buFont typeface="Wingdings" pitchFamily="2" charset="2"/>
              <a:buChar char="q"/>
            </a:pPr>
            <a:r>
              <a:rPr lang="en-GB" sz="2200" dirty="0">
                <a:latin typeface="+mj-lt"/>
              </a:rPr>
              <a:t>Generalization is a relationship between a more general thing and a more specific thing: </a:t>
            </a:r>
          </a:p>
          <a:p>
            <a:pPr lvl="1">
              <a:buFont typeface="Wingdings" pitchFamily="2" charset="2"/>
              <a:buChar char="§"/>
            </a:pPr>
            <a:r>
              <a:rPr lang="en-GB" sz="2200" dirty="0">
                <a:latin typeface="+mj-lt"/>
              </a:rPr>
              <a:t>The more specific thing is consistent in every way with the more general thing.</a:t>
            </a:r>
          </a:p>
          <a:p>
            <a:pPr lvl="1">
              <a:buFont typeface="Wingdings" pitchFamily="2" charset="2"/>
              <a:buChar char="§"/>
            </a:pPr>
            <a:r>
              <a:rPr lang="en-GB" sz="2200" dirty="0">
                <a:latin typeface="+mj-lt"/>
              </a:rPr>
              <a:t>The substitutability principle states that you can substitute the more  specific thing anywhere the more general thing is expected. </a:t>
            </a:r>
          </a:p>
          <a:p>
            <a:pPr lvl="1">
              <a:buFont typeface="Wingdings" pitchFamily="2" charset="2"/>
              <a:buChar char="§"/>
            </a:pPr>
            <a:r>
              <a:rPr lang="en-US" sz="2200" dirty="0">
                <a:solidFill>
                  <a:srgbClr val="C00000"/>
                </a:solidFill>
              </a:rPr>
              <a:t>Generalization is a bottom-up process</a:t>
            </a:r>
            <a:endParaRPr lang="en-GB" sz="2200" dirty="0">
              <a:solidFill>
                <a:srgbClr val="C00000"/>
              </a:solidFill>
              <a:latin typeface="+mj-lt"/>
            </a:endParaRPr>
          </a:p>
          <a:p>
            <a:pPr>
              <a:buFont typeface="Wingdings" pitchFamily="2" charset="2"/>
              <a:buChar char="q"/>
            </a:pPr>
            <a:r>
              <a:rPr lang="en-GB" sz="2200" dirty="0">
                <a:latin typeface="+mj-lt"/>
              </a:rPr>
              <a:t>Generalization hierarchies may be created by generalizing from specific things or by specializing from general things.</a:t>
            </a:r>
          </a:p>
          <a:p>
            <a:pPr>
              <a:buFont typeface="Wingdings" pitchFamily="2" charset="2"/>
              <a:buChar char="q"/>
            </a:pPr>
            <a:r>
              <a:rPr lang="en-US" altLang="en-US" sz="2200" dirty="0">
                <a:solidFill>
                  <a:srgbClr val="C00000"/>
                </a:solidFill>
                <a:latin typeface="+mj-lt"/>
              </a:rPr>
              <a:t>“is kind of” </a:t>
            </a:r>
            <a:r>
              <a:rPr lang="en-US" altLang="en-US" sz="2200" dirty="0">
                <a:latin typeface="+mj-lt"/>
              </a:rPr>
              <a:t>or</a:t>
            </a:r>
            <a:r>
              <a:rPr lang="en-US" altLang="en-US" sz="2200" dirty="0">
                <a:solidFill>
                  <a:srgbClr val="C00000"/>
                </a:solidFill>
                <a:latin typeface="+mj-lt"/>
              </a:rPr>
              <a:t> “is type of” </a:t>
            </a:r>
            <a:r>
              <a:rPr lang="en-US" altLang="en-US" sz="2200" dirty="0">
                <a:latin typeface="+mj-lt"/>
              </a:rPr>
              <a:t>relationship.</a:t>
            </a:r>
          </a:p>
        </p:txBody>
      </p:sp>
      <p:sp>
        <p:nvSpPr>
          <p:cNvPr id="5" name="Slide Number Placeholder 3">
            <a:extLst>
              <a:ext uri="{FF2B5EF4-FFF2-40B4-BE49-F238E27FC236}">
                <a16:creationId xmlns:a16="http://schemas.microsoft.com/office/drawing/2014/main" id="{D6104D01-CC72-4037-B348-A0F49BA7D2C8}"/>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24</a:t>
            </a:fld>
            <a:r>
              <a:rPr lang="en-US" sz="1400" b="1" dirty="0"/>
              <a:t> </a:t>
            </a:r>
          </a:p>
        </p:txBody>
      </p:sp>
      <p:sp>
        <p:nvSpPr>
          <p:cNvPr id="6" name="Content Placeholder 2">
            <a:extLst>
              <a:ext uri="{FF2B5EF4-FFF2-40B4-BE49-F238E27FC236}">
                <a16:creationId xmlns:a16="http://schemas.microsoft.com/office/drawing/2014/main" id="{4E3FDDEE-507C-4AD6-8AF0-365C3509538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E7D835E-8052-45C1-BE40-1A645C0F386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2BB6073F-4E6A-425C-B0CA-6CE0A1678CB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3FC8C38D-557E-4B16-AAD5-DF467106F67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12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2" y="568940"/>
            <a:ext cx="11029950" cy="507693"/>
          </a:xfrm>
        </p:spPr>
        <p:txBody>
          <a:bodyPr>
            <a:normAutofit fontScale="90000"/>
          </a:bodyPr>
          <a:lstStyle/>
          <a:p>
            <a:pPr algn="ctr"/>
            <a:r>
              <a:rPr lang="en-US" altLang="en-US" b="1" dirty="0">
                <a:solidFill>
                  <a:srgbClr val="0070C0"/>
                </a:solidFill>
                <a:latin typeface="Book Antiqua" pitchFamily="18" charset="0"/>
              </a:rPr>
              <a:t>generalization</a:t>
            </a:r>
            <a:endParaRPr lang="en-US" b="1" dirty="0">
              <a:solidFill>
                <a:srgbClr val="0070C0"/>
              </a:solidFill>
              <a:effectLst>
                <a:outerShdw blurRad="38100" dist="38100" dir="2700000" algn="tl">
                  <a:srgbClr val="000000">
                    <a:alpha val="43137"/>
                  </a:srgbClr>
                </a:outerShdw>
              </a:effectLst>
            </a:endParaRPr>
          </a:p>
        </p:txBody>
      </p:sp>
      <p:grpSp>
        <p:nvGrpSpPr>
          <p:cNvPr id="7" name="Group 6"/>
          <p:cNvGrpSpPr/>
          <p:nvPr/>
        </p:nvGrpSpPr>
        <p:grpSpPr>
          <a:xfrm>
            <a:off x="509326" y="1516555"/>
            <a:ext cx="7571105" cy="3141277"/>
            <a:chOff x="2514600" y="2786931"/>
            <a:chExt cx="7317210" cy="3734520"/>
          </a:xfrm>
        </p:grpSpPr>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847976"/>
              <a:ext cx="71628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
            <p:cNvSpPr txBox="1">
              <a:spLocks noChangeArrowheads="1"/>
            </p:cNvSpPr>
            <p:nvPr/>
          </p:nvSpPr>
          <p:spPr bwMode="auto">
            <a:xfrm>
              <a:off x="8231611" y="2786931"/>
              <a:ext cx="1600199" cy="1351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600" b="1" dirty="0">
                  <a:solidFill>
                    <a:srgbClr val="008000"/>
                  </a:solidFill>
                </a:rPr>
                <a:t>Parent</a:t>
              </a:r>
              <a:br>
                <a:rPr lang="en-US" altLang="en-US" sz="1600" b="1" dirty="0">
                  <a:solidFill>
                    <a:srgbClr val="008000"/>
                  </a:solidFill>
                </a:rPr>
              </a:br>
              <a:r>
                <a:rPr lang="en-US" altLang="en-US" sz="1600" b="1" dirty="0" err="1">
                  <a:solidFill>
                    <a:srgbClr val="008000"/>
                  </a:solidFill>
                </a:rPr>
                <a:t>Superclass</a:t>
              </a:r>
              <a:br>
                <a:rPr lang="en-US" altLang="en-US" sz="1600" b="1" dirty="0">
                  <a:solidFill>
                    <a:srgbClr val="008000"/>
                  </a:solidFill>
                </a:rPr>
              </a:br>
              <a:r>
                <a:rPr lang="en-US" altLang="en-US" sz="1600" b="1" dirty="0">
                  <a:solidFill>
                    <a:srgbClr val="008000"/>
                  </a:solidFill>
                </a:rPr>
                <a:t>Ancestor</a:t>
              </a:r>
              <a:br>
                <a:rPr lang="en-US" altLang="en-US" sz="1600" b="1" dirty="0">
                  <a:solidFill>
                    <a:srgbClr val="008000"/>
                  </a:solidFill>
                </a:rPr>
              </a:br>
              <a:r>
                <a:rPr lang="en-US" altLang="en-US" sz="1600" b="1" u="sng" dirty="0">
                  <a:solidFill>
                    <a:srgbClr val="008000"/>
                  </a:solidFill>
                </a:rPr>
                <a:t>Base Class</a:t>
              </a:r>
              <a:br>
                <a:rPr lang="en-US" altLang="en-US" sz="1600" b="1" u="sng" dirty="0">
                  <a:solidFill>
                    <a:srgbClr val="008000"/>
                  </a:solidFill>
                </a:rPr>
              </a:br>
              <a:endParaRPr lang="en-US" altLang="en-US" sz="1600" b="1" u="sng" dirty="0">
                <a:solidFill>
                  <a:srgbClr val="008000"/>
                </a:solidFill>
              </a:endParaRPr>
            </a:p>
          </p:txBody>
        </p:sp>
        <p:sp>
          <p:nvSpPr>
            <p:cNvPr id="10" name="Text Box 6"/>
            <p:cNvSpPr txBox="1">
              <a:spLocks noChangeArrowheads="1"/>
            </p:cNvSpPr>
            <p:nvPr/>
          </p:nvSpPr>
          <p:spPr bwMode="auto">
            <a:xfrm>
              <a:off x="8231611" y="4280739"/>
              <a:ext cx="1600199" cy="10558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1600" b="1" dirty="0">
                  <a:solidFill>
                    <a:srgbClr val="2D1DA3"/>
                  </a:solidFill>
                </a:rPr>
                <a:t>Child</a:t>
              </a:r>
              <a:br>
                <a:rPr lang="en-US" altLang="en-US" sz="1600" b="1" dirty="0">
                  <a:solidFill>
                    <a:srgbClr val="2D1DA3"/>
                  </a:solidFill>
                </a:rPr>
              </a:br>
              <a:r>
                <a:rPr lang="en-US" altLang="en-US" sz="1600" b="1" dirty="0">
                  <a:solidFill>
                    <a:srgbClr val="2D1DA3"/>
                  </a:solidFill>
                </a:rPr>
                <a:t>Subclass</a:t>
              </a:r>
              <a:br>
                <a:rPr lang="en-US" altLang="en-US" sz="1600" b="1" dirty="0">
                  <a:solidFill>
                    <a:srgbClr val="2D1DA3"/>
                  </a:solidFill>
                </a:rPr>
              </a:br>
              <a:r>
                <a:rPr lang="en-US" altLang="en-US" sz="1600" b="1" dirty="0">
                  <a:solidFill>
                    <a:srgbClr val="2D1DA3"/>
                  </a:solidFill>
                </a:rPr>
                <a:t>Descendant</a:t>
              </a:r>
              <a:br>
                <a:rPr lang="en-US" altLang="en-US" sz="1600" b="1" dirty="0">
                  <a:solidFill>
                    <a:srgbClr val="2D1DA3"/>
                  </a:solidFill>
                </a:rPr>
              </a:br>
              <a:r>
                <a:rPr lang="en-US" altLang="en-US" sz="1600" b="1" u="sng" dirty="0">
                  <a:solidFill>
                    <a:srgbClr val="2D1DA3"/>
                  </a:solidFill>
                </a:rPr>
                <a:t>Leaf</a:t>
              </a:r>
            </a:p>
          </p:txBody>
        </p:sp>
        <p:sp>
          <p:nvSpPr>
            <p:cNvPr id="11" name="Rectangle 10"/>
            <p:cNvSpPr>
              <a:spLocks noChangeArrowheads="1"/>
            </p:cNvSpPr>
            <p:nvPr/>
          </p:nvSpPr>
          <p:spPr bwMode="auto">
            <a:xfrm>
              <a:off x="4648201" y="2844804"/>
              <a:ext cx="2895600" cy="3119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en-US" altLang="en-US" sz="1800" b="1" dirty="0">
                  <a:solidFill>
                    <a:srgbClr val="008000"/>
                  </a:solidFill>
                </a:rPr>
                <a:t>      More general element</a:t>
              </a:r>
            </a:p>
          </p:txBody>
        </p:sp>
        <p:sp>
          <p:nvSpPr>
            <p:cNvPr id="12" name="Rectangle 11"/>
            <p:cNvSpPr>
              <a:spLocks noChangeArrowheads="1"/>
            </p:cNvSpPr>
            <p:nvPr/>
          </p:nvSpPr>
          <p:spPr bwMode="auto">
            <a:xfrm>
              <a:off x="4648201" y="5181599"/>
              <a:ext cx="2743199" cy="3119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800" b="1" dirty="0">
                  <a:solidFill>
                    <a:srgbClr val="2D1DA3"/>
                  </a:solidFill>
                </a:rPr>
                <a:t>    More specific element   </a:t>
              </a:r>
            </a:p>
          </p:txBody>
        </p:sp>
        <p:sp>
          <p:nvSpPr>
            <p:cNvPr id="13" name="Rectangle 12"/>
            <p:cNvSpPr>
              <a:spLocks noChangeArrowheads="1"/>
            </p:cNvSpPr>
            <p:nvPr/>
          </p:nvSpPr>
          <p:spPr bwMode="auto">
            <a:xfrm>
              <a:off x="3936999" y="3809999"/>
              <a:ext cx="1551880" cy="4024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dirty="0">
                  <a:solidFill>
                    <a:srgbClr val="CC0000"/>
                  </a:solidFill>
                </a:rPr>
                <a:t>“is a kind of”</a:t>
              </a:r>
            </a:p>
          </p:txBody>
        </p:sp>
      </p:grpSp>
      <p:grpSp>
        <p:nvGrpSpPr>
          <p:cNvPr id="14" name="Group 17"/>
          <p:cNvGrpSpPr>
            <a:grpSpLocks/>
          </p:cNvGrpSpPr>
          <p:nvPr/>
        </p:nvGrpSpPr>
        <p:grpSpPr bwMode="auto">
          <a:xfrm>
            <a:off x="6046980" y="3969525"/>
            <a:ext cx="5656424" cy="2132094"/>
            <a:chOff x="2208" y="2784"/>
            <a:chExt cx="2976" cy="1248"/>
          </a:xfrm>
        </p:grpSpPr>
        <p:sp>
          <p:nvSpPr>
            <p:cNvPr id="15" name="Rectangle 4"/>
            <p:cNvSpPr>
              <a:spLocks noChangeArrowheads="1"/>
            </p:cNvSpPr>
            <p:nvPr/>
          </p:nvSpPr>
          <p:spPr bwMode="auto">
            <a:xfrm>
              <a:off x="3360" y="2784"/>
              <a:ext cx="768"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i="1" dirty="0">
                  <a:latin typeface="+mj-lt"/>
                </a:rPr>
                <a:t>Shape</a:t>
              </a:r>
            </a:p>
          </p:txBody>
        </p:sp>
        <p:grpSp>
          <p:nvGrpSpPr>
            <p:cNvPr id="16" name="Group 9"/>
            <p:cNvGrpSpPr>
              <a:grpSpLocks/>
            </p:cNvGrpSpPr>
            <p:nvPr/>
          </p:nvGrpSpPr>
          <p:grpSpPr bwMode="auto">
            <a:xfrm>
              <a:off x="3648" y="3120"/>
              <a:ext cx="192" cy="576"/>
              <a:chOff x="1920" y="3216"/>
              <a:chExt cx="192" cy="576"/>
            </a:xfrm>
          </p:grpSpPr>
          <p:sp>
            <p:nvSpPr>
              <p:cNvPr id="22" name="AutoShape 6"/>
              <p:cNvSpPr>
                <a:spLocks noChangeArrowheads="1"/>
              </p:cNvSpPr>
              <p:nvPr/>
            </p:nvSpPr>
            <p:spPr bwMode="auto">
              <a:xfrm>
                <a:off x="1920" y="3216"/>
                <a:ext cx="192" cy="192"/>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23" name="Line 7"/>
              <p:cNvSpPr>
                <a:spLocks noChangeShapeType="1"/>
              </p:cNvSpPr>
              <p:nvPr/>
            </p:nvSpPr>
            <p:spPr bwMode="auto">
              <a:xfrm>
                <a:off x="2016"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 name="Rectangle 8"/>
            <p:cNvSpPr>
              <a:spLocks noChangeArrowheads="1"/>
            </p:cNvSpPr>
            <p:nvPr/>
          </p:nvSpPr>
          <p:spPr bwMode="auto">
            <a:xfrm>
              <a:off x="3360" y="3696"/>
              <a:ext cx="768"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Circle</a:t>
              </a:r>
            </a:p>
          </p:txBody>
        </p:sp>
        <p:sp>
          <p:nvSpPr>
            <p:cNvPr id="18" name="AutoShape 11"/>
            <p:cNvSpPr>
              <a:spLocks noChangeArrowheads="1"/>
            </p:cNvSpPr>
            <p:nvPr/>
          </p:nvSpPr>
          <p:spPr bwMode="auto">
            <a:xfrm>
              <a:off x="4409" y="2784"/>
              <a:ext cx="720" cy="384"/>
            </a:xfrm>
            <a:prstGeom prst="wedgeRectCallout">
              <a:avLst>
                <a:gd name="adj1" fmla="val -88750"/>
                <a:gd name="adj2" fmla="val -729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Super Class</a:t>
              </a:r>
            </a:p>
          </p:txBody>
        </p:sp>
        <p:sp>
          <p:nvSpPr>
            <p:cNvPr id="19" name="AutoShape 12"/>
            <p:cNvSpPr>
              <a:spLocks noChangeArrowheads="1"/>
            </p:cNvSpPr>
            <p:nvPr/>
          </p:nvSpPr>
          <p:spPr bwMode="auto">
            <a:xfrm>
              <a:off x="4464" y="3608"/>
              <a:ext cx="720" cy="384"/>
            </a:xfrm>
            <a:prstGeom prst="wedgeRectCallout">
              <a:avLst>
                <a:gd name="adj1" fmla="val -99583"/>
                <a:gd name="adj2" fmla="val 9898"/>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Arial" panose="020B0604020202020204" pitchFamily="34" charset="0"/>
                </a:rPr>
                <a:t>Sub Class</a:t>
              </a:r>
            </a:p>
          </p:txBody>
        </p:sp>
        <p:sp>
          <p:nvSpPr>
            <p:cNvPr id="20" name="AutoShape 13"/>
            <p:cNvSpPr>
              <a:spLocks noChangeArrowheads="1"/>
            </p:cNvSpPr>
            <p:nvPr/>
          </p:nvSpPr>
          <p:spPr bwMode="auto">
            <a:xfrm>
              <a:off x="2208" y="2784"/>
              <a:ext cx="864" cy="384"/>
            </a:xfrm>
            <a:prstGeom prst="wedgeRectCallout">
              <a:avLst>
                <a:gd name="adj1" fmla="val 77431"/>
                <a:gd name="adj2" fmla="val -2682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A class</a:t>
              </a:r>
            </a:p>
          </p:txBody>
        </p:sp>
        <p:sp>
          <p:nvSpPr>
            <p:cNvPr id="21" name="AutoShape 14"/>
            <p:cNvSpPr>
              <a:spLocks noChangeArrowheads="1"/>
            </p:cNvSpPr>
            <p:nvPr/>
          </p:nvSpPr>
          <p:spPr bwMode="auto">
            <a:xfrm>
              <a:off x="2208" y="3312"/>
              <a:ext cx="1104" cy="384"/>
            </a:xfrm>
            <a:prstGeom prst="wedgeRectCallout">
              <a:avLst>
                <a:gd name="adj1" fmla="val 83694"/>
                <a:gd name="adj2" fmla="val -2682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Generalization relationship</a:t>
              </a:r>
            </a:p>
          </p:txBody>
        </p:sp>
      </p:grpSp>
      <p:sp>
        <p:nvSpPr>
          <p:cNvPr id="24" name="Rectangle 16"/>
          <p:cNvSpPr>
            <a:spLocks noChangeArrowheads="1"/>
          </p:cNvSpPr>
          <p:nvPr/>
        </p:nvSpPr>
        <p:spPr bwMode="auto">
          <a:xfrm>
            <a:off x="7762975" y="1812306"/>
            <a:ext cx="3739924" cy="17943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itchFamily="2" charset="2"/>
              <a:buChar char="§"/>
            </a:pPr>
            <a:r>
              <a:rPr lang="en-US" altLang="en-US" sz="2000" b="1" dirty="0">
                <a:latin typeface="+mj-lt"/>
              </a:rPr>
              <a:t>  {abstract}</a:t>
            </a:r>
            <a:r>
              <a:rPr lang="en-US" altLang="en-US" sz="2000" dirty="0">
                <a:latin typeface="+mj-lt"/>
              </a:rPr>
              <a:t> is a tagged value </a:t>
            </a:r>
            <a:br>
              <a:rPr lang="en-US" altLang="en-US" sz="2000" dirty="0">
                <a:latin typeface="+mj-lt"/>
              </a:rPr>
            </a:br>
            <a:r>
              <a:rPr lang="en-US" altLang="en-US" sz="2000" dirty="0">
                <a:latin typeface="+mj-lt"/>
              </a:rPr>
              <a:t>    that indicates that the class is </a:t>
            </a:r>
            <a:br>
              <a:rPr lang="en-US" altLang="en-US" sz="2000" dirty="0">
                <a:latin typeface="+mj-lt"/>
              </a:rPr>
            </a:br>
            <a:r>
              <a:rPr lang="en-US" altLang="en-US" sz="2000" dirty="0">
                <a:latin typeface="+mj-lt"/>
              </a:rPr>
              <a:t>     abstract (no object).</a:t>
            </a:r>
          </a:p>
          <a:p>
            <a:pPr eaLnBrk="1" hangingPunct="1">
              <a:spcBef>
                <a:spcPct val="0"/>
              </a:spcBef>
              <a:buClrTx/>
              <a:buSzTx/>
              <a:buFont typeface="Wingdings" pitchFamily="2" charset="2"/>
              <a:buChar char="§"/>
            </a:pPr>
            <a:r>
              <a:rPr lang="en-US" altLang="en-US" sz="2000" dirty="0">
                <a:latin typeface="+mj-lt"/>
              </a:rPr>
              <a:t>  The name of an abstract </a:t>
            </a:r>
            <a:br>
              <a:rPr lang="en-US" altLang="en-US" sz="2000" dirty="0">
                <a:latin typeface="+mj-lt"/>
              </a:rPr>
            </a:br>
            <a:r>
              <a:rPr lang="en-US" altLang="en-US" sz="2000" dirty="0">
                <a:latin typeface="+mj-lt"/>
              </a:rPr>
              <a:t>    class should be italicized</a:t>
            </a:r>
          </a:p>
        </p:txBody>
      </p:sp>
      <p:sp>
        <p:nvSpPr>
          <p:cNvPr id="25" name="Slide Number Placeholder 3">
            <a:extLst>
              <a:ext uri="{FF2B5EF4-FFF2-40B4-BE49-F238E27FC236}">
                <a16:creationId xmlns:a16="http://schemas.microsoft.com/office/drawing/2014/main" id="{9E80A683-5031-4CC4-9144-0E00C496865B}"/>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25</a:t>
            </a:fld>
            <a:r>
              <a:rPr lang="en-US" sz="1400" b="1" dirty="0"/>
              <a:t> </a:t>
            </a:r>
          </a:p>
        </p:txBody>
      </p:sp>
      <p:sp>
        <p:nvSpPr>
          <p:cNvPr id="26" name="Content Placeholder 2">
            <a:extLst>
              <a:ext uri="{FF2B5EF4-FFF2-40B4-BE49-F238E27FC236}">
                <a16:creationId xmlns:a16="http://schemas.microsoft.com/office/drawing/2014/main" id="{E847A1C0-A0A6-40B3-A2AA-F72A17B639D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7" name="Rectangle 26" descr="M. Mhahudul Hasan">
            <a:extLst>
              <a:ext uri="{FF2B5EF4-FFF2-40B4-BE49-F238E27FC236}">
                <a16:creationId xmlns:a16="http://schemas.microsoft.com/office/drawing/2014/main" id="{12288EE0-0DF5-4544-B41B-25E69BFCBFD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8" name="Rectangle 27" descr="M. Mhahudul Hasan">
            <a:extLst>
              <a:ext uri="{FF2B5EF4-FFF2-40B4-BE49-F238E27FC236}">
                <a16:creationId xmlns:a16="http://schemas.microsoft.com/office/drawing/2014/main" id="{66A83619-5ED5-4A8D-B30F-0874225A835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9" name="Rectangle 28" descr="M. Mhahudul Hasan">
            <a:extLst>
              <a:ext uri="{FF2B5EF4-FFF2-40B4-BE49-F238E27FC236}">
                <a16:creationId xmlns:a16="http://schemas.microsoft.com/office/drawing/2014/main" id="{84103EEA-0635-4C46-8611-9C23117880E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2771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0"/>
            <a:ext cx="11029950" cy="551938"/>
          </a:xfrm>
        </p:spPr>
        <p:txBody>
          <a:bodyPr/>
          <a:lstStyle/>
          <a:p>
            <a:pPr algn="ctr"/>
            <a:r>
              <a:rPr lang="en-US" altLang="en-US" b="1" dirty="0">
                <a:solidFill>
                  <a:srgbClr val="0070C0"/>
                </a:solidFill>
                <a:latin typeface="Book Antiqua" pitchFamily="18" charset="0"/>
              </a:rPr>
              <a:t>inheritance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2451" y="1326843"/>
            <a:ext cx="11341509" cy="5044460"/>
          </a:xfrm>
        </p:spPr>
        <p:txBody>
          <a:bodyPr>
            <a:noAutofit/>
          </a:bodyPr>
          <a:lstStyle/>
          <a:p>
            <a:pPr>
              <a:lnSpc>
                <a:spcPct val="90000"/>
              </a:lnSpc>
              <a:buFont typeface="Wingdings" pitchFamily="2" charset="2"/>
              <a:buChar char="q"/>
            </a:pPr>
            <a:r>
              <a:rPr lang="en-US" altLang="en-US" sz="2200" dirty="0">
                <a:latin typeface="+mj-lt"/>
              </a:rPr>
              <a:t>A sub-class inherits from its super-class</a:t>
            </a:r>
          </a:p>
          <a:p>
            <a:pPr lvl="1">
              <a:lnSpc>
                <a:spcPct val="90000"/>
              </a:lnSpc>
              <a:buFont typeface="Wingdings" pitchFamily="2" charset="2"/>
              <a:buChar char="§"/>
            </a:pPr>
            <a:r>
              <a:rPr lang="en-US" altLang="en-US" sz="2200" dirty="0">
                <a:solidFill>
                  <a:srgbClr val="C00000"/>
                </a:solidFill>
                <a:latin typeface="+mj-lt"/>
              </a:rPr>
              <a:t>  Attributes</a:t>
            </a:r>
          </a:p>
          <a:p>
            <a:pPr lvl="1">
              <a:lnSpc>
                <a:spcPct val="90000"/>
              </a:lnSpc>
              <a:buFont typeface="Wingdings" pitchFamily="2" charset="2"/>
              <a:buChar char="§"/>
            </a:pPr>
            <a:r>
              <a:rPr lang="en-US" altLang="en-US" sz="2200" dirty="0">
                <a:solidFill>
                  <a:srgbClr val="C00000"/>
                </a:solidFill>
                <a:latin typeface="+mj-lt"/>
              </a:rPr>
              <a:t>  Operations</a:t>
            </a:r>
          </a:p>
          <a:p>
            <a:pPr lvl="1">
              <a:lnSpc>
                <a:spcPct val="90000"/>
              </a:lnSpc>
              <a:buFont typeface="Wingdings" pitchFamily="2" charset="2"/>
              <a:buChar char="§"/>
            </a:pPr>
            <a:r>
              <a:rPr lang="en-US" altLang="en-US" sz="2200" dirty="0">
                <a:solidFill>
                  <a:srgbClr val="C00000"/>
                </a:solidFill>
                <a:latin typeface="+mj-lt"/>
              </a:rPr>
              <a:t>  Relationships</a:t>
            </a:r>
          </a:p>
          <a:p>
            <a:pPr>
              <a:lnSpc>
                <a:spcPct val="90000"/>
              </a:lnSpc>
              <a:buFont typeface="Wingdings" pitchFamily="2" charset="2"/>
              <a:buChar char="q"/>
            </a:pPr>
            <a:r>
              <a:rPr lang="en-US" altLang="en-US" sz="2200" dirty="0">
                <a:latin typeface="+mj-lt"/>
              </a:rPr>
              <a:t>  A sub-class may</a:t>
            </a:r>
          </a:p>
          <a:p>
            <a:pPr lvl="1">
              <a:lnSpc>
                <a:spcPct val="90000"/>
              </a:lnSpc>
              <a:buFont typeface="Wingdings" pitchFamily="2" charset="2"/>
              <a:buChar char="§"/>
            </a:pPr>
            <a:r>
              <a:rPr lang="en-US" altLang="en-US" sz="2200" dirty="0">
                <a:solidFill>
                  <a:srgbClr val="C00000"/>
                </a:solidFill>
                <a:latin typeface="+mj-lt"/>
              </a:rPr>
              <a:t>  Add attributes and operations</a:t>
            </a:r>
          </a:p>
          <a:p>
            <a:pPr lvl="1">
              <a:lnSpc>
                <a:spcPct val="90000"/>
              </a:lnSpc>
              <a:buFont typeface="Wingdings" pitchFamily="2" charset="2"/>
              <a:buChar char="§"/>
            </a:pPr>
            <a:r>
              <a:rPr lang="en-US" altLang="en-US" sz="2200" dirty="0">
                <a:solidFill>
                  <a:srgbClr val="C00000"/>
                </a:solidFill>
                <a:latin typeface="+mj-lt"/>
              </a:rPr>
              <a:t>  Add relationships</a:t>
            </a:r>
          </a:p>
          <a:p>
            <a:pPr lvl="1">
              <a:lnSpc>
                <a:spcPct val="90000"/>
              </a:lnSpc>
              <a:buFont typeface="Wingdings" pitchFamily="2" charset="2"/>
              <a:buChar char="§"/>
            </a:pPr>
            <a:r>
              <a:rPr lang="en-US" altLang="en-US" sz="2200" dirty="0">
                <a:solidFill>
                  <a:srgbClr val="C00000"/>
                </a:solidFill>
                <a:latin typeface="+mj-lt"/>
              </a:rPr>
              <a:t>  Refine (override) inherited operations</a:t>
            </a:r>
            <a:br>
              <a:rPr lang="en-US" altLang="en-US" sz="2200" dirty="0">
                <a:solidFill>
                  <a:srgbClr val="C00000"/>
                </a:solidFill>
                <a:latin typeface="+mj-lt"/>
              </a:rPr>
            </a:br>
            <a:endParaRPr lang="en-US" altLang="en-US" sz="2200" dirty="0">
              <a:latin typeface="+mj-lt"/>
            </a:endParaRPr>
          </a:p>
          <a:p>
            <a:pPr marL="0" lvl="1">
              <a:lnSpc>
                <a:spcPct val="90000"/>
              </a:lnSpc>
              <a:buFont typeface="Wingdings" pitchFamily="2" charset="2"/>
              <a:buChar char="q"/>
            </a:pPr>
            <a:r>
              <a:rPr lang="en-GB" sz="2200" dirty="0">
                <a:latin typeface="+mj-lt"/>
              </a:rPr>
              <a:t>Super classes may be declared {abstract}, meaning they have no instances</a:t>
            </a:r>
            <a:endParaRPr lang="en-US" altLang="en-US" sz="2200" dirty="0">
              <a:latin typeface="+mj-lt"/>
            </a:endParaRPr>
          </a:p>
          <a:p>
            <a:pPr>
              <a:lnSpc>
                <a:spcPct val="90000"/>
              </a:lnSpc>
              <a:buFont typeface="Wingdings" pitchFamily="2" charset="2"/>
              <a:buChar char="q"/>
            </a:pPr>
            <a:r>
              <a:rPr lang="en-US" altLang="en-US" sz="2200" dirty="0">
                <a:latin typeface="+mj-lt"/>
              </a:rPr>
              <a:t>A generalization relationship </a:t>
            </a:r>
            <a:r>
              <a:rPr lang="en-US" altLang="en-US" sz="2200" b="1" dirty="0">
                <a:latin typeface="+mj-lt"/>
              </a:rPr>
              <a:t>may not</a:t>
            </a:r>
            <a:r>
              <a:rPr lang="en-US" altLang="en-US" sz="2200" dirty="0">
                <a:latin typeface="+mj-lt"/>
              </a:rPr>
              <a:t> be used to model interface implementation (realization)</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7663" y="937518"/>
            <a:ext cx="3816350" cy="368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2" name="Picture 2" descr="generalization"/>
          <p:cNvPicPr>
            <a:picLocks noChangeAspect="1" noChangeArrowheads="1"/>
          </p:cNvPicPr>
          <p:nvPr/>
        </p:nvPicPr>
        <p:blipFill>
          <a:blip r:embed="rId3"/>
          <a:srcRect/>
          <a:stretch>
            <a:fillRect/>
          </a:stretch>
        </p:blipFill>
        <p:spPr bwMode="auto">
          <a:xfrm>
            <a:off x="4741397" y="1895906"/>
            <a:ext cx="3735977" cy="1443129"/>
          </a:xfrm>
          <a:prstGeom prst="rect">
            <a:avLst/>
          </a:prstGeom>
          <a:noFill/>
        </p:spPr>
      </p:pic>
      <p:sp>
        <p:nvSpPr>
          <p:cNvPr id="10243" name="Rectangle 3"/>
          <p:cNvSpPr>
            <a:spLocks noChangeArrowheads="1"/>
          </p:cNvSpPr>
          <p:nvPr/>
        </p:nvSpPr>
        <p:spPr bwMode="auto">
          <a:xfrm>
            <a:off x="5042684" y="3236217"/>
            <a:ext cx="3095897" cy="40011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Courier New" pitchFamily="49" charset="0"/>
                <a:cs typeface="Courier New" pitchFamily="49" charset="0"/>
              </a:rPr>
              <a:t>class A2 extends B2 </a:t>
            </a:r>
          </a:p>
        </p:txBody>
      </p:sp>
      <p:sp>
        <p:nvSpPr>
          <p:cNvPr id="7" name="Slide Number Placeholder 3">
            <a:extLst>
              <a:ext uri="{FF2B5EF4-FFF2-40B4-BE49-F238E27FC236}">
                <a16:creationId xmlns:a16="http://schemas.microsoft.com/office/drawing/2014/main" id="{2244F878-7457-48C7-8B83-B62C0CFE73B7}"/>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26</a:t>
            </a:fld>
            <a:r>
              <a:rPr lang="en-US" sz="1400" b="1" dirty="0"/>
              <a:t> </a:t>
            </a:r>
          </a:p>
        </p:txBody>
      </p:sp>
      <p:sp>
        <p:nvSpPr>
          <p:cNvPr id="8" name="Content Placeholder 2">
            <a:extLst>
              <a:ext uri="{FF2B5EF4-FFF2-40B4-BE49-F238E27FC236}">
                <a16:creationId xmlns:a16="http://schemas.microsoft.com/office/drawing/2014/main" id="{544C8233-1577-4906-8FB5-A3D00845272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Rectangle 8" descr="M. Mhahudul Hasan">
            <a:extLst>
              <a:ext uri="{FF2B5EF4-FFF2-40B4-BE49-F238E27FC236}">
                <a16:creationId xmlns:a16="http://schemas.microsoft.com/office/drawing/2014/main" id="{199CD39A-B03F-4B24-9C1C-3F779147030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A0DD60DE-5B00-44D7-84F9-4F71120E59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EB5C4FCA-CD57-4335-9A27-D9B9B611A65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861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83688"/>
            <a:ext cx="11029950" cy="566686"/>
          </a:xfrm>
        </p:spPr>
        <p:txBody>
          <a:bodyPr/>
          <a:lstStyle/>
          <a:p>
            <a:pPr algn="ctr"/>
            <a:r>
              <a:rPr lang="en-US" altLang="en-US" b="1" dirty="0">
                <a:solidFill>
                  <a:srgbClr val="0070C0"/>
                </a:solidFill>
                <a:latin typeface="Book Antiqua" pitchFamily="18" charset="0"/>
              </a:rPr>
              <a:t>Realization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37420" y="1385836"/>
            <a:ext cx="11010900" cy="4271963"/>
          </a:xfrm>
        </p:spPr>
        <p:txBody>
          <a:bodyPr>
            <a:noAutofit/>
          </a:bodyPr>
          <a:lstStyle/>
          <a:p>
            <a:pPr>
              <a:buFont typeface="Wingdings" pitchFamily="2" charset="2"/>
              <a:buChar char="q"/>
            </a:pPr>
            <a:r>
              <a:rPr lang="en-US" altLang="en-US" sz="2200" dirty="0">
                <a:latin typeface="+mj-lt"/>
              </a:rPr>
              <a:t>  A realization relationship indicates that one class implements a behavior specified by </a:t>
            </a:r>
            <a:br>
              <a:rPr lang="en-US" altLang="en-US" sz="2200" dirty="0">
                <a:latin typeface="+mj-lt"/>
              </a:rPr>
            </a:br>
            <a:r>
              <a:rPr lang="en-US" altLang="en-US" sz="2200" dirty="0">
                <a:latin typeface="+mj-lt"/>
              </a:rPr>
              <a:t>  another class (an interface).</a:t>
            </a:r>
          </a:p>
          <a:p>
            <a:pPr>
              <a:buFont typeface="Wingdings" pitchFamily="2" charset="2"/>
              <a:buChar char="q"/>
            </a:pPr>
            <a:r>
              <a:rPr lang="en-US" altLang="en-US" sz="2200" dirty="0">
                <a:latin typeface="+mj-lt"/>
              </a:rPr>
              <a:t>  An interface can be realized by many classes.  In another words, a class may realize many </a:t>
            </a:r>
            <a:br>
              <a:rPr lang="en-US" altLang="en-US" sz="2200" dirty="0">
                <a:latin typeface="+mj-lt"/>
              </a:rPr>
            </a:br>
            <a:r>
              <a:rPr lang="en-US" altLang="en-US" sz="2200" dirty="0">
                <a:latin typeface="+mj-lt"/>
              </a:rPr>
              <a:t>  interfaces.</a:t>
            </a:r>
          </a:p>
          <a:p>
            <a:pPr>
              <a:buFont typeface="Wingdings" pitchFamily="2" charset="2"/>
              <a:buChar char="q"/>
            </a:pPr>
            <a:endParaRPr lang="en-US" altLang="en-US" sz="2200" dirty="0">
              <a:latin typeface="+mj-lt"/>
            </a:endParaRPr>
          </a:p>
          <a:p>
            <a:pPr>
              <a:buFont typeface="Wingdings" pitchFamily="2" charset="2"/>
              <a:buChar char="q"/>
            </a:pPr>
            <a:endParaRPr lang="en-US" altLang="en-US" sz="2200" dirty="0">
              <a:latin typeface="+mj-lt"/>
            </a:endParaRPr>
          </a:p>
          <a:p>
            <a:pPr>
              <a:buFont typeface="Wingdings" pitchFamily="2" charset="2"/>
              <a:buChar char="q"/>
            </a:pPr>
            <a:endParaRPr lang="en-US" altLang="en-US" sz="2200" dirty="0">
              <a:latin typeface="+mj-lt"/>
            </a:endParaRPr>
          </a:p>
          <a:p>
            <a:pPr>
              <a:buNone/>
            </a:pPr>
            <a:br>
              <a:rPr lang="en-US" sz="2200" dirty="0">
                <a:solidFill>
                  <a:srgbClr val="C00000"/>
                </a:solidFill>
                <a:latin typeface="Courier New" pitchFamily="49" charset="0"/>
                <a:cs typeface="Courier New" pitchFamily="49" charset="0"/>
              </a:rPr>
            </a:br>
            <a:r>
              <a:rPr lang="en-US" sz="2200" dirty="0">
                <a:solidFill>
                  <a:srgbClr val="C00000"/>
                </a:solidFill>
                <a:latin typeface="Courier New" pitchFamily="49" charset="0"/>
                <a:cs typeface="Courier New" pitchFamily="49" charset="0"/>
              </a:rPr>
              <a:t>                           </a:t>
            </a:r>
            <a:br>
              <a:rPr lang="en-US" sz="2200" dirty="0">
                <a:solidFill>
                  <a:srgbClr val="C00000"/>
                </a:solidFill>
                <a:latin typeface="Courier New" pitchFamily="49" charset="0"/>
                <a:cs typeface="Courier New" pitchFamily="49" charset="0"/>
              </a:rPr>
            </a:br>
            <a:r>
              <a:rPr lang="en-US" sz="2200" dirty="0">
                <a:solidFill>
                  <a:srgbClr val="C00000"/>
                </a:solidFill>
                <a:latin typeface="Courier New" pitchFamily="49" charset="0"/>
                <a:cs typeface="Courier New" pitchFamily="49" charset="0"/>
              </a:rPr>
              <a:t>                     class A3 implements B3</a:t>
            </a:r>
            <a:endParaRPr lang="en-US" altLang="en-US" sz="2200" dirty="0">
              <a:solidFill>
                <a:srgbClr val="C00000"/>
              </a:solidFill>
              <a:latin typeface="Courier New" pitchFamily="49" charset="0"/>
              <a:cs typeface="Courier New" pitchFamily="49" charset="0"/>
            </a:endParaRPr>
          </a:p>
        </p:txBody>
      </p:sp>
      <p:pic>
        <p:nvPicPr>
          <p:cNvPr id="8194" name="Picture 2" descr="realization"/>
          <p:cNvPicPr>
            <a:picLocks noChangeAspect="1" noChangeArrowheads="1"/>
          </p:cNvPicPr>
          <p:nvPr/>
        </p:nvPicPr>
        <p:blipFill>
          <a:blip r:embed="rId2"/>
          <a:srcRect/>
          <a:stretch>
            <a:fillRect/>
          </a:stretch>
        </p:blipFill>
        <p:spPr bwMode="auto">
          <a:xfrm>
            <a:off x="4019567" y="3122972"/>
            <a:ext cx="4741818" cy="1978706"/>
          </a:xfrm>
          <a:prstGeom prst="rect">
            <a:avLst/>
          </a:prstGeom>
          <a:noFill/>
        </p:spPr>
      </p:pic>
      <p:sp>
        <p:nvSpPr>
          <p:cNvPr id="5" name="Slide Number Placeholder 3">
            <a:extLst>
              <a:ext uri="{FF2B5EF4-FFF2-40B4-BE49-F238E27FC236}">
                <a16:creationId xmlns:a16="http://schemas.microsoft.com/office/drawing/2014/main" id="{142B2F62-7CB3-4524-8495-4E9BFF3D5BF4}"/>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27</a:t>
            </a:fld>
            <a:r>
              <a:rPr lang="en-US" sz="1400" b="1" dirty="0"/>
              <a:t> </a:t>
            </a:r>
          </a:p>
        </p:txBody>
      </p:sp>
      <p:sp>
        <p:nvSpPr>
          <p:cNvPr id="6" name="Content Placeholder 2">
            <a:extLst>
              <a:ext uri="{FF2B5EF4-FFF2-40B4-BE49-F238E27FC236}">
                <a16:creationId xmlns:a16="http://schemas.microsoft.com/office/drawing/2014/main" id="{40824DF6-E2DF-448F-8A8F-B653065E93D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7DEE793A-F683-4BC9-B6D3-A19933CDFF2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AE27522-A849-4D10-9C68-EEE3ABB669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61F3BE8-5784-49A1-AD5B-417B35BD05F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7736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4" y="568939"/>
            <a:ext cx="11029950" cy="596183"/>
          </a:xfrm>
        </p:spPr>
        <p:txBody>
          <a:bodyPr/>
          <a:lstStyle/>
          <a:p>
            <a:pPr algn="ctr"/>
            <a:r>
              <a:rPr lang="en-US" altLang="en-US" b="1" dirty="0">
                <a:solidFill>
                  <a:srgbClr val="0070C0"/>
                </a:solidFill>
                <a:latin typeface="Book Antiqua" pitchFamily="18" charset="0"/>
              </a:rPr>
              <a:t>dependency</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6193" y="1282597"/>
            <a:ext cx="11010900" cy="941388"/>
          </a:xfrm>
        </p:spPr>
        <p:txBody>
          <a:bodyPr>
            <a:noAutofit/>
          </a:bodyPr>
          <a:lstStyle/>
          <a:p>
            <a:pPr>
              <a:lnSpc>
                <a:spcPct val="90000"/>
              </a:lnSpc>
              <a:buFont typeface="Wingdings" pitchFamily="2" charset="2"/>
              <a:buChar char="q"/>
            </a:pPr>
            <a:r>
              <a:rPr lang="en-US" altLang="en-US" sz="2200" dirty="0">
                <a:latin typeface="+mj-lt"/>
              </a:rPr>
              <a:t>A dependency indicates a semantic relation between two or more classes in which a change in one may force changes in the other.</a:t>
            </a:r>
          </a:p>
        </p:txBody>
      </p:sp>
      <p:pic>
        <p:nvPicPr>
          <p:cNvPr id="9218" name="Picture 2" descr="https://upload.wikimedia.org/wikipedia/commons/f/f8/Class_Dependency.png"/>
          <p:cNvPicPr>
            <a:picLocks noChangeAspect="1" noChangeArrowheads="1"/>
          </p:cNvPicPr>
          <p:nvPr/>
        </p:nvPicPr>
        <p:blipFill>
          <a:blip r:embed="rId2"/>
          <a:srcRect/>
          <a:stretch>
            <a:fillRect/>
          </a:stretch>
        </p:blipFill>
        <p:spPr bwMode="auto">
          <a:xfrm>
            <a:off x="3315015" y="2447078"/>
            <a:ext cx="5421085" cy="2467927"/>
          </a:xfrm>
          <a:prstGeom prst="rect">
            <a:avLst/>
          </a:prstGeom>
          <a:noFill/>
        </p:spPr>
      </p:pic>
      <p:sp>
        <p:nvSpPr>
          <p:cNvPr id="8" name="Rectangle 3"/>
          <p:cNvSpPr>
            <a:spLocks noChangeArrowheads="1"/>
          </p:cNvSpPr>
          <p:nvPr/>
        </p:nvSpPr>
        <p:spPr bwMode="auto">
          <a:xfrm>
            <a:off x="4588855" y="4985795"/>
            <a:ext cx="3918858" cy="40011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Courier New" pitchFamily="49" charset="0"/>
                <a:cs typeface="Courier New" pitchFamily="49" charset="0"/>
              </a:rPr>
              <a:t>Car depends</a:t>
            </a:r>
            <a:r>
              <a:rPr lang="en-US" sz="2000" dirty="0">
                <a:solidFill>
                  <a:srgbClr val="C00000"/>
                </a:solidFill>
                <a:latin typeface="Courier New" pitchFamily="49" charset="0"/>
                <a:cs typeface="Courier New" pitchFamily="49" charset="0"/>
              </a:rPr>
              <a:t> on wheel</a:t>
            </a:r>
            <a:endParaRPr kumimoji="0" lang="en-US" sz="2000" b="0" i="0" u="none" strike="noStrike" cap="none" normalizeH="0" baseline="0" dirty="0">
              <a:ln>
                <a:noFill/>
              </a:ln>
              <a:solidFill>
                <a:srgbClr val="C00000"/>
              </a:solidFill>
              <a:effectLst/>
              <a:latin typeface="Courier New" pitchFamily="49" charset="0"/>
              <a:cs typeface="Courier New" pitchFamily="49" charset="0"/>
            </a:endParaRPr>
          </a:p>
        </p:txBody>
      </p:sp>
      <p:sp>
        <p:nvSpPr>
          <p:cNvPr id="6" name="Slide Number Placeholder 3">
            <a:extLst>
              <a:ext uri="{FF2B5EF4-FFF2-40B4-BE49-F238E27FC236}">
                <a16:creationId xmlns:a16="http://schemas.microsoft.com/office/drawing/2014/main" id="{62246668-372E-4560-A9D1-E6580AFD8C06}"/>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28</a:t>
            </a:fld>
            <a:r>
              <a:rPr lang="en-US" sz="1400" b="1" dirty="0"/>
              <a:t> </a:t>
            </a:r>
          </a:p>
        </p:txBody>
      </p:sp>
      <p:sp>
        <p:nvSpPr>
          <p:cNvPr id="7" name="Content Placeholder 2">
            <a:extLst>
              <a:ext uri="{FF2B5EF4-FFF2-40B4-BE49-F238E27FC236}">
                <a16:creationId xmlns:a16="http://schemas.microsoft.com/office/drawing/2014/main" id="{33108604-D00B-4664-A639-32BCAE9D0C36}"/>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Rectangle 8" descr="M. Mhahudul Hasan">
            <a:extLst>
              <a:ext uri="{FF2B5EF4-FFF2-40B4-BE49-F238E27FC236}">
                <a16:creationId xmlns:a16="http://schemas.microsoft.com/office/drawing/2014/main" id="{3F705B93-D027-427E-B2BF-79983C0D098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ABF0F256-F3BF-4FCF-BF0D-A24B217573C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8A697F35-2BCB-4B3D-9ECF-E231E024452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0735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83688"/>
            <a:ext cx="11029950" cy="522441"/>
          </a:xfrm>
        </p:spPr>
        <p:txBody>
          <a:bodyPr/>
          <a:lstStyle/>
          <a:p>
            <a:pPr algn="ctr"/>
            <a:r>
              <a:rPr lang="en-US" altLang="en-US" b="1" dirty="0">
                <a:solidFill>
                  <a:srgbClr val="0070C0"/>
                </a:solidFill>
                <a:latin typeface="Book Antiqua" pitchFamily="18" charset="0"/>
              </a:rPr>
              <a:t>Constraint  rules and notes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7" y="1164610"/>
            <a:ext cx="11430000" cy="2076450"/>
          </a:xfrm>
        </p:spPr>
        <p:txBody>
          <a:bodyPr>
            <a:noAutofit/>
          </a:bodyPr>
          <a:lstStyle/>
          <a:p>
            <a:pPr>
              <a:buFont typeface="Wingdings" pitchFamily="2" charset="2"/>
              <a:buChar char="q"/>
            </a:pPr>
            <a:r>
              <a:rPr lang="en-US" altLang="en-US" sz="2200" b="1" dirty="0">
                <a:latin typeface="+mj-lt"/>
              </a:rPr>
              <a:t> Constraints</a:t>
            </a:r>
            <a:r>
              <a:rPr lang="en-US" altLang="en-US" sz="2200" dirty="0">
                <a:latin typeface="+mj-lt"/>
              </a:rPr>
              <a:t> and </a:t>
            </a:r>
            <a:r>
              <a:rPr lang="en-US" altLang="en-US" sz="2200" b="1" dirty="0">
                <a:latin typeface="+mj-lt"/>
              </a:rPr>
              <a:t>notes</a:t>
            </a:r>
            <a:r>
              <a:rPr lang="en-US" altLang="en-US" sz="2200" dirty="0">
                <a:latin typeface="+mj-lt"/>
              </a:rPr>
              <a:t> annotate among other things, e.g., associations, attributes, operations, and classes.</a:t>
            </a:r>
          </a:p>
          <a:p>
            <a:pPr>
              <a:buFont typeface="Wingdings" pitchFamily="2" charset="2"/>
              <a:buChar char="q"/>
            </a:pPr>
            <a:r>
              <a:rPr lang="en-US" altLang="en-US" sz="2200" dirty="0">
                <a:latin typeface="+mj-lt"/>
              </a:rPr>
              <a:t> Constraints are semantic restrictions noted as Boolean expressions.</a:t>
            </a:r>
          </a:p>
          <a:p>
            <a:pPr>
              <a:buFont typeface="Wingdings" pitchFamily="2" charset="2"/>
              <a:buChar char="§"/>
            </a:pPr>
            <a:r>
              <a:rPr lang="en-US" altLang="en-US" sz="2200" dirty="0">
                <a:solidFill>
                  <a:srgbClr val="C00000"/>
                </a:solidFill>
                <a:latin typeface="+mj-lt"/>
              </a:rPr>
              <a:t> UML offers many pre-defined constraints.</a:t>
            </a:r>
            <a:endParaRPr lang="en-US" altLang="en-US" sz="2200" dirty="0">
              <a:latin typeface="+mj-lt"/>
            </a:endParaRPr>
          </a:p>
        </p:txBody>
      </p:sp>
      <p:grpSp>
        <p:nvGrpSpPr>
          <p:cNvPr id="7" name="Group 25"/>
          <p:cNvGrpSpPr>
            <a:grpSpLocks/>
          </p:cNvGrpSpPr>
          <p:nvPr/>
        </p:nvGrpSpPr>
        <p:grpSpPr bwMode="auto">
          <a:xfrm>
            <a:off x="1720325" y="3967228"/>
            <a:ext cx="8680195" cy="1082675"/>
            <a:chOff x="672" y="3264"/>
            <a:chExt cx="4618" cy="576"/>
          </a:xfrm>
        </p:grpSpPr>
        <p:grpSp>
          <p:nvGrpSpPr>
            <p:cNvPr id="8" name="Group 24"/>
            <p:cNvGrpSpPr>
              <a:grpSpLocks/>
            </p:cNvGrpSpPr>
            <p:nvPr/>
          </p:nvGrpSpPr>
          <p:grpSpPr bwMode="auto">
            <a:xfrm>
              <a:off x="672" y="3264"/>
              <a:ext cx="1296" cy="576"/>
              <a:chOff x="672" y="3216"/>
              <a:chExt cx="1296" cy="576"/>
            </a:xfrm>
          </p:grpSpPr>
          <p:sp>
            <p:nvSpPr>
              <p:cNvPr id="19" name="Rectangle 4"/>
              <p:cNvSpPr>
                <a:spLocks noChangeArrowheads="1"/>
              </p:cNvSpPr>
              <p:nvPr/>
            </p:nvSpPr>
            <p:spPr bwMode="auto">
              <a:xfrm>
                <a:off x="672" y="3216"/>
                <a:ext cx="1296"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Arial" panose="020B0604020202020204" pitchFamily="34" charset="0"/>
                  </a:rPr>
                  <a:t>id: long { value &gt; 0 }</a:t>
                </a:r>
              </a:p>
            </p:txBody>
          </p:sp>
          <p:sp>
            <p:nvSpPr>
              <p:cNvPr id="20" name="Line 5"/>
              <p:cNvSpPr>
                <a:spLocks noChangeShapeType="1"/>
              </p:cNvSpPr>
              <p:nvPr/>
            </p:nvSpPr>
            <p:spPr bwMode="auto">
              <a:xfrm>
                <a:off x="672" y="3504"/>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Text Box 6"/>
              <p:cNvSpPr txBox="1">
                <a:spLocks noChangeArrowheads="1"/>
              </p:cNvSpPr>
              <p:nvPr/>
            </p:nvSpPr>
            <p:spPr bwMode="auto">
              <a:xfrm>
                <a:off x="672" y="3216"/>
                <a:ext cx="129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300" dirty="0">
                    <a:latin typeface="Arial" panose="020B0604020202020204" pitchFamily="34" charset="0"/>
                  </a:rPr>
                  <a:t>Customer</a:t>
                </a:r>
              </a:p>
            </p:txBody>
          </p:sp>
        </p:grpSp>
        <p:sp>
          <p:nvSpPr>
            <p:cNvPr id="9" name="Line 7"/>
            <p:cNvSpPr>
              <a:spLocks noChangeShapeType="1"/>
            </p:cNvSpPr>
            <p:nvPr/>
          </p:nvSpPr>
          <p:spPr bwMode="auto">
            <a:xfrm>
              <a:off x="1968" y="3552"/>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Rectangle 8"/>
            <p:cNvSpPr>
              <a:spLocks noChangeArrowheads="1"/>
            </p:cNvSpPr>
            <p:nvPr/>
          </p:nvSpPr>
          <p:spPr bwMode="auto">
            <a:xfrm>
              <a:off x="3264" y="3360"/>
              <a:ext cx="768"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Order</a:t>
              </a:r>
            </a:p>
          </p:txBody>
        </p:sp>
        <p:sp>
          <p:nvSpPr>
            <p:cNvPr id="11" name="Text Box 9"/>
            <p:cNvSpPr txBox="1">
              <a:spLocks noChangeArrowheads="1"/>
            </p:cNvSpPr>
            <p:nvPr/>
          </p:nvSpPr>
          <p:spPr bwMode="auto">
            <a:xfrm>
              <a:off x="3072" y="3360"/>
              <a:ext cx="15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a:t>
              </a:r>
            </a:p>
          </p:txBody>
        </p:sp>
        <p:sp>
          <p:nvSpPr>
            <p:cNvPr id="12" name="Text Box 10"/>
            <p:cNvSpPr txBox="1">
              <a:spLocks noChangeArrowheads="1"/>
            </p:cNvSpPr>
            <p:nvPr/>
          </p:nvSpPr>
          <p:spPr bwMode="auto">
            <a:xfrm>
              <a:off x="1968" y="3360"/>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1</a:t>
              </a:r>
            </a:p>
          </p:txBody>
        </p:sp>
        <p:sp>
          <p:nvSpPr>
            <p:cNvPr id="13" name="Text Box 11"/>
            <p:cNvSpPr txBox="1">
              <a:spLocks noChangeArrowheads="1"/>
            </p:cNvSpPr>
            <p:nvPr/>
          </p:nvSpPr>
          <p:spPr bwMode="auto">
            <a:xfrm>
              <a:off x="2160" y="3552"/>
              <a:ext cx="90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 total &lt; $50 }</a:t>
              </a:r>
            </a:p>
          </p:txBody>
        </p:sp>
        <p:grpSp>
          <p:nvGrpSpPr>
            <p:cNvPr id="14" name="Group 23"/>
            <p:cNvGrpSpPr>
              <a:grpSpLocks/>
            </p:cNvGrpSpPr>
            <p:nvPr/>
          </p:nvGrpSpPr>
          <p:grpSpPr bwMode="auto">
            <a:xfrm>
              <a:off x="4464" y="3360"/>
              <a:ext cx="826" cy="423"/>
              <a:chOff x="4464" y="3360"/>
              <a:chExt cx="826" cy="423"/>
            </a:xfrm>
          </p:grpSpPr>
          <p:sp>
            <p:nvSpPr>
              <p:cNvPr id="16" name="Freeform 13"/>
              <p:cNvSpPr>
                <a:spLocks/>
              </p:cNvSpPr>
              <p:nvPr/>
            </p:nvSpPr>
            <p:spPr bwMode="auto">
              <a:xfrm>
                <a:off x="4464" y="3360"/>
                <a:ext cx="816" cy="384"/>
              </a:xfrm>
              <a:custGeom>
                <a:avLst/>
                <a:gdLst>
                  <a:gd name="T0" fmla="*/ 0 w 816"/>
                  <a:gd name="T1" fmla="*/ 0 h 384"/>
                  <a:gd name="T2" fmla="*/ 0 w 816"/>
                  <a:gd name="T3" fmla="*/ 384 h 384"/>
                  <a:gd name="T4" fmla="*/ 816 w 816"/>
                  <a:gd name="T5" fmla="*/ 384 h 384"/>
                  <a:gd name="T6" fmla="*/ 816 w 816"/>
                  <a:gd name="T7" fmla="*/ 48 h 384"/>
                  <a:gd name="T8" fmla="*/ 672 w 816"/>
                  <a:gd name="T9" fmla="*/ 0 h 384"/>
                  <a:gd name="T10" fmla="*/ 0 w 816"/>
                  <a:gd name="T11" fmla="*/ 0 h 3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6" h="384">
                    <a:moveTo>
                      <a:pt x="0" y="0"/>
                    </a:moveTo>
                    <a:lnTo>
                      <a:pt x="0" y="384"/>
                    </a:lnTo>
                    <a:lnTo>
                      <a:pt x="816" y="384"/>
                    </a:lnTo>
                    <a:lnTo>
                      <a:pt x="816" y="48"/>
                    </a:lnTo>
                    <a:lnTo>
                      <a:pt x="672" y="0"/>
                    </a:lnTo>
                    <a:lnTo>
                      <a:pt x="0"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7" name="AutoShape 19"/>
              <p:cNvCxnSpPr>
                <a:cxnSpLocks noChangeShapeType="1"/>
                <a:stCxn id="16" idx="4"/>
                <a:endCxn id="16" idx="3"/>
              </p:cNvCxnSpPr>
              <p:nvPr/>
            </p:nvCxnSpPr>
            <p:spPr bwMode="auto">
              <a:xfrm>
                <a:off x="5136" y="3360"/>
                <a:ext cx="144" cy="48"/>
              </a:xfrm>
              <a:prstGeom prst="bentConnector3">
                <a:avLst>
                  <a:gd name="adj1" fmla="val -125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20"/>
              <p:cNvSpPr txBox="1">
                <a:spLocks noChangeArrowheads="1"/>
              </p:cNvSpPr>
              <p:nvPr/>
            </p:nvSpPr>
            <p:spPr bwMode="auto">
              <a:xfrm>
                <a:off x="4560" y="3360"/>
                <a:ext cx="730"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may be canceled</a:t>
                </a:r>
              </a:p>
            </p:txBody>
          </p:sp>
        </p:grpSp>
        <p:sp>
          <p:nvSpPr>
            <p:cNvPr id="15" name="Line 22"/>
            <p:cNvSpPr>
              <a:spLocks noChangeShapeType="1"/>
            </p:cNvSpPr>
            <p:nvPr/>
          </p:nvSpPr>
          <p:spPr bwMode="auto">
            <a:xfrm flipH="1">
              <a:off x="4032" y="3552"/>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2" name="AutoShape 26"/>
          <p:cNvSpPr>
            <a:spLocks noChangeArrowheads="1"/>
          </p:cNvSpPr>
          <p:nvPr/>
        </p:nvSpPr>
        <p:spPr bwMode="auto">
          <a:xfrm>
            <a:off x="3239831" y="5477335"/>
            <a:ext cx="1624012" cy="631561"/>
          </a:xfrm>
          <a:prstGeom prst="wedgeRectCallout">
            <a:avLst>
              <a:gd name="adj1" fmla="val -42708"/>
              <a:gd name="adj2" fmla="val -10684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Constraint</a:t>
            </a:r>
          </a:p>
        </p:txBody>
      </p:sp>
      <p:sp>
        <p:nvSpPr>
          <p:cNvPr id="23" name="AutoShape 27"/>
          <p:cNvSpPr>
            <a:spLocks noChangeArrowheads="1"/>
          </p:cNvSpPr>
          <p:nvPr/>
        </p:nvSpPr>
        <p:spPr bwMode="auto">
          <a:xfrm>
            <a:off x="8320873" y="5242204"/>
            <a:ext cx="1263121" cy="631561"/>
          </a:xfrm>
          <a:prstGeom prst="wedgeRectCallout">
            <a:avLst>
              <a:gd name="adj1" fmla="val 26787"/>
              <a:gd name="adj2" fmla="val -10506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Note</a:t>
            </a:r>
          </a:p>
        </p:txBody>
      </p:sp>
      <p:sp>
        <p:nvSpPr>
          <p:cNvPr id="24" name="Slide Number Placeholder 3">
            <a:extLst>
              <a:ext uri="{FF2B5EF4-FFF2-40B4-BE49-F238E27FC236}">
                <a16:creationId xmlns:a16="http://schemas.microsoft.com/office/drawing/2014/main" id="{7CF8E239-B302-42A3-A6F8-FBC08737D503}"/>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29</a:t>
            </a:fld>
            <a:r>
              <a:rPr lang="en-US" sz="1400" b="1" dirty="0"/>
              <a:t> </a:t>
            </a:r>
          </a:p>
        </p:txBody>
      </p:sp>
      <p:sp>
        <p:nvSpPr>
          <p:cNvPr id="25" name="Content Placeholder 2">
            <a:extLst>
              <a:ext uri="{FF2B5EF4-FFF2-40B4-BE49-F238E27FC236}">
                <a16:creationId xmlns:a16="http://schemas.microsoft.com/office/drawing/2014/main" id="{68588391-1B00-46EF-A593-D5EFF41D3F5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6" name="Rectangle 25" descr="M. Mhahudul Hasan">
            <a:extLst>
              <a:ext uri="{FF2B5EF4-FFF2-40B4-BE49-F238E27FC236}">
                <a16:creationId xmlns:a16="http://schemas.microsoft.com/office/drawing/2014/main" id="{5C5BA6D6-F549-41E3-9CF8-18A9D373BA1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7" name="Rectangle 26" descr="M. Mhahudul Hasan">
            <a:extLst>
              <a:ext uri="{FF2B5EF4-FFF2-40B4-BE49-F238E27FC236}">
                <a16:creationId xmlns:a16="http://schemas.microsoft.com/office/drawing/2014/main" id="{CE919F58-69B7-4962-978A-C91504FA58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8" name="Rectangle 27" descr="M. Mhahudul Hasan">
            <a:extLst>
              <a:ext uri="{FF2B5EF4-FFF2-40B4-BE49-F238E27FC236}">
                <a16:creationId xmlns:a16="http://schemas.microsoft.com/office/drawing/2014/main" id="{438177C2-0E2E-463A-9315-ECA6FB6F6F7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450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83689"/>
            <a:ext cx="11029950" cy="551938"/>
          </a:xfrm>
        </p:spPr>
        <p:txBody>
          <a:bodyPr/>
          <a:lstStyle/>
          <a:p>
            <a:pPr algn="ctr"/>
            <a:r>
              <a:rPr lang="en-US" altLang="en-US" b="1" dirty="0">
                <a:solidFill>
                  <a:srgbClr val="0070C0"/>
                </a:solidFill>
                <a:latin typeface="Book Antiqua" pitchFamily="18" charset="0"/>
              </a:rPr>
              <a:t>Logical distribution of classes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929148" y="1455994"/>
            <a:ext cx="10500852" cy="402303"/>
          </a:xfrm>
        </p:spPr>
        <p:txBody>
          <a:bodyPr>
            <a:noAutofit/>
          </a:bodyPr>
          <a:lstStyle/>
          <a:p>
            <a:pPr>
              <a:buFont typeface="Wingdings" pitchFamily="2" charset="2"/>
              <a:buChar char="q"/>
            </a:pPr>
            <a:r>
              <a:rPr lang="en-US" altLang="en-US" sz="2000" b="1" dirty="0">
                <a:latin typeface="+mj-lt"/>
              </a:rPr>
              <a:t> Add package information to class diagram</a:t>
            </a:r>
            <a:endParaRPr lang="en-US" altLang="en-US" sz="2000" dirty="0">
              <a:latin typeface="+mj-lt"/>
            </a:endParaRPr>
          </a:p>
        </p:txBody>
      </p:sp>
      <p:grpSp>
        <p:nvGrpSpPr>
          <p:cNvPr id="29" name="Group 33"/>
          <p:cNvGrpSpPr>
            <a:grpSpLocks/>
          </p:cNvGrpSpPr>
          <p:nvPr/>
        </p:nvGrpSpPr>
        <p:grpSpPr bwMode="auto">
          <a:xfrm>
            <a:off x="2845836" y="3151717"/>
            <a:ext cx="6315604" cy="3248025"/>
            <a:chOff x="912" y="1968"/>
            <a:chExt cx="3360" cy="1728"/>
          </a:xfrm>
        </p:grpSpPr>
        <p:grpSp>
          <p:nvGrpSpPr>
            <p:cNvPr id="30" name="Group 34"/>
            <p:cNvGrpSpPr>
              <a:grpSpLocks/>
            </p:cNvGrpSpPr>
            <p:nvPr/>
          </p:nvGrpSpPr>
          <p:grpSpPr bwMode="auto">
            <a:xfrm>
              <a:off x="3840" y="1968"/>
              <a:ext cx="432" cy="384"/>
              <a:chOff x="3360" y="2832"/>
              <a:chExt cx="432" cy="384"/>
            </a:xfrm>
          </p:grpSpPr>
          <p:sp>
            <p:nvSpPr>
              <p:cNvPr id="57" name="Rectangle 35"/>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a.A</a:t>
                </a:r>
                <a:endParaRPr lang="en-US" altLang="en-US" sz="2000" dirty="0">
                  <a:latin typeface="Arial" panose="020B0604020202020204" pitchFamily="34" charset="0"/>
                </a:endParaRPr>
              </a:p>
            </p:txBody>
          </p:sp>
          <p:sp>
            <p:nvSpPr>
              <p:cNvPr id="58" name="Line 36"/>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1" name="Group 37"/>
            <p:cNvGrpSpPr>
              <a:grpSpLocks/>
            </p:cNvGrpSpPr>
            <p:nvPr/>
          </p:nvGrpSpPr>
          <p:grpSpPr bwMode="auto">
            <a:xfrm>
              <a:off x="2832" y="2592"/>
              <a:ext cx="432" cy="384"/>
              <a:chOff x="3360" y="2832"/>
              <a:chExt cx="432" cy="384"/>
            </a:xfrm>
          </p:grpSpPr>
          <p:sp>
            <p:nvSpPr>
              <p:cNvPr id="55" name="Rectangle 38"/>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b.b.D</a:t>
                </a:r>
                <a:endParaRPr lang="en-US" altLang="en-US" sz="2000" dirty="0">
                  <a:latin typeface="Arial" panose="020B0604020202020204" pitchFamily="34" charset="0"/>
                </a:endParaRPr>
              </a:p>
            </p:txBody>
          </p:sp>
          <p:sp>
            <p:nvSpPr>
              <p:cNvPr id="56" name="Line 39"/>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2" name="Group 40"/>
            <p:cNvGrpSpPr>
              <a:grpSpLocks/>
            </p:cNvGrpSpPr>
            <p:nvPr/>
          </p:nvGrpSpPr>
          <p:grpSpPr bwMode="auto">
            <a:xfrm>
              <a:off x="2016" y="2592"/>
              <a:ext cx="432" cy="384"/>
              <a:chOff x="3360" y="2832"/>
              <a:chExt cx="432" cy="384"/>
            </a:xfrm>
          </p:grpSpPr>
          <p:sp>
            <p:nvSpPr>
              <p:cNvPr id="53" name="Rectangle 41"/>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b.b.E</a:t>
                </a:r>
                <a:endParaRPr lang="en-US" altLang="en-US" sz="2000" dirty="0">
                  <a:latin typeface="Arial" panose="020B0604020202020204" pitchFamily="34" charset="0"/>
                </a:endParaRPr>
              </a:p>
            </p:txBody>
          </p:sp>
          <p:sp>
            <p:nvSpPr>
              <p:cNvPr id="54" name="Line 42"/>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3" name="Group 43"/>
            <p:cNvGrpSpPr>
              <a:grpSpLocks/>
            </p:cNvGrpSpPr>
            <p:nvPr/>
          </p:nvGrpSpPr>
          <p:grpSpPr bwMode="auto">
            <a:xfrm>
              <a:off x="912" y="2256"/>
              <a:ext cx="432" cy="384"/>
              <a:chOff x="3360" y="2832"/>
              <a:chExt cx="432" cy="384"/>
            </a:xfrm>
          </p:grpSpPr>
          <p:sp>
            <p:nvSpPr>
              <p:cNvPr id="51" name="Rectangle 44"/>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b.a.F</a:t>
                </a:r>
                <a:endParaRPr lang="en-US" altLang="en-US" sz="2000" dirty="0">
                  <a:latin typeface="Arial" panose="020B0604020202020204" pitchFamily="34" charset="0"/>
                </a:endParaRPr>
              </a:p>
            </p:txBody>
          </p:sp>
          <p:sp>
            <p:nvSpPr>
              <p:cNvPr id="52" name="Line 45"/>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46"/>
            <p:cNvGrpSpPr>
              <a:grpSpLocks/>
            </p:cNvGrpSpPr>
            <p:nvPr/>
          </p:nvGrpSpPr>
          <p:grpSpPr bwMode="auto">
            <a:xfrm>
              <a:off x="912" y="3024"/>
              <a:ext cx="432" cy="384"/>
              <a:chOff x="3360" y="2832"/>
              <a:chExt cx="432" cy="384"/>
            </a:xfrm>
          </p:grpSpPr>
          <p:sp>
            <p:nvSpPr>
              <p:cNvPr id="49" name="Rectangle 47"/>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b.a.G</a:t>
                </a:r>
                <a:endParaRPr lang="en-US" altLang="en-US" sz="2000" dirty="0">
                  <a:latin typeface="Arial" panose="020B0604020202020204" pitchFamily="34" charset="0"/>
                </a:endParaRPr>
              </a:p>
            </p:txBody>
          </p:sp>
          <p:sp>
            <p:nvSpPr>
              <p:cNvPr id="50" name="Line 48"/>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 name="Group 49"/>
            <p:cNvGrpSpPr>
              <a:grpSpLocks/>
            </p:cNvGrpSpPr>
            <p:nvPr/>
          </p:nvGrpSpPr>
          <p:grpSpPr bwMode="auto">
            <a:xfrm>
              <a:off x="3840" y="3312"/>
              <a:ext cx="432" cy="384"/>
              <a:chOff x="3360" y="2832"/>
              <a:chExt cx="432" cy="384"/>
            </a:xfrm>
          </p:grpSpPr>
          <p:sp>
            <p:nvSpPr>
              <p:cNvPr id="47" name="Rectangle 50"/>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a.C</a:t>
                </a:r>
                <a:endParaRPr lang="en-US" altLang="en-US" sz="2000" dirty="0">
                  <a:latin typeface="Arial" panose="020B0604020202020204" pitchFamily="34" charset="0"/>
                </a:endParaRPr>
              </a:p>
            </p:txBody>
          </p:sp>
          <p:sp>
            <p:nvSpPr>
              <p:cNvPr id="48" name="Line 51"/>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6" name="Group 52"/>
            <p:cNvGrpSpPr>
              <a:grpSpLocks/>
            </p:cNvGrpSpPr>
            <p:nvPr/>
          </p:nvGrpSpPr>
          <p:grpSpPr bwMode="auto">
            <a:xfrm>
              <a:off x="3840" y="2592"/>
              <a:ext cx="432" cy="384"/>
              <a:chOff x="3360" y="2832"/>
              <a:chExt cx="432" cy="384"/>
            </a:xfrm>
          </p:grpSpPr>
          <p:sp>
            <p:nvSpPr>
              <p:cNvPr id="45" name="Rectangle 53"/>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a.B</a:t>
                </a:r>
                <a:endParaRPr lang="en-US" altLang="en-US" sz="2000" dirty="0">
                  <a:latin typeface="Arial" panose="020B0604020202020204" pitchFamily="34" charset="0"/>
                </a:endParaRPr>
              </a:p>
            </p:txBody>
          </p:sp>
          <p:sp>
            <p:nvSpPr>
              <p:cNvPr id="46" name="Line 54"/>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cxnSp>
          <p:nvCxnSpPr>
            <p:cNvPr id="37" name="AutoShape 55"/>
            <p:cNvCxnSpPr>
              <a:cxnSpLocks noChangeShapeType="1"/>
              <a:stCxn id="45" idx="0"/>
              <a:endCxn id="57" idx="2"/>
            </p:cNvCxnSpPr>
            <p:nvPr/>
          </p:nvCxnSpPr>
          <p:spPr bwMode="auto">
            <a:xfrm flipV="1">
              <a:off x="4056" y="2352"/>
              <a:ext cx="0" cy="24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56"/>
            <p:cNvCxnSpPr>
              <a:cxnSpLocks noChangeShapeType="1"/>
              <a:stCxn id="45" idx="2"/>
              <a:endCxn id="47" idx="0"/>
            </p:cNvCxnSpPr>
            <p:nvPr/>
          </p:nvCxnSpPr>
          <p:spPr bwMode="auto">
            <a:xfrm>
              <a:off x="4056" y="2976"/>
              <a:ext cx="0" cy="336"/>
            </a:xfrm>
            <a:prstGeom prst="straightConnector1">
              <a:avLst/>
            </a:prstGeom>
            <a:noFill/>
            <a:ln w="9525">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57"/>
            <p:cNvCxnSpPr>
              <a:cxnSpLocks noChangeShapeType="1"/>
              <a:stCxn id="56" idx="1"/>
              <a:endCxn id="47" idx="1"/>
            </p:cNvCxnSpPr>
            <p:nvPr/>
          </p:nvCxnSpPr>
          <p:spPr bwMode="auto">
            <a:xfrm>
              <a:off x="3264" y="2784"/>
              <a:ext cx="576" cy="72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58"/>
            <p:cNvCxnSpPr>
              <a:cxnSpLocks noChangeShapeType="1"/>
              <a:stCxn id="56" idx="1"/>
              <a:endCxn id="57" idx="1"/>
            </p:cNvCxnSpPr>
            <p:nvPr/>
          </p:nvCxnSpPr>
          <p:spPr bwMode="auto">
            <a:xfrm flipV="1">
              <a:off x="3264" y="2160"/>
              <a:ext cx="576" cy="62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59"/>
            <p:cNvCxnSpPr>
              <a:cxnSpLocks noChangeShapeType="1"/>
              <a:stCxn id="54" idx="1"/>
              <a:endCxn id="56" idx="0"/>
            </p:cNvCxnSpPr>
            <p:nvPr/>
          </p:nvCxnSpPr>
          <p:spPr bwMode="auto">
            <a:xfrm>
              <a:off x="2448" y="2784"/>
              <a:ext cx="384"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60"/>
            <p:cNvCxnSpPr>
              <a:cxnSpLocks noChangeShapeType="1"/>
              <a:stCxn id="54" idx="0"/>
              <a:endCxn id="51" idx="3"/>
            </p:cNvCxnSpPr>
            <p:nvPr/>
          </p:nvCxnSpPr>
          <p:spPr bwMode="auto">
            <a:xfrm flipH="1" flipV="1">
              <a:off x="1344" y="2448"/>
              <a:ext cx="672" cy="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61"/>
            <p:cNvCxnSpPr>
              <a:cxnSpLocks noChangeShapeType="1"/>
              <a:stCxn id="54" idx="0"/>
              <a:endCxn id="49" idx="3"/>
            </p:cNvCxnSpPr>
            <p:nvPr/>
          </p:nvCxnSpPr>
          <p:spPr bwMode="auto">
            <a:xfrm flipH="1">
              <a:off x="1344" y="2784"/>
              <a:ext cx="672" cy="43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62"/>
            <p:cNvCxnSpPr>
              <a:cxnSpLocks noChangeShapeType="1"/>
              <a:stCxn id="51" idx="2"/>
              <a:endCxn id="49" idx="0"/>
            </p:cNvCxnSpPr>
            <p:nvPr/>
          </p:nvCxnSpPr>
          <p:spPr bwMode="auto">
            <a:xfrm>
              <a:off x="1128" y="2640"/>
              <a:ext cx="0" cy="38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 name="Rectangle 63"/>
          <p:cNvSpPr>
            <a:spLocks noChangeArrowheads="1"/>
          </p:cNvSpPr>
          <p:nvPr/>
        </p:nvSpPr>
        <p:spPr bwMode="auto">
          <a:xfrm>
            <a:off x="8078764" y="2790826"/>
            <a:ext cx="1714236" cy="38795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0" name="Rectangle 64"/>
          <p:cNvSpPr>
            <a:spLocks noChangeArrowheads="1"/>
          </p:cNvSpPr>
          <p:nvPr/>
        </p:nvSpPr>
        <p:spPr bwMode="auto">
          <a:xfrm>
            <a:off x="4650294" y="3873501"/>
            <a:ext cx="2796910" cy="14435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1" name="Rectangle 65"/>
          <p:cNvSpPr>
            <a:spLocks noChangeArrowheads="1"/>
          </p:cNvSpPr>
          <p:nvPr/>
        </p:nvSpPr>
        <p:spPr bwMode="auto">
          <a:xfrm>
            <a:off x="2484944" y="3332163"/>
            <a:ext cx="1533789" cy="27969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2" name="Rectangle 66"/>
          <p:cNvSpPr>
            <a:spLocks noChangeArrowheads="1"/>
          </p:cNvSpPr>
          <p:nvPr/>
        </p:nvSpPr>
        <p:spPr bwMode="auto">
          <a:xfrm>
            <a:off x="2484944" y="2971272"/>
            <a:ext cx="631560"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err="1">
                <a:latin typeface="Arial" panose="020B0604020202020204" pitchFamily="34" charset="0"/>
              </a:rPr>
              <a:t>b.a</a:t>
            </a:r>
            <a:endParaRPr lang="en-US" altLang="en-US" sz="2300" dirty="0">
              <a:latin typeface="Arial" panose="020B0604020202020204" pitchFamily="34" charset="0"/>
            </a:endParaRPr>
          </a:p>
        </p:txBody>
      </p:sp>
      <p:sp>
        <p:nvSpPr>
          <p:cNvPr id="63" name="Rectangle 67"/>
          <p:cNvSpPr>
            <a:spLocks noChangeArrowheads="1"/>
          </p:cNvSpPr>
          <p:nvPr/>
        </p:nvSpPr>
        <p:spPr bwMode="auto">
          <a:xfrm>
            <a:off x="4650293" y="3512609"/>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err="1">
                <a:latin typeface="Arial" panose="020B0604020202020204" pitchFamily="34" charset="0"/>
              </a:rPr>
              <a:t>b.b</a:t>
            </a:r>
            <a:endParaRPr lang="en-US" altLang="en-US" sz="2300" dirty="0">
              <a:latin typeface="Arial" panose="020B0604020202020204" pitchFamily="34" charset="0"/>
            </a:endParaRPr>
          </a:p>
        </p:txBody>
      </p:sp>
      <p:sp>
        <p:nvSpPr>
          <p:cNvPr id="64" name="Rectangle 68"/>
          <p:cNvSpPr>
            <a:spLocks noChangeArrowheads="1"/>
          </p:cNvSpPr>
          <p:nvPr/>
        </p:nvSpPr>
        <p:spPr bwMode="auto">
          <a:xfrm>
            <a:off x="8078764" y="2429934"/>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a</a:t>
            </a:r>
          </a:p>
        </p:txBody>
      </p:sp>
      <p:sp>
        <p:nvSpPr>
          <p:cNvPr id="65" name="Rectangle 69"/>
          <p:cNvSpPr>
            <a:spLocks noChangeArrowheads="1"/>
          </p:cNvSpPr>
          <p:nvPr/>
        </p:nvSpPr>
        <p:spPr bwMode="auto">
          <a:xfrm>
            <a:off x="2033830" y="2790826"/>
            <a:ext cx="5684044" cy="36089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6" name="Rectangle 70"/>
          <p:cNvSpPr>
            <a:spLocks noChangeArrowheads="1"/>
          </p:cNvSpPr>
          <p:nvPr/>
        </p:nvSpPr>
        <p:spPr bwMode="auto">
          <a:xfrm>
            <a:off x="2033828" y="2429934"/>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b</a:t>
            </a:r>
          </a:p>
        </p:txBody>
      </p:sp>
      <p:sp>
        <p:nvSpPr>
          <p:cNvPr id="67" name="Slide Number Placeholder 3">
            <a:extLst>
              <a:ext uri="{FF2B5EF4-FFF2-40B4-BE49-F238E27FC236}">
                <a16:creationId xmlns:a16="http://schemas.microsoft.com/office/drawing/2014/main" id="{25033E6F-5FD4-420A-AA76-D52F9EFE411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30</a:t>
            </a:fld>
            <a:r>
              <a:rPr lang="en-US" sz="1400" b="1" dirty="0"/>
              <a:t> </a:t>
            </a:r>
          </a:p>
        </p:txBody>
      </p:sp>
      <p:sp>
        <p:nvSpPr>
          <p:cNvPr id="68" name="Content Placeholder 2">
            <a:extLst>
              <a:ext uri="{FF2B5EF4-FFF2-40B4-BE49-F238E27FC236}">
                <a16:creationId xmlns:a16="http://schemas.microsoft.com/office/drawing/2014/main" id="{6B037C13-6EF2-417D-8261-6587C73BCC5B}"/>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9" name="Rectangle 68" descr="M. Mhahudul Hasan">
            <a:extLst>
              <a:ext uri="{FF2B5EF4-FFF2-40B4-BE49-F238E27FC236}">
                <a16:creationId xmlns:a16="http://schemas.microsoft.com/office/drawing/2014/main" id="{22A621BC-1DF7-4A45-9824-2F5293CB93E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0" name="Rectangle 69" descr="M. Mhahudul Hasan">
            <a:extLst>
              <a:ext uri="{FF2B5EF4-FFF2-40B4-BE49-F238E27FC236}">
                <a16:creationId xmlns:a16="http://schemas.microsoft.com/office/drawing/2014/main" id="{C5E2B224-7473-4E2A-AED4-02949E9CC01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71" name="Rectangle 70" descr="M. Mhahudul Hasan">
            <a:extLst>
              <a:ext uri="{FF2B5EF4-FFF2-40B4-BE49-F238E27FC236}">
                <a16:creationId xmlns:a16="http://schemas.microsoft.com/office/drawing/2014/main" id="{229F4543-470D-40CF-A47C-65CB97B3266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58431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1"/>
            <a:ext cx="11029950" cy="551938"/>
          </a:xfrm>
        </p:spPr>
        <p:txBody>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34385" y="1326843"/>
            <a:ext cx="11233150" cy="4882228"/>
          </a:xfrm>
        </p:spPr>
        <p:txBody>
          <a:bodyPr>
            <a:noAutofit/>
          </a:bodyPr>
          <a:lstStyle/>
          <a:p>
            <a:pPr>
              <a:buFont typeface="Wingdings" pitchFamily="2" charset="2"/>
              <a:buChar char="q"/>
            </a:pPr>
            <a:r>
              <a:rPr lang="en-US" altLang="en-US" sz="2200" dirty="0">
                <a:solidFill>
                  <a:srgbClr val="C00000"/>
                </a:solidFill>
                <a:latin typeface="+mj-lt"/>
              </a:rPr>
              <a:t>Boundary Classes</a:t>
            </a:r>
          </a:p>
          <a:p>
            <a:pPr lvl="1">
              <a:buFont typeface="Wingdings" pitchFamily="2" charset="2"/>
              <a:buChar char="§"/>
            </a:pPr>
            <a:r>
              <a:rPr lang="en-US" altLang="en-US" sz="2200" dirty="0">
                <a:latin typeface="+mj-lt"/>
              </a:rPr>
              <a:t>Models the interaction between the system’s surroundings and its inner workings</a:t>
            </a:r>
          </a:p>
          <a:p>
            <a:pPr lvl="1">
              <a:buFont typeface="Wingdings" pitchFamily="2" charset="2"/>
              <a:buChar char="§"/>
            </a:pPr>
            <a:r>
              <a:rPr lang="en-US" altLang="en-US" sz="2200" dirty="0">
                <a:latin typeface="+mj-lt"/>
              </a:rPr>
              <a:t>User interface classes, Concentrate on what information is presented to the user,</a:t>
            </a:r>
            <a:br>
              <a:rPr lang="en-US" altLang="en-US" sz="2200" dirty="0">
                <a:latin typeface="+mj-lt"/>
              </a:rPr>
            </a:br>
            <a:r>
              <a:rPr lang="en-US" altLang="en-US" sz="2200" dirty="0">
                <a:latin typeface="+mj-lt"/>
              </a:rPr>
              <a:t>don’t concentrate on user interface details</a:t>
            </a:r>
          </a:p>
          <a:p>
            <a:pPr lvl="1">
              <a:buFont typeface="Wingdings" pitchFamily="2" charset="2"/>
              <a:buChar char="§"/>
            </a:pPr>
            <a:r>
              <a:rPr lang="en-US" altLang="en-US" sz="2200" dirty="0">
                <a:latin typeface="+mj-lt"/>
              </a:rPr>
              <a:t>System / Device interface classes, concentrate on what protocols must be defined. </a:t>
            </a:r>
            <a:br>
              <a:rPr lang="en-US" altLang="en-US" sz="2200" dirty="0">
                <a:latin typeface="+mj-lt"/>
              </a:rPr>
            </a:br>
            <a:r>
              <a:rPr lang="en-US" altLang="en-US" sz="2200" dirty="0">
                <a:latin typeface="+mj-lt"/>
              </a:rPr>
              <a:t>don’t concentrate on how the protocols are implemented</a:t>
            </a:r>
          </a:p>
          <a:p>
            <a:pPr>
              <a:buFont typeface="Wingdings" pitchFamily="2" charset="2"/>
              <a:buChar char="q"/>
            </a:pPr>
            <a:r>
              <a:rPr lang="en-US" altLang="en-US" sz="2200" dirty="0">
                <a:solidFill>
                  <a:srgbClr val="C00000"/>
                </a:solidFill>
                <a:latin typeface="+mj-lt"/>
              </a:rPr>
              <a:t>Entity Classes</a:t>
            </a:r>
          </a:p>
          <a:p>
            <a:pPr lvl="1">
              <a:buFont typeface="Wingdings" pitchFamily="2" charset="2"/>
              <a:buChar char="§"/>
            </a:pPr>
            <a:r>
              <a:rPr lang="en-US" altLang="en-US" sz="2200" dirty="0">
                <a:latin typeface="+mj-lt"/>
              </a:rPr>
              <a:t>Models the key concepts of the system</a:t>
            </a:r>
          </a:p>
          <a:p>
            <a:pPr lvl="1">
              <a:buFont typeface="Wingdings" pitchFamily="2" charset="2"/>
              <a:buChar char="§"/>
            </a:pPr>
            <a:r>
              <a:rPr lang="en-US" altLang="en-US" sz="2200" dirty="0">
                <a:latin typeface="+mj-lt"/>
              </a:rPr>
              <a:t>Usually models information that is persistent</a:t>
            </a:r>
          </a:p>
          <a:p>
            <a:pPr lvl="1">
              <a:buFont typeface="Wingdings" pitchFamily="2" charset="2"/>
              <a:buChar char="§"/>
            </a:pPr>
            <a:r>
              <a:rPr lang="en-US" altLang="en-US" sz="2200" dirty="0">
                <a:latin typeface="+mj-lt"/>
              </a:rPr>
              <a:t>Contains the logic that solves the system problem</a:t>
            </a:r>
          </a:p>
          <a:p>
            <a:pPr lvl="1">
              <a:buFont typeface="Wingdings" pitchFamily="2" charset="2"/>
              <a:buChar char="§"/>
            </a:pPr>
            <a:r>
              <a:rPr lang="en-US" altLang="en-US" sz="2200" dirty="0">
                <a:latin typeface="+mj-lt"/>
              </a:rPr>
              <a:t>Can be used in multiple behaviors</a:t>
            </a:r>
            <a:endParaRPr lang="en-US" altLang="en-US" sz="2200" dirty="0">
              <a:solidFill>
                <a:srgbClr val="C00000"/>
              </a:solidFill>
              <a:latin typeface="+mj-lt"/>
            </a:endParaRPr>
          </a:p>
        </p:txBody>
      </p:sp>
      <p:sp>
        <p:nvSpPr>
          <p:cNvPr id="5" name="Slide Number Placeholder 3">
            <a:extLst>
              <a:ext uri="{FF2B5EF4-FFF2-40B4-BE49-F238E27FC236}">
                <a16:creationId xmlns:a16="http://schemas.microsoft.com/office/drawing/2014/main" id="{07FEA8F7-5E70-4F63-BB3C-752A953416EE}"/>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31</a:t>
            </a:fld>
            <a:r>
              <a:rPr lang="en-US" sz="1400" b="1" dirty="0"/>
              <a:t> </a:t>
            </a:r>
          </a:p>
        </p:txBody>
      </p:sp>
      <p:sp>
        <p:nvSpPr>
          <p:cNvPr id="6" name="Content Placeholder 2">
            <a:extLst>
              <a:ext uri="{FF2B5EF4-FFF2-40B4-BE49-F238E27FC236}">
                <a16:creationId xmlns:a16="http://schemas.microsoft.com/office/drawing/2014/main" id="{4F3ADCAA-3868-44A9-AB03-425A7AC69F6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D5D3D2B2-A8AA-49DD-9897-9A07D8F75A5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AB7435F7-2E81-4385-8CA9-EBA11735D20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14A4ADD7-F0FC-41E8-8069-511D0ECCB69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232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83687"/>
            <a:ext cx="11029950" cy="581435"/>
          </a:xfrm>
        </p:spPr>
        <p:txBody>
          <a:bodyPr>
            <a:normAutofit/>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90140" y="1633998"/>
            <a:ext cx="11233150" cy="2230079"/>
          </a:xfrm>
        </p:spPr>
        <p:txBody>
          <a:bodyPr>
            <a:noAutofit/>
          </a:bodyPr>
          <a:lstStyle/>
          <a:p>
            <a:pPr>
              <a:buFont typeface="Wingdings" pitchFamily="2" charset="2"/>
              <a:buChar char="q"/>
            </a:pPr>
            <a:r>
              <a:rPr lang="en-US" altLang="en-US" sz="2200" dirty="0">
                <a:solidFill>
                  <a:srgbClr val="C00000"/>
                </a:solidFill>
                <a:latin typeface="+mj-lt"/>
              </a:rPr>
              <a:t>Control Classes</a:t>
            </a:r>
          </a:p>
          <a:p>
            <a:pPr lvl="1">
              <a:buFont typeface="Wingdings" pitchFamily="2" charset="2"/>
              <a:buChar char="§"/>
            </a:pPr>
            <a:r>
              <a:rPr lang="en-US" altLang="en-US" sz="2200" dirty="0">
                <a:latin typeface="+mj-lt"/>
              </a:rPr>
              <a:t>Controls and coordinates the behavior of the system</a:t>
            </a:r>
          </a:p>
          <a:p>
            <a:pPr lvl="1">
              <a:buFont typeface="Wingdings" pitchFamily="2" charset="2"/>
              <a:buChar char="§"/>
            </a:pPr>
            <a:r>
              <a:rPr lang="en-US" altLang="en-US" sz="2200" dirty="0">
                <a:latin typeface="+mj-lt"/>
              </a:rPr>
              <a:t>A control class should tell other classes to do something and should never do anything except for delegating (directing) the work to other classes</a:t>
            </a:r>
          </a:p>
          <a:p>
            <a:pPr lvl="1">
              <a:buFont typeface="Wingdings" pitchFamily="2" charset="2"/>
              <a:buChar char="§"/>
            </a:pPr>
            <a:r>
              <a:rPr lang="en-US" altLang="en-US" sz="2200" dirty="0">
                <a:latin typeface="+mj-lt"/>
              </a:rPr>
              <a:t>Control classes separate boundary and entity classes</a:t>
            </a:r>
            <a:endParaRPr lang="en-US" altLang="en-US" sz="2200" dirty="0">
              <a:solidFill>
                <a:srgbClr val="C00000"/>
              </a:solidFill>
              <a:latin typeface="+mj-lt"/>
            </a:endParaRPr>
          </a:p>
        </p:txBody>
      </p:sp>
      <p:sp>
        <p:nvSpPr>
          <p:cNvPr id="5" name="Slide Number Placeholder 3">
            <a:extLst>
              <a:ext uri="{FF2B5EF4-FFF2-40B4-BE49-F238E27FC236}">
                <a16:creationId xmlns:a16="http://schemas.microsoft.com/office/drawing/2014/main" id="{CAC44F7C-6150-4BEA-A828-68DF789A3C90}"/>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32</a:t>
            </a:fld>
            <a:r>
              <a:rPr lang="en-US" sz="1400" b="1" dirty="0"/>
              <a:t> </a:t>
            </a:r>
          </a:p>
        </p:txBody>
      </p:sp>
      <p:sp>
        <p:nvSpPr>
          <p:cNvPr id="6" name="Content Placeholder 2">
            <a:extLst>
              <a:ext uri="{FF2B5EF4-FFF2-40B4-BE49-F238E27FC236}">
                <a16:creationId xmlns:a16="http://schemas.microsoft.com/office/drawing/2014/main" id="{384F1BF3-8828-46BE-A9B6-7F8063A0ED2C}"/>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B25610BF-A4CE-4788-AC89-A418CDD1177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C150D701-E19D-4AF3-9CF2-667676CEAF60}"/>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04EB972-0C59-4098-BDD1-9A55447012C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2122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2" y="554192"/>
            <a:ext cx="11029950" cy="537190"/>
          </a:xfrm>
        </p:spPr>
        <p:txBody>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891" y="1362629"/>
            <a:ext cx="9744075" cy="4979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E1D410CC-6E35-4845-A100-7CA11051A092}"/>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33</a:t>
            </a:fld>
            <a:r>
              <a:rPr lang="en-US" sz="1400" b="1" dirty="0"/>
              <a:t> </a:t>
            </a:r>
          </a:p>
        </p:txBody>
      </p:sp>
      <p:sp>
        <p:nvSpPr>
          <p:cNvPr id="5" name="Content Placeholder 2">
            <a:extLst>
              <a:ext uri="{FF2B5EF4-FFF2-40B4-BE49-F238E27FC236}">
                <a16:creationId xmlns:a16="http://schemas.microsoft.com/office/drawing/2014/main" id="{0DC922D8-506A-40BB-8CE5-7AB712F93CCD}"/>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BBFD56C1-071E-4EA7-B68F-2077CCF67B8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 name="Rectangle 6" descr="M. Mhahudul Hasan">
            <a:extLst>
              <a:ext uri="{FF2B5EF4-FFF2-40B4-BE49-F238E27FC236}">
                <a16:creationId xmlns:a16="http://schemas.microsoft.com/office/drawing/2014/main" id="{5750F7B8-9F6F-41F8-943D-5FAF3F8CD0C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0B89FB9-AEE2-4F9E-89CA-9FC30DFE155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43485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68939"/>
            <a:ext cx="11029950" cy="610931"/>
          </a:xfrm>
        </p:spPr>
        <p:txBody>
          <a:bodyPr/>
          <a:lstStyle/>
          <a:p>
            <a:pPr algn="ctr"/>
            <a:r>
              <a:rPr lang="en-US" altLang="en-US" b="1" dirty="0">
                <a:solidFill>
                  <a:srgbClr val="0070C0"/>
                </a:solidFill>
                <a:latin typeface="Book Antiqua" pitchFamily="18" charset="0"/>
              </a:rPr>
              <a:t>Class  vs.  Object  diagram</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30942" y="1335497"/>
            <a:ext cx="11168063" cy="2027135"/>
          </a:xfrm>
        </p:spPr>
        <p:txBody>
          <a:bodyPr>
            <a:noAutofit/>
          </a:bodyPr>
          <a:lstStyle/>
          <a:p>
            <a:pPr>
              <a:buFont typeface="Wingdings" pitchFamily="2" charset="2"/>
              <a:buChar char="q"/>
            </a:pPr>
            <a:r>
              <a:rPr lang="en-US" altLang="en-US" sz="2200" dirty="0">
                <a:latin typeface="+mj-lt"/>
              </a:rPr>
              <a:t>The class defines the </a:t>
            </a:r>
            <a:r>
              <a:rPr lang="en-US" altLang="en-US" sz="2200" i="1" dirty="0">
                <a:latin typeface="+mj-lt"/>
              </a:rPr>
              <a:t>rules; </a:t>
            </a:r>
            <a:r>
              <a:rPr lang="en-US" altLang="en-US" sz="2200" dirty="0">
                <a:latin typeface="+mj-lt"/>
              </a:rPr>
              <a:t>the objects express the </a:t>
            </a:r>
            <a:r>
              <a:rPr lang="en-US" altLang="en-US" sz="2200" i="1" dirty="0">
                <a:latin typeface="+mj-lt"/>
              </a:rPr>
              <a:t>facts. </a:t>
            </a:r>
            <a:r>
              <a:rPr lang="en-US" altLang="en-US" sz="2200" dirty="0">
                <a:latin typeface="+mj-lt"/>
              </a:rPr>
              <a:t> The class defines what </a:t>
            </a:r>
            <a:r>
              <a:rPr lang="en-US" altLang="en-US" sz="2200" i="1" dirty="0">
                <a:latin typeface="+mj-lt"/>
              </a:rPr>
              <a:t>can be; </a:t>
            </a:r>
            <a:r>
              <a:rPr lang="en-US" altLang="en-US" sz="2200" dirty="0">
                <a:latin typeface="+mj-lt"/>
              </a:rPr>
              <a:t>the object describes </a:t>
            </a:r>
            <a:r>
              <a:rPr lang="en-US" altLang="en-US" sz="2200" i="1" dirty="0">
                <a:latin typeface="+mj-lt"/>
              </a:rPr>
              <a:t>what is.</a:t>
            </a:r>
          </a:p>
          <a:p>
            <a:pPr>
              <a:buFont typeface="Wingdings" pitchFamily="2" charset="2"/>
              <a:buChar char="q"/>
            </a:pPr>
            <a:r>
              <a:rPr lang="en-US" altLang="en-US" sz="2200" dirty="0">
                <a:latin typeface="+mj-lt"/>
              </a:rPr>
              <a:t> If the Class diagram says, “</a:t>
            </a:r>
            <a:r>
              <a:rPr lang="en-US" altLang="en-US" sz="2200" i="1" dirty="0">
                <a:latin typeface="+mj-lt"/>
              </a:rPr>
              <a:t>This is the way things should be</a:t>
            </a:r>
            <a:r>
              <a:rPr lang="en-US" altLang="en-US" sz="2200" dirty="0">
                <a:latin typeface="+mj-lt"/>
              </a:rPr>
              <a:t>” but the Object diagram graphically demonstrates that “</a:t>
            </a:r>
            <a:r>
              <a:rPr lang="en-US" altLang="en-US" sz="2200" i="1" dirty="0">
                <a:latin typeface="+mj-lt"/>
              </a:rPr>
              <a:t>it just </a:t>
            </a:r>
            <a:r>
              <a:rPr lang="en-US" altLang="en-US" sz="2200" i="1" dirty="0" err="1">
                <a:latin typeface="+mj-lt"/>
              </a:rPr>
              <a:t>ain’t</a:t>
            </a:r>
            <a:r>
              <a:rPr lang="en-US" altLang="en-US" sz="2200" i="1" dirty="0">
                <a:latin typeface="+mj-lt"/>
              </a:rPr>
              <a:t> so</a:t>
            </a:r>
            <a:r>
              <a:rPr lang="en-US" altLang="en-US" sz="2200" dirty="0">
                <a:latin typeface="+mj-lt"/>
              </a:rPr>
              <a:t>” then you have a very specific problem to track down. </a:t>
            </a:r>
          </a:p>
          <a:p>
            <a:pPr>
              <a:buFont typeface="Wingdings" pitchFamily="2" charset="2"/>
              <a:buChar char="q"/>
            </a:pPr>
            <a:r>
              <a:rPr lang="en-US" altLang="en-US" sz="2200" dirty="0">
                <a:latin typeface="+mj-lt"/>
              </a:rPr>
              <a:t> The Object diagram can confirm that everything is working as it should.</a:t>
            </a:r>
          </a:p>
        </p:txBody>
      </p:sp>
      <p:pic>
        <p:nvPicPr>
          <p:cNvPr id="6" name="Picture 2" descr="http://i.stack.imgur.com/eM6pB.jpg"/>
          <p:cNvPicPr>
            <a:picLocks noChangeAspect="1" noChangeArrowheads="1"/>
          </p:cNvPicPr>
          <p:nvPr/>
        </p:nvPicPr>
        <p:blipFill>
          <a:blip r:embed="rId2"/>
          <a:srcRect/>
          <a:stretch>
            <a:fillRect/>
          </a:stretch>
        </p:blipFill>
        <p:spPr bwMode="auto">
          <a:xfrm>
            <a:off x="2395143" y="3747319"/>
            <a:ext cx="7578725" cy="2809814"/>
          </a:xfrm>
          <a:prstGeom prst="rect">
            <a:avLst/>
          </a:prstGeom>
          <a:noFill/>
        </p:spPr>
      </p:pic>
      <p:sp>
        <p:nvSpPr>
          <p:cNvPr id="5" name="Slide Number Placeholder 3">
            <a:extLst>
              <a:ext uri="{FF2B5EF4-FFF2-40B4-BE49-F238E27FC236}">
                <a16:creationId xmlns:a16="http://schemas.microsoft.com/office/drawing/2014/main" id="{069D601A-1BB2-4DA4-A2A9-22F207780CD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34</a:t>
            </a:fld>
            <a:r>
              <a:rPr lang="en-US" sz="1400" b="1" dirty="0"/>
              <a:t> </a:t>
            </a:r>
          </a:p>
        </p:txBody>
      </p:sp>
      <p:sp>
        <p:nvSpPr>
          <p:cNvPr id="7" name="Content Placeholder 2">
            <a:extLst>
              <a:ext uri="{FF2B5EF4-FFF2-40B4-BE49-F238E27FC236}">
                <a16:creationId xmlns:a16="http://schemas.microsoft.com/office/drawing/2014/main" id="{836F1042-2732-414A-A23E-BB9465B47566}"/>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Rectangle 7" descr="M. Mhahudul Hasan">
            <a:extLst>
              <a:ext uri="{FF2B5EF4-FFF2-40B4-BE49-F238E27FC236}">
                <a16:creationId xmlns:a16="http://schemas.microsoft.com/office/drawing/2014/main" id="{770FC409-2EA4-4078-A244-E220303355A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9" name="Rectangle 8" descr="M. Mhahudul Hasan">
            <a:extLst>
              <a:ext uri="{FF2B5EF4-FFF2-40B4-BE49-F238E27FC236}">
                <a16:creationId xmlns:a16="http://schemas.microsoft.com/office/drawing/2014/main" id="{81341B51-0597-4894-8A66-DA19620B15D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D1AF61AB-6611-4B54-BC97-C4E211A59B5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2527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81435"/>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80218" y="1122414"/>
            <a:ext cx="11793794" cy="2024063"/>
          </a:xfrm>
        </p:spPr>
        <p:txBody>
          <a:bodyPr>
            <a:noAutofit/>
          </a:bodyPr>
          <a:lstStyle/>
          <a:p>
            <a:pPr marL="342900" indent="-342900" defTabSz="914400">
              <a:lnSpc>
                <a:spcPct val="80000"/>
              </a:lnSpc>
              <a:spcAft>
                <a:spcPts val="0"/>
              </a:spcAft>
              <a:buClr>
                <a:schemeClr val="tx2"/>
              </a:buClr>
              <a:buSzTx/>
              <a:buFont typeface="Wingdings" pitchFamily="2" charset="2"/>
              <a:buChar char="q"/>
              <a:defRPr/>
            </a:pPr>
            <a:r>
              <a:rPr lang="en-US" sz="2000" dirty="0" err="1"/>
              <a:t>Booch</a:t>
            </a:r>
            <a:r>
              <a:rPr lang="en-US" sz="2000" dirty="0"/>
              <a:t>, G., Rumbaugh, J. &amp; Jacobson, I. (2005). </a:t>
            </a:r>
            <a:r>
              <a:rPr lang="en-US" sz="2000" i="1" dirty="0"/>
              <a:t>The unified modeling language user guide</a:t>
            </a:r>
            <a:r>
              <a:rPr lang="en-US" sz="2000" dirty="0"/>
              <a:t>. Pearson Education India.</a:t>
            </a:r>
          </a:p>
          <a:p>
            <a:pPr marL="342900" lvl="0" indent="-342900" defTabSz="914400">
              <a:lnSpc>
                <a:spcPct val="80000"/>
              </a:lnSpc>
              <a:spcAft>
                <a:spcPts val="0"/>
              </a:spcAft>
              <a:buClr>
                <a:schemeClr val="tx2"/>
              </a:buClr>
              <a:buSzTx/>
              <a:buFont typeface="Wingdings" pitchFamily="2" charset="2"/>
              <a:buChar char="q"/>
              <a:defRPr/>
            </a:pPr>
            <a:endParaRPr lang="en-US" sz="2000" dirty="0">
              <a:solidFill>
                <a:schemeClr val="tx1"/>
              </a:solidFill>
              <a:latin typeface="+mj-lt"/>
            </a:endParaRPr>
          </a:p>
        </p:txBody>
      </p:sp>
      <p:sp>
        <p:nvSpPr>
          <p:cNvPr id="5" name="Slide Number Placeholder 3">
            <a:extLst>
              <a:ext uri="{FF2B5EF4-FFF2-40B4-BE49-F238E27FC236}">
                <a16:creationId xmlns:a16="http://schemas.microsoft.com/office/drawing/2014/main" id="{FD07DA90-560A-42CB-9DC5-971A33FCB94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35</a:t>
            </a:fld>
            <a:r>
              <a:rPr lang="en-US" sz="1400" b="1" dirty="0"/>
              <a:t> </a:t>
            </a:r>
          </a:p>
        </p:txBody>
      </p:sp>
      <p:sp>
        <p:nvSpPr>
          <p:cNvPr id="6" name="Content Placeholder 2">
            <a:extLst>
              <a:ext uri="{FF2B5EF4-FFF2-40B4-BE49-F238E27FC236}">
                <a16:creationId xmlns:a16="http://schemas.microsoft.com/office/drawing/2014/main" id="{8881F435-B642-4BCC-9157-2FE2093E548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46A9529-B4F4-479F-BEC4-FFFD7CF1479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8304473-3308-4785-9468-AC63E35BC9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8DC9FFF5-59EE-4E1E-9ACA-A9257E0296C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583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1769</TotalTime>
  <Words>3637</Words>
  <Application>Microsoft Office PowerPoint</Application>
  <PresentationFormat>Widescreen</PresentationFormat>
  <Paragraphs>432</Paragraphs>
  <Slides>35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vt:lpstr>
      <vt:lpstr>Bell MT</vt:lpstr>
      <vt:lpstr>Book Antiqua</vt:lpstr>
      <vt:lpstr>Calibri</vt:lpstr>
      <vt:lpstr>Comic Sans MS</vt:lpstr>
      <vt:lpstr>Courier New</vt:lpstr>
      <vt:lpstr>Gill Sans MT</vt:lpstr>
      <vt:lpstr>Helvetica</vt:lpstr>
      <vt:lpstr>Times</vt:lpstr>
      <vt:lpstr>Times New Roman</vt:lpstr>
      <vt:lpstr>Wingdings</vt:lpstr>
      <vt:lpstr>Wingdings 2</vt:lpstr>
      <vt:lpstr>Dividend</vt:lpstr>
      <vt:lpstr>PowerPoint Presentation</vt:lpstr>
      <vt:lpstr>What  is  class?</vt:lpstr>
      <vt:lpstr>                                                      Crc card</vt:lpstr>
      <vt:lpstr>Crc  card</vt:lpstr>
      <vt:lpstr>             Class  Notation</vt:lpstr>
      <vt:lpstr>Drawing  Class  notation : Attribute</vt:lpstr>
      <vt:lpstr>Drawing  Class  notation : Attribute</vt:lpstr>
      <vt:lpstr>Drawing  Class notation : Attribute</vt:lpstr>
      <vt:lpstr>Drawing  Class notation : Attribute</vt:lpstr>
      <vt:lpstr>Drawing  Class notation : operation</vt:lpstr>
      <vt:lpstr>PowerPoint Presentation</vt:lpstr>
      <vt:lpstr>PowerPoint Presentation</vt:lpstr>
      <vt:lpstr>Drawing  Class notation</vt:lpstr>
      <vt:lpstr>Practice Class Notation</vt:lpstr>
      <vt:lpstr>Class  diagram relationships</vt:lpstr>
      <vt:lpstr>associations</vt:lpstr>
      <vt:lpstr>Associations </vt:lpstr>
      <vt:lpstr>Association  multiplicity </vt:lpstr>
      <vt:lpstr>multiplicity  indicator</vt:lpstr>
      <vt:lpstr>aggregation</vt:lpstr>
      <vt:lpstr>aggregation</vt:lpstr>
      <vt:lpstr>Composition</vt:lpstr>
      <vt:lpstr>Aggregation &amp; Composition</vt:lpstr>
      <vt:lpstr>generalization</vt:lpstr>
      <vt:lpstr>generalization</vt:lpstr>
      <vt:lpstr>inheritance</vt:lpstr>
      <vt:lpstr>Realization</vt:lpstr>
      <vt:lpstr>dependency</vt:lpstr>
      <vt:lpstr>Constraint  rules and notes</vt:lpstr>
      <vt:lpstr>Logical distribution of classes</vt:lpstr>
      <vt:lpstr>Classes categorization</vt:lpstr>
      <vt:lpstr>Classes categorization</vt:lpstr>
      <vt:lpstr>Classes Categorization</vt:lpstr>
      <vt:lpstr>Class  vs.  Object  diagram</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Ch.04 - Class Diagram</dc:title>
  <dc:subject>Object Oriented Analysis and Design (OOAD)</dc:subject>
  <dc:creator>M. Mahmudul Hasan</dc:creator>
  <cp:lastModifiedBy>Mohaimen-Bin-Noor</cp:lastModifiedBy>
  <cp:revision>148</cp:revision>
  <cp:lastPrinted>2021-02-16T07:37:54Z</cp:lastPrinted>
  <dcterms:created xsi:type="dcterms:W3CDTF">2019-05-13T08:37:20Z</dcterms:created>
  <dcterms:modified xsi:type="dcterms:W3CDTF">2025-03-11T14:57:03Z</dcterms:modified>
</cp:coreProperties>
</file>