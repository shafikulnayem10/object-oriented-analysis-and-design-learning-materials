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0"/>
  </p:notesMasterIdLst>
  <p:sldIdLst>
    <p:sldId id="256" r:id="rId2"/>
    <p:sldId id="299" r:id="rId3"/>
    <p:sldId id="301" r:id="rId4"/>
    <p:sldId id="300" r:id="rId5"/>
    <p:sldId id="309" r:id="rId6"/>
    <p:sldId id="302" r:id="rId7"/>
    <p:sldId id="310" r:id="rId8"/>
    <p:sldId id="313" r:id="rId9"/>
    <p:sldId id="314" r:id="rId10"/>
    <p:sldId id="312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31" r:id="rId19"/>
    <p:sldId id="323" r:id="rId20"/>
    <p:sldId id="324" r:id="rId21"/>
    <p:sldId id="332" r:id="rId22"/>
    <p:sldId id="334" r:id="rId23"/>
    <p:sldId id="329" r:id="rId24"/>
    <p:sldId id="325" r:id="rId25"/>
    <p:sldId id="333" r:id="rId26"/>
    <p:sldId id="327" r:id="rId27"/>
    <p:sldId id="284" r:id="rId28"/>
    <p:sldId id="33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udent" initials="s" lastIdx="1" clrIdx="0">
    <p:extLst>
      <p:ext uri="{19B8F6BF-5375-455C-9EA6-DF929625EA0E}">
        <p15:presenceInfo xmlns:p15="http://schemas.microsoft.com/office/powerpoint/2012/main" userId="studen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62" autoAdjust="0"/>
    <p:restoredTop sz="92149" autoAdjust="0"/>
  </p:normalViewPr>
  <p:slideViewPr>
    <p:cSldViewPr snapToGrid="0">
      <p:cViewPr>
        <p:scale>
          <a:sx n="60" d="100"/>
          <a:sy n="60" d="100"/>
        </p:scale>
        <p:origin x="110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0.5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400</c:v>
                </c:pt>
                <c:pt idx="1">
                  <c:v>250</c:v>
                </c:pt>
                <c:pt idx="2">
                  <c:v>120</c:v>
                </c:pt>
                <c:pt idx="3">
                  <c:v>70</c:v>
                </c:pt>
                <c:pt idx="4">
                  <c:v>50</c:v>
                </c:pt>
                <c:pt idx="5">
                  <c:v>38</c:v>
                </c:pt>
                <c:pt idx="6">
                  <c:v>30</c:v>
                </c:pt>
                <c:pt idx="7">
                  <c:v>25</c:v>
                </c:pt>
                <c:pt idx="8">
                  <c:v>22</c:v>
                </c:pt>
                <c:pt idx="9">
                  <c:v>20</c:v>
                </c:pt>
                <c:pt idx="10">
                  <c:v>18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771-43AE-B912-BB796EF00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878303"/>
        <c:axId val="192878719"/>
      </c:scatterChart>
      <c:valAx>
        <c:axId val="1928783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Lack of Cohesion</a:t>
                </a:r>
                <a:r>
                  <a:rPr lang="en-US" baseline="0" dirty="0">
                    <a:solidFill>
                      <a:schemeClr val="tx1"/>
                    </a:solidFill>
                  </a:rPr>
                  <a:t> in Methods</a:t>
                </a:r>
                <a:endParaRPr lang="en-US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74102163158848144"/>
              <c:y val="0.9137656919235851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one"/>
        <c:spPr>
          <a:noFill/>
          <a:ln w="38100" cap="flat" cmpd="sng" algn="ctr">
            <a:solidFill>
              <a:schemeClr val="tx1"/>
            </a:solidFill>
            <a:round/>
            <a:tailEnd type="arrow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878719"/>
        <c:crosses val="autoZero"/>
        <c:crossBetween val="midCat"/>
      </c:valAx>
      <c:valAx>
        <c:axId val="19287871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Complexity</a:t>
                </a:r>
              </a:p>
            </c:rich>
          </c:tx>
          <c:layout>
            <c:manualLayout>
              <c:xMode val="edge"/>
              <c:yMode val="edge"/>
              <c:x val="1.4027837710067791E-2"/>
              <c:y val="0.223556240171046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one"/>
        <c:spPr>
          <a:solidFill>
            <a:schemeClr val="tx1"/>
          </a:solidFill>
          <a:ln w="38100" cap="flat" cmpd="sng" algn="ctr">
            <a:solidFill>
              <a:schemeClr val="tx1"/>
            </a:solidFill>
            <a:round/>
            <a:tailEnd type="arrow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8783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08/08/2023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8/8/2023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lar.google.com/citations?user=VqMvaIIAAAAJ&amp;hl=en" TargetMode="External"/><Relationship Id="rId3" Type="http://schemas.openxmlformats.org/officeDocument/2006/relationships/hyperlink" Target="http://www.dit.hua.gr/~m.hasan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linkedin.com/in/m-mahmudul-hasan-93043a87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image" Target="../media/image4.jpeg"/><Relationship Id="rId4" Type="http://schemas.openxmlformats.org/officeDocument/2006/relationships/hyperlink" Target="https://www.researchgate.net/profile/M_Mahmudul_Hasan" TargetMode="Externa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606035" y="486697"/>
            <a:ext cx="3405526" cy="2934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u="sng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object oriented analysis and design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2210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501084" y="1064833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9</a:t>
            </a:r>
            <a:br>
              <a:rPr lang="en-US" sz="3000" dirty="0">
                <a:solidFill>
                  <a:schemeClr val="tx2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project estimation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M. Mahmudul </a:t>
            </a:r>
            <a:r>
              <a:rPr lang="en-US" sz="2400" dirty="0" err="1">
                <a:solidFill>
                  <a:srgbClr val="7030A0"/>
                </a:solidFill>
              </a:rPr>
              <a:t>hasan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Assistant Professor, CS, AIUB</a:t>
            </a:r>
          </a:p>
          <a:p>
            <a:r>
              <a:rPr lang="en-US" sz="2300" cap="none" dirty="0">
                <a:hlinkClick r:id="rId3"/>
              </a:rPr>
              <a:t>http://www.dit.hua.gr/~m.hasan</a:t>
            </a:r>
            <a:r>
              <a:rPr lang="en-US" sz="2300" cap="none" dirty="0"/>
              <a:t>   </a:t>
            </a:r>
          </a:p>
        </p:txBody>
      </p:sp>
      <p:pic>
        <p:nvPicPr>
          <p:cNvPr id="25" name="Picture 24">
            <a:hlinkClick r:id="rId4"/>
            <a:extLst>
              <a:ext uri="{FF2B5EF4-FFF2-40B4-BE49-F238E27FC236}">
                <a16:creationId xmlns:a16="http://schemas.microsoft.com/office/drawing/2014/main" id="{50ADB631-A102-4E27-9E4F-8BEAA3230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936" y="5191026"/>
            <a:ext cx="775212" cy="762000"/>
          </a:xfrm>
          <a:prstGeom prst="rect">
            <a:avLst/>
          </a:prstGeom>
        </p:spPr>
      </p:pic>
      <p:pic>
        <p:nvPicPr>
          <p:cNvPr id="26" name="Picture 25">
            <a:hlinkClick r:id="rId6"/>
            <a:extLst>
              <a:ext uri="{FF2B5EF4-FFF2-40B4-BE49-F238E27FC236}">
                <a16:creationId xmlns:a16="http://schemas.microsoft.com/office/drawing/2014/main" id="{5178D95F-BBA9-4DB7-8929-D0378B8248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9933" y="5210199"/>
            <a:ext cx="1966006" cy="641961"/>
          </a:xfrm>
          <a:prstGeom prst="rect">
            <a:avLst/>
          </a:prstGeom>
        </p:spPr>
      </p:pic>
      <p:pic>
        <p:nvPicPr>
          <p:cNvPr id="27" name="Picture 26">
            <a:hlinkClick r:id="rId8"/>
            <a:extLst>
              <a:ext uri="{FF2B5EF4-FFF2-40B4-BE49-F238E27FC236}">
                <a16:creationId xmlns:a16="http://schemas.microsoft.com/office/drawing/2014/main" id="{6C55067C-425B-4011-BE53-FC42477C2F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8975" y="5279923"/>
            <a:ext cx="2465593" cy="54231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0" name="Picture 1" descr="C:\Users\teacher\Desktop\download.jpg">
            <a:extLst>
              <a:ext uri="{FF2B5EF4-FFF2-40B4-BE49-F238E27FC236}">
                <a16:creationId xmlns:a16="http://schemas.microsoft.com/office/drawing/2014/main" id="{1799BA9A-E3B9-47F7-BB6C-545ACE6A8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86697" y="3333135"/>
            <a:ext cx="3598606" cy="1887793"/>
          </a:xfrm>
          <a:prstGeom prst="rect">
            <a:avLst/>
          </a:prstGeom>
          <a:noFill/>
        </p:spPr>
      </p:pic>
      <p:pic>
        <p:nvPicPr>
          <p:cNvPr id="31" name="Picture 3" descr="https://encrypted-tbn2.gstatic.com/images?q=tbn:ANd9GcTZSqWmbgJA9IY9oTGf6ls2w158A103Jg2WEGhWbMSOl3O_igInBAxJpJ9N">
            <a:extLst>
              <a:ext uri="{FF2B5EF4-FFF2-40B4-BE49-F238E27FC236}">
                <a16:creationId xmlns:a16="http://schemas.microsoft.com/office/drawing/2014/main" id="{ACD720F7-42BA-49BE-A110-5F8547544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86697" y="5279921"/>
            <a:ext cx="3598606" cy="1080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3458" y="583688"/>
            <a:ext cx="11029950" cy="522441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ook Antiqua" pitchFamily="18" charset="0"/>
              </a:rPr>
              <a:t>Software measurement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604684" y="1383685"/>
            <a:ext cx="11066463" cy="3204357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Software measurement is a 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quantified attribute of a characteristic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of a software product or the software process (e.g., </a:t>
            </a:r>
            <a:r>
              <a:rPr lang="en-US" sz="2400" dirty="0">
                <a:solidFill>
                  <a:srgbClr val="7030A0"/>
                </a:solidFill>
                <a:latin typeface="+mj-lt"/>
                <a:cs typeface="Times New Roman" panose="02020603050405020304" pitchFamily="18" charset="0"/>
              </a:rPr>
              <a:t>quality, complexity,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etc.)</a:t>
            </a:r>
            <a:endParaRPr lang="en-US" altLang="en-US" sz="2400" dirty="0">
              <a:latin typeface="+mj-lt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The ability to measure attributes of software and the software development process are essential to improvements in the practice of software engineering</a:t>
            </a:r>
            <a:endParaRPr lang="en-US" altLang="en-US" sz="2400" dirty="0">
              <a:latin typeface="+mj-lt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2400" dirty="0">
                <a:latin typeface="+mj-lt"/>
              </a:rPr>
              <a:t>Measurements enables us to evaluate the situation properly (objective evaluation).</a:t>
            </a:r>
          </a:p>
          <a:p>
            <a:pPr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2400" dirty="0">
                <a:latin typeface="+mj-lt"/>
              </a:rPr>
              <a:t>It can also be applied to improve the software process and hence assist project management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E33D84-3F2B-481A-890E-BA4873FA38C1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2204C24-E093-465D-A04A-8AA73CC911FC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2</a:t>
            </a:fld>
            <a:r>
              <a:rPr lang="en-US" sz="1400" b="1" dirty="0"/>
              <a:t> 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FB8A54D6-8291-4A71-8343-EF67AF6E554F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D0A80F67-4E88-479B-9A2C-9B1B7D612C90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3" name="Rectangle 12" descr="M. Mhahudul Hasan">
            <a:extLst>
              <a:ext uri="{FF2B5EF4-FFF2-40B4-BE49-F238E27FC236}">
                <a16:creationId xmlns:a16="http://schemas.microsoft.com/office/drawing/2014/main" id="{06558475-F637-4AB7-8FB5-B1AE85F5A94A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99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54192"/>
            <a:ext cx="11029950" cy="56668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Book Antiqua" pitchFamily="18" charset="0"/>
              </a:rPr>
              <a:t>Software metrics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30942" y="1247007"/>
            <a:ext cx="11220450" cy="1741487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The common measurement entities are the software metrics</a:t>
            </a:r>
            <a:r>
              <a:rPr lang="en-US" altLang="en-US" sz="2200" dirty="0">
                <a:latin typeface="+mj-lt"/>
              </a:rPr>
              <a:t>, which helps us to evaluate: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200" dirty="0">
                <a:latin typeface="+mj-lt"/>
              </a:rPr>
              <a:t>    Performance, Efficiency, Security, Complexity, Testability, Flexibility, etc.</a:t>
            </a:r>
          </a:p>
          <a:p>
            <a:pPr marL="306000" lvl="1">
              <a:spcBef>
                <a:spcPct val="0"/>
              </a:spcBef>
              <a:buFont typeface="Wingdings" pitchFamily="2" charset="2"/>
              <a:buChar char="§"/>
            </a:pPr>
            <a:r>
              <a:rPr lang="en-US" sz="2200" dirty="0">
                <a:latin typeface="+mj-lt"/>
              </a:rPr>
              <a:t>Metric is a quantifiable measure (characteristic) of software, e.g., </a:t>
            </a:r>
            <a:r>
              <a:rPr lang="en-GB" altLang="en-US" sz="2200" dirty="0">
                <a:latin typeface="+mj-lt"/>
              </a:rPr>
              <a:t>2 errors were discovered by customers in 18 months (more meaningful than saying that 2 errors were found)</a:t>
            </a:r>
            <a:endParaRPr lang="en-US" altLang="en-US" sz="2200" dirty="0">
              <a:latin typeface="+mj-lt"/>
            </a:endParaRPr>
          </a:p>
        </p:txBody>
      </p:sp>
      <p:pic>
        <p:nvPicPr>
          <p:cNvPr id="6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8062" y="3404771"/>
            <a:ext cx="6624597" cy="288689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3CDF24-6D45-4CDC-9820-5232BC21584A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886FF6E-D44E-4905-9A16-917DAC38223B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3</a:t>
            </a:fld>
            <a:r>
              <a:rPr lang="en-US" sz="1400" b="1" dirty="0"/>
              <a:t> 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0A4AF82E-D4D8-4715-A70C-6AA689C5C2C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D58F11A2-751F-4D9D-A940-CB89CFDAF49C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B0622123-1C2F-4ABC-8877-2FE9EE619E59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3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80220" y="524694"/>
            <a:ext cx="11029950" cy="58143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Book Antiqua" pitchFamily="18" charset="0"/>
              </a:rPr>
              <a:t>Software metrics : size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98014" y="1457427"/>
            <a:ext cx="11222037" cy="2114550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Measuring the size of a program </a:t>
            </a:r>
            <a:r>
              <a:rPr lang="en-US" altLang="en-US" sz="2200" dirty="0">
                <a:latin typeface="+mj-lt"/>
              </a:rPr>
              <a:t>is by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counting the number of lines of code (LOC)</a:t>
            </a:r>
          </a:p>
          <a:p>
            <a:pPr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2200" dirty="0">
                <a:latin typeface="+mj-lt"/>
              </a:rPr>
              <a:t>During maintenance, the focus is on number of lines of code that have been added or modified during a maintenance process. </a:t>
            </a:r>
          </a:p>
          <a:p>
            <a:pPr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2200" dirty="0">
                <a:latin typeface="+mj-lt"/>
              </a:rPr>
              <a:t>Easy to determine and also correlates strongly with other measures such as effort and error density.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BA109A-FEEE-41B2-A4B2-D522865F4B02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13957BF-7935-4BCC-BF78-8B026D0A12BD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4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CC88DAAC-18E0-442B-8B3F-4F36FC402BF2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7" name="Rectangle 6" descr="M. Mhahudul Hasan">
            <a:extLst>
              <a:ext uri="{FF2B5EF4-FFF2-40B4-BE49-F238E27FC236}">
                <a16:creationId xmlns:a16="http://schemas.microsoft.com/office/drawing/2014/main" id="{90CA628E-73EF-477D-91F2-4BC64BDFDC21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9ABFE193-D00F-4A18-8501-EE7041DFC235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10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21226" y="568940"/>
            <a:ext cx="11029950" cy="58143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Book Antiqua" pitchFamily="18" charset="0"/>
              </a:rPr>
              <a:t>Software measures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42451" y="1474224"/>
            <a:ext cx="11220450" cy="4392613"/>
          </a:xfrm>
        </p:spPr>
        <p:txBody>
          <a:bodyPr>
            <a:noAutofit/>
          </a:bodyPr>
          <a:lstStyle/>
          <a:p>
            <a:pPr lvl="1">
              <a:buFont typeface="Wingdings" pitchFamily="2" charset="2"/>
              <a:buChar char="q"/>
            </a:pPr>
            <a:r>
              <a:rPr lang="en-US" altLang="en-US" sz="2400" dirty="0">
                <a:latin typeface="+mj-lt"/>
              </a:rPr>
              <a:t> </a:t>
            </a:r>
            <a:r>
              <a:rPr lang="en-US" altLang="en-US" sz="2400" dirty="0" err="1">
                <a:latin typeface="+mj-lt"/>
              </a:rPr>
              <a:t>Cyclomatic</a:t>
            </a:r>
            <a:r>
              <a:rPr lang="en-US" altLang="en-US" sz="2400" dirty="0">
                <a:latin typeface="+mj-lt"/>
              </a:rPr>
              <a:t> code complexity (CCC)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400" dirty="0">
                <a:latin typeface="+mj-lt"/>
              </a:rPr>
              <a:t>  Weighted Methods per Class (WMC)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400" dirty="0">
                <a:latin typeface="+mj-lt"/>
              </a:rPr>
              <a:t>  Depth of Inheritance Tree (DIT)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400" dirty="0">
                <a:latin typeface="+mj-lt"/>
              </a:rPr>
              <a:t>  Number of Children (NOC)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400" dirty="0">
                <a:latin typeface="+mj-lt"/>
              </a:rPr>
              <a:t>  Coupling between Classes (CBC)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400" dirty="0">
                <a:latin typeface="+mj-lt"/>
              </a:rPr>
              <a:t>  Lack of Cohesion in Methods (LCOM)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2400" dirty="0">
                <a:latin typeface="+mj-lt"/>
              </a:rPr>
              <a:t>  COCOMO</a:t>
            </a:r>
          </a:p>
          <a:p>
            <a:endParaRPr lang="en-GB" sz="2400" dirty="0">
              <a:latin typeface="Bell MT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B91CBE-9005-4219-8BE4-08B630018FAA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FD2D59F-7AB7-40AD-8355-61F320439EF4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5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D77A0B02-8C53-49A3-A033-2DEA656DA013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7" name="Rectangle 6" descr="M. Mhahudul Hasan">
            <a:extLst>
              <a:ext uri="{FF2B5EF4-FFF2-40B4-BE49-F238E27FC236}">
                <a16:creationId xmlns:a16="http://schemas.microsoft.com/office/drawing/2014/main" id="{5743B4A3-081B-4BC5-AC90-56B2DA952E87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280D3F3A-1060-4549-9B67-7405C2D5EA5B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66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3458" y="598437"/>
            <a:ext cx="11029950" cy="56668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Book Antiqua" pitchFamily="18" charset="0"/>
              </a:rPr>
              <a:t>Software metrics : complexity</a:t>
            </a:r>
            <a:endParaRPr lang="en-US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16193" y="1339953"/>
            <a:ext cx="11220450" cy="3265488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en-US" sz="2200" dirty="0"/>
              <a:t>One of the major problems that software maintainers face is dealing with the increasing complexity of the source code that they have to modify (</a:t>
            </a:r>
            <a:r>
              <a:rPr lang="en-US" altLang="en-US" sz="2200" dirty="0" err="1"/>
              <a:t>Cyclomatic</a:t>
            </a:r>
            <a:r>
              <a:rPr lang="en-US" altLang="en-US" sz="2200" dirty="0"/>
              <a:t> code complexity).</a:t>
            </a:r>
          </a:p>
          <a:p>
            <a:pPr>
              <a:spcBef>
                <a:spcPct val="0"/>
              </a:spcBef>
            </a:pPr>
            <a:r>
              <a:rPr lang="en-US" altLang="en-US" sz="2200" dirty="0">
                <a:latin typeface="+mj-lt"/>
              </a:rPr>
              <a:t>Includes program structure, semantic content, control flow, data flow, and algorithmic complexity.</a:t>
            </a:r>
          </a:p>
          <a:p>
            <a:pPr>
              <a:spcBef>
                <a:spcPct val="0"/>
              </a:spcBef>
            </a:pPr>
            <a:r>
              <a:rPr lang="en-US" altLang="en-US" sz="2200" dirty="0">
                <a:latin typeface="+mj-lt"/>
              </a:rPr>
              <a:t>The more complex a program is, the more likely it is for the maintainer to make an error when implementing a change.</a:t>
            </a:r>
          </a:p>
          <a:p>
            <a:pPr>
              <a:spcBef>
                <a:spcPct val="0"/>
              </a:spcBef>
            </a:pPr>
            <a:r>
              <a:rPr lang="en-US" altLang="en-US" sz="2200" dirty="0">
                <a:latin typeface="+mj-lt"/>
              </a:rPr>
              <a:t>The higher the complexity value, the more difficult it is to understand the program, hence making it less maintainable.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3CA7A9-9E8D-4EB9-9F66-294386252E54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B15BF59-61F4-4CC0-BECA-BF8DB9E57FDF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6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E2DAD03E-7F2B-4305-8946-DF33BF335211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7" name="Rectangle 6" descr="M. Mhahudul Hasan">
            <a:extLst>
              <a:ext uri="{FF2B5EF4-FFF2-40B4-BE49-F238E27FC236}">
                <a16:creationId xmlns:a16="http://schemas.microsoft.com/office/drawing/2014/main" id="{11D4487A-1288-4622-9E69-E7BC0DE2EA9E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9BDE5082-81AF-4B5E-8A66-794898B22F36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71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45691" y="1312966"/>
            <a:ext cx="11220450" cy="1701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McCabe views a program as a directed graph in which lines of program statements are represented by nodes and the flow of control between the statements is represented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by the edges. </a:t>
            </a:r>
          </a:p>
          <a:p>
            <a:pPr marL="0" indent="0">
              <a:buNone/>
            </a:pPr>
            <a:r>
              <a:rPr lang="en-US" altLang="en-US" sz="2000" dirty="0">
                <a:latin typeface="Bell MT" pitchFamily="18" charset="0"/>
              </a:rPr>
              <a:t>       </a:t>
            </a:r>
            <a:endParaRPr lang="en-GB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96270" y="2741514"/>
            <a:ext cx="9166668" cy="3376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01276FE-B003-48A2-9DB2-D3EE84439E82}"/>
              </a:ext>
            </a:extLst>
          </p:cNvPr>
          <p:cNvSpPr txBox="1">
            <a:spLocks/>
          </p:cNvSpPr>
          <p:nvPr/>
        </p:nvSpPr>
        <p:spPr>
          <a:xfrm>
            <a:off x="486697" y="554191"/>
            <a:ext cx="11029950" cy="6551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en-US" b="1">
                <a:solidFill>
                  <a:srgbClr val="0070C0"/>
                </a:solidFill>
                <a:latin typeface="Bell MT" pitchFamily="18" charset="0"/>
              </a:rPr>
              <a:t>McCabe's Cyclomatic Complexity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D80F7AC-DE53-4AE2-972F-25CD032A5213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BD10F56-2B10-4B22-99BF-290D9694D287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7</a:t>
            </a:fld>
            <a:r>
              <a:rPr lang="en-US" sz="1400" b="1" dirty="0"/>
              <a:t> </a:t>
            </a:r>
          </a:p>
        </p:txBody>
      </p:sp>
      <p:sp>
        <p:nvSpPr>
          <p:cNvPr id="7" name="Rectangle 6" descr="M. Mhahudul Hasan">
            <a:extLst>
              <a:ext uri="{FF2B5EF4-FFF2-40B4-BE49-F238E27FC236}">
                <a16:creationId xmlns:a16="http://schemas.microsoft.com/office/drawing/2014/main" id="{576ACF67-6677-41CF-AC7C-72BD96E6BB8A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8" name="Rectangle 7" descr="M. Mhahudul Hasan">
            <a:extLst>
              <a:ext uri="{FF2B5EF4-FFF2-40B4-BE49-F238E27FC236}">
                <a16:creationId xmlns:a16="http://schemas.microsoft.com/office/drawing/2014/main" id="{5CA2EF3C-E22A-42F6-8121-A2AEA396A822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EFBB69B2-2244-4C48-A502-0399A86446CA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3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09716" y="568940"/>
            <a:ext cx="11029950" cy="53719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Independent  program 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260872" y="1336368"/>
            <a:ext cx="6724650" cy="4699000"/>
          </a:xfrm>
        </p:spPr>
        <p:txBody>
          <a:bodyPr>
            <a:noAutofit/>
          </a:bodyPr>
          <a:lstStyle/>
          <a:p>
            <a:pPr marL="0" indent="0">
              <a:buFont typeface="Wingdings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Path 1: </a:t>
            </a:r>
            <a:r>
              <a:rPr lang="en-US" sz="2000" dirty="0"/>
              <a:t>1-11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Path 2: </a:t>
            </a:r>
            <a:r>
              <a:rPr lang="en-US" sz="2000" dirty="0"/>
              <a:t>1-2-3-4-5-10-1-11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Path 3: </a:t>
            </a:r>
            <a:r>
              <a:rPr lang="en-US" sz="2000" dirty="0"/>
              <a:t>1-2-3-6-8-9-10-1-11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Path 4: </a:t>
            </a:r>
            <a:r>
              <a:rPr lang="en-US" sz="2000" dirty="0"/>
              <a:t>1-2-3-6-7-9-10-1-11</a:t>
            </a:r>
          </a:p>
          <a:p>
            <a:pPr>
              <a:buFont typeface="Wingdings" charset="2"/>
              <a:buChar char="n"/>
              <a:defRPr/>
            </a:pPr>
            <a:r>
              <a:rPr lang="en-US" sz="2000" dirty="0"/>
              <a:t>Note that each new path introduces a new edge. </a:t>
            </a:r>
            <a:br>
              <a:rPr lang="en-US" sz="2000" dirty="0"/>
            </a:br>
            <a:r>
              <a:rPr lang="en-US" sz="2000" dirty="0"/>
              <a:t>The path 1-2-3-4-5-10-1-2-3-6-8-9-10-1-11 is not considered to be an independent path because it is simply a combination of already specified paths and does not traverse any new edges.</a:t>
            </a:r>
          </a:p>
          <a:p>
            <a:pPr>
              <a:buFont typeface="Wingdings" charset="2"/>
              <a:buChar char="n"/>
              <a:defRPr/>
            </a:pPr>
            <a:r>
              <a:rPr lang="en-US" sz="2000" dirty="0"/>
              <a:t>How do you know how many paths to look for?</a:t>
            </a:r>
            <a:br>
              <a:rPr lang="en-US" sz="2000" dirty="0"/>
            </a:br>
            <a:r>
              <a:rPr lang="en-US" sz="2000" dirty="0"/>
              <a:t>The computation of </a:t>
            </a:r>
            <a:r>
              <a:rPr lang="en-US" sz="2000" b="1" dirty="0" err="1"/>
              <a:t>cyclomatic</a:t>
            </a:r>
            <a:r>
              <a:rPr lang="en-US" sz="2000" b="1" dirty="0"/>
              <a:t> complexity</a:t>
            </a:r>
            <a:r>
              <a:rPr lang="en-US" sz="2000" dirty="0"/>
              <a:t> provides the answer.</a:t>
            </a:r>
            <a:endParaRPr lang="en-US" sz="2000" dirty="0">
              <a:ea typeface="ＭＳ Ｐゴシック" pitchFamily="34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2329" y="1949450"/>
            <a:ext cx="5024438" cy="399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ADEF7E-F68D-4818-AF7C-9421553495C5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0B209D56-C634-48E5-AFAE-3139FDAFDEDB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8</a:t>
            </a:fld>
            <a:r>
              <a:rPr lang="en-US" sz="1400" b="1" dirty="0"/>
              <a:t> </a:t>
            </a:r>
          </a:p>
        </p:txBody>
      </p:sp>
      <p:sp>
        <p:nvSpPr>
          <p:cNvPr id="7" name="Rectangle 6" descr="M. Mhahudul Hasan">
            <a:extLst>
              <a:ext uri="{FF2B5EF4-FFF2-40B4-BE49-F238E27FC236}">
                <a16:creationId xmlns:a16="http://schemas.microsoft.com/office/drawing/2014/main" id="{81F40FF0-9C64-40DD-A6FF-F2FEBAD7ACE4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D4A329D9-DB93-4667-92C0-BC4B949A2B60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A6142C8A-CB7A-41A1-BDA2-04F01251C29B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201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45691" y="1427572"/>
            <a:ext cx="11176000" cy="49584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 err="1">
                <a:ea typeface="ＭＳ Ｐゴシック" pitchFamily="34" charset="-128"/>
              </a:rPr>
              <a:t>Cyclomatic</a:t>
            </a:r>
            <a:r>
              <a:rPr lang="en-US" sz="2200" dirty="0">
                <a:ea typeface="ＭＳ Ｐゴシック" pitchFamily="34" charset="-128"/>
              </a:rPr>
              <a:t> complexity is a software metric that provides a quantitative measure of the logical complexity of a program. Complexity is computed in one of four ways:</a:t>
            </a:r>
          </a:p>
          <a:p>
            <a:pPr>
              <a:buFont typeface="Helvetica" charset="0"/>
              <a:buAutoNum type="arabicPeriod"/>
            </a:pPr>
            <a:r>
              <a:rPr lang="en-US" sz="2200" dirty="0">
                <a:ea typeface="ＭＳ Ｐゴシック" pitchFamily="34" charset="-128"/>
              </a:rPr>
              <a:t>The number of independent path.</a:t>
            </a:r>
          </a:p>
          <a:p>
            <a:pPr>
              <a:buFont typeface="Helvetica" charset="0"/>
              <a:buAutoNum type="arabicPeriod"/>
            </a:pPr>
            <a:r>
              <a:rPr lang="en-US" sz="2200" dirty="0">
                <a:ea typeface="ＭＳ Ｐゴシック" pitchFamily="34" charset="-128"/>
              </a:rPr>
              <a:t>The number of regions of the flow graph corresponds to the </a:t>
            </a:r>
            <a:r>
              <a:rPr lang="en-US" sz="2200" dirty="0" err="1">
                <a:ea typeface="ＭＳ Ｐゴシック" pitchFamily="34" charset="-128"/>
              </a:rPr>
              <a:t>cyclomatic</a:t>
            </a:r>
            <a:r>
              <a:rPr lang="en-US" sz="2200" dirty="0">
                <a:ea typeface="ＭＳ Ｐゴシック" pitchFamily="34" charset="-128"/>
              </a:rPr>
              <a:t> complexity. </a:t>
            </a:r>
            <a:br>
              <a:rPr lang="en-US" sz="2200" dirty="0">
                <a:ea typeface="ＭＳ Ｐゴシック" pitchFamily="34" charset="-128"/>
              </a:rPr>
            </a:br>
            <a:r>
              <a:rPr lang="en-US" sz="2200" dirty="0">
                <a:ea typeface="ＭＳ Ｐゴシック" pitchFamily="34" charset="-128"/>
              </a:rPr>
              <a:t>(in the previous example = 4)</a:t>
            </a:r>
          </a:p>
          <a:p>
            <a:pPr>
              <a:buFont typeface="Helvetica" charset="0"/>
              <a:buAutoNum type="arabicPeriod"/>
            </a:pPr>
            <a:r>
              <a:rPr lang="en-US" sz="2200" dirty="0" err="1">
                <a:ea typeface="ＭＳ Ｐゴシック" pitchFamily="34" charset="-128"/>
              </a:rPr>
              <a:t>Cyclomatic</a:t>
            </a:r>
            <a:r>
              <a:rPr lang="en-US" sz="2200" dirty="0">
                <a:ea typeface="ＭＳ Ｐゴシック" pitchFamily="34" charset="-128"/>
              </a:rPr>
              <a:t> complexity </a:t>
            </a:r>
            <a:r>
              <a:rPr lang="en-US" sz="2200" i="1" dirty="0">
                <a:ea typeface="ＭＳ Ｐゴシック" pitchFamily="34" charset="-128"/>
              </a:rPr>
              <a:t>V</a:t>
            </a:r>
            <a:r>
              <a:rPr lang="en-US" sz="2200" dirty="0">
                <a:ea typeface="ＭＳ Ｐゴシック" pitchFamily="34" charset="-128"/>
              </a:rPr>
              <a:t>(</a:t>
            </a:r>
            <a:r>
              <a:rPr lang="en-US" sz="2200" i="1" dirty="0">
                <a:ea typeface="ＭＳ Ｐゴシック" pitchFamily="34" charset="-128"/>
              </a:rPr>
              <a:t>G</a:t>
            </a:r>
            <a:r>
              <a:rPr lang="en-US" sz="2200" dirty="0">
                <a:ea typeface="ＭＳ Ｐゴシック" pitchFamily="34" charset="-128"/>
              </a:rPr>
              <a:t>) for a flow graph </a:t>
            </a:r>
            <a:r>
              <a:rPr lang="en-US" sz="2200" i="1" dirty="0">
                <a:ea typeface="ＭＳ Ｐゴシック" pitchFamily="34" charset="-128"/>
              </a:rPr>
              <a:t>G </a:t>
            </a:r>
            <a:r>
              <a:rPr lang="en-US" sz="2200" dirty="0">
                <a:ea typeface="ＭＳ Ｐゴシック" pitchFamily="34" charset="-128"/>
              </a:rPr>
              <a:t>is defined as </a:t>
            </a:r>
            <a:r>
              <a:rPr lang="en-US" sz="2200" i="1" dirty="0">
                <a:ea typeface="ＭＳ Ｐゴシック" pitchFamily="34" charset="-128"/>
              </a:rPr>
              <a:t>V</a:t>
            </a:r>
            <a:r>
              <a:rPr lang="en-US" sz="2200" dirty="0">
                <a:ea typeface="ＭＳ Ｐゴシック" pitchFamily="34" charset="-128"/>
              </a:rPr>
              <a:t>(</a:t>
            </a:r>
            <a:r>
              <a:rPr lang="en-US" sz="2200" i="1" dirty="0">
                <a:ea typeface="ＭＳ Ｐゴシック" pitchFamily="34" charset="-128"/>
              </a:rPr>
              <a:t>G</a:t>
            </a:r>
            <a:r>
              <a:rPr lang="en-US" sz="2200" dirty="0">
                <a:ea typeface="ＭＳ Ｐゴシック" pitchFamily="34" charset="-128"/>
              </a:rPr>
              <a:t>) = </a:t>
            </a:r>
            <a:r>
              <a:rPr lang="en-US" sz="2200" i="1" dirty="0">
                <a:ea typeface="ＭＳ Ｐゴシック" pitchFamily="34" charset="-128"/>
              </a:rPr>
              <a:t>E  -</a:t>
            </a:r>
            <a:r>
              <a:rPr lang="en-US" sz="2200" dirty="0">
                <a:ea typeface="ＭＳ Ｐゴシック" pitchFamily="34" charset="-128"/>
              </a:rPr>
              <a:t> </a:t>
            </a:r>
            <a:r>
              <a:rPr lang="en-US" sz="2200" i="1" dirty="0">
                <a:ea typeface="ＭＳ Ｐゴシック" pitchFamily="34" charset="-128"/>
              </a:rPr>
              <a:t>N +</a:t>
            </a:r>
            <a:r>
              <a:rPr lang="en-US" sz="2200" dirty="0">
                <a:ea typeface="ＭＳ Ｐゴシック" pitchFamily="34" charset="-128"/>
              </a:rPr>
              <a:t> 2</a:t>
            </a:r>
            <a:br>
              <a:rPr lang="en-US" sz="2200" dirty="0">
                <a:ea typeface="ＭＳ Ｐゴシック" pitchFamily="34" charset="-128"/>
              </a:rPr>
            </a:br>
            <a:r>
              <a:rPr lang="en-US" sz="2200" dirty="0">
                <a:ea typeface="ＭＳ Ｐゴシック" pitchFamily="34" charset="-128"/>
              </a:rPr>
              <a:t> (in the previous example 11 -9 + 2 =  4)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where </a:t>
            </a:r>
            <a:r>
              <a:rPr lang="en-US" sz="2200" i="1" dirty="0">
                <a:ea typeface="ＭＳ Ｐゴシック" pitchFamily="34" charset="-128"/>
              </a:rPr>
              <a:t>E </a:t>
            </a:r>
            <a:r>
              <a:rPr lang="en-US" sz="2200" dirty="0">
                <a:ea typeface="ＭＳ Ｐゴシック" pitchFamily="34" charset="-128"/>
              </a:rPr>
              <a:t>is the number of flow graph edges and </a:t>
            </a:r>
            <a:r>
              <a:rPr lang="en-US" sz="2200" i="1" dirty="0">
                <a:ea typeface="ＭＳ Ｐゴシック" pitchFamily="34" charset="-128"/>
              </a:rPr>
              <a:t>N </a:t>
            </a:r>
            <a:r>
              <a:rPr lang="en-US" sz="2200" dirty="0">
                <a:ea typeface="ＭＳ Ｐゴシック" pitchFamily="34" charset="-128"/>
              </a:rPr>
              <a:t>is the number of flow graph nodes.</a:t>
            </a:r>
          </a:p>
          <a:p>
            <a:pPr>
              <a:buFont typeface="Helvetica" charset="0"/>
              <a:buAutoNum type="arabicPeriod"/>
            </a:pPr>
            <a:r>
              <a:rPr lang="en-US" sz="2200" dirty="0" err="1">
                <a:ea typeface="ＭＳ Ｐゴシック" pitchFamily="34" charset="-128"/>
              </a:rPr>
              <a:t>Cyclomatic</a:t>
            </a:r>
            <a:r>
              <a:rPr lang="en-US" sz="2200" dirty="0">
                <a:ea typeface="ＭＳ Ｐゴシック" pitchFamily="34" charset="-128"/>
              </a:rPr>
              <a:t> complexity </a:t>
            </a:r>
            <a:r>
              <a:rPr lang="en-US" sz="2200" i="1" dirty="0">
                <a:ea typeface="ＭＳ Ｐゴシック" pitchFamily="34" charset="-128"/>
              </a:rPr>
              <a:t>V</a:t>
            </a:r>
            <a:r>
              <a:rPr lang="en-US" sz="2200" dirty="0">
                <a:ea typeface="ＭＳ Ｐゴシック" pitchFamily="34" charset="-128"/>
              </a:rPr>
              <a:t>(</a:t>
            </a:r>
            <a:r>
              <a:rPr lang="en-US" sz="2200" i="1" dirty="0">
                <a:ea typeface="ＭＳ Ｐゴシック" pitchFamily="34" charset="-128"/>
              </a:rPr>
              <a:t>G</a:t>
            </a:r>
            <a:r>
              <a:rPr lang="en-US" sz="2200" dirty="0">
                <a:ea typeface="ＭＳ Ｐゴシック" pitchFamily="34" charset="-128"/>
              </a:rPr>
              <a:t>) for a flow graph </a:t>
            </a:r>
            <a:r>
              <a:rPr lang="en-US" sz="2200" i="1" dirty="0">
                <a:ea typeface="ＭＳ Ｐゴシック" pitchFamily="34" charset="-128"/>
              </a:rPr>
              <a:t>G </a:t>
            </a:r>
            <a:r>
              <a:rPr lang="en-US" sz="2200" dirty="0">
                <a:ea typeface="ＭＳ Ｐゴシック" pitchFamily="34" charset="-128"/>
              </a:rPr>
              <a:t>is also defined as </a:t>
            </a:r>
            <a:r>
              <a:rPr lang="en-US" sz="2200" i="1" dirty="0">
                <a:ea typeface="ＭＳ Ｐゴシック" pitchFamily="34" charset="-128"/>
              </a:rPr>
              <a:t>V</a:t>
            </a:r>
            <a:r>
              <a:rPr lang="en-US" sz="2200" dirty="0">
                <a:ea typeface="ＭＳ Ｐゴシック" pitchFamily="34" charset="-128"/>
              </a:rPr>
              <a:t>(</a:t>
            </a:r>
            <a:r>
              <a:rPr lang="en-US" sz="2200" i="1" dirty="0">
                <a:ea typeface="ＭＳ Ｐゴシック" pitchFamily="34" charset="-128"/>
              </a:rPr>
              <a:t>G</a:t>
            </a:r>
            <a:r>
              <a:rPr lang="en-US" sz="2200" dirty="0">
                <a:ea typeface="ＭＳ Ｐゴシック" pitchFamily="34" charset="-128"/>
              </a:rPr>
              <a:t>) =  </a:t>
            </a:r>
            <a:r>
              <a:rPr lang="en-US" sz="2200" i="1" dirty="0">
                <a:ea typeface="ＭＳ Ｐゴシック" pitchFamily="34" charset="-128"/>
              </a:rPr>
              <a:t>P </a:t>
            </a:r>
            <a:r>
              <a:rPr lang="en-US" sz="2200" dirty="0">
                <a:ea typeface="ＭＳ Ｐゴシック" pitchFamily="34" charset="-128"/>
              </a:rPr>
              <a:t>+ 1</a:t>
            </a:r>
            <a:br>
              <a:rPr lang="en-US" sz="2200" dirty="0">
                <a:ea typeface="ＭＳ Ｐゴシック" pitchFamily="34" charset="-128"/>
              </a:rPr>
            </a:br>
            <a:r>
              <a:rPr lang="en-US" sz="2200" dirty="0">
                <a:ea typeface="ＭＳ Ｐゴシック" pitchFamily="34" charset="-128"/>
              </a:rPr>
              <a:t>(in the previous example 3 + 1 = 4)   [condition: 1 - 2,3 - 6]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where </a:t>
            </a:r>
            <a:r>
              <a:rPr lang="en-US" sz="2200" i="1" dirty="0">
                <a:ea typeface="ＭＳ Ｐゴシック" pitchFamily="34" charset="-128"/>
              </a:rPr>
              <a:t>P </a:t>
            </a:r>
            <a:r>
              <a:rPr lang="en-US" sz="2200" dirty="0">
                <a:ea typeface="ＭＳ Ｐゴシック" pitchFamily="34" charset="-128"/>
              </a:rPr>
              <a:t>is the number of predicate nodes (containing a condition)</a:t>
            </a:r>
            <a:r>
              <a:rPr lang="en-US" sz="2200" dirty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sz="2200" dirty="0">
                <a:ea typeface="ＭＳ Ｐゴシック" pitchFamily="34" charset="-128"/>
              </a:rPr>
              <a:t>contained in the flow graph </a:t>
            </a:r>
            <a:r>
              <a:rPr lang="en-US" sz="2200" i="1" dirty="0">
                <a:ea typeface="ＭＳ Ｐゴシック" pitchFamily="34" charset="-128"/>
              </a:rPr>
              <a:t>G.</a:t>
            </a:r>
            <a:endParaRPr lang="en-US" sz="2200" dirty="0">
              <a:ea typeface="ＭＳ Ｐゴシック" pitchFamily="34" charset="-128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F7424CD-DFBD-459A-8957-216C886B3009}"/>
              </a:ext>
            </a:extLst>
          </p:cNvPr>
          <p:cNvSpPr txBox="1">
            <a:spLocks/>
          </p:cNvSpPr>
          <p:nvPr/>
        </p:nvSpPr>
        <p:spPr>
          <a:xfrm>
            <a:off x="486697" y="554191"/>
            <a:ext cx="11029950" cy="6551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en-US" b="1">
                <a:solidFill>
                  <a:srgbClr val="0070C0"/>
                </a:solidFill>
                <a:latin typeface="Bell MT" pitchFamily="18" charset="0"/>
              </a:rPr>
              <a:t>McCabe's Cyclomatic Complexity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D375DE5-1D51-4B47-9F97-4D23EB658F9C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F27F381-48C8-47F1-9209-7EEF8CEF4D0A}"/>
              </a:ext>
            </a:extLst>
          </p:cNvPr>
          <p:cNvSpPr txBox="1">
            <a:spLocks/>
          </p:cNvSpPr>
          <p:nvPr/>
        </p:nvSpPr>
        <p:spPr>
          <a:xfrm rot="5400000">
            <a:off x="11734800" y="250722"/>
            <a:ext cx="191729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9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6B78C790-D52D-4642-B6BF-B3631BD22DE7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7" name="Rectangle 6" descr="M. Mhahudul Hasan">
            <a:extLst>
              <a:ext uri="{FF2B5EF4-FFF2-40B4-BE49-F238E27FC236}">
                <a16:creationId xmlns:a16="http://schemas.microsoft.com/office/drawing/2014/main" id="{72A2DFD1-7739-4DED-8723-697B1F8713D7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4C03070A-2FB5-44C7-A4F5-3179F9B6C0AF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291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2955" y="554191"/>
            <a:ext cx="11029950" cy="522441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McCabe's </a:t>
            </a:r>
            <a:r>
              <a:rPr lang="en-US" altLang="en-US" b="1" dirty="0" err="1">
                <a:solidFill>
                  <a:srgbClr val="0070C0"/>
                </a:solidFill>
                <a:latin typeface="Bell MT" pitchFamily="18" charset="0"/>
              </a:rPr>
              <a:t>Cyclomatic</a:t>
            </a:r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 Complexity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27703" y="1504694"/>
            <a:ext cx="11220450" cy="372745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Used as an indicator of the psychological complexity of a program.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During maintenance, a program with a very high </a:t>
            </a:r>
            <a:r>
              <a:rPr lang="en-US" altLang="en-US" sz="2200" dirty="0" err="1">
                <a:latin typeface="+mj-lt"/>
              </a:rPr>
              <a:t>cyclomatic</a:t>
            </a:r>
            <a:r>
              <a:rPr lang="en-US" altLang="en-US" sz="2200" dirty="0">
                <a:latin typeface="+mj-lt"/>
              </a:rPr>
              <a:t> number (usually above 10) is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considered to be very complex.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It helps to identify highly complex programs that may need to be modified in order to reduce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complexity.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The </a:t>
            </a:r>
            <a:r>
              <a:rPr lang="en-US" altLang="en-US" sz="2200" dirty="0" err="1">
                <a:latin typeface="+mj-lt"/>
              </a:rPr>
              <a:t>cyclomatic</a:t>
            </a:r>
            <a:r>
              <a:rPr lang="en-US" altLang="en-US" sz="2200" dirty="0">
                <a:latin typeface="+mj-lt"/>
              </a:rPr>
              <a:t> number can be used as an estimate of the amount of time required to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understand and modify a program.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The flow graph generated can be used to identify the possible test paths during testing.</a:t>
            </a:r>
            <a:endParaRPr lang="en-GB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674831-7C3E-4AE9-877C-03855B031B0A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80A5FCE-89C4-4823-AD6F-6F494897832D}"/>
              </a:ext>
            </a:extLst>
          </p:cNvPr>
          <p:cNvSpPr txBox="1">
            <a:spLocks/>
          </p:cNvSpPr>
          <p:nvPr/>
        </p:nvSpPr>
        <p:spPr>
          <a:xfrm rot="5400000">
            <a:off x="11889657" y="140111"/>
            <a:ext cx="117988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 S.</a:t>
            </a:r>
            <a:fld id="{D57F1E4F-1CFF-5643-939E-217C01CDF565}" type="slidenum">
              <a:rPr lang="en-US" sz="1400" b="1" smtClean="0"/>
              <a:pPr/>
              <a:t>10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5291EAB8-12F7-4D3D-9203-742B50872CC5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7" name="Rectangle 6" descr="M. Mhahudul Hasan">
            <a:extLst>
              <a:ext uri="{FF2B5EF4-FFF2-40B4-BE49-F238E27FC236}">
                <a16:creationId xmlns:a16="http://schemas.microsoft.com/office/drawing/2014/main" id="{15955873-3545-4984-B49F-25E31EFB6F6F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9B8F8CC9-8D39-49BD-9ADD-D0B120AF5624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0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86697" y="554191"/>
            <a:ext cx="11029950" cy="655177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McCabe's </a:t>
            </a:r>
            <a:r>
              <a:rPr lang="en-US" altLang="en-US" b="1" dirty="0" err="1">
                <a:solidFill>
                  <a:srgbClr val="0070C0"/>
                </a:solidFill>
                <a:latin typeface="Bell MT" pitchFamily="18" charset="0"/>
              </a:rPr>
              <a:t>Cyclomatic</a:t>
            </a:r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 Complexity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678426" y="1548940"/>
            <a:ext cx="11220450" cy="129698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It takes no account of the complexity of the conditions in a program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In its original form, it failed to take account of the degree of nesting in a program.</a:t>
            </a:r>
            <a:endParaRPr lang="en-GB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GB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773944"/>
              </p:ext>
            </p:extLst>
          </p:nvPr>
        </p:nvGraphicFramePr>
        <p:xfrm>
          <a:off x="723847" y="2891247"/>
          <a:ext cx="10774785" cy="3020568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5217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7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7659">
                <a:tc>
                  <a:txBody>
                    <a:bodyPr/>
                    <a:lstStyle/>
                    <a:p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ell MT" pitchFamily="18" charset="0"/>
                        </a:rPr>
                        <a:t>Cyclomatic complexity</a:t>
                      </a:r>
                    </a:p>
                    <a:p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ell MT" pitchFamily="18" charset="0"/>
                        </a:rPr>
                        <a:t>Threshold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Bell MT" pitchFamily="18" charset="0"/>
                        </a:rPr>
                        <a:t>Risk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itchFamily="18" charset="0"/>
                        </a:rPr>
                        <a:t>     01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Bell MT" pitchFamily="18" charset="0"/>
                          <a:ea typeface="+mn-ea"/>
                          <a:cs typeface="+mn-cs"/>
                        </a:rPr>
                        <a:t>Simple Program, without much risk</a:t>
                      </a:r>
                      <a:r>
                        <a:rPr lang="en-US" sz="2400" b="0" dirty="0">
                          <a:latin typeface="Bell MT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itchFamily="18" charset="0"/>
                        </a:rPr>
                        <a:t>     11 –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Bell MT" pitchFamily="18" charset="0"/>
                          <a:ea typeface="+mn-ea"/>
                          <a:cs typeface="+mn-cs"/>
                        </a:rPr>
                        <a:t>More complex program, moderate risk</a:t>
                      </a:r>
                      <a:r>
                        <a:rPr lang="en-US" sz="2400" b="0" dirty="0">
                          <a:latin typeface="Bell MT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itchFamily="18" charset="0"/>
                        </a:rPr>
                        <a:t>     21 –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Bell MT" pitchFamily="18" charset="0"/>
                          <a:ea typeface="+mn-ea"/>
                          <a:cs typeface="+mn-cs"/>
                        </a:rPr>
                        <a:t>Complex program, high risk</a:t>
                      </a:r>
                      <a:r>
                        <a:rPr lang="en-US" sz="2400" b="0" dirty="0">
                          <a:latin typeface="Bell MT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40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itchFamily="18" charset="0"/>
                          <a:sym typeface="Symbol"/>
                        </a:rPr>
                        <a:t>      50</a:t>
                      </a:r>
                      <a:endParaRPr lang="en-US" sz="2400" dirty="0">
                        <a:latin typeface="Bell MT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Bell MT" pitchFamily="18" charset="0"/>
                          <a:ea typeface="+mn-ea"/>
                          <a:cs typeface="+mn-cs"/>
                        </a:rPr>
                        <a:t>Un-testable program, very high risk</a:t>
                      </a:r>
                      <a:r>
                        <a:rPr lang="en-US" sz="2400" b="0" dirty="0">
                          <a:latin typeface="Bell MT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1F816D-1559-4541-A653-D9E6348D1C71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6FF61AED-3F53-4AA4-AD45-190D7E0AB9B3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11</a:t>
            </a:fld>
            <a:r>
              <a:rPr lang="en-US" sz="1400" b="1" dirty="0"/>
              <a:t> </a:t>
            </a:r>
          </a:p>
        </p:txBody>
      </p:sp>
      <p:sp>
        <p:nvSpPr>
          <p:cNvPr id="7" name="Rectangle 6" descr="M. Mhahudul Hasan">
            <a:extLst>
              <a:ext uri="{FF2B5EF4-FFF2-40B4-BE49-F238E27FC236}">
                <a16:creationId xmlns:a16="http://schemas.microsoft.com/office/drawing/2014/main" id="{876FE30F-27A7-44C0-97E3-C99470D43474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8" name="Rectangle 7" descr="M. Mhahudul Hasan">
            <a:extLst>
              <a:ext uri="{FF2B5EF4-FFF2-40B4-BE49-F238E27FC236}">
                <a16:creationId xmlns:a16="http://schemas.microsoft.com/office/drawing/2014/main" id="{ABF247E2-6549-49F0-9B2E-58EE034A373D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A8C5C33D-8CE3-493E-9AAB-57FA6DB31468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67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Bell MT" pitchFamily="18" charset="0"/>
              </a:rPr>
              <a:t>Weighted methods Per class (WMC)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85503" y="2021618"/>
            <a:ext cx="11220994" cy="372603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The effort in developing a class will in some sense will be determined by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the number of </a:t>
            </a:r>
            <a:br>
              <a:rPr lang="en-US" altLang="en-US" sz="2200" dirty="0">
                <a:solidFill>
                  <a:srgbClr val="0070C0"/>
                </a:solidFill>
                <a:latin typeface="+mj-lt"/>
              </a:rPr>
            </a:b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 methods the class has</a:t>
            </a:r>
            <a:r>
              <a:rPr lang="en-US" altLang="en-US" sz="2200" dirty="0">
                <a:latin typeface="+mj-lt"/>
              </a:rPr>
              <a:t> and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the complexity of the methods</a:t>
            </a:r>
            <a:r>
              <a:rPr lang="en-US" altLang="en-US" sz="2200" dirty="0">
                <a:latin typeface="+mj-lt"/>
              </a:rPr>
              <a:t>.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Suppose a class </a:t>
            </a:r>
            <a:r>
              <a:rPr lang="en-US" altLang="en-US" sz="2200" i="1" dirty="0">
                <a:latin typeface="+mj-lt"/>
              </a:rPr>
              <a:t>C </a:t>
            </a:r>
            <a:r>
              <a:rPr lang="en-US" altLang="en-US" sz="2200" dirty="0">
                <a:latin typeface="+mj-lt"/>
              </a:rPr>
              <a:t>has methods </a:t>
            </a:r>
            <a:r>
              <a:rPr lang="en-US" altLang="en-US" sz="2200" i="1" dirty="0">
                <a:latin typeface="+mj-lt"/>
              </a:rPr>
              <a:t>M1, M2..</a:t>
            </a:r>
            <a:r>
              <a:rPr lang="en-US" altLang="en-US" sz="2200" dirty="0">
                <a:latin typeface="+mj-lt"/>
              </a:rPr>
              <a:t>. </a:t>
            </a:r>
            <a:r>
              <a:rPr lang="en-US" altLang="en-US" sz="2200" i="1" dirty="0" err="1">
                <a:latin typeface="+mj-lt"/>
              </a:rPr>
              <a:t>Mn</a:t>
            </a:r>
            <a:r>
              <a:rPr lang="en-US" altLang="en-US" sz="2200" i="1" dirty="0">
                <a:latin typeface="+mj-lt"/>
              </a:rPr>
              <a:t> </a:t>
            </a:r>
            <a:r>
              <a:rPr lang="en-US" altLang="en-US" sz="2200" dirty="0">
                <a:latin typeface="+mj-lt"/>
              </a:rPr>
              <a:t>defined on it. Let the complexity of the method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i="1" dirty="0">
                <a:latin typeface="+mj-lt"/>
              </a:rPr>
              <a:t>M1 </a:t>
            </a:r>
            <a:r>
              <a:rPr lang="en-US" altLang="en-US" sz="2200" dirty="0">
                <a:latin typeface="+mj-lt"/>
              </a:rPr>
              <a:t>be </a:t>
            </a:r>
            <a:r>
              <a:rPr lang="en-US" altLang="en-US" sz="2200" i="1" dirty="0">
                <a:latin typeface="+mj-lt"/>
              </a:rPr>
              <a:t>c1, </a:t>
            </a:r>
            <a:r>
              <a:rPr lang="en-US" altLang="en-US" sz="2200" dirty="0">
                <a:latin typeface="+mj-lt"/>
              </a:rPr>
              <a:t>then </a:t>
            </a:r>
            <a:br>
              <a:rPr lang="en-US" altLang="en-US" sz="2200" dirty="0">
                <a:latin typeface="+mj-lt"/>
              </a:rPr>
            </a:br>
            <a:endParaRPr lang="en-US" altLang="en-US" sz="2200" dirty="0">
              <a:latin typeface="+mj-lt"/>
            </a:endParaRPr>
          </a:p>
          <a:p>
            <a:pPr marL="0" indent="0">
              <a:buNone/>
            </a:pPr>
            <a:r>
              <a:rPr lang="en-US" altLang="en-US" sz="2200" dirty="0">
                <a:latin typeface="+mj-lt"/>
              </a:rPr>
              <a:t>		        WMC = </a:t>
            </a:r>
            <a:br>
              <a:rPr lang="en-US" altLang="en-US" sz="2200" dirty="0">
                <a:latin typeface="+mj-lt"/>
              </a:rPr>
            </a:br>
            <a:endParaRPr lang="en-US" altLang="en-US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 If the complexity of each method is considered 1, WMC  will be (gives) the total number of</a:t>
            </a:r>
            <a:r>
              <a:rPr lang="en-US" altLang="en-US" sz="2200" i="1" dirty="0">
                <a:solidFill>
                  <a:srgbClr val="C00000"/>
                </a:solidFill>
                <a:latin typeface="+mj-lt"/>
              </a:rPr>
              <a:t> </a:t>
            </a:r>
            <a:br>
              <a:rPr lang="en-US" altLang="en-US" sz="2200" i="1" dirty="0">
                <a:solidFill>
                  <a:srgbClr val="C00000"/>
                </a:solidFill>
                <a:latin typeface="+mj-lt"/>
              </a:rPr>
            </a:br>
            <a:r>
              <a:rPr lang="en-US" altLang="en-US" sz="2200" i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methods in the class. 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3199221" y="3777003"/>
          <a:ext cx="1143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51" imgH="431613" progId="Equation.3">
                  <p:embed/>
                </p:oleObj>
              </mc:Choice>
              <mc:Fallback>
                <p:oleObj name="Equation" r:id="rId2" imgW="342751" imgH="431613" progId="Equation.3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9221" y="3777003"/>
                        <a:ext cx="11430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F536EE-CB62-43B2-A930-D61356E1A651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EDE18DB-81B4-470F-91D8-32A3D6830AB2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12</a:t>
            </a:fld>
            <a:r>
              <a:rPr lang="en-US" sz="1400" b="1" dirty="0"/>
              <a:t> </a:t>
            </a:r>
          </a:p>
        </p:txBody>
      </p:sp>
      <p:sp>
        <p:nvSpPr>
          <p:cNvPr id="7" name="Rectangle 6" descr="M. Mhahudul Hasan">
            <a:extLst>
              <a:ext uri="{FF2B5EF4-FFF2-40B4-BE49-F238E27FC236}">
                <a16:creationId xmlns:a16="http://schemas.microsoft.com/office/drawing/2014/main" id="{47AB4FF1-3428-4163-ADAD-663D74ABF5F6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248DAE41-90A3-425B-903D-ADBA7A51E1D0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B4722D33-DABE-4A5A-9C21-07EEA15C8758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0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Bell MT" pitchFamily="18" charset="0"/>
              </a:rPr>
              <a:t>Weighted methods Per class (WMC)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85503" y="2021618"/>
            <a:ext cx="11220994" cy="244587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The data based on evaluation of some existing programs, shows that in most cases, the classes 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tend to have only a small number of methods, implying that most classes are  simple and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provide some specific operations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WMC metric has a reasonable correlation with fault-proneness of a class. As can be expected,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the larger the WMC of a class the better the chances that the class is fault-prone</a:t>
            </a:r>
            <a:endParaRPr lang="en-GB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200" dirty="0">
              <a:solidFill>
                <a:srgbClr val="C00000"/>
              </a:solidFill>
              <a:latin typeface="+mj-lt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40526" y="4166711"/>
          <a:ext cx="10502537" cy="230743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433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8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380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Number of Complex Methods in a class</a:t>
                      </a:r>
                      <a:endParaRPr lang="en-US" sz="2200" b="1" dirty="0">
                        <a:latin typeface="+mj-lt"/>
                      </a:endParaRPr>
                    </a:p>
                  </a:txBody>
                  <a:tcPr marT="45711" marB="45711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Effect</a:t>
                      </a:r>
                      <a:endParaRPr lang="en-US" sz="2200" b="1" dirty="0">
                        <a:latin typeface="+mj-lt"/>
                      </a:endParaRPr>
                    </a:p>
                  </a:txBody>
                  <a:tcPr marT="45711" marB="45711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1028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High</a:t>
                      </a:r>
                    </a:p>
                  </a:txBody>
                  <a:tcPr marT="45711" marB="45711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+mj-lt"/>
                        </a:rPr>
                        <a:t>- Potentially</a:t>
                      </a:r>
                      <a:r>
                        <a:rPr lang="en-US" sz="2200" baseline="0" dirty="0">
                          <a:latin typeface="+mj-lt"/>
                        </a:rPr>
                        <a:t> </a:t>
                      </a:r>
                      <a:r>
                        <a:rPr lang="en-US" sz="2200" dirty="0">
                          <a:latin typeface="+mj-lt"/>
                        </a:rPr>
                        <a:t>Error</a:t>
                      </a:r>
                      <a:r>
                        <a:rPr lang="en-US" sz="2200" baseline="0" dirty="0">
                          <a:latin typeface="+mj-lt"/>
                        </a:rPr>
                        <a:t> Prone</a:t>
                      </a:r>
                    </a:p>
                    <a:p>
                      <a:pPr algn="l"/>
                      <a:r>
                        <a:rPr lang="en-US" sz="2200" baseline="0" dirty="0">
                          <a:latin typeface="+mj-lt"/>
                        </a:rPr>
                        <a:t>- Impact on the children of the class</a:t>
                      </a:r>
                    </a:p>
                    <a:p>
                      <a:pPr algn="l"/>
                      <a:r>
                        <a:rPr lang="en-US" sz="2200" baseline="0" dirty="0">
                          <a:latin typeface="+mj-lt"/>
                        </a:rPr>
                        <a:t>- Reusability decreases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marT="45711" marB="45711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60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Low</a:t>
                      </a:r>
                    </a:p>
                  </a:txBody>
                  <a:tcPr marT="45711" marB="45711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+mj-lt"/>
                        </a:rPr>
                        <a:t>- Reusability Increases</a:t>
                      </a:r>
                    </a:p>
                  </a:txBody>
                  <a:tcPr marT="45711" marB="45711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EABA73-30A0-4F3F-9035-C6542FB4371B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35E2998-FF7D-491F-9183-B837D21D93E1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13</a:t>
            </a:fld>
            <a:r>
              <a:rPr lang="en-US" sz="1400" b="1" dirty="0"/>
              <a:t> 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44B19B21-AAA7-45E7-B25A-679431592CD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C91642A9-5436-47A4-981F-C2E980B01B53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2" name="Rectangle 11" descr="M. Mhahudul Hasan">
            <a:extLst>
              <a:ext uri="{FF2B5EF4-FFF2-40B4-BE49-F238E27FC236}">
                <a16:creationId xmlns:a16="http://schemas.microsoft.com/office/drawing/2014/main" id="{2C538DF7-9A81-4DBF-81B9-78BA33A74B48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98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Bell MT" pitchFamily="18" charset="0"/>
              </a:rPr>
              <a:t>Depth of inheritance tree (DIT)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85503" y="2021619"/>
            <a:ext cx="11220994" cy="361226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/>
              <a:t>The DIT of a class </a:t>
            </a:r>
            <a:r>
              <a:rPr lang="en-US" altLang="en-US" sz="2200" i="1" dirty="0"/>
              <a:t>C </a:t>
            </a:r>
            <a:r>
              <a:rPr lang="en-US" altLang="en-US" sz="2200" dirty="0"/>
              <a:t>in an </a:t>
            </a:r>
            <a:r>
              <a:rPr lang="en-US" altLang="en-US" sz="2200" dirty="0">
                <a:solidFill>
                  <a:srgbClr val="0070C0"/>
                </a:solidFill>
              </a:rPr>
              <a:t>inheritance hierarchy </a:t>
            </a:r>
            <a:r>
              <a:rPr lang="en-US" altLang="en-US" sz="2200" dirty="0"/>
              <a:t>is the depth from the </a:t>
            </a:r>
            <a:r>
              <a:rPr lang="en-US" altLang="en-US" sz="2200" dirty="0">
                <a:solidFill>
                  <a:srgbClr val="0070C0"/>
                </a:solidFill>
              </a:rPr>
              <a:t>root class </a:t>
            </a:r>
            <a:r>
              <a:rPr lang="en-US" altLang="en-US" sz="2200" dirty="0"/>
              <a:t>in the </a:t>
            </a:r>
            <a:br>
              <a:rPr lang="en-US" altLang="en-US" sz="2200" dirty="0"/>
            </a:br>
            <a:r>
              <a:rPr lang="en-US" altLang="en-US" sz="2200" dirty="0"/>
              <a:t> inheritance tree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Also, one of the main mechanisms for </a:t>
            </a:r>
            <a:r>
              <a:rPr lang="en-US" altLang="en-US" sz="2200" b="1" dirty="0">
                <a:solidFill>
                  <a:srgbClr val="0070C0"/>
                </a:solidFill>
                <a:latin typeface="+mj-lt"/>
              </a:rPr>
              <a:t>reuse</a:t>
            </a:r>
            <a:endParaRPr lang="en-US" altLang="en-US" sz="2200" dirty="0">
              <a:solidFill>
                <a:srgbClr val="0070C0"/>
              </a:solidFill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The deeper a particular class is in a class hierarchy, the more methods it has available for  </a:t>
            </a:r>
            <a:br>
              <a:rPr lang="en-US" altLang="en-US" sz="2200" dirty="0">
                <a:solidFill>
                  <a:srgbClr val="7030A0"/>
                </a:solidFill>
                <a:latin typeface="+mj-lt"/>
              </a:rPr>
            </a:b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 reuse, thereby providing a larger reuse potential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Inheritance increases </a:t>
            </a:r>
            <a:r>
              <a:rPr lang="en-US" altLang="en-US" sz="2200" b="1" dirty="0">
                <a:solidFill>
                  <a:srgbClr val="C00000"/>
                </a:solidFill>
                <a:latin typeface="+mj-lt"/>
              </a:rPr>
              <a:t>coupling,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 which makes changing a class harder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A class deep in the hierarchy has a lot of methods it can inherit, which makes it difficult to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predict its behavior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0AC568-C7C1-442F-9411-197147529082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95DBD54-F39F-478E-B537-5AFD43784EB1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14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7F21029E-B88A-4DAE-97DC-B125FC4AEAF6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ACA60030-197A-4CFC-BB15-23A20468E0DD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116DB463-D583-481D-804B-3A03761B21BF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81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19315" y="542019"/>
            <a:ext cx="11029950" cy="662668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Depth of inheritance tree (DIT)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653143" y="1309688"/>
            <a:ext cx="11220450" cy="406717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It is the length of the path from the root of the tree to the node representing </a:t>
            </a:r>
            <a:r>
              <a:rPr lang="en-US" altLang="en-US" sz="2200" i="1" dirty="0">
                <a:solidFill>
                  <a:srgbClr val="7030A0"/>
                </a:solidFill>
                <a:latin typeface="+mj-lt"/>
              </a:rPr>
              <a:t>C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or </a:t>
            </a:r>
            <a:br>
              <a:rPr lang="en-US" altLang="en-US" sz="2200" dirty="0">
                <a:solidFill>
                  <a:srgbClr val="7030A0"/>
                </a:solidFill>
                <a:latin typeface="+mj-lt"/>
              </a:rPr>
            </a:b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 the number of ancestors </a:t>
            </a:r>
            <a:r>
              <a:rPr lang="en-US" altLang="en-US" sz="2200" i="1" dirty="0">
                <a:solidFill>
                  <a:srgbClr val="7030A0"/>
                </a:solidFill>
                <a:latin typeface="+mj-lt"/>
              </a:rPr>
              <a:t>C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has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In case of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multiple inheritance, the DIT metric is the maximum length from a root to C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Statistical data suggests that most classes in applications tend to be close to the root, with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the maximum DIT metric value being around 10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Most the classes have a DIT of 0 </a:t>
            </a:r>
            <a:r>
              <a:rPr lang="en-US" altLang="en-US" sz="2200" dirty="0">
                <a:latin typeface="+mj-lt"/>
              </a:rPr>
              <a:t>(that is, they are the root)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The designers </a:t>
            </a:r>
            <a:r>
              <a:rPr lang="en-US" altLang="en-US" sz="2200" dirty="0">
                <a:latin typeface="+mj-lt"/>
              </a:rPr>
              <a:t>tend to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keep</a:t>
            </a:r>
            <a:r>
              <a:rPr lang="en-US" altLang="en-US" sz="2200" dirty="0">
                <a:latin typeface="+mj-lt"/>
              </a:rPr>
              <a:t> the number of inheritance levels in the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inheritance tree small</a:t>
            </a:r>
            <a:r>
              <a:rPr lang="en-US" altLang="en-US" sz="2200" dirty="0">
                <a:latin typeface="+mj-lt"/>
              </a:rPr>
              <a:t>, 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presumably to aid understanding. In other words, designers might be 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giving upon reusability</a:t>
            </a:r>
            <a:br>
              <a:rPr lang="en-US" altLang="en-US" sz="2200" dirty="0">
                <a:solidFill>
                  <a:srgbClr val="C00000"/>
                </a:solidFill>
                <a:latin typeface="+mj-lt"/>
              </a:rPr>
            </a:b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 in favor of comprehensibility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3D7C4A-0386-406A-B779-96933BF9BD3C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FEB1398-6776-42B8-A47F-FC86FCAD15E8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15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EC0F8ACF-B4AA-416A-B8E6-BF3A5A2A269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9D01808F-5E9D-4714-A150-F6E7C20743AC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1A684E22-1AB6-401C-9C57-D53399A9D35D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70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19314" y="585562"/>
            <a:ext cx="11029950" cy="561068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Depth of inheritance tree (DIT)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49943" y="1382259"/>
            <a:ext cx="11220450" cy="127158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The experiments show that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DIT is very significant in predicting defect-proneness of a class</a:t>
            </a:r>
            <a:r>
              <a:rPr lang="en-US" altLang="en-US" sz="2200" dirty="0">
                <a:latin typeface="+mj-lt"/>
              </a:rPr>
              <a:t>: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the higher the DIT the higher is the probability that the class is defect-prone </a:t>
            </a:r>
          </a:p>
          <a:p>
            <a:pPr>
              <a:buFont typeface="Wingdings" pitchFamily="2" charset="2"/>
              <a:buChar char="q"/>
            </a:pPr>
            <a:endParaRPr lang="en-US" altLang="en-US" sz="2200" dirty="0">
              <a:latin typeface="+mj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485014"/>
              </p:ext>
            </p:extLst>
          </p:nvPr>
        </p:nvGraphicFramePr>
        <p:xfrm>
          <a:off x="712653" y="2692059"/>
          <a:ext cx="10345782" cy="246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9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954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/>
                        </a:rPr>
                        <a:t>Attribute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effectLst/>
                        </a:rPr>
                        <a:t>Increase ( </a:t>
                      </a:r>
                      <a:r>
                        <a:rPr lang="en-US" sz="2200" b="1" dirty="0">
                          <a:effectLst/>
                          <a:sym typeface="Symbol"/>
                        </a:rPr>
                        <a:t> ) / Decrease (  )</a:t>
                      </a:r>
                    </a:p>
                    <a:p>
                      <a:pPr algn="ctr"/>
                      <a:r>
                        <a:rPr lang="en-US" sz="2200" b="1" dirty="0">
                          <a:effectLst/>
                        </a:rPr>
                        <a:t>Along</a:t>
                      </a:r>
                      <a:r>
                        <a:rPr lang="en-US" sz="2200" b="1" baseline="0" dirty="0">
                          <a:effectLst/>
                        </a:rPr>
                        <a:t> with increasing DIT</a:t>
                      </a:r>
                      <a:endParaRPr lang="en-US" sz="2200" b="1" dirty="0">
                        <a:effectLst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7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effectLst/>
                        </a:rPr>
                        <a:t>Maintainability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effectLst/>
                          <a:sym typeface="Symbol"/>
                        </a:rPr>
                        <a:t></a:t>
                      </a:r>
                      <a:endParaRPr lang="en-US" sz="2200" b="1" dirty="0">
                        <a:effectLst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7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effectLst/>
                        </a:rPr>
                        <a:t>Portability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effectLst/>
                          <a:sym typeface="Symbol"/>
                        </a:rPr>
                        <a:t></a:t>
                      </a:r>
                      <a:endParaRPr lang="en-US" sz="2200" b="1" dirty="0">
                        <a:effectLst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7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effectLst/>
                        </a:rPr>
                        <a:t>Functionality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effectLst/>
                          <a:sym typeface="Symbol"/>
                        </a:rPr>
                        <a:t></a:t>
                      </a:r>
                      <a:endParaRPr lang="en-US" sz="2200" b="1" dirty="0">
                        <a:effectLst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7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effectLst/>
                        </a:rPr>
                        <a:t>Efficiency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effectLst/>
                          <a:sym typeface="Symbol"/>
                        </a:rPr>
                        <a:t></a:t>
                      </a:r>
                      <a:endParaRPr lang="en-US" sz="2200" b="1" dirty="0">
                        <a:effectLst/>
                      </a:endParaRP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3318A83-58F8-41AC-997F-B2376203D63E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1C81E6B-1F16-49EB-8D9F-02BE25906B75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16</a:t>
            </a:fld>
            <a:r>
              <a:rPr lang="en-US" sz="1400" b="1" dirty="0"/>
              <a:t> </a:t>
            </a:r>
          </a:p>
        </p:txBody>
      </p:sp>
      <p:sp>
        <p:nvSpPr>
          <p:cNvPr id="7" name="Rectangle 6" descr="M. Mhahudul Hasan">
            <a:extLst>
              <a:ext uri="{FF2B5EF4-FFF2-40B4-BE49-F238E27FC236}">
                <a16:creationId xmlns:a16="http://schemas.microsoft.com/office/drawing/2014/main" id="{0EA7F0B3-787D-4D64-9A3F-59A937A79B4F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852750C7-0DB6-4454-AF6B-82B7DA8A3C07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5B07A340-323F-4BCF-B5BB-6D8C621451E3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41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2955" y="554192"/>
            <a:ext cx="11029950" cy="53719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Number of children (NOC)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722671" y="1401456"/>
            <a:ext cx="11220450" cy="457517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The number of children (NOC) </a:t>
            </a:r>
            <a:r>
              <a:rPr lang="en-US" altLang="en-US" sz="2200" dirty="0">
                <a:latin typeface="+mj-lt"/>
              </a:rPr>
              <a:t>metric value of a class </a:t>
            </a:r>
            <a:r>
              <a:rPr lang="en-US" altLang="en-US" sz="2200" i="1" dirty="0">
                <a:latin typeface="+mj-lt"/>
              </a:rPr>
              <a:t>C </a:t>
            </a:r>
            <a:r>
              <a:rPr lang="en-US" altLang="en-US" sz="2200" dirty="0">
                <a:latin typeface="+mj-lt"/>
              </a:rPr>
              <a:t>is the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number of</a:t>
            </a:r>
            <a:r>
              <a:rPr lang="en-US" altLang="en-US" sz="2200" b="1" dirty="0">
                <a:solidFill>
                  <a:srgbClr val="0070C0"/>
                </a:solidFill>
                <a:latin typeface="+mj-lt"/>
              </a:rPr>
              <a:t> immediate </a:t>
            </a:r>
            <a:br>
              <a:rPr lang="en-US" altLang="en-US" sz="2200" b="1" dirty="0">
                <a:solidFill>
                  <a:srgbClr val="0070C0"/>
                </a:solidFill>
                <a:latin typeface="+mj-lt"/>
              </a:rPr>
            </a:br>
            <a:r>
              <a:rPr lang="en-US" altLang="en-US" sz="2200" b="1" dirty="0">
                <a:solidFill>
                  <a:srgbClr val="0070C0"/>
                </a:solidFill>
                <a:latin typeface="+mj-lt"/>
              </a:rPr>
              <a:t> subclasses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of C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This metric can be used to evaluate the degree of reuse, as a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higher NOC number reflects </a:t>
            </a:r>
            <a:br>
              <a:rPr lang="en-US" altLang="en-US" sz="2200" dirty="0">
                <a:solidFill>
                  <a:srgbClr val="7030A0"/>
                </a:solidFill>
                <a:latin typeface="+mj-lt"/>
              </a:rPr>
            </a:b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 reuse of the definitions in the superclass by a larger number of subclasses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It also gives an idea of the direct influence of a class on other elements of a design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The larger the influence of a class,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the more important the </a:t>
            </a:r>
            <a:r>
              <a:rPr lang="en-US" altLang="en-US" sz="2200" i="1" dirty="0">
                <a:solidFill>
                  <a:srgbClr val="7030A0"/>
                </a:solidFill>
                <a:latin typeface="+mj-lt"/>
              </a:rPr>
              <a:t>class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is correctly designed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In the empirical observations, it was found that classes generally had a small NOC metric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value, with a vast majority of classes having no children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/>
              <a:t>This suggests that in the systems analyzed, inheritance was not used very heavily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/>
              <a:t> The data </a:t>
            </a:r>
            <a:r>
              <a:rPr lang="en-US" altLang="en-US" sz="2200" i="1" dirty="0"/>
              <a:t>suggest </a:t>
            </a:r>
            <a:r>
              <a:rPr lang="en-US" altLang="en-US" sz="2200" dirty="0"/>
              <a:t>that the larger the NOC, the lower the probability of detecting defects</a:t>
            </a:r>
            <a:br>
              <a:rPr lang="en-US" altLang="en-US" sz="2200" dirty="0"/>
            </a:br>
            <a:r>
              <a:rPr lang="en-US" altLang="en-US" sz="2200" dirty="0"/>
              <a:t> in a class </a:t>
            </a:r>
            <a:endParaRPr lang="en-US" altLang="en-US" sz="2200" dirty="0">
              <a:latin typeface="+mj-l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B77D94-4545-4728-AA6B-D423E4DBA1DE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A119DD8-00EB-49EE-BFC7-06200F061BDB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17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2FCF0B1C-84D6-408D-8B35-6A536046FB4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D9F92C25-D366-490A-AFCC-EC9F8B647B1B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A7DEC228-7430-4193-9246-01478346043F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82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2955" y="554192"/>
            <a:ext cx="11029950" cy="537190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Number of children (NOC)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B77D94-4545-4728-AA6B-D423E4DBA1DE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A119DD8-00EB-49EE-BFC7-06200F061BDB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18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2FCF0B1C-84D6-408D-8B35-6A536046FB4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D9F92C25-D366-490A-AFCC-EC9F8B647B1B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A7DEC228-7430-4193-9246-01478346043F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D46C8C-05C4-233F-812A-178DCB422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234162"/>
              </p:ext>
            </p:extLst>
          </p:nvPr>
        </p:nvGraphicFramePr>
        <p:xfrm>
          <a:off x="1442720" y="1721992"/>
          <a:ext cx="8747760" cy="3321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677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Attribute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Increase ( </a:t>
                      </a:r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Symbol"/>
                        </a:rPr>
                        <a:t> ) / Decrease (  )</a:t>
                      </a:r>
                    </a:p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Symbol"/>
                        </a:rPr>
                        <a:t>along with increasing NOC</a:t>
                      </a:r>
                      <a:endParaRPr 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55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Reusability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Symbol"/>
                        </a:rPr>
                        <a:t></a:t>
                      </a:r>
                      <a:endParaRPr 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55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Changeability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55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Portability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Symbol"/>
                        </a:rPr>
                        <a:t></a:t>
                      </a:r>
                      <a:endParaRPr 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55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Reliability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Symbol"/>
                        </a:rPr>
                        <a:t></a:t>
                      </a:r>
                      <a:endParaRPr 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55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Adaptability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Symbol"/>
                        </a:rPr>
                        <a:t></a:t>
                      </a:r>
                      <a:endParaRPr 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55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Maintainability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0D937B-22C2-E7D5-C51A-D951639BE264}"/>
              </a:ext>
            </a:extLst>
          </p:cNvPr>
          <p:cNvCxnSpPr>
            <a:cxnSpLocks/>
          </p:cNvCxnSpPr>
          <p:nvPr/>
        </p:nvCxnSpPr>
        <p:spPr>
          <a:xfrm flipH="1">
            <a:off x="7975600" y="3204730"/>
            <a:ext cx="11748" cy="351273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2328A9-D398-A2FF-4291-F98BE156310A}"/>
              </a:ext>
            </a:extLst>
          </p:cNvPr>
          <p:cNvCxnSpPr>
            <a:cxnSpLocks/>
          </p:cNvCxnSpPr>
          <p:nvPr/>
        </p:nvCxnSpPr>
        <p:spPr>
          <a:xfrm>
            <a:off x="7987348" y="4701742"/>
            <a:ext cx="0" cy="336999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60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53961" y="539444"/>
            <a:ext cx="11029950" cy="566686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Coupling between classes (CBC)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463694" y="1135408"/>
            <a:ext cx="7862159" cy="544987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Coupling between classes of a system reduces modularity and make class modification harder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It is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desirable</a:t>
            </a:r>
            <a:r>
              <a:rPr lang="en-US" altLang="en-US" sz="2200" dirty="0">
                <a:latin typeface="+mj-lt"/>
              </a:rPr>
              <a:t> to 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reduce </a:t>
            </a:r>
            <a:r>
              <a:rPr lang="en-US" altLang="en-US" sz="2200" dirty="0">
                <a:latin typeface="+mj-lt"/>
              </a:rPr>
              <a:t>the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coupling </a:t>
            </a:r>
            <a:r>
              <a:rPr lang="en-US" altLang="en-US" sz="2200" dirty="0">
                <a:latin typeface="+mj-lt"/>
              </a:rPr>
              <a:t>between classes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The less coupling </a:t>
            </a:r>
            <a:r>
              <a:rPr lang="en-US" altLang="en-US" sz="2200" dirty="0">
                <a:latin typeface="+mj-lt"/>
              </a:rPr>
              <a:t>of a class with other classes, the more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independent the class</a:t>
            </a:r>
            <a:r>
              <a:rPr lang="en-US" altLang="en-US" sz="2200" dirty="0">
                <a:latin typeface="+mj-lt"/>
              </a:rPr>
              <a:t>, and more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easily modifiable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Coupling between classes (CBC) is a metric that tries to quantify coupling that exists between classes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The CBC value for a class </a:t>
            </a:r>
            <a:r>
              <a:rPr lang="en-US" altLang="en-US" sz="2200" i="1" dirty="0">
                <a:latin typeface="+mj-lt"/>
              </a:rPr>
              <a:t>C </a:t>
            </a:r>
            <a:r>
              <a:rPr lang="en-US" altLang="en-US" sz="2200" dirty="0">
                <a:latin typeface="+mj-lt"/>
              </a:rPr>
              <a:t>is the total number of other classes to </a:t>
            </a:r>
            <a:r>
              <a:rPr lang="en-US" altLang="en-US" sz="2200" i="1" dirty="0">
                <a:latin typeface="+mj-lt"/>
              </a:rPr>
              <a:t>which </a:t>
            </a:r>
            <a:r>
              <a:rPr lang="en-US" altLang="en-US" sz="2200" dirty="0">
                <a:latin typeface="+mj-lt"/>
              </a:rPr>
              <a:t>the class is coupled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Two classes are considered coupled if methods of one class use methods or instance variables defined in the other </a:t>
            </a:r>
            <a:r>
              <a:rPr lang="en-US" altLang="en-US" sz="2200" i="1" dirty="0">
                <a:solidFill>
                  <a:srgbClr val="0070C0"/>
                </a:solidFill>
                <a:latin typeface="+mj-lt"/>
              </a:rPr>
              <a:t>class.</a:t>
            </a:r>
            <a:endParaRPr lang="en-US" altLang="en-US" sz="22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82316D-2C65-445E-BFFD-B420FE43954F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93D7B16-2DD1-46D6-A3E5-E0892C29CF21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19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16E68885-B60D-4AD7-BCDC-977395CF3258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3C5C127F-1415-4A98-9970-72C9F01EF587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37E80F53-A2A9-48F6-A097-B09C9173B4CC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4" descr="Image result for modularity">
            <a:extLst>
              <a:ext uri="{FF2B5EF4-FFF2-40B4-BE49-F238E27FC236}">
                <a16:creationId xmlns:a16="http://schemas.microsoft.com/office/drawing/2014/main" id="{DC095D95-D222-46AB-941A-6ACB9566F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711" y="1130865"/>
            <a:ext cx="3404815" cy="3271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 result for modularity">
            <a:extLst>
              <a:ext uri="{FF2B5EF4-FFF2-40B4-BE49-F238E27FC236}">
                <a16:creationId xmlns:a16="http://schemas.microsoft.com/office/drawing/2014/main" id="{73D8F640-C9FF-4942-B507-5CC4F18BA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949" y="4475748"/>
            <a:ext cx="2955516" cy="215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99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97305" y="573338"/>
            <a:ext cx="11029950" cy="581693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Coupling between classes (CBC)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31682" y="1452431"/>
            <a:ext cx="11220450" cy="292893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There are indirect forms of coupling (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through pointers, etc.)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that are hard to identify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The experimental data indicates that most of the classes are self-contained and have low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CBC value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Some types of classes, for example, the ones that deal with managing interfaces, generally tend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to have higher CBC values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The data found that CBC is significant in predicting the fault-proneness of classes, particularly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those that deal with user interfaces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B036DA-5345-4FAE-8881-20AA2BBF179B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7E6BC1B-2E7D-4316-B2F8-7131AC27133B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20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3BB264C7-252E-43C1-825E-EFE01DE9E3C4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3C21C1DB-7870-4246-BF8F-D0997198D020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962F75AB-92C4-424A-AEE5-09BABB43E7C8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54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2955" y="744021"/>
            <a:ext cx="11029950" cy="584317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Coupling Between Classes (CBC)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B77D94-4545-4728-AA6B-D423E4DBA1DE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A119DD8-00EB-49EE-BFC7-06200F061BDB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21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2FCF0B1C-84D6-408D-8B35-6A536046FB4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D9F92C25-D366-490A-AFCC-EC9F8B647B1B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A7DEC228-7430-4193-9246-01478346043F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036DF8-36A6-90F4-33B3-9BC2CFBA5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574541"/>
              </p:ext>
            </p:extLst>
          </p:nvPr>
        </p:nvGraphicFramePr>
        <p:xfrm>
          <a:off x="1457960" y="2157808"/>
          <a:ext cx="9276080" cy="2988258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242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70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CBC Nominal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3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    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class has no relationship to any other class in the system, not a part of the system</a:t>
                      </a:r>
                      <a:r>
                        <a:rPr lang="en-US" sz="2400" dirty="0"/>
                        <a:t> 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37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     1 –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Good, the class is loosely coupled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70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ym typeface="Symbol"/>
                        </a:rPr>
                        <a:t>      4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class is too tightly coupled, complicated testing and modification, and limited re-use</a:t>
                      </a:r>
                      <a:r>
                        <a:rPr lang="en-US" sz="2400" dirty="0"/>
                        <a:t> 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possibilities.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0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12955" y="744021"/>
            <a:ext cx="11029950" cy="584317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DIT, NOC and CBC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B77D94-4545-4728-AA6B-D423E4DBA1DE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A119DD8-00EB-49EE-BFC7-06200F061BDB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22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2FCF0B1C-84D6-408D-8B35-6A536046FB40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D9F92C25-D366-490A-AFCC-EC9F8B647B1B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A7DEC228-7430-4193-9246-01478346043F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36">
            <a:extLst>
              <a:ext uri="{FF2B5EF4-FFF2-40B4-BE49-F238E27FC236}">
                <a16:creationId xmlns:a16="http://schemas.microsoft.com/office/drawing/2014/main" id="{FDD93E6E-9CAC-123F-F978-5F638D819F31}"/>
              </a:ext>
            </a:extLst>
          </p:cNvPr>
          <p:cNvGrpSpPr>
            <a:grpSpLocks/>
          </p:cNvGrpSpPr>
          <p:nvPr/>
        </p:nvGrpSpPr>
        <p:grpSpPr bwMode="auto">
          <a:xfrm>
            <a:off x="3912781" y="1328338"/>
            <a:ext cx="3733800" cy="1617663"/>
            <a:chOff x="2766646" y="1772579"/>
            <a:chExt cx="5158154" cy="2235858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08E6E733-CA89-962A-FD7E-73BA64E2E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0369" y="2121291"/>
              <a:ext cx="12895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11D511E3-73AA-5468-D5C1-E24003C80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646" y="177257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A</a:t>
              </a:r>
              <a:endParaRPr lang="en-US" altLang="en-US" sz="160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43FF67A3-5B75-975C-27D0-3A444C804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190932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B</a:t>
              </a:r>
              <a:endParaRPr lang="en-US" altLang="en-US" sz="1600"/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CF29310D-840F-CD8B-39D5-4106FF797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646" y="326998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C</a:t>
              </a:r>
              <a:endParaRPr lang="en-US" altLang="en-US" sz="1600"/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E52E77CC-FC7A-BEC2-A7E4-A866B345C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723" y="326998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E</a:t>
              </a:r>
              <a:endParaRPr lang="en-US" altLang="en-US" sz="1600"/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E3F8BE04-A330-86FF-E9E5-D695CED9D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185" y="326998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D</a:t>
              </a:r>
              <a:endParaRPr lang="en-US" altLang="en-US" sz="1600"/>
            </a:p>
          </p:txBody>
        </p:sp>
        <p:sp>
          <p:nvSpPr>
            <p:cNvPr id="16" name="AutoShape 9">
              <a:extLst>
                <a:ext uri="{FF2B5EF4-FFF2-40B4-BE49-F238E27FC236}">
                  <a16:creationId xmlns:a16="http://schemas.microsoft.com/office/drawing/2014/main" id="{B2B36A4F-4AC1-AF54-D0AE-5C8969C43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369" y="1998216"/>
              <a:ext cx="515815" cy="246149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418C160B-7AEF-6D0F-2D94-3148896E1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0672" y="2442653"/>
              <a:ext cx="0" cy="8751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7F9266AB-22F6-79ED-A26A-838B9ACE4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908" y="2545215"/>
              <a:ext cx="257908" cy="246149"/>
            </a:xfrm>
            <a:prstGeom prst="flowChartExtra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C7A19450-1B19-D3F5-047C-5DC08E7BF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390" y="3023839"/>
              <a:ext cx="1275210" cy="328199"/>
            </a:xfrm>
            <a:custGeom>
              <a:avLst/>
              <a:gdLst>
                <a:gd name="T0" fmla="*/ 0 w 1260"/>
                <a:gd name="T1" fmla="*/ 598414353 h 180"/>
                <a:gd name="T2" fmla="*/ 0 w 1260"/>
                <a:gd name="T3" fmla="*/ 0 h 180"/>
                <a:gd name="T4" fmla="*/ 1290603606 w 1260"/>
                <a:gd name="T5" fmla="*/ 0 h 180"/>
                <a:gd name="T6" fmla="*/ 1290603606 w 1260"/>
                <a:gd name="T7" fmla="*/ 598414353 h 1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0"/>
                <a:gd name="T13" fmla="*/ 0 h 180"/>
                <a:gd name="T14" fmla="*/ 1260 w 1260"/>
                <a:gd name="T15" fmla="*/ 180 h 1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60" h="180">
                  <a:moveTo>
                    <a:pt x="0" y="180"/>
                  </a:moveTo>
                  <a:lnTo>
                    <a:pt x="0" y="0"/>
                  </a:lnTo>
                  <a:lnTo>
                    <a:pt x="1260" y="0"/>
                  </a:lnTo>
                  <a:lnTo>
                    <a:pt x="1260" y="1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F5861BEC-34B1-CBFB-0DA1-A317A5ECF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026" y="2791365"/>
              <a:ext cx="0" cy="2461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oup 19">
              <a:extLst>
                <a:ext uri="{FF2B5EF4-FFF2-40B4-BE49-F238E27FC236}">
                  <a16:creationId xmlns:a16="http://schemas.microsoft.com/office/drawing/2014/main" id="{680E2DAF-4D05-98AB-D197-BDC06F722EC0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5345723" y="1909329"/>
              <a:ext cx="1289538" cy="738448"/>
              <a:chOff x="7614" y="2934"/>
              <a:chExt cx="900" cy="540"/>
            </a:xfrm>
          </p:grpSpPr>
          <p:sp>
            <p:nvSpPr>
              <p:cNvPr id="28" name="AutoShape 20">
                <a:extLst>
                  <a:ext uri="{FF2B5EF4-FFF2-40B4-BE49-F238E27FC236}">
                    <a16:creationId xmlns:a16="http://schemas.microsoft.com/office/drawing/2014/main" id="{C778A676-F1D4-02E6-12D7-8D16425D8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334" y="3114"/>
                <a:ext cx="180" cy="180"/>
              </a:xfrm>
              <a:prstGeom prst="flowChartExtra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29" name="Line 21">
                <a:extLst>
                  <a:ext uri="{FF2B5EF4-FFF2-40B4-BE49-F238E27FC236}">
                    <a16:creationId xmlns:a16="http://schemas.microsoft.com/office/drawing/2014/main" id="{365D2305-81A3-D734-BC9A-0862117E25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244" y="3099"/>
                <a:ext cx="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Rectangle 22">
                <a:extLst>
                  <a:ext uri="{FF2B5EF4-FFF2-40B4-BE49-F238E27FC236}">
                    <a16:creationId xmlns:a16="http://schemas.microsoft.com/office/drawing/2014/main" id="{F4C3FF6D-702F-8DA2-7366-EE765C073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7614" y="2934"/>
                <a:ext cx="54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</a:rPr>
                  <a:t>F</a:t>
                </a:r>
                <a:endParaRPr lang="en-US" altLang="en-US" sz="1600"/>
              </a:p>
            </p:txBody>
          </p:sp>
        </p:grpSp>
        <p:grpSp>
          <p:nvGrpSpPr>
            <p:cNvPr id="22" name="Group 23">
              <a:extLst>
                <a:ext uri="{FF2B5EF4-FFF2-40B4-BE49-F238E27FC236}">
                  <a16:creationId xmlns:a16="http://schemas.microsoft.com/office/drawing/2014/main" id="{A1F0E0D8-3462-8C84-597F-225E0CF9C788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6635262" y="1909329"/>
              <a:ext cx="1289538" cy="738448"/>
              <a:chOff x="7614" y="2934"/>
              <a:chExt cx="900" cy="540"/>
            </a:xfrm>
          </p:grpSpPr>
          <p:sp>
            <p:nvSpPr>
              <p:cNvPr id="25" name="AutoShape 24">
                <a:extLst>
                  <a:ext uri="{FF2B5EF4-FFF2-40B4-BE49-F238E27FC236}">
                    <a16:creationId xmlns:a16="http://schemas.microsoft.com/office/drawing/2014/main" id="{6D08FD37-41C5-0DAB-80BF-9F0BA5B8B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334" y="3114"/>
                <a:ext cx="180" cy="180"/>
              </a:xfrm>
              <a:prstGeom prst="flowChartExtra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26" name="Line 25">
                <a:extLst>
                  <a:ext uri="{FF2B5EF4-FFF2-40B4-BE49-F238E27FC236}">
                    <a16:creationId xmlns:a16="http://schemas.microsoft.com/office/drawing/2014/main" id="{C962E54C-11A3-6D02-9F00-3FD548D8B0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244" y="3099"/>
                <a:ext cx="0" cy="1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79F0827-43A8-B819-07F6-F256201D1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7614" y="2934"/>
                <a:ext cx="54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ts val="1000"/>
                  </a:spcAft>
                  <a:buFontTx/>
                  <a:buNone/>
                </a:pPr>
                <a:r>
                  <a:rPr lang="en-US" altLang="en-US" sz="1600">
                    <a:latin typeface="Calibri" panose="020F0502020204030204" pitchFamily="34" charset="0"/>
                  </a:rPr>
                  <a:t>H</a:t>
                </a:r>
                <a:endParaRPr lang="en-US" altLang="en-US" sz="1600"/>
              </a:p>
            </p:txBody>
          </p:sp>
        </p:grpSp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96458674-6241-E636-91C9-BBC0A0A34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5262" y="3269989"/>
              <a:ext cx="773723" cy="738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ts val="1000"/>
                </a:spcAft>
                <a:buFontTx/>
                <a:buNone/>
              </a:pPr>
              <a:r>
                <a:rPr lang="en-US" altLang="en-US" sz="1600">
                  <a:latin typeface="Calibri" panose="020F0502020204030204" pitchFamily="34" charset="0"/>
                </a:rPr>
                <a:t>G</a:t>
              </a:r>
              <a:endParaRPr lang="en-US" altLang="en-US" sz="160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F62D1EB-15DD-72CD-C110-3DA24D1906AA}"/>
                </a:ext>
              </a:extLst>
            </p:cNvPr>
            <p:cNvCxnSpPr>
              <a:stCxn id="14" idx="3"/>
              <a:endCxn id="23" idx="1"/>
            </p:cNvCxnSpPr>
            <p:nvPr/>
          </p:nvCxnSpPr>
          <p:spPr>
            <a:xfrm>
              <a:off x="6119885" y="3639817"/>
              <a:ext cx="51537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A93A1677-5B91-DAC9-C16A-903D43893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953624"/>
              </p:ext>
            </p:extLst>
          </p:nvPr>
        </p:nvGraphicFramePr>
        <p:xfrm>
          <a:off x="2145552" y="3145049"/>
          <a:ext cx="8501828" cy="333692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6673">
                  <a:extLst>
                    <a:ext uri="{9D8B030D-6E8A-4147-A177-3AD203B41FA5}">
                      <a16:colId xmlns:a16="http://schemas.microsoft.com/office/drawing/2014/main" val="4169933888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CLASS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NOC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Influence on Design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DIT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Reuse Potential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CBC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Highest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Highest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Lowest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Moderate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Lowest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T="45711" marB="45711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Highest</a:t>
                      </a:r>
                    </a:p>
                  </a:txBody>
                  <a:tcPr marT="45711" marB="45711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Lowest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64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5471" y="539443"/>
            <a:ext cx="11029950" cy="596183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Lack of cohesion in methods (</a:t>
            </a:r>
            <a:r>
              <a:rPr lang="en-US" altLang="en-US" b="1" dirty="0" err="1">
                <a:solidFill>
                  <a:srgbClr val="0070C0"/>
                </a:solidFill>
                <a:latin typeface="Bell MT" pitchFamily="18" charset="0"/>
              </a:rPr>
              <a:t>lcom</a:t>
            </a:r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16193" y="1240298"/>
            <a:ext cx="11029950" cy="503216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Cohesion captures how closely bound the different methods of the class are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Two methods of a class </a:t>
            </a:r>
            <a:r>
              <a:rPr lang="en-US" altLang="en-US" sz="2200" i="1" dirty="0">
                <a:latin typeface="+mj-lt"/>
              </a:rPr>
              <a:t>C </a:t>
            </a:r>
            <a:r>
              <a:rPr lang="en-US" altLang="en-US" sz="2200" dirty="0">
                <a:latin typeface="+mj-lt"/>
              </a:rPr>
              <a:t>can be considered “cohesive” if the set of instance variables (class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variable) of </a:t>
            </a:r>
            <a:r>
              <a:rPr lang="en-US" altLang="en-US" sz="2200" i="1" dirty="0">
                <a:latin typeface="+mj-lt"/>
              </a:rPr>
              <a:t>C </a:t>
            </a:r>
            <a:r>
              <a:rPr lang="en-US" altLang="en-US" sz="2200" dirty="0">
                <a:latin typeface="+mj-lt"/>
              </a:rPr>
              <a:t>that they access, have some elements in common 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Let </a:t>
            </a:r>
            <a:r>
              <a:rPr lang="en-US" altLang="en-US" sz="2200" i="1" dirty="0">
                <a:latin typeface="+mj-lt"/>
              </a:rPr>
              <a:t>I</a:t>
            </a:r>
            <a:r>
              <a:rPr lang="en-US" altLang="en-US" sz="2200" i="1" baseline="-25000" dirty="0">
                <a:latin typeface="+mj-lt"/>
              </a:rPr>
              <a:t>i</a:t>
            </a:r>
            <a:r>
              <a:rPr lang="en-US" altLang="en-US" sz="2200" i="1" dirty="0">
                <a:latin typeface="+mj-lt"/>
              </a:rPr>
              <a:t> </a:t>
            </a:r>
            <a:r>
              <a:rPr lang="en-US" altLang="en-US" sz="2200" dirty="0">
                <a:latin typeface="+mj-lt"/>
              </a:rPr>
              <a:t>and </a:t>
            </a:r>
            <a:r>
              <a:rPr lang="en-US" altLang="en-US" sz="2200" i="1" dirty="0" err="1">
                <a:latin typeface="+mj-lt"/>
              </a:rPr>
              <a:t>I</a:t>
            </a:r>
            <a:r>
              <a:rPr lang="en-US" altLang="en-US" sz="2200" i="1" baseline="-25000" dirty="0" err="1">
                <a:latin typeface="+mj-lt"/>
              </a:rPr>
              <a:t>j</a:t>
            </a:r>
            <a:r>
              <a:rPr lang="en-US" altLang="en-US" sz="2200" i="1" dirty="0">
                <a:latin typeface="+mj-lt"/>
              </a:rPr>
              <a:t> </a:t>
            </a:r>
            <a:r>
              <a:rPr lang="en-US" altLang="en-US" sz="2200" dirty="0">
                <a:latin typeface="+mj-lt"/>
              </a:rPr>
              <a:t>be the set of instance variables accessed by the methods </a:t>
            </a:r>
            <a:r>
              <a:rPr lang="en-US" altLang="en-US" sz="2200" i="1" dirty="0">
                <a:latin typeface="+mj-lt"/>
              </a:rPr>
              <a:t>M</a:t>
            </a:r>
            <a:r>
              <a:rPr lang="en-US" altLang="en-US" sz="2200" i="1" baseline="-25000" dirty="0">
                <a:latin typeface="+mj-lt"/>
              </a:rPr>
              <a:t>1</a:t>
            </a:r>
            <a:r>
              <a:rPr lang="en-US" altLang="en-US" sz="2200" i="1" dirty="0">
                <a:latin typeface="+mj-lt"/>
              </a:rPr>
              <a:t> </a:t>
            </a:r>
            <a:r>
              <a:rPr lang="en-US" altLang="en-US" sz="2200" dirty="0">
                <a:latin typeface="+mj-lt"/>
              </a:rPr>
              <a:t>and </a:t>
            </a:r>
            <a:r>
              <a:rPr lang="en-US" altLang="en-US" sz="2200" i="1" dirty="0">
                <a:latin typeface="+mj-lt"/>
              </a:rPr>
              <a:t>M</a:t>
            </a:r>
            <a:r>
              <a:rPr lang="en-US" altLang="en-US" sz="2200" i="1" baseline="-25000" dirty="0">
                <a:latin typeface="+mj-lt"/>
              </a:rPr>
              <a:t>2</a:t>
            </a:r>
            <a:r>
              <a:rPr lang="en-US" altLang="en-US" sz="2200" i="1" dirty="0">
                <a:latin typeface="+mj-lt"/>
              </a:rPr>
              <a:t>,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Q be the set </a:t>
            </a:r>
            <a:br>
              <a:rPr lang="en-US" altLang="en-US" sz="2200" dirty="0">
                <a:solidFill>
                  <a:srgbClr val="C00000"/>
                </a:solidFill>
                <a:latin typeface="+mj-lt"/>
              </a:rPr>
            </a:b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 of all cohesive pairs of methods</a:t>
            </a:r>
            <a:r>
              <a:rPr lang="en-US" altLang="en-US" sz="2200" dirty="0">
                <a:latin typeface="+mj-lt"/>
              </a:rPr>
              <a:t>, that is, all </a:t>
            </a:r>
            <a:r>
              <a:rPr lang="en-US" altLang="en-US" sz="2200" i="1" dirty="0">
                <a:latin typeface="+mj-lt"/>
              </a:rPr>
              <a:t>(</a:t>
            </a:r>
            <a:r>
              <a:rPr lang="en-US" altLang="en-US" sz="2200" i="1" dirty="0" err="1">
                <a:latin typeface="+mj-lt"/>
              </a:rPr>
              <a:t>M</a:t>
            </a:r>
            <a:r>
              <a:rPr lang="en-US" altLang="en-US" sz="2200" i="1" baseline="-25000" dirty="0" err="1">
                <a:latin typeface="+mj-lt"/>
              </a:rPr>
              <a:t>i</a:t>
            </a:r>
            <a:r>
              <a:rPr lang="en-US" altLang="en-US" sz="2200" i="1" dirty="0">
                <a:latin typeface="+mj-lt"/>
              </a:rPr>
              <a:t>, </a:t>
            </a:r>
            <a:r>
              <a:rPr lang="en-US" altLang="en-US" sz="2200" i="1" dirty="0" err="1">
                <a:latin typeface="+mj-lt"/>
              </a:rPr>
              <a:t>M</a:t>
            </a:r>
            <a:r>
              <a:rPr lang="en-US" altLang="en-US" sz="2200" i="1" baseline="-25000" dirty="0" err="1">
                <a:latin typeface="+mj-lt"/>
              </a:rPr>
              <a:t>j</a:t>
            </a:r>
            <a:r>
              <a:rPr lang="en-US" altLang="en-US" sz="2200" i="1" dirty="0">
                <a:latin typeface="+mj-lt"/>
              </a:rPr>
              <a:t>) </a:t>
            </a:r>
            <a:r>
              <a:rPr lang="en-US" altLang="en-US" sz="2200" dirty="0">
                <a:latin typeface="+mj-lt"/>
              </a:rPr>
              <a:t>such that </a:t>
            </a:r>
            <a:r>
              <a:rPr lang="en-US" altLang="en-US" sz="2200" i="1" dirty="0">
                <a:latin typeface="+mj-lt"/>
              </a:rPr>
              <a:t>I</a:t>
            </a:r>
            <a:r>
              <a:rPr lang="en-US" altLang="en-US" sz="2200" i="1" baseline="-25000" dirty="0">
                <a:latin typeface="+mj-lt"/>
              </a:rPr>
              <a:t>i</a:t>
            </a:r>
            <a:r>
              <a:rPr lang="en-US" altLang="en-US" sz="2200" i="1" dirty="0">
                <a:latin typeface="+mj-lt"/>
              </a:rPr>
              <a:t> </a:t>
            </a:r>
            <a:r>
              <a:rPr lang="en-US" altLang="en-US" sz="2200" dirty="0">
                <a:latin typeface="+mj-lt"/>
              </a:rPr>
              <a:t>and </a:t>
            </a:r>
            <a:r>
              <a:rPr lang="en-US" altLang="en-US" sz="2200" i="1" dirty="0" err="1">
                <a:latin typeface="+mj-lt"/>
              </a:rPr>
              <a:t>I</a:t>
            </a:r>
            <a:r>
              <a:rPr lang="en-US" altLang="en-US" sz="2200" i="1" baseline="-25000" dirty="0" err="1">
                <a:latin typeface="+mj-lt"/>
              </a:rPr>
              <a:t>j</a:t>
            </a:r>
            <a:r>
              <a:rPr lang="en-US" altLang="en-US" sz="2200" i="1" dirty="0">
                <a:latin typeface="+mj-lt"/>
              </a:rPr>
              <a:t> </a:t>
            </a:r>
            <a:r>
              <a:rPr lang="en-US" altLang="en-US" sz="2200" dirty="0">
                <a:latin typeface="+mj-lt"/>
              </a:rPr>
              <a:t>have a non-null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intersection. Let </a:t>
            </a:r>
            <a:r>
              <a:rPr lang="en-US" altLang="en-US" sz="2200" i="1" dirty="0">
                <a:solidFill>
                  <a:srgbClr val="C00000"/>
                </a:solidFill>
                <a:latin typeface="+mj-lt"/>
              </a:rPr>
              <a:t>P 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be the set of all non-cohesive pairs of methods</a:t>
            </a:r>
            <a:r>
              <a:rPr lang="en-US" altLang="en-US" sz="2200" dirty="0">
                <a:latin typeface="+mj-lt"/>
              </a:rPr>
              <a:t>, that is, pairs such that the </a:t>
            </a: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intersection of sets of instance variables they access is null. Then LCOM is defined as </a:t>
            </a:r>
          </a:p>
          <a:p>
            <a:pPr marL="0" indent="0">
              <a:buNone/>
            </a:pPr>
            <a:br>
              <a:rPr lang="en-US" altLang="en-US" sz="2200" dirty="0">
                <a:latin typeface="+mj-lt"/>
              </a:rPr>
            </a:br>
            <a:r>
              <a:rPr lang="en-US" altLang="en-US" sz="2200" dirty="0">
                <a:latin typeface="+mj-lt"/>
              </a:rPr>
              <a:t>              LCOM = |P|-|Q|, if |P| &gt; |Q|, otherwise 0</a:t>
            </a:r>
          </a:p>
          <a:p>
            <a:pPr marL="0" indent="0">
              <a:buNone/>
            </a:pPr>
            <a:endParaRPr lang="en-US" altLang="en-US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Coupling (increase) </a:t>
            </a:r>
            <a:r>
              <a:rPr lang="en-US" altLang="en-US" sz="2200" dirty="0">
                <a:latin typeface="+mj-lt"/>
                <a:sym typeface="Wingdings" panose="05000000000000000000" pitchFamily="2" charset="2"/>
              </a:rPr>
              <a:t> Cohesion (decrease)  LCOM (increase)</a:t>
            </a:r>
            <a:endParaRPr lang="en-US" altLang="en-US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200" dirty="0">
              <a:latin typeface="+mj-lt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BE8610B-86E3-4F82-806C-DE4546A1D235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36E7C22-1BDF-48AD-9645-473160A40E98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23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414F17F8-FD25-47C1-9075-0D086C7B57A7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458CDE04-2C90-45B5-AED0-2A80ACEBF211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D8EC9DF3-7D97-4EBE-BE05-5F7DDE537031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566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3459" y="539443"/>
            <a:ext cx="11029950" cy="596183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Lack of cohesion in methods (</a:t>
            </a:r>
            <a:r>
              <a:rPr lang="en-US" altLang="en-US" b="1" dirty="0" err="1">
                <a:solidFill>
                  <a:srgbClr val="0070C0"/>
                </a:solidFill>
                <a:latin typeface="Bell MT" pitchFamily="18" charset="0"/>
              </a:rPr>
              <a:t>lcom</a:t>
            </a:r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398206" y="1269795"/>
            <a:ext cx="8086575" cy="4659056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If there are </a:t>
            </a:r>
            <a:r>
              <a:rPr lang="en-US" altLang="en-US" sz="2200" i="1" dirty="0">
                <a:solidFill>
                  <a:srgbClr val="C00000"/>
                </a:solidFill>
                <a:latin typeface="+mj-lt"/>
              </a:rPr>
              <a:t>n 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methods in a class </a:t>
            </a:r>
            <a:r>
              <a:rPr lang="en-US" altLang="en-US" sz="2200" i="1" dirty="0">
                <a:solidFill>
                  <a:srgbClr val="C00000"/>
                </a:solidFill>
                <a:latin typeface="+mj-lt"/>
              </a:rPr>
              <a:t>C, 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then there are </a:t>
            </a:r>
            <a:r>
              <a:rPr lang="en-US" altLang="en-US" sz="2200" i="1" dirty="0">
                <a:solidFill>
                  <a:srgbClr val="C00000"/>
                </a:solidFill>
                <a:latin typeface="+mj-lt"/>
              </a:rPr>
              <a:t>n(n</a:t>
            </a:r>
            <a:r>
              <a:rPr lang="en-US" altLang="en-US" sz="2200" dirty="0">
                <a:solidFill>
                  <a:srgbClr val="C00000"/>
                </a:solidFill>
                <a:latin typeface="+mj-lt"/>
              </a:rPr>
              <a:t>-1) pairs</a:t>
            </a:r>
            <a:r>
              <a:rPr lang="en-US" altLang="en-US" sz="2200" dirty="0">
                <a:latin typeface="+mj-lt"/>
              </a:rPr>
              <a:t>, and </a:t>
            </a:r>
            <a:r>
              <a:rPr lang="en-US" altLang="en-US" sz="2200" dirty="0">
                <a:solidFill>
                  <a:srgbClr val="7030A0"/>
                </a:solidFill>
                <a:latin typeface="+mj-lt"/>
              </a:rPr>
              <a:t>LCOM is the number of pairs that are non-cohesive minus the number of pairs that are cohesive </a:t>
            </a:r>
          </a:p>
          <a:p>
            <a:pPr algn="just"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>
                <a:solidFill>
                  <a:srgbClr val="0070C0"/>
                </a:solidFill>
                <a:latin typeface="+mj-lt"/>
              </a:rPr>
              <a:t>The larger the number of cohesive methods, the more cohesive the class will be, and the LCOM metric will be lower </a:t>
            </a:r>
          </a:p>
          <a:p>
            <a:pPr algn="just"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A high LCOM value may indicate that the methods are trying to do different things and operate on different data entities </a:t>
            </a:r>
          </a:p>
          <a:p>
            <a:pPr algn="just"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If this is validated, the class can be partitioned into different classes </a:t>
            </a:r>
          </a:p>
          <a:p>
            <a:pPr algn="just">
              <a:buFont typeface="Wingdings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</a:rPr>
              <a:t>High cohesion &amp; low LCOM is a highly desirable property for modularity. </a:t>
            </a:r>
            <a:endParaRPr lang="en-US" altLang="en-US" sz="2200" dirty="0">
              <a:solidFill>
                <a:srgbClr val="C00000"/>
              </a:solidFill>
              <a:latin typeface="+mj-lt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altLang="en-US" sz="2200" dirty="0">
                <a:latin typeface="+mj-lt"/>
              </a:rPr>
              <a:t> There is little significance of this metric in predicting the fault-proneness of a class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3CC030-AA81-441E-BE32-B5426BED4B89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8923893-B259-4E6C-84FA-FC81515EBD2B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24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DFC2623D-D549-41AF-AD73-E7B03FCF8F4C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FDE91939-E858-48C6-991E-69090EB51D99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B81D4493-9F91-49D1-9CAC-24725A257CE8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DF50619F-11BD-4FB0-3BDF-716ACD338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0119704"/>
              </p:ext>
            </p:extLst>
          </p:nvPr>
        </p:nvGraphicFramePr>
        <p:xfrm>
          <a:off x="8484781" y="2169042"/>
          <a:ext cx="3626720" cy="3116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5848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3459" y="539443"/>
            <a:ext cx="11029950" cy="596183"/>
          </a:xfrm>
        </p:spPr>
        <p:txBody>
          <a:bodyPr/>
          <a:lstStyle/>
          <a:p>
            <a:pPr algn="ctr"/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Lack of cohesion in methods (</a:t>
            </a:r>
            <a:r>
              <a:rPr lang="en-US" altLang="en-US" b="1" dirty="0" err="1">
                <a:solidFill>
                  <a:srgbClr val="0070C0"/>
                </a:solidFill>
                <a:latin typeface="Bell MT" pitchFamily="18" charset="0"/>
              </a:rPr>
              <a:t>lcom</a:t>
            </a:r>
            <a:r>
              <a:rPr lang="en-US" altLang="en-US" b="1" dirty="0">
                <a:solidFill>
                  <a:srgbClr val="0070C0"/>
                </a:solidFill>
                <a:latin typeface="Bell MT" pitchFamily="18" charset="0"/>
              </a:rPr>
              <a:t>)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3CC030-AA81-441E-BE32-B5426BED4B89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8923893-B259-4E6C-84FA-FC81515EBD2B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25</a:t>
            </a:fld>
            <a:r>
              <a:rPr lang="en-US" sz="1400" b="1" dirty="0"/>
              <a:t> </a:t>
            </a:r>
          </a:p>
        </p:txBody>
      </p:sp>
      <p:sp>
        <p:nvSpPr>
          <p:cNvPr id="6" name="Rectangle 5" descr="M. Mhahudul Hasan">
            <a:extLst>
              <a:ext uri="{FF2B5EF4-FFF2-40B4-BE49-F238E27FC236}">
                <a16:creationId xmlns:a16="http://schemas.microsoft.com/office/drawing/2014/main" id="{DFC2623D-D549-41AF-AD73-E7B03FCF8F4C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FDE91939-E858-48C6-991E-69090EB51D99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B81D4493-9F91-49D1-9CAC-24725A257CE8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102D4C18-F3B0-5847-BFA2-E94342449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49246" y="1918160"/>
            <a:ext cx="5310187" cy="3511550"/>
          </a:xfrm>
          <a:prstGeom prst="rect">
            <a:avLst/>
          </a:prstGeom>
        </p:spPr>
      </p:pic>
      <p:grpSp>
        <p:nvGrpSpPr>
          <p:cNvPr id="5" name="Group 6">
            <a:extLst>
              <a:ext uri="{FF2B5EF4-FFF2-40B4-BE49-F238E27FC236}">
                <a16:creationId xmlns:a16="http://schemas.microsoft.com/office/drawing/2014/main" id="{6075A959-16BB-6EA7-8777-D48AE2A10AF9}"/>
              </a:ext>
            </a:extLst>
          </p:cNvPr>
          <p:cNvGrpSpPr>
            <a:grpSpLocks/>
          </p:cNvGrpSpPr>
          <p:nvPr/>
        </p:nvGrpSpPr>
        <p:grpSpPr bwMode="auto">
          <a:xfrm>
            <a:off x="1610833" y="1972135"/>
            <a:ext cx="2133600" cy="3429000"/>
            <a:chOff x="914400" y="1905000"/>
            <a:chExt cx="2133600" cy="3429000"/>
          </a:xfrm>
        </p:grpSpPr>
        <p:sp>
          <p:nvSpPr>
            <p:cNvPr id="11" name="TextBox 3">
              <a:extLst>
                <a:ext uri="{FF2B5EF4-FFF2-40B4-BE49-F238E27FC236}">
                  <a16:creationId xmlns:a16="http://schemas.microsoft.com/office/drawing/2014/main" id="{3BE6E1BA-77B7-F6F5-1452-14E817AEB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1905000"/>
              <a:ext cx="2133600" cy="3698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Courier New" panose="02070309020205020404" pitchFamily="49" charset="0"/>
                <a:buChar char="o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panose="020B0604020202020204" pitchFamily="34" charset="0"/>
                </a:rPr>
                <a:t>CLASS 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C87F85-110A-7152-E720-AFF1D5BAAA2E}"/>
                </a:ext>
              </a:extLst>
            </p:cNvPr>
            <p:cNvSpPr/>
            <p:nvPr/>
          </p:nvSpPr>
          <p:spPr>
            <a:xfrm>
              <a:off x="914400" y="2286000"/>
              <a:ext cx="2133600" cy="1447800"/>
            </a:xfrm>
            <a:prstGeom prst="rect">
              <a:avLst/>
            </a:prstGeom>
            <a:solidFill>
              <a:srgbClr val="9CB4D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a1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a2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a3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70AE4BA-B35A-2EC7-6BC8-6517DBC1D5B5}"/>
                </a:ext>
              </a:extLst>
            </p:cNvPr>
            <p:cNvSpPr/>
            <p:nvPr/>
          </p:nvSpPr>
          <p:spPr>
            <a:xfrm>
              <a:off x="914400" y="3733800"/>
              <a:ext cx="2133600" cy="1600200"/>
            </a:xfrm>
            <a:prstGeom prst="rect">
              <a:avLst/>
            </a:prstGeom>
            <a:solidFill>
              <a:srgbClr val="9CB4D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A1(a1, a2)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A2(a1)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A3 (a4)</a:t>
              </a:r>
            </a:p>
            <a:p>
              <a:pPr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A4 (a1, a4)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97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52168" y="554192"/>
            <a:ext cx="11029950" cy="53719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COCOMO (Constructive Cost Model)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D4B8B8-43DF-4747-A859-E2808F26A699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78FD1FC-791E-4469-9471-BFC291A7E3BD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26</a:t>
            </a:fld>
            <a:r>
              <a:rPr lang="en-US" sz="1400" b="1" dirty="0"/>
              <a:t> </a:t>
            </a:r>
          </a:p>
        </p:txBody>
      </p:sp>
      <p:sp>
        <p:nvSpPr>
          <p:cNvPr id="7" name="Rectangle 6" descr="M. Mhahudul Hasan">
            <a:extLst>
              <a:ext uri="{FF2B5EF4-FFF2-40B4-BE49-F238E27FC236}">
                <a16:creationId xmlns:a16="http://schemas.microsoft.com/office/drawing/2014/main" id="{41FC055C-4B93-4B56-8757-68CB513DFBF7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B0FB0A2D-1164-4A10-B76E-BFED61DC245B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1" name="Rectangle 10" descr="M. Mhahudul Hasan">
            <a:extLst>
              <a:ext uri="{FF2B5EF4-FFF2-40B4-BE49-F238E27FC236}">
                <a16:creationId xmlns:a16="http://schemas.microsoft.com/office/drawing/2014/main" id="{4EC4311A-85C3-4278-8A17-96BECBE22DC0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8DBC298-CA2A-4F32-A286-EF9D040DDF41}"/>
              </a:ext>
            </a:extLst>
          </p:cNvPr>
          <p:cNvSpPr txBox="1">
            <a:spLocks/>
          </p:cNvSpPr>
          <p:nvPr/>
        </p:nvSpPr>
        <p:spPr>
          <a:xfrm>
            <a:off x="461647" y="1139599"/>
            <a:ext cx="11287125" cy="47478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sz="2000" dirty="0"/>
              <a:t>Based on SLOC characteristic, and operates according to the following equations: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2000" b="1" dirty="0">
                <a:solidFill>
                  <a:srgbClr val="C00000"/>
                </a:solidFill>
                <a:latin typeface="Bell MT" pitchFamily="18" charset="0"/>
              </a:rPr>
              <a:t>Effort = PM = Coefficient</a:t>
            </a:r>
            <a:r>
              <a:rPr lang="en-US" altLang="en-US" sz="2000" b="1" baseline="-25000" dirty="0">
                <a:solidFill>
                  <a:srgbClr val="C00000"/>
                </a:solidFill>
                <a:latin typeface="Bell MT" pitchFamily="18" charset="0"/>
              </a:rPr>
              <a:t>&lt;Effort Factor&gt;</a:t>
            </a:r>
            <a:r>
              <a:rPr lang="en-US" altLang="en-US" sz="2000" b="1" dirty="0">
                <a:solidFill>
                  <a:srgbClr val="C00000"/>
                </a:solidFill>
                <a:latin typeface="Bell MT" pitchFamily="18" charset="0"/>
              </a:rPr>
              <a:t>*(SLOC/1000)^P       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[100,000 SLOC/1000  = 100k SLOC]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Development time = DM = 2.50*(PM)^T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Required number of people = ST = PM/DM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 2" panose="05020102010507070707" pitchFamily="18" charset="2"/>
              <a:buNone/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</a:t>
            </a:r>
            <a:r>
              <a:rPr lang="en-US" sz="2000" b="1" dirty="0">
                <a:solidFill>
                  <a:srgbClr val="C00000"/>
                </a:solidFill>
              </a:rPr>
              <a:t> :</a:t>
            </a:r>
            <a:r>
              <a:rPr lang="en-US" sz="2000" dirty="0"/>
              <a:t> person-months needed for project (labor working hours)</a:t>
            </a:r>
            <a:br>
              <a:rPr lang="en-US" sz="2000" dirty="0"/>
            </a:b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SLOC</a:t>
            </a:r>
            <a:r>
              <a:rPr lang="en-US" sz="2000" b="1" dirty="0">
                <a:solidFill>
                  <a:srgbClr val="C00000"/>
                </a:solidFill>
              </a:rPr>
              <a:t> :  </a:t>
            </a:r>
            <a:r>
              <a:rPr lang="en-US" sz="2000" dirty="0"/>
              <a:t>source lines of code</a:t>
            </a:r>
            <a:br>
              <a:rPr lang="en-US" sz="2000" dirty="0"/>
            </a:b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000" b="1" dirty="0">
                <a:solidFill>
                  <a:srgbClr val="C00000"/>
                </a:solidFill>
              </a:rPr>
              <a:t> :  </a:t>
            </a:r>
            <a:r>
              <a:rPr lang="en-US" sz="2000" dirty="0"/>
              <a:t>project complexity (1.04-1.24)</a:t>
            </a:r>
            <a:br>
              <a:rPr lang="en-US" sz="2000" dirty="0"/>
            </a:b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</a:t>
            </a:r>
            <a:r>
              <a:rPr lang="en-US" sz="2000" b="1" dirty="0">
                <a:solidFill>
                  <a:srgbClr val="C00000"/>
                </a:solidFill>
              </a:rPr>
              <a:t> :  </a:t>
            </a:r>
            <a:r>
              <a:rPr lang="en-US" sz="2000" dirty="0"/>
              <a:t>duration time in months for project (weekdays)</a:t>
            </a:r>
            <a:br>
              <a:rPr lang="en-US" sz="2000" dirty="0"/>
            </a:b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2000" b="1" dirty="0">
                <a:solidFill>
                  <a:srgbClr val="C00000"/>
                </a:solidFill>
              </a:rPr>
              <a:t> :  </a:t>
            </a:r>
            <a:r>
              <a:rPr lang="en-US" sz="2000" dirty="0"/>
              <a:t>SLOC-dependent coefficient (0.32-0.38)</a:t>
            </a:r>
            <a:br>
              <a:rPr lang="en-US" sz="2000" dirty="0"/>
            </a:b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sz="2000" b="1" dirty="0">
                <a:solidFill>
                  <a:srgbClr val="C00000"/>
                </a:solidFill>
              </a:rPr>
              <a:t> :  </a:t>
            </a:r>
            <a:r>
              <a:rPr lang="en-US" sz="2000" dirty="0"/>
              <a:t>average staffing necessary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A410B46-ED40-4162-B758-3109A141B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699848"/>
              </p:ext>
            </p:extLst>
          </p:nvPr>
        </p:nvGraphicFramePr>
        <p:xfrm>
          <a:off x="6432108" y="4214586"/>
          <a:ext cx="5435599" cy="17523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8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5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Software</a:t>
                      </a:r>
                      <a:r>
                        <a:rPr lang="en-US" sz="1800" b="1" baseline="0" dirty="0"/>
                        <a:t> Project Type</a:t>
                      </a:r>
                      <a:endParaRPr lang="en-US" sz="1800" b="1" dirty="0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Coefficient</a:t>
                      </a:r>
                      <a:br>
                        <a:rPr lang="en-US" sz="1800" b="1" dirty="0"/>
                      </a:br>
                      <a:r>
                        <a:rPr lang="en-US" sz="1800" b="1" baseline="-25000" dirty="0"/>
                        <a:t>&lt;Effort Factor&gt;</a:t>
                      </a:r>
                      <a:endParaRPr lang="en-US" sz="1800" b="1" dirty="0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Organic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2.4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1.05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0.38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Semi-detached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3.0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1.12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0.35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Embedded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3.6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1.20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0.32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295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60438" y="583689"/>
            <a:ext cx="11029950" cy="55193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COCOMO (Constructive  Cost  Model)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3AF80F9-204C-4BA3-BCDC-1BC573CFB1B7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A9180F1-350A-4492-8C55-9DA8E224502E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27</a:t>
            </a:fld>
            <a:r>
              <a:rPr lang="en-US" sz="1400" b="1" dirty="0"/>
              <a:t> </a:t>
            </a:r>
          </a:p>
        </p:txBody>
      </p:sp>
      <p:sp>
        <p:nvSpPr>
          <p:cNvPr id="8" name="Rectangle 7" descr="M. Mhahudul Hasan">
            <a:extLst>
              <a:ext uri="{FF2B5EF4-FFF2-40B4-BE49-F238E27FC236}">
                <a16:creationId xmlns:a16="http://schemas.microsoft.com/office/drawing/2014/main" id="{53AA0D35-1114-4EB9-961E-DB571E50DC06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57EA5EFD-417C-4196-8454-A46DE0CBA7F3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ECB358A2-E31B-45E1-8DCF-10E8AB96E2C2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B7706D3-C680-4785-9899-622AA2FD63EB}"/>
              </a:ext>
            </a:extLst>
          </p:cNvPr>
          <p:cNvSpPr txBox="1">
            <a:spLocks/>
          </p:cNvSpPr>
          <p:nvPr/>
        </p:nvSpPr>
        <p:spPr>
          <a:xfrm>
            <a:off x="590652" y="1017639"/>
            <a:ext cx="11350625" cy="55748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Organic: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/>
              <a:t>relatively small size (2-50 </a:t>
            </a:r>
            <a:r>
              <a:rPr lang="en-US" sz="2200" dirty="0" err="1"/>
              <a:t>KLoc</a:t>
            </a:r>
            <a:r>
              <a:rPr lang="en-US" sz="2200" dirty="0"/>
              <a:t>), simple, less innovative software projects in which a small teams with good application experience work to a project with less tightly schedule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/>
              <a:t>Example: showing VUES information to webpage, payroll system</a:t>
            </a:r>
            <a:endParaRPr lang="en-US" sz="2200" dirty="0">
              <a:latin typeface="+mj-lt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Semidetached: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/>
              <a:t>Medium size (50-300 </a:t>
            </a:r>
            <a:r>
              <a:rPr lang="en-US" sz="2200" dirty="0" err="1"/>
              <a:t>KLoc</a:t>
            </a:r>
            <a:r>
              <a:rPr lang="en-US" sz="2200" dirty="0"/>
              <a:t>) and innovation, complexity in software project in which teams with mixed experience levels works in a mix of h/w and s/w application with relative tight schedule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/>
              <a:t>Example: biometric log-in time saved in VUES database</a:t>
            </a:r>
            <a:endParaRPr lang="en-US" sz="2200" dirty="0">
              <a:latin typeface="+mj-lt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Embedded: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200" dirty="0"/>
              <a:t>A Large size (&gt;300 </a:t>
            </a:r>
            <a:r>
              <a:rPr lang="en-US" sz="2200" dirty="0" err="1"/>
              <a:t>KLoc</a:t>
            </a:r>
            <a:r>
              <a:rPr lang="en-US" sz="2200" dirty="0"/>
              <a:t>), more innovative, complex software project that must be developed within a strongly coupled to hardware environment (e.g.  Autopilot, biometric device, elevator)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/>
              <a:t>Projects has the characteristics that the product being developed had to operate within very tight constraints and changes to the system are very costly</a:t>
            </a:r>
            <a:endParaRPr lang="en-US" sz="22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63538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4"/>
            <a:ext cx="11025052" cy="73151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R.S. Pressman &amp; Associates, Inc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6AD0CE9-9E54-4FF6-B6A8-3472BC6CE3F6}"/>
              </a:ext>
            </a:extLst>
          </p:cNvPr>
          <p:cNvSpPr>
            <a:spLocks noGrp="1"/>
          </p:cNvSpPr>
          <p:nvPr/>
        </p:nvSpPr>
        <p:spPr>
          <a:xfrm>
            <a:off x="-137653" y="39100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9A61C91-A1CA-4723-AB64-6521AE43B0D2}"/>
              </a:ext>
            </a:extLst>
          </p:cNvPr>
          <p:cNvSpPr txBox="1">
            <a:spLocks/>
          </p:cNvSpPr>
          <p:nvPr/>
        </p:nvSpPr>
        <p:spPr>
          <a:xfrm rot="5400000">
            <a:off x="11812709" y="243563"/>
            <a:ext cx="271885" cy="486697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S.</a:t>
            </a:r>
            <a:fld id="{D57F1E4F-1CFF-5643-939E-217C01CDF565}" type="slidenum">
              <a:rPr lang="en-US" sz="1400" b="1" smtClean="0"/>
              <a:pPr/>
              <a:t>28</a:t>
            </a:fld>
            <a:r>
              <a:rPr lang="en-US" sz="1400" b="1" dirty="0"/>
              <a:t> </a:t>
            </a:r>
          </a:p>
        </p:txBody>
      </p:sp>
      <p:sp>
        <p:nvSpPr>
          <p:cNvPr id="8" name="Rectangle 7" descr="M. Mhahudul Hasan">
            <a:extLst>
              <a:ext uri="{FF2B5EF4-FFF2-40B4-BE49-F238E27FC236}">
                <a16:creationId xmlns:a16="http://schemas.microsoft.com/office/drawing/2014/main" id="{36351B02-AE04-421D-802E-4C5678297818}"/>
              </a:ext>
            </a:extLst>
          </p:cNvPr>
          <p:cNvSpPr/>
          <p:nvPr/>
        </p:nvSpPr>
        <p:spPr>
          <a:xfrm>
            <a:off x="0" y="0"/>
            <a:ext cx="6381135" cy="3834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OOAD :  Software Project Estimation</a:t>
            </a:r>
          </a:p>
        </p:txBody>
      </p:sp>
      <p:sp>
        <p:nvSpPr>
          <p:cNvPr id="9" name="Rectangle 8" descr="M. Mhahudul Hasan">
            <a:extLst>
              <a:ext uri="{FF2B5EF4-FFF2-40B4-BE49-F238E27FC236}">
                <a16:creationId xmlns:a16="http://schemas.microsoft.com/office/drawing/2014/main" id="{C007F4CD-AE0E-4B86-BCCB-990D455B7317}"/>
              </a:ext>
            </a:extLst>
          </p:cNvPr>
          <p:cNvSpPr/>
          <p:nvPr/>
        </p:nvSpPr>
        <p:spPr>
          <a:xfrm>
            <a:off x="6331973" y="0"/>
            <a:ext cx="5860027" cy="38345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M. Mahmudul Hasan</a:t>
            </a:r>
          </a:p>
        </p:txBody>
      </p:sp>
      <p:sp>
        <p:nvSpPr>
          <p:cNvPr id="10" name="Rectangle 9" descr="M. Mhahudul Hasan">
            <a:extLst>
              <a:ext uri="{FF2B5EF4-FFF2-40B4-BE49-F238E27FC236}">
                <a16:creationId xmlns:a16="http://schemas.microsoft.com/office/drawing/2014/main" id="{F3DE81D3-7AA7-4CE1-A39B-4F7923B90A42}"/>
              </a:ext>
            </a:extLst>
          </p:cNvPr>
          <p:cNvSpPr/>
          <p:nvPr/>
        </p:nvSpPr>
        <p:spPr>
          <a:xfrm>
            <a:off x="0" y="6681019"/>
            <a:ext cx="12192000" cy="22122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1178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3006</Words>
  <Application>Microsoft Office PowerPoint</Application>
  <PresentationFormat>Widescreen</PresentationFormat>
  <Paragraphs>388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Arial</vt:lpstr>
      <vt:lpstr>Bell MT</vt:lpstr>
      <vt:lpstr>Book Antiqua</vt:lpstr>
      <vt:lpstr>Calibri</vt:lpstr>
      <vt:lpstr>Courier New</vt:lpstr>
      <vt:lpstr>Gill Sans MT</vt:lpstr>
      <vt:lpstr>Helvetica</vt:lpstr>
      <vt:lpstr>Symbol</vt:lpstr>
      <vt:lpstr>Wingdings</vt:lpstr>
      <vt:lpstr>Wingdings 2</vt:lpstr>
      <vt:lpstr>Dividend</vt:lpstr>
      <vt:lpstr>Equation</vt:lpstr>
      <vt:lpstr>PowerPoint Presentation</vt:lpstr>
      <vt:lpstr>Software measurement</vt:lpstr>
      <vt:lpstr>Software metrics</vt:lpstr>
      <vt:lpstr>Software metrics : size</vt:lpstr>
      <vt:lpstr>Software measures</vt:lpstr>
      <vt:lpstr>Software metrics : complexity</vt:lpstr>
      <vt:lpstr>PowerPoint Presentation</vt:lpstr>
      <vt:lpstr>Independent  program  paths</vt:lpstr>
      <vt:lpstr>PowerPoint Presentation</vt:lpstr>
      <vt:lpstr>McCabe's Cyclomatic Complexity</vt:lpstr>
      <vt:lpstr>McCabe's Cyclomatic Complexity</vt:lpstr>
      <vt:lpstr>Weighted methods Per class (WMC)</vt:lpstr>
      <vt:lpstr>Weighted methods Per class (WMC)</vt:lpstr>
      <vt:lpstr>Depth of inheritance tree (DIT)</vt:lpstr>
      <vt:lpstr>Depth of inheritance tree (DIT)</vt:lpstr>
      <vt:lpstr>Depth of inheritance tree (DIT)</vt:lpstr>
      <vt:lpstr>Number of children (NOC)</vt:lpstr>
      <vt:lpstr>Number of children (NOC)</vt:lpstr>
      <vt:lpstr>Coupling between classes (CBC)</vt:lpstr>
      <vt:lpstr>Coupling between classes (CBC)</vt:lpstr>
      <vt:lpstr>Coupling Between Classes (CBC)</vt:lpstr>
      <vt:lpstr>DIT, NOC and CBC</vt:lpstr>
      <vt:lpstr>Lack of cohesion in methods (lcom)</vt:lpstr>
      <vt:lpstr>Lack of cohesion in methods (lcom)</vt:lpstr>
      <vt:lpstr>Lack of cohesion in methods (lcom)</vt:lpstr>
      <vt:lpstr>COCOMO (Constructive Cost Model)</vt:lpstr>
      <vt:lpstr>COCOMO (Constructive  Cost  Model)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OOAD - Ch.09 - Software Project Estimation</dc:title>
  <dc:subject>Object Oriented Analysis and Design (OOAD)</dc:subject>
  <dc:creator>M. Mahmudul Hasan</dc:creator>
  <cp:lastModifiedBy>Mohaimen-Bin-Noor</cp:lastModifiedBy>
  <cp:revision>86</cp:revision>
  <dcterms:created xsi:type="dcterms:W3CDTF">2019-05-13T08:37:20Z</dcterms:created>
  <dcterms:modified xsi:type="dcterms:W3CDTF">2023-08-08T11:36:11Z</dcterms:modified>
</cp:coreProperties>
</file>