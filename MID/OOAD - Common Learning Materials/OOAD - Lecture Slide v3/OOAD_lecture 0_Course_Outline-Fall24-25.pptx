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7" r:id="rId6"/>
    <p:sldId id="275" r:id="rId7"/>
    <p:sldId id="276" r:id="rId8"/>
    <p:sldId id="267" r:id="rId9"/>
    <p:sldId id="269" r:id="rId10"/>
    <p:sldId id="270" r:id="rId11"/>
    <p:sldId id="271" r:id="rId12"/>
    <p:sldId id="273" r:id="rId1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57" autoAdjust="0"/>
  </p:normalViewPr>
  <p:slideViewPr>
    <p:cSldViewPr>
      <p:cViewPr varScale="1">
        <p:scale>
          <a:sx n="60" d="100"/>
          <a:sy n="60" d="100"/>
        </p:scale>
        <p:origin x="816" y="44"/>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15F907F-DB8E-400C-B96F-20C8B3A30739}"/>
              </a:ext>
            </a:extLst>
          </p:cNvPr>
          <p:cNvSpPr>
            <a:spLocks noGrp="1"/>
          </p:cNvSpPr>
          <p:nvPr>
            <p:ph type="dt" sz="half" idx="10"/>
          </p:nvPr>
        </p:nvSpPr>
        <p:spPr/>
        <p:txBody>
          <a:bodyPr/>
          <a:lstStyle>
            <a:lvl1pPr>
              <a:defRPr/>
            </a:lvl1pPr>
          </a:lstStyle>
          <a:p>
            <a:pPr>
              <a:defRPr/>
            </a:pPr>
            <a:fld id="{55ED7CBE-9584-4A6B-9D6A-1703254B3B1E}" type="datetimeFigureOut">
              <a:rPr lang="en-US"/>
              <a:pPr>
                <a:defRPr/>
              </a:pPr>
              <a:t>3/1/2025</a:t>
            </a:fld>
            <a:endParaRPr lang="en-US"/>
          </a:p>
        </p:txBody>
      </p:sp>
      <p:sp>
        <p:nvSpPr>
          <p:cNvPr id="5" name="Footer Placeholder 4">
            <a:extLst>
              <a:ext uri="{FF2B5EF4-FFF2-40B4-BE49-F238E27FC236}">
                <a16:creationId xmlns:a16="http://schemas.microsoft.com/office/drawing/2014/main" id="{FD8D073D-89AC-4495-A6D4-6EECFFAF7BD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0C2327E-7832-46E6-B9FC-AB37F761B41F}"/>
              </a:ext>
            </a:extLst>
          </p:cNvPr>
          <p:cNvSpPr>
            <a:spLocks noGrp="1"/>
          </p:cNvSpPr>
          <p:nvPr>
            <p:ph type="sldNum" sz="quarter" idx="12"/>
          </p:nvPr>
        </p:nvSpPr>
        <p:spPr/>
        <p:txBody>
          <a:bodyPr/>
          <a:lstStyle>
            <a:lvl1pPr>
              <a:defRPr/>
            </a:lvl1pPr>
          </a:lstStyle>
          <a:p>
            <a:pPr>
              <a:defRPr/>
            </a:pPr>
            <a:fld id="{A05BB8D9-771D-4283-82A1-29CFB6E6DC76}" type="slidenum">
              <a:rPr lang="en-US"/>
              <a:pPr>
                <a:defRPr/>
              </a:pPr>
              <a:t>‹#›</a:t>
            </a:fld>
            <a:endParaRPr lang="en-US"/>
          </a:p>
        </p:txBody>
      </p:sp>
    </p:spTree>
    <p:extLst>
      <p:ext uri="{BB962C8B-B14F-4D97-AF65-F5344CB8AC3E}">
        <p14:creationId xmlns:p14="http://schemas.microsoft.com/office/powerpoint/2010/main" val="245580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C1AED-BCB3-4BFD-ABAB-2873CF05D7AA}"/>
              </a:ext>
            </a:extLst>
          </p:cNvPr>
          <p:cNvSpPr>
            <a:spLocks noGrp="1"/>
          </p:cNvSpPr>
          <p:nvPr>
            <p:ph type="dt" sz="half" idx="10"/>
          </p:nvPr>
        </p:nvSpPr>
        <p:spPr/>
        <p:txBody>
          <a:bodyPr/>
          <a:lstStyle>
            <a:lvl1pPr>
              <a:defRPr/>
            </a:lvl1pPr>
          </a:lstStyle>
          <a:p>
            <a:pPr>
              <a:defRPr/>
            </a:pPr>
            <a:fld id="{1E142DE9-258B-469B-93D4-3CDD33C4A40C}" type="datetimeFigureOut">
              <a:rPr lang="en-US"/>
              <a:pPr>
                <a:defRPr/>
              </a:pPr>
              <a:t>3/1/2025</a:t>
            </a:fld>
            <a:endParaRPr lang="en-US"/>
          </a:p>
        </p:txBody>
      </p:sp>
      <p:sp>
        <p:nvSpPr>
          <p:cNvPr id="5" name="Footer Placeholder 4">
            <a:extLst>
              <a:ext uri="{FF2B5EF4-FFF2-40B4-BE49-F238E27FC236}">
                <a16:creationId xmlns:a16="http://schemas.microsoft.com/office/drawing/2014/main" id="{C6CB5D36-6879-4623-8D6D-39B5B4E7FE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D7380E4-8C4B-4080-B0D8-2C9E9ED68784}"/>
              </a:ext>
            </a:extLst>
          </p:cNvPr>
          <p:cNvSpPr>
            <a:spLocks noGrp="1"/>
          </p:cNvSpPr>
          <p:nvPr>
            <p:ph type="sldNum" sz="quarter" idx="12"/>
          </p:nvPr>
        </p:nvSpPr>
        <p:spPr/>
        <p:txBody>
          <a:bodyPr/>
          <a:lstStyle>
            <a:lvl1pPr>
              <a:defRPr/>
            </a:lvl1pPr>
          </a:lstStyle>
          <a:p>
            <a:pPr>
              <a:defRPr/>
            </a:pPr>
            <a:fld id="{4313EC17-BFA7-44E5-A42D-ECEB854241AE}" type="slidenum">
              <a:rPr lang="en-US"/>
              <a:pPr>
                <a:defRPr/>
              </a:pPr>
              <a:t>‹#›</a:t>
            </a:fld>
            <a:endParaRPr lang="en-US"/>
          </a:p>
        </p:txBody>
      </p:sp>
    </p:spTree>
    <p:extLst>
      <p:ext uri="{BB962C8B-B14F-4D97-AF65-F5344CB8AC3E}">
        <p14:creationId xmlns:p14="http://schemas.microsoft.com/office/powerpoint/2010/main" val="224797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F19B84-153E-4FB9-B32F-EE1B60024859}"/>
              </a:ext>
            </a:extLst>
          </p:cNvPr>
          <p:cNvSpPr>
            <a:spLocks noGrp="1"/>
          </p:cNvSpPr>
          <p:nvPr>
            <p:ph type="dt" sz="half" idx="10"/>
          </p:nvPr>
        </p:nvSpPr>
        <p:spPr/>
        <p:txBody>
          <a:bodyPr/>
          <a:lstStyle>
            <a:lvl1pPr>
              <a:defRPr/>
            </a:lvl1pPr>
          </a:lstStyle>
          <a:p>
            <a:pPr>
              <a:defRPr/>
            </a:pPr>
            <a:fld id="{62202EFB-DB52-42F0-B815-F117AC7AF82F}" type="datetimeFigureOut">
              <a:rPr lang="en-US"/>
              <a:pPr>
                <a:defRPr/>
              </a:pPr>
              <a:t>3/1/2025</a:t>
            </a:fld>
            <a:endParaRPr lang="en-US"/>
          </a:p>
        </p:txBody>
      </p:sp>
      <p:sp>
        <p:nvSpPr>
          <p:cNvPr id="5" name="Footer Placeholder 4">
            <a:extLst>
              <a:ext uri="{FF2B5EF4-FFF2-40B4-BE49-F238E27FC236}">
                <a16:creationId xmlns:a16="http://schemas.microsoft.com/office/drawing/2014/main" id="{9806C356-0F81-45FB-8836-B86473586EB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EEC0FCD-1B84-4906-AFC9-A1C12AA32F07}"/>
              </a:ext>
            </a:extLst>
          </p:cNvPr>
          <p:cNvSpPr>
            <a:spLocks noGrp="1"/>
          </p:cNvSpPr>
          <p:nvPr>
            <p:ph type="sldNum" sz="quarter" idx="12"/>
          </p:nvPr>
        </p:nvSpPr>
        <p:spPr/>
        <p:txBody>
          <a:bodyPr/>
          <a:lstStyle>
            <a:lvl1pPr>
              <a:defRPr/>
            </a:lvl1pPr>
          </a:lstStyle>
          <a:p>
            <a:pPr>
              <a:defRPr/>
            </a:pPr>
            <a:fld id="{C0708C89-3C4E-48AE-9B5E-169929C076A4}" type="slidenum">
              <a:rPr lang="en-US"/>
              <a:pPr>
                <a:defRPr/>
              </a:pPr>
              <a:t>‹#›</a:t>
            </a:fld>
            <a:endParaRPr lang="en-US"/>
          </a:p>
        </p:txBody>
      </p:sp>
    </p:spTree>
    <p:extLst>
      <p:ext uri="{BB962C8B-B14F-4D97-AF65-F5344CB8AC3E}">
        <p14:creationId xmlns:p14="http://schemas.microsoft.com/office/powerpoint/2010/main" val="1346040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7822F3F-C084-4624-B8B4-290246F452FD}"/>
              </a:ext>
            </a:extLst>
          </p:cNvPr>
          <p:cNvSpPr>
            <a:spLocks noGrp="1"/>
          </p:cNvSpPr>
          <p:nvPr>
            <p:ph type="dt" sz="half" idx="10"/>
          </p:nvPr>
        </p:nvSpPr>
        <p:spPr/>
        <p:txBody>
          <a:bodyPr/>
          <a:lstStyle>
            <a:lvl1pPr>
              <a:defRPr/>
            </a:lvl1pPr>
          </a:lstStyle>
          <a:p>
            <a:pPr>
              <a:defRPr/>
            </a:pPr>
            <a:fld id="{A1415FD1-13E4-434F-9FD6-83DA7B9AB9F6}" type="datetimeFigureOut">
              <a:rPr lang="en-US"/>
              <a:pPr>
                <a:defRPr/>
              </a:pPr>
              <a:t>3/1/2025</a:t>
            </a:fld>
            <a:endParaRPr lang="en-US"/>
          </a:p>
        </p:txBody>
      </p:sp>
      <p:sp>
        <p:nvSpPr>
          <p:cNvPr id="6" name="Footer Placeholder 4">
            <a:extLst>
              <a:ext uri="{FF2B5EF4-FFF2-40B4-BE49-F238E27FC236}">
                <a16:creationId xmlns:a16="http://schemas.microsoft.com/office/drawing/2014/main" id="{76B0DAEE-C137-4A49-BC29-9298933A0C6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C314BCC-CC1B-48B5-BDAC-C3CB3EF2C423}"/>
              </a:ext>
            </a:extLst>
          </p:cNvPr>
          <p:cNvSpPr>
            <a:spLocks noGrp="1"/>
          </p:cNvSpPr>
          <p:nvPr>
            <p:ph type="sldNum" sz="quarter" idx="12"/>
          </p:nvPr>
        </p:nvSpPr>
        <p:spPr/>
        <p:txBody>
          <a:bodyPr/>
          <a:lstStyle>
            <a:lvl1pPr>
              <a:defRPr/>
            </a:lvl1pPr>
          </a:lstStyle>
          <a:p>
            <a:pPr>
              <a:defRPr/>
            </a:pPr>
            <a:fld id="{AB5A51A4-FB3A-4A63-97CB-418AF4CCE315}" type="slidenum">
              <a:rPr lang="en-US"/>
              <a:pPr>
                <a:defRPr/>
              </a:pPr>
              <a:t>‹#›</a:t>
            </a:fld>
            <a:endParaRPr lang="en-US"/>
          </a:p>
        </p:txBody>
      </p:sp>
    </p:spTree>
    <p:extLst>
      <p:ext uri="{BB962C8B-B14F-4D97-AF65-F5344CB8AC3E}">
        <p14:creationId xmlns:p14="http://schemas.microsoft.com/office/powerpoint/2010/main" val="3990041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90BCD9D-5CF7-403D-948C-AD41EC76D13A}"/>
              </a:ext>
            </a:extLst>
          </p:cNvPr>
          <p:cNvSpPr>
            <a:spLocks noGrp="1"/>
          </p:cNvSpPr>
          <p:nvPr>
            <p:ph type="dt" sz="half" idx="10"/>
          </p:nvPr>
        </p:nvSpPr>
        <p:spPr/>
        <p:txBody>
          <a:bodyPr/>
          <a:lstStyle>
            <a:lvl1pPr>
              <a:defRPr/>
            </a:lvl1pPr>
          </a:lstStyle>
          <a:p>
            <a:pPr>
              <a:defRPr/>
            </a:pPr>
            <a:fld id="{1FB7E03D-46E3-4F39-AC23-FF3B582DC034}" type="datetimeFigureOut">
              <a:rPr lang="en-US"/>
              <a:pPr>
                <a:defRPr/>
              </a:pPr>
              <a:t>3/1/2025</a:t>
            </a:fld>
            <a:endParaRPr lang="en-US"/>
          </a:p>
        </p:txBody>
      </p:sp>
      <p:sp>
        <p:nvSpPr>
          <p:cNvPr id="8" name="Footer Placeholder 4">
            <a:extLst>
              <a:ext uri="{FF2B5EF4-FFF2-40B4-BE49-F238E27FC236}">
                <a16:creationId xmlns:a16="http://schemas.microsoft.com/office/drawing/2014/main" id="{742899E3-A762-45F9-A0E1-04613054288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BA056A4-B657-432F-8E09-73509098A40D}"/>
              </a:ext>
            </a:extLst>
          </p:cNvPr>
          <p:cNvSpPr>
            <a:spLocks noGrp="1"/>
          </p:cNvSpPr>
          <p:nvPr>
            <p:ph type="sldNum" sz="quarter" idx="12"/>
          </p:nvPr>
        </p:nvSpPr>
        <p:spPr/>
        <p:txBody>
          <a:bodyPr/>
          <a:lstStyle>
            <a:lvl1pPr>
              <a:defRPr/>
            </a:lvl1pPr>
          </a:lstStyle>
          <a:p>
            <a:pPr>
              <a:defRPr/>
            </a:pPr>
            <a:fld id="{7A146B1E-8051-4530-A975-FB3CD0B16FA2}" type="slidenum">
              <a:rPr lang="en-US"/>
              <a:pPr>
                <a:defRPr/>
              </a:pPr>
              <a:t>‹#›</a:t>
            </a:fld>
            <a:endParaRPr lang="en-US"/>
          </a:p>
        </p:txBody>
      </p:sp>
    </p:spTree>
    <p:extLst>
      <p:ext uri="{BB962C8B-B14F-4D97-AF65-F5344CB8AC3E}">
        <p14:creationId xmlns:p14="http://schemas.microsoft.com/office/powerpoint/2010/main" val="2613416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0369086-CCA2-468E-865E-3A85CD37E74E}"/>
              </a:ext>
            </a:extLst>
          </p:cNvPr>
          <p:cNvSpPr>
            <a:spLocks noGrp="1"/>
          </p:cNvSpPr>
          <p:nvPr>
            <p:ph type="dt" sz="half" idx="10"/>
          </p:nvPr>
        </p:nvSpPr>
        <p:spPr/>
        <p:txBody>
          <a:bodyPr/>
          <a:lstStyle>
            <a:lvl1pPr>
              <a:defRPr/>
            </a:lvl1pPr>
          </a:lstStyle>
          <a:p>
            <a:pPr>
              <a:defRPr/>
            </a:pPr>
            <a:fld id="{75C5EDEF-DDF5-40B4-9061-F3A112AECCAC}" type="datetimeFigureOut">
              <a:rPr lang="en-US"/>
              <a:pPr>
                <a:defRPr/>
              </a:pPr>
              <a:t>3/1/2025</a:t>
            </a:fld>
            <a:endParaRPr lang="en-US"/>
          </a:p>
        </p:txBody>
      </p:sp>
      <p:sp>
        <p:nvSpPr>
          <p:cNvPr id="4" name="Footer Placeholder 4">
            <a:extLst>
              <a:ext uri="{FF2B5EF4-FFF2-40B4-BE49-F238E27FC236}">
                <a16:creationId xmlns:a16="http://schemas.microsoft.com/office/drawing/2014/main" id="{1A48EABA-D425-4E1D-8C1F-1E529BC3612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57ACFBF-AC2B-4CCC-A90A-A81A7D1D91B4}"/>
              </a:ext>
            </a:extLst>
          </p:cNvPr>
          <p:cNvSpPr>
            <a:spLocks noGrp="1"/>
          </p:cNvSpPr>
          <p:nvPr>
            <p:ph type="sldNum" sz="quarter" idx="12"/>
          </p:nvPr>
        </p:nvSpPr>
        <p:spPr/>
        <p:txBody>
          <a:bodyPr/>
          <a:lstStyle>
            <a:lvl1pPr>
              <a:defRPr/>
            </a:lvl1pPr>
          </a:lstStyle>
          <a:p>
            <a:pPr>
              <a:defRPr/>
            </a:pPr>
            <a:fld id="{8BE5C414-8853-4A95-A39D-14816B7E5631}" type="slidenum">
              <a:rPr lang="en-US"/>
              <a:pPr>
                <a:defRPr/>
              </a:pPr>
              <a:t>‹#›</a:t>
            </a:fld>
            <a:endParaRPr lang="en-US"/>
          </a:p>
        </p:txBody>
      </p:sp>
    </p:spTree>
    <p:extLst>
      <p:ext uri="{BB962C8B-B14F-4D97-AF65-F5344CB8AC3E}">
        <p14:creationId xmlns:p14="http://schemas.microsoft.com/office/powerpoint/2010/main" val="281269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6DE1364-D94F-406D-8B5D-C96630624CDC}"/>
              </a:ext>
            </a:extLst>
          </p:cNvPr>
          <p:cNvSpPr>
            <a:spLocks noGrp="1"/>
          </p:cNvSpPr>
          <p:nvPr>
            <p:ph type="dt" sz="half" idx="10"/>
          </p:nvPr>
        </p:nvSpPr>
        <p:spPr/>
        <p:txBody>
          <a:bodyPr/>
          <a:lstStyle>
            <a:lvl1pPr>
              <a:defRPr/>
            </a:lvl1pPr>
          </a:lstStyle>
          <a:p>
            <a:pPr>
              <a:defRPr/>
            </a:pPr>
            <a:fld id="{F004BA40-F2BD-460D-9F47-9AFC9D80B013}" type="datetimeFigureOut">
              <a:rPr lang="en-US"/>
              <a:pPr>
                <a:defRPr/>
              </a:pPr>
              <a:t>3/1/2025</a:t>
            </a:fld>
            <a:endParaRPr lang="en-US"/>
          </a:p>
        </p:txBody>
      </p:sp>
      <p:sp>
        <p:nvSpPr>
          <p:cNvPr id="3" name="Footer Placeholder 4">
            <a:extLst>
              <a:ext uri="{FF2B5EF4-FFF2-40B4-BE49-F238E27FC236}">
                <a16:creationId xmlns:a16="http://schemas.microsoft.com/office/drawing/2014/main" id="{9FDA1217-2843-4429-BC4C-B6E9EA663CE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FB4ACA3-615A-4221-8912-93C8289B4532}"/>
              </a:ext>
            </a:extLst>
          </p:cNvPr>
          <p:cNvSpPr>
            <a:spLocks noGrp="1"/>
          </p:cNvSpPr>
          <p:nvPr>
            <p:ph type="sldNum" sz="quarter" idx="12"/>
          </p:nvPr>
        </p:nvSpPr>
        <p:spPr/>
        <p:txBody>
          <a:bodyPr/>
          <a:lstStyle>
            <a:lvl1pPr>
              <a:defRPr/>
            </a:lvl1pPr>
          </a:lstStyle>
          <a:p>
            <a:pPr>
              <a:defRPr/>
            </a:pPr>
            <a:fld id="{461693B9-6A7D-4CB0-97F3-11486D2604B4}" type="slidenum">
              <a:rPr lang="en-US"/>
              <a:pPr>
                <a:defRPr/>
              </a:pPr>
              <a:t>‹#›</a:t>
            </a:fld>
            <a:endParaRPr lang="en-US"/>
          </a:p>
        </p:txBody>
      </p:sp>
    </p:spTree>
    <p:extLst>
      <p:ext uri="{BB962C8B-B14F-4D97-AF65-F5344CB8AC3E}">
        <p14:creationId xmlns:p14="http://schemas.microsoft.com/office/powerpoint/2010/main" val="730350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F84FA87-38E6-4EF5-9F56-6F114055C70B}"/>
              </a:ext>
            </a:extLst>
          </p:cNvPr>
          <p:cNvSpPr>
            <a:spLocks noGrp="1"/>
          </p:cNvSpPr>
          <p:nvPr>
            <p:ph type="dt" sz="half" idx="10"/>
          </p:nvPr>
        </p:nvSpPr>
        <p:spPr/>
        <p:txBody>
          <a:bodyPr/>
          <a:lstStyle>
            <a:lvl1pPr>
              <a:defRPr/>
            </a:lvl1pPr>
          </a:lstStyle>
          <a:p>
            <a:pPr>
              <a:defRPr/>
            </a:pPr>
            <a:fld id="{8C475A04-7FA3-4C80-86E4-16B3DFB29593}" type="datetimeFigureOut">
              <a:rPr lang="en-US"/>
              <a:pPr>
                <a:defRPr/>
              </a:pPr>
              <a:t>3/1/2025</a:t>
            </a:fld>
            <a:endParaRPr lang="en-US"/>
          </a:p>
        </p:txBody>
      </p:sp>
      <p:sp>
        <p:nvSpPr>
          <p:cNvPr id="6" name="Footer Placeholder 4">
            <a:extLst>
              <a:ext uri="{FF2B5EF4-FFF2-40B4-BE49-F238E27FC236}">
                <a16:creationId xmlns:a16="http://schemas.microsoft.com/office/drawing/2014/main" id="{79DE73EF-64C9-4109-B41F-663FA2F6E0F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29D8853-8C58-458C-ABFC-09608DCC1237}"/>
              </a:ext>
            </a:extLst>
          </p:cNvPr>
          <p:cNvSpPr>
            <a:spLocks noGrp="1"/>
          </p:cNvSpPr>
          <p:nvPr>
            <p:ph type="sldNum" sz="quarter" idx="12"/>
          </p:nvPr>
        </p:nvSpPr>
        <p:spPr/>
        <p:txBody>
          <a:bodyPr/>
          <a:lstStyle>
            <a:lvl1pPr>
              <a:defRPr/>
            </a:lvl1pPr>
          </a:lstStyle>
          <a:p>
            <a:pPr>
              <a:defRPr/>
            </a:pPr>
            <a:fld id="{351F59A1-6DC7-47B0-A8FB-CEBB04CC558A}" type="slidenum">
              <a:rPr lang="en-US"/>
              <a:pPr>
                <a:defRPr/>
              </a:pPr>
              <a:t>‹#›</a:t>
            </a:fld>
            <a:endParaRPr lang="en-US"/>
          </a:p>
        </p:txBody>
      </p:sp>
    </p:spTree>
    <p:extLst>
      <p:ext uri="{BB962C8B-B14F-4D97-AF65-F5344CB8AC3E}">
        <p14:creationId xmlns:p14="http://schemas.microsoft.com/office/powerpoint/2010/main" val="251509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CBFE706-1A0A-4E6D-A03B-859C989781D9}"/>
              </a:ext>
            </a:extLst>
          </p:cNvPr>
          <p:cNvSpPr>
            <a:spLocks noGrp="1"/>
          </p:cNvSpPr>
          <p:nvPr>
            <p:ph type="dt" sz="half" idx="10"/>
          </p:nvPr>
        </p:nvSpPr>
        <p:spPr/>
        <p:txBody>
          <a:bodyPr/>
          <a:lstStyle>
            <a:lvl1pPr>
              <a:defRPr/>
            </a:lvl1pPr>
          </a:lstStyle>
          <a:p>
            <a:pPr>
              <a:defRPr/>
            </a:pPr>
            <a:fld id="{7E9FB565-8022-4DFC-BD2C-124B4ECB825A}" type="datetimeFigureOut">
              <a:rPr lang="en-US"/>
              <a:pPr>
                <a:defRPr/>
              </a:pPr>
              <a:t>3/1/2025</a:t>
            </a:fld>
            <a:endParaRPr lang="en-US"/>
          </a:p>
        </p:txBody>
      </p:sp>
      <p:sp>
        <p:nvSpPr>
          <p:cNvPr id="6" name="Footer Placeholder 4">
            <a:extLst>
              <a:ext uri="{FF2B5EF4-FFF2-40B4-BE49-F238E27FC236}">
                <a16:creationId xmlns:a16="http://schemas.microsoft.com/office/drawing/2014/main" id="{58C61DDF-2CE3-4BD6-968A-C56BD76AF51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4764DE4-862C-48A6-A3DE-C8E940245A23}"/>
              </a:ext>
            </a:extLst>
          </p:cNvPr>
          <p:cNvSpPr>
            <a:spLocks noGrp="1"/>
          </p:cNvSpPr>
          <p:nvPr>
            <p:ph type="sldNum" sz="quarter" idx="12"/>
          </p:nvPr>
        </p:nvSpPr>
        <p:spPr/>
        <p:txBody>
          <a:bodyPr/>
          <a:lstStyle>
            <a:lvl1pPr>
              <a:defRPr/>
            </a:lvl1pPr>
          </a:lstStyle>
          <a:p>
            <a:pPr>
              <a:defRPr/>
            </a:pPr>
            <a:fld id="{942886D1-C637-442B-A39A-A0D3F7BFD4AD}" type="slidenum">
              <a:rPr lang="en-US"/>
              <a:pPr>
                <a:defRPr/>
              </a:pPr>
              <a:t>‹#›</a:t>
            </a:fld>
            <a:endParaRPr lang="en-US"/>
          </a:p>
        </p:txBody>
      </p:sp>
    </p:spTree>
    <p:extLst>
      <p:ext uri="{BB962C8B-B14F-4D97-AF65-F5344CB8AC3E}">
        <p14:creationId xmlns:p14="http://schemas.microsoft.com/office/powerpoint/2010/main" val="3419718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24E53C-F797-45D9-AC93-FEEB65405E26}"/>
              </a:ext>
            </a:extLst>
          </p:cNvPr>
          <p:cNvSpPr>
            <a:spLocks noGrp="1"/>
          </p:cNvSpPr>
          <p:nvPr>
            <p:ph type="dt" sz="half" idx="10"/>
          </p:nvPr>
        </p:nvSpPr>
        <p:spPr/>
        <p:txBody>
          <a:bodyPr/>
          <a:lstStyle>
            <a:lvl1pPr>
              <a:defRPr/>
            </a:lvl1pPr>
          </a:lstStyle>
          <a:p>
            <a:pPr>
              <a:defRPr/>
            </a:pPr>
            <a:fld id="{87BAA470-3B73-48E7-BDE0-6E69A209CCE7}" type="datetimeFigureOut">
              <a:rPr lang="en-US"/>
              <a:pPr>
                <a:defRPr/>
              </a:pPr>
              <a:t>3/1/2025</a:t>
            </a:fld>
            <a:endParaRPr lang="en-US"/>
          </a:p>
        </p:txBody>
      </p:sp>
      <p:sp>
        <p:nvSpPr>
          <p:cNvPr id="5" name="Footer Placeholder 4">
            <a:extLst>
              <a:ext uri="{FF2B5EF4-FFF2-40B4-BE49-F238E27FC236}">
                <a16:creationId xmlns:a16="http://schemas.microsoft.com/office/drawing/2014/main" id="{09AB162C-4D6C-4A9F-8213-C21414AA31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BDB7545-789A-42FE-A8E1-2A5B2539FC32}"/>
              </a:ext>
            </a:extLst>
          </p:cNvPr>
          <p:cNvSpPr>
            <a:spLocks noGrp="1"/>
          </p:cNvSpPr>
          <p:nvPr>
            <p:ph type="sldNum" sz="quarter" idx="12"/>
          </p:nvPr>
        </p:nvSpPr>
        <p:spPr/>
        <p:txBody>
          <a:bodyPr/>
          <a:lstStyle>
            <a:lvl1pPr>
              <a:defRPr/>
            </a:lvl1pPr>
          </a:lstStyle>
          <a:p>
            <a:pPr>
              <a:defRPr/>
            </a:pPr>
            <a:fld id="{3892FBBE-7720-4AC0-8C0A-E95C2A459D0E}" type="slidenum">
              <a:rPr lang="en-US"/>
              <a:pPr>
                <a:defRPr/>
              </a:pPr>
              <a:t>‹#›</a:t>
            </a:fld>
            <a:endParaRPr lang="en-US"/>
          </a:p>
        </p:txBody>
      </p:sp>
    </p:spTree>
    <p:extLst>
      <p:ext uri="{BB962C8B-B14F-4D97-AF65-F5344CB8AC3E}">
        <p14:creationId xmlns:p14="http://schemas.microsoft.com/office/powerpoint/2010/main" val="4080648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E059FD-CA8F-4B7D-8B27-2F983594A423}"/>
              </a:ext>
            </a:extLst>
          </p:cNvPr>
          <p:cNvSpPr>
            <a:spLocks noGrp="1"/>
          </p:cNvSpPr>
          <p:nvPr>
            <p:ph type="dt" sz="half" idx="10"/>
          </p:nvPr>
        </p:nvSpPr>
        <p:spPr/>
        <p:txBody>
          <a:bodyPr/>
          <a:lstStyle>
            <a:lvl1pPr>
              <a:defRPr/>
            </a:lvl1pPr>
          </a:lstStyle>
          <a:p>
            <a:pPr>
              <a:defRPr/>
            </a:pPr>
            <a:fld id="{F7D43052-FFF5-4178-81C6-F4EFF9AFE63B}" type="datetimeFigureOut">
              <a:rPr lang="en-US"/>
              <a:pPr>
                <a:defRPr/>
              </a:pPr>
              <a:t>3/1/2025</a:t>
            </a:fld>
            <a:endParaRPr lang="en-US"/>
          </a:p>
        </p:txBody>
      </p:sp>
      <p:sp>
        <p:nvSpPr>
          <p:cNvPr id="5" name="Footer Placeholder 4">
            <a:extLst>
              <a:ext uri="{FF2B5EF4-FFF2-40B4-BE49-F238E27FC236}">
                <a16:creationId xmlns:a16="http://schemas.microsoft.com/office/drawing/2014/main" id="{5489374F-3469-4B20-8624-27B26A8CD62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F7DBBE-2A77-4A13-A19E-19A9938506ED}"/>
              </a:ext>
            </a:extLst>
          </p:cNvPr>
          <p:cNvSpPr>
            <a:spLocks noGrp="1"/>
          </p:cNvSpPr>
          <p:nvPr>
            <p:ph type="sldNum" sz="quarter" idx="12"/>
          </p:nvPr>
        </p:nvSpPr>
        <p:spPr/>
        <p:txBody>
          <a:bodyPr/>
          <a:lstStyle>
            <a:lvl1pPr>
              <a:defRPr/>
            </a:lvl1pPr>
          </a:lstStyle>
          <a:p>
            <a:pPr>
              <a:defRPr/>
            </a:pPr>
            <a:fld id="{8643D377-2CA3-411B-A987-0AF4EF465DEB}" type="slidenum">
              <a:rPr lang="en-US"/>
              <a:pPr>
                <a:defRPr/>
              </a:pPr>
              <a:t>‹#›</a:t>
            </a:fld>
            <a:endParaRPr lang="en-US"/>
          </a:p>
        </p:txBody>
      </p:sp>
    </p:spTree>
    <p:extLst>
      <p:ext uri="{BB962C8B-B14F-4D97-AF65-F5344CB8AC3E}">
        <p14:creationId xmlns:p14="http://schemas.microsoft.com/office/powerpoint/2010/main" val="404688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D103265-13D7-4A58-AC62-B9177395C3DA}"/>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0EB5397-D431-42A2-9C3E-B5524070962B}"/>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522DD83-58D6-4105-9866-63EFD7DAAA9E}"/>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9F5FFAB-E66A-44DE-B5ED-1CDF57DB5285}" type="datetimeFigureOut">
              <a:rPr lang="en-US"/>
              <a:pPr>
                <a:defRPr/>
              </a:pPr>
              <a:t>3/1/2025</a:t>
            </a:fld>
            <a:endParaRPr lang="en-US"/>
          </a:p>
        </p:txBody>
      </p:sp>
      <p:sp>
        <p:nvSpPr>
          <p:cNvPr id="5" name="Footer Placeholder 4">
            <a:extLst>
              <a:ext uri="{FF2B5EF4-FFF2-40B4-BE49-F238E27FC236}">
                <a16:creationId xmlns:a16="http://schemas.microsoft.com/office/drawing/2014/main" id="{560B2304-BA1A-47CB-AC27-A3F9399201EB}"/>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B08D4F0C-7F39-48F3-8D92-2545AF2A284B}"/>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E38B28E-BEA2-4414-8D6C-4F6793A7D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F6221B72-C48A-4DB7-90C2-A9E7415D0E23}"/>
              </a:ext>
            </a:extLst>
          </p:cNvPr>
          <p:cNvSpPr>
            <a:spLocks noGrp="1"/>
          </p:cNvSpPr>
          <p:nvPr>
            <p:ph type="ctrTitle"/>
          </p:nvPr>
        </p:nvSpPr>
        <p:spPr/>
        <p:txBody>
          <a:bodyPr/>
          <a:lstStyle/>
          <a:p>
            <a:r>
              <a:rPr lang="en-US" altLang="en-US" sz="2800" b="1"/>
              <a:t>AMERICAN INTERNATIONAL UNIVERSITY-BANGLADESH (AIUB)</a:t>
            </a:r>
            <a:br>
              <a:rPr lang="en-US" altLang="en-US" sz="2800"/>
            </a:br>
            <a:r>
              <a:rPr lang="en-US" altLang="en-US" sz="2800"/>
              <a:t>Faculty of Science and Technology</a:t>
            </a:r>
            <a:endParaRPr lang="en-US" altLang="en-US" sz="2800" b="1"/>
          </a:p>
        </p:txBody>
      </p:sp>
      <p:sp>
        <p:nvSpPr>
          <p:cNvPr id="3" name="Subtitle 2">
            <a:extLst>
              <a:ext uri="{FF2B5EF4-FFF2-40B4-BE49-F238E27FC236}">
                <a16:creationId xmlns:a16="http://schemas.microsoft.com/office/drawing/2014/main" id="{D8DA6E1A-6628-4B36-A6B3-00E225928F26}"/>
              </a:ext>
            </a:extLst>
          </p:cNvPr>
          <p:cNvSpPr>
            <a:spLocks noGrp="1"/>
          </p:cNvSpPr>
          <p:nvPr>
            <p:ph type="subTitle" idx="1"/>
          </p:nvPr>
        </p:nvSpPr>
        <p:spPr/>
        <p:txBody>
          <a:bodyPr rtlCol="0">
            <a:normAutofit fontScale="85000" lnSpcReduction="20000"/>
          </a:bodyPr>
          <a:lstStyle/>
          <a:p>
            <a:pPr eaLnBrk="1" fontAlgn="auto" hangingPunct="1">
              <a:spcAft>
                <a:spcPts val="0"/>
              </a:spcAft>
              <a:defRPr/>
            </a:pPr>
            <a:r>
              <a:rPr lang="en-US" b="1" dirty="0"/>
              <a:t>COURSE OUTLINE</a:t>
            </a:r>
          </a:p>
          <a:p>
            <a:pPr eaLnBrk="1" fontAlgn="auto" hangingPunct="1">
              <a:spcAft>
                <a:spcPts val="0"/>
              </a:spcAft>
              <a:defRPr/>
            </a:pPr>
            <a:r>
              <a:rPr lang="en-US" dirty="0"/>
              <a:t>CSC – 2210</a:t>
            </a:r>
          </a:p>
          <a:p>
            <a:pPr eaLnBrk="1" fontAlgn="auto" hangingPunct="1">
              <a:spcAft>
                <a:spcPts val="0"/>
              </a:spcAft>
              <a:defRPr/>
            </a:pPr>
            <a:r>
              <a:rPr lang="en-US" dirty="0"/>
              <a:t>Object Oriented Analysis and Design (OOAD)</a:t>
            </a:r>
          </a:p>
          <a:p>
            <a:pPr eaLnBrk="1" fontAlgn="auto" hangingPunct="1">
              <a:spcAft>
                <a:spcPts val="0"/>
              </a:spcAft>
              <a:defRPr/>
            </a:pPr>
            <a:r>
              <a:rPr lang="en-US" dirty="0"/>
              <a:t>Fall 2024-2025</a:t>
            </a:r>
          </a:p>
        </p:txBody>
      </p:sp>
      <p:pic>
        <p:nvPicPr>
          <p:cNvPr id="4" name="Picture 3" descr="A blue circle with text and images&#10;&#10;Description automatically generated">
            <a:extLst>
              <a:ext uri="{FF2B5EF4-FFF2-40B4-BE49-F238E27FC236}">
                <a16:creationId xmlns:a16="http://schemas.microsoft.com/office/drawing/2014/main" id="{E4982EC8-48BF-A195-7281-70A4B1C5D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533" y="501492"/>
            <a:ext cx="1628934" cy="16289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41D558B-7715-42FF-8366-4712015C5425}"/>
              </a:ext>
            </a:extLst>
          </p:cNvPr>
          <p:cNvSpPr>
            <a:spLocks noGrp="1"/>
          </p:cNvSpPr>
          <p:nvPr>
            <p:ph type="title"/>
          </p:nvPr>
        </p:nvSpPr>
        <p:spPr/>
        <p:txBody>
          <a:bodyPr/>
          <a:lstStyle/>
          <a:p>
            <a:r>
              <a:rPr lang="en-US" altLang="en-US" sz="3600" b="1" dirty="0"/>
              <a:t>COURSE OUTLINE: OOAD</a:t>
            </a:r>
            <a:endParaRPr lang="en-US" altLang="en-US" sz="3600" dirty="0"/>
          </a:p>
        </p:txBody>
      </p:sp>
      <p:sp>
        <p:nvSpPr>
          <p:cNvPr id="3075" name="Content Placeholder 2">
            <a:extLst>
              <a:ext uri="{FF2B5EF4-FFF2-40B4-BE49-F238E27FC236}">
                <a16:creationId xmlns:a16="http://schemas.microsoft.com/office/drawing/2014/main" id="{7D71A752-5EBE-409F-AF46-ADB689E2485E}"/>
              </a:ext>
            </a:extLst>
          </p:cNvPr>
          <p:cNvSpPr>
            <a:spLocks noGrp="1"/>
          </p:cNvSpPr>
          <p:nvPr>
            <p:ph idx="1"/>
          </p:nvPr>
        </p:nvSpPr>
        <p:spPr/>
        <p:txBody>
          <a:bodyPr/>
          <a:lstStyle/>
          <a:p>
            <a:r>
              <a:rPr lang="en-US" altLang="en-US" b="1" dirty="0"/>
              <a:t>Credit: </a:t>
            </a:r>
            <a:r>
              <a:rPr lang="en-US" altLang="en-US" dirty="0"/>
              <a:t>3 credit hours (3 hours of theory per week)</a:t>
            </a:r>
          </a:p>
          <a:p>
            <a:r>
              <a:rPr lang="en-US" altLang="en-US" b="1" dirty="0"/>
              <a:t>Nature: </a:t>
            </a:r>
            <a:r>
              <a:rPr lang="en-US" altLang="en-US" dirty="0"/>
              <a:t>Major Course for BSc. in CSE</a:t>
            </a:r>
          </a:p>
          <a:p>
            <a:r>
              <a:rPr lang="en-US" altLang="en-US" b="1" dirty="0"/>
              <a:t>Prerequisite: 	</a:t>
            </a:r>
          </a:p>
          <a:p>
            <a:pPr lvl="1"/>
            <a:r>
              <a:rPr lang="en-US" altLang="en-US" dirty="0"/>
              <a:t>CSC 2105 – Data Structure</a:t>
            </a:r>
          </a:p>
          <a:p>
            <a:pPr lvl="1"/>
            <a:r>
              <a:rPr lang="en-US" altLang="en-US" dirty="0"/>
              <a:t>CSC 2107 – Introduction to Database</a:t>
            </a:r>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6C1EF879-20B1-4213-A1B0-1BDF88435712}"/>
              </a:ext>
            </a:extLst>
          </p:cNvPr>
          <p:cNvSpPr>
            <a:spLocks noGrp="1"/>
          </p:cNvSpPr>
          <p:nvPr>
            <p:ph type="title"/>
          </p:nvPr>
        </p:nvSpPr>
        <p:spPr/>
        <p:txBody>
          <a:bodyPr/>
          <a:lstStyle/>
          <a:p>
            <a:r>
              <a:rPr lang="en-US" altLang="en-US" sz="4000" b="1"/>
              <a:t>Course Description</a:t>
            </a:r>
            <a:endParaRPr lang="en-US" altLang="en-US" sz="4000"/>
          </a:p>
        </p:txBody>
      </p:sp>
      <p:sp>
        <p:nvSpPr>
          <p:cNvPr id="3" name="Content Placeholder 2">
            <a:extLst>
              <a:ext uri="{FF2B5EF4-FFF2-40B4-BE49-F238E27FC236}">
                <a16:creationId xmlns:a16="http://schemas.microsoft.com/office/drawing/2014/main" id="{962745EA-E069-4689-80B2-487D9471CBCA}"/>
              </a:ext>
            </a:extLst>
          </p:cNvPr>
          <p:cNvSpPr>
            <a:spLocks noGrp="1"/>
          </p:cNvSpPr>
          <p:nvPr>
            <p:ph idx="1"/>
          </p:nvPr>
        </p:nvSpPr>
        <p:spPr/>
        <p:txBody>
          <a:bodyPr>
            <a:normAutofit/>
          </a:bodyPr>
          <a:lstStyle/>
          <a:p>
            <a:pPr marL="0" indent="0" algn="just">
              <a:buNone/>
              <a:defRPr/>
            </a:pPr>
            <a:r>
              <a:rPr lang="en-US" dirty="0"/>
              <a:t>Object oriented (OO) technology is the most modern way of thinking to implement any realistic information system. This course covers one of the most widely used and popular OOAD tools available at the moment- </a:t>
            </a:r>
            <a:r>
              <a:rPr lang="en-US" b="1" dirty="0"/>
              <a:t>UML (Unified Modeling Language) </a:t>
            </a:r>
            <a:r>
              <a:rPr lang="en-US" dirty="0"/>
              <a:t>along with </a:t>
            </a:r>
            <a:r>
              <a:rPr lang="en-US" b="1" dirty="0"/>
              <a:t>OO metrics</a:t>
            </a:r>
            <a:r>
              <a:rPr lang="en-US" dirty="0"/>
              <a:t>, IS Project Planning tools and above all </a:t>
            </a:r>
            <a:r>
              <a:rPr lang="en-US" b="1" dirty="0"/>
              <a:t>OO Design Pattern</a:t>
            </a:r>
            <a:r>
              <a:rPr lang="en-US" dirty="0"/>
              <a:t>. UML is a language for visualizing, specifying, constructing and documenting the artifacts of a software-intensive system. The other topics cover the </a:t>
            </a:r>
            <a:r>
              <a:rPr lang="en-US" b="1" dirty="0"/>
              <a:t>Object-Oriented Software Engineering</a:t>
            </a:r>
            <a:r>
              <a:rPr lang="en-US" dirty="0"/>
              <a:t> aspects.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F6E3E74-CB76-4548-A930-358596FEC147}"/>
              </a:ext>
            </a:extLst>
          </p:cNvPr>
          <p:cNvSpPr>
            <a:spLocks noGrp="1"/>
          </p:cNvSpPr>
          <p:nvPr>
            <p:ph type="title"/>
          </p:nvPr>
        </p:nvSpPr>
        <p:spPr/>
        <p:txBody>
          <a:bodyPr/>
          <a:lstStyle/>
          <a:p>
            <a:r>
              <a:rPr lang="en-US" altLang="en-US" b="1"/>
              <a:t>Objectives</a:t>
            </a:r>
          </a:p>
        </p:txBody>
      </p:sp>
      <p:sp>
        <p:nvSpPr>
          <p:cNvPr id="3" name="Content Placeholder 2">
            <a:extLst>
              <a:ext uri="{FF2B5EF4-FFF2-40B4-BE49-F238E27FC236}">
                <a16:creationId xmlns:a16="http://schemas.microsoft.com/office/drawing/2014/main" id="{B53DEE69-8BB1-42DD-A8A2-B9EC55EAFA79}"/>
              </a:ext>
            </a:extLst>
          </p:cNvPr>
          <p:cNvSpPr>
            <a:spLocks noGrp="1"/>
          </p:cNvSpPr>
          <p:nvPr>
            <p:ph idx="1"/>
          </p:nvPr>
        </p:nvSpPr>
        <p:spPr/>
        <p:txBody>
          <a:bodyPr>
            <a:normAutofit lnSpcReduction="10000"/>
          </a:bodyPr>
          <a:lstStyle/>
          <a:p>
            <a:pPr marL="0" indent="0">
              <a:buNone/>
              <a:defRPr/>
            </a:pPr>
            <a:r>
              <a:rPr lang="en-US" sz="2400" dirty="0"/>
              <a:t>The main objectives of this course are as follows:</a:t>
            </a:r>
          </a:p>
          <a:p>
            <a:pPr>
              <a:defRPr/>
            </a:pPr>
            <a:r>
              <a:rPr lang="en-US" sz="2400" dirty="0"/>
              <a:t>to introduce System Analysis and Design using Object Oriented Concepts, </a:t>
            </a:r>
          </a:p>
          <a:p>
            <a:pPr>
              <a:defRPr/>
            </a:pPr>
            <a:r>
              <a:rPr lang="en-US" sz="2400" dirty="0"/>
              <a:t>to provide a sound understanding of the fundamental concepts of the object model, </a:t>
            </a:r>
          </a:p>
          <a:p>
            <a:pPr>
              <a:defRPr/>
            </a:pPr>
            <a:r>
              <a:rPr lang="en-US" sz="2400" dirty="0"/>
              <a:t>to familiarize with the notation and process of object-oriented analysis and design,</a:t>
            </a:r>
          </a:p>
          <a:p>
            <a:pPr>
              <a:defRPr/>
            </a:pPr>
            <a:r>
              <a:rPr lang="en-US" sz="2400" dirty="0"/>
              <a:t>to enable students to realize the industrial-strength of the Object-Oriented Technology, make them learn to use visual tools to design Object Oriented System,</a:t>
            </a:r>
          </a:p>
          <a:p>
            <a:pPr>
              <a:defRPr/>
            </a:pPr>
            <a:r>
              <a:rPr lang="en-US" sz="2400" dirty="0"/>
              <a:t>to help students to see the insight and long-term effect of various Object Orientated aspects using Object Orientated metrics, and to see their relationship with those aspects</a:t>
            </a:r>
          </a:p>
          <a:p>
            <a:pPr>
              <a:defRPr/>
            </a:pPr>
            <a:r>
              <a:rPr lang="en-US" sz="2400" dirty="0"/>
              <a:t>to introduce students with the concepts of Design Patterns and its implementations using some common design patterns that are widely used in the industry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706C-DEC0-0AD4-CE35-5356FA4CEC88}"/>
              </a:ext>
            </a:extLst>
          </p:cNvPr>
          <p:cNvSpPr>
            <a:spLocks noGrp="1"/>
          </p:cNvSpPr>
          <p:nvPr>
            <p:ph type="title"/>
          </p:nvPr>
        </p:nvSpPr>
        <p:spPr/>
        <p:txBody>
          <a:bodyPr/>
          <a:lstStyle/>
          <a:p>
            <a:r>
              <a:rPr lang="en-US" dirty="0"/>
              <a:t>Course outcomes (CO) Matrix: </a:t>
            </a:r>
          </a:p>
        </p:txBody>
      </p:sp>
      <p:graphicFrame>
        <p:nvGraphicFramePr>
          <p:cNvPr id="4" name="Content Placeholder 3">
            <a:extLst>
              <a:ext uri="{FF2B5EF4-FFF2-40B4-BE49-F238E27FC236}">
                <a16:creationId xmlns:a16="http://schemas.microsoft.com/office/drawing/2014/main" id="{6A64F3C5-A33E-5973-72A2-5DF745B52D0B}"/>
              </a:ext>
            </a:extLst>
          </p:cNvPr>
          <p:cNvGraphicFramePr>
            <a:graphicFrameLocks noGrp="1"/>
          </p:cNvGraphicFramePr>
          <p:nvPr>
            <p:ph idx="1"/>
            <p:extLst>
              <p:ext uri="{D42A27DB-BD31-4B8C-83A1-F6EECF244321}">
                <p14:modId xmlns:p14="http://schemas.microsoft.com/office/powerpoint/2010/main" val="3238424550"/>
              </p:ext>
            </p:extLst>
          </p:nvPr>
        </p:nvGraphicFramePr>
        <p:xfrm>
          <a:off x="719328" y="1828800"/>
          <a:ext cx="10745213" cy="3352800"/>
        </p:xfrm>
        <a:graphic>
          <a:graphicData uri="http://schemas.openxmlformats.org/drawingml/2006/table">
            <a:tbl>
              <a:tblPr firstRow="1" bandRow="1">
                <a:tableStyleId>{B301B821-A1FF-4177-AEE7-76D212191A09}</a:tableStyleId>
              </a:tblPr>
              <a:tblGrid>
                <a:gridCol w="733806">
                  <a:extLst>
                    <a:ext uri="{9D8B030D-6E8A-4147-A177-3AD203B41FA5}">
                      <a16:colId xmlns:a16="http://schemas.microsoft.com/office/drawing/2014/main" val="809708380"/>
                    </a:ext>
                  </a:extLst>
                </a:gridCol>
                <a:gridCol w="6435284">
                  <a:extLst>
                    <a:ext uri="{9D8B030D-6E8A-4147-A177-3AD203B41FA5}">
                      <a16:colId xmlns:a16="http://schemas.microsoft.com/office/drawing/2014/main" val="1126836452"/>
                    </a:ext>
                  </a:extLst>
                </a:gridCol>
                <a:gridCol w="743034">
                  <a:extLst>
                    <a:ext uri="{9D8B030D-6E8A-4147-A177-3AD203B41FA5}">
                      <a16:colId xmlns:a16="http://schemas.microsoft.com/office/drawing/2014/main" val="4017320647"/>
                    </a:ext>
                  </a:extLst>
                </a:gridCol>
                <a:gridCol w="743034">
                  <a:extLst>
                    <a:ext uri="{9D8B030D-6E8A-4147-A177-3AD203B41FA5}">
                      <a16:colId xmlns:a16="http://schemas.microsoft.com/office/drawing/2014/main" val="3800722662"/>
                    </a:ext>
                  </a:extLst>
                </a:gridCol>
                <a:gridCol w="743034">
                  <a:extLst>
                    <a:ext uri="{9D8B030D-6E8A-4147-A177-3AD203B41FA5}">
                      <a16:colId xmlns:a16="http://schemas.microsoft.com/office/drawing/2014/main" val="3419845307"/>
                    </a:ext>
                  </a:extLst>
                </a:gridCol>
                <a:gridCol w="1347021">
                  <a:extLst>
                    <a:ext uri="{9D8B030D-6E8A-4147-A177-3AD203B41FA5}">
                      <a16:colId xmlns:a16="http://schemas.microsoft.com/office/drawing/2014/main" val="2686810163"/>
                    </a:ext>
                  </a:extLst>
                </a:gridCol>
              </a:tblGrid>
              <a:tr h="0">
                <a:tc rowSpan="2">
                  <a:txBody>
                    <a:bodyPr/>
                    <a:lstStyle/>
                    <a:p>
                      <a:pPr marL="0" marR="0" algn="just">
                        <a:spcBef>
                          <a:spcPts val="0"/>
                        </a:spcBef>
                        <a:spcAft>
                          <a:spcPts val="0"/>
                        </a:spcAft>
                      </a:pPr>
                      <a:r>
                        <a:rPr lang="en-GB" sz="2000" dirty="0">
                          <a:effectLst/>
                        </a:rPr>
                        <a:t>COs*</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rowSpan="2">
                  <a:txBody>
                    <a:bodyPr/>
                    <a:lstStyle/>
                    <a:p>
                      <a:pPr marL="0" marR="0" algn="just">
                        <a:spcBef>
                          <a:spcPts val="0"/>
                        </a:spcBef>
                        <a:spcAft>
                          <a:spcPts val="0"/>
                        </a:spcAft>
                        <a:tabLst>
                          <a:tab pos="0" algn="l"/>
                        </a:tabLst>
                      </a:pPr>
                      <a:r>
                        <a:rPr lang="en-US" sz="2000" dirty="0">
                          <a:effectLst/>
                        </a:rPr>
                        <a:t>CO Description</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gridSpan="3">
                  <a:txBody>
                    <a:bodyPr/>
                    <a:lstStyle/>
                    <a:p>
                      <a:pPr marL="0" marR="0" algn="ctr">
                        <a:spcBef>
                          <a:spcPts val="0"/>
                        </a:spcBef>
                        <a:spcAft>
                          <a:spcPts val="0"/>
                        </a:spcAft>
                        <a:tabLst>
                          <a:tab pos="0" algn="l"/>
                        </a:tabLst>
                      </a:pPr>
                      <a:r>
                        <a:rPr lang="en-GB" sz="2000" dirty="0">
                          <a:effectLst/>
                        </a:rPr>
                        <a:t>Level of Domain***</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rowSpan="2">
                  <a:txBody>
                    <a:bodyPr/>
                    <a:lstStyle/>
                    <a:p>
                      <a:pPr marL="0" marR="0" algn="ctr">
                        <a:spcBef>
                          <a:spcPts val="0"/>
                        </a:spcBef>
                        <a:spcAft>
                          <a:spcPts val="0"/>
                        </a:spcAft>
                        <a:tabLst>
                          <a:tab pos="0" algn="l"/>
                        </a:tabLst>
                      </a:pPr>
                      <a:r>
                        <a:rPr lang="en-GB" sz="2000">
                          <a:effectLst/>
                        </a:rPr>
                        <a:t>PO Assessed</a:t>
                      </a:r>
                      <a:br>
                        <a:rPr lang="en-GB" sz="2000">
                          <a:effectLst/>
                        </a:rPr>
                      </a:br>
                      <a:r>
                        <a:rPr lang="en-GB" sz="2000">
                          <a:effectLst/>
                        </a:rPr>
                        <a:t>****</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19283495"/>
                  </a:ext>
                </a:extLst>
              </a:tr>
              <a:tr h="189230">
                <a:tc vMerge="1">
                  <a:txBody>
                    <a:bodyPr/>
                    <a:lstStyle/>
                    <a:p>
                      <a:endParaRPr lang="en-US"/>
                    </a:p>
                  </a:txBody>
                  <a:tcPr/>
                </a:tc>
                <a:tc vMerge="1">
                  <a:txBody>
                    <a:bodyPr/>
                    <a:lstStyle/>
                    <a:p>
                      <a:endParaRPr lang="en-US"/>
                    </a:p>
                  </a:txBody>
                  <a:tcPr/>
                </a:tc>
                <a:tc>
                  <a:txBody>
                    <a:bodyPr/>
                    <a:lstStyle/>
                    <a:p>
                      <a:pPr marL="0" marR="0" algn="ctr">
                        <a:spcBef>
                          <a:spcPts val="0"/>
                        </a:spcBef>
                        <a:spcAft>
                          <a:spcPts val="0"/>
                        </a:spcAft>
                        <a:tabLst>
                          <a:tab pos="0" algn="l"/>
                        </a:tabLst>
                      </a:pPr>
                      <a:r>
                        <a:rPr lang="en-GB" sz="2000" dirty="0">
                          <a:effectLst/>
                        </a:rPr>
                        <a:t>C</a:t>
                      </a:r>
                      <a:endParaRPr lang="en-US" sz="2400" dirty="0">
                        <a:effectLst/>
                        <a:latin typeface="Times New Roman" panose="02020603050405020304" pitchFamily="18" charset="0"/>
                        <a:ea typeface="Times New Roman" panose="02020603050405020304" pitchFamily="18" charset="0"/>
                      </a:endParaRPr>
                    </a:p>
                  </a:txBody>
                  <a:tcPr marL="68580" marR="68580" marT="0" marB="0">
                    <a:solidFill>
                      <a:schemeClr val="accent1"/>
                    </a:solidFill>
                  </a:tcPr>
                </a:tc>
                <a:tc>
                  <a:txBody>
                    <a:bodyPr/>
                    <a:lstStyle/>
                    <a:p>
                      <a:pPr marL="0" marR="0" algn="ctr">
                        <a:spcBef>
                          <a:spcPts val="0"/>
                        </a:spcBef>
                        <a:spcAft>
                          <a:spcPts val="0"/>
                        </a:spcAft>
                        <a:tabLst>
                          <a:tab pos="0" algn="l"/>
                        </a:tabLst>
                      </a:pPr>
                      <a:r>
                        <a:rPr lang="en-GB" sz="2000" dirty="0">
                          <a:effectLst/>
                        </a:rPr>
                        <a:t>P</a:t>
                      </a:r>
                      <a:endParaRPr lang="en-US" sz="2400" dirty="0">
                        <a:effectLst/>
                        <a:latin typeface="Times New Roman" panose="02020603050405020304" pitchFamily="18" charset="0"/>
                        <a:ea typeface="Times New Roman" panose="02020603050405020304" pitchFamily="18" charset="0"/>
                      </a:endParaRPr>
                    </a:p>
                  </a:txBody>
                  <a:tcPr marL="68580" marR="68580" marT="0" marB="0">
                    <a:solidFill>
                      <a:schemeClr val="accent1"/>
                    </a:solidFill>
                  </a:tcPr>
                </a:tc>
                <a:tc>
                  <a:txBody>
                    <a:bodyPr/>
                    <a:lstStyle/>
                    <a:p>
                      <a:pPr marL="0" marR="0" algn="ctr">
                        <a:spcBef>
                          <a:spcPts val="0"/>
                        </a:spcBef>
                        <a:spcAft>
                          <a:spcPts val="0"/>
                        </a:spcAft>
                        <a:tabLst>
                          <a:tab pos="0" algn="l"/>
                        </a:tabLst>
                      </a:pPr>
                      <a:r>
                        <a:rPr lang="en-GB" sz="2000" dirty="0">
                          <a:effectLst/>
                        </a:rPr>
                        <a:t>A</a:t>
                      </a:r>
                      <a:endParaRPr lang="en-US" sz="2400" dirty="0">
                        <a:effectLst/>
                        <a:latin typeface="Times New Roman" panose="02020603050405020304" pitchFamily="18" charset="0"/>
                        <a:ea typeface="Times New Roman" panose="02020603050405020304" pitchFamily="18" charset="0"/>
                      </a:endParaRPr>
                    </a:p>
                  </a:txBody>
                  <a:tcPr marL="68580" marR="68580" marT="0" marB="0">
                    <a:solidFill>
                      <a:schemeClr val="accent1"/>
                    </a:solidFill>
                  </a:tcPr>
                </a:tc>
                <a:tc vMerge="1">
                  <a:txBody>
                    <a:bodyPr/>
                    <a:lstStyle/>
                    <a:p>
                      <a:endParaRPr lang="en-US"/>
                    </a:p>
                  </a:txBody>
                  <a:tcPr/>
                </a:tc>
                <a:extLst>
                  <a:ext uri="{0D108BD9-81ED-4DB2-BD59-A6C34878D82A}">
                    <a16:rowId xmlns:a16="http://schemas.microsoft.com/office/drawing/2014/main" val="3050171211"/>
                  </a:ext>
                </a:extLst>
              </a:tr>
              <a:tr h="0">
                <a:tc>
                  <a:txBody>
                    <a:bodyPr/>
                    <a:lstStyle/>
                    <a:p>
                      <a:pPr marL="0" marR="0" algn="ctr">
                        <a:spcBef>
                          <a:spcPts val="0"/>
                        </a:spcBef>
                        <a:spcAft>
                          <a:spcPts val="0"/>
                        </a:spcAft>
                      </a:pPr>
                      <a:r>
                        <a:rPr lang="en-GB" sz="2000" dirty="0">
                          <a:effectLst/>
                        </a:rPr>
                        <a:t>CO1</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100"/>
                        </a:spcBef>
                        <a:spcAft>
                          <a:spcPts val="100"/>
                        </a:spcAft>
                      </a:pPr>
                      <a:r>
                        <a:rPr lang="en-US" sz="2000" dirty="0">
                          <a:effectLst/>
                        </a:rPr>
                        <a:t>Illustrate the concept of object orientated analysis using UML diagrams.</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tabLst>
                          <a:tab pos="0" algn="l"/>
                        </a:tabLst>
                      </a:pPr>
                      <a:r>
                        <a:rPr lang="en-GB" sz="2000">
                          <a:effectLst/>
                        </a:rPr>
                        <a:t>3</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PO-e-1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174981334"/>
                  </a:ext>
                </a:extLst>
              </a:tr>
              <a:tr h="0">
                <a:tc>
                  <a:txBody>
                    <a:bodyPr/>
                    <a:lstStyle/>
                    <a:p>
                      <a:pPr marL="0" marR="0" algn="ctr">
                        <a:spcBef>
                          <a:spcPts val="0"/>
                        </a:spcBef>
                        <a:spcAft>
                          <a:spcPts val="0"/>
                        </a:spcAft>
                      </a:pPr>
                      <a:r>
                        <a:rPr lang="en-GB" sz="2000">
                          <a:effectLst/>
                        </a:rPr>
                        <a:t>CO2</a:t>
                      </a:r>
                      <a:br>
                        <a:rPr lang="en-GB" sz="2000">
                          <a:effectLst/>
                        </a:rPr>
                      </a:br>
                      <a:r>
                        <a:rPr lang="en-GB" sz="2000">
                          <a:effectLst/>
                        </a:rPr>
                        <a:t>**</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100"/>
                        </a:spcBef>
                        <a:spcAft>
                          <a:spcPts val="100"/>
                        </a:spcAft>
                      </a:pPr>
                      <a:r>
                        <a:rPr lang="en-US" sz="2000" dirty="0">
                          <a:effectLst/>
                        </a:rPr>
                        <a:t>Solve a complex engineering problem using UML tools.</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tabLst>
                          <a:tab pos="0" algn="l"/>
                        </a:tabLst>
                      </a:pPr>
                      <a:r>
                        <a:rPr lang="en-GB" sz="2000">
                          <a:effectLst/>
                        </a:rPr>
                        <a:t>3</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PO-e-1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712793"/>
                  </a:ext>
                </a:extLst>
              </a:tr>
              <a:tr h="0">
                <a:tc>
                  <a:txBody>
                    <a:bodyPr/>
                    <a:lstStyle/>
                    <a:p>
                      <a:pPr marL="0" marR="0" algn="ctr">
                        <a:spcBef>
                          <a:spcPts val="0"/>
                        </a:spcBef>
                        <a:spcAft>
                          <a:spcPts val="0"/>
                        </a:spcAft>
                      </a:pPr>
                      <a:r>
                        <a:rPr lang="en-GB" sz="2000">
                          <a:effectLst/>
                        </a:rPr>
                        <a:t>CO3</a:t>
                      </a:r>
                      <a:endParaRPr lang="en-US" sz="2000">
                        <a:effectLst/>
                      </a:endParaRPr>
                    </a:p>
                    <a:p>
                      <a:pPr marL="0" marR="0" algn="ctr">
                        <a:spcBef>
                          <a:spcPts val="0"/>
                        </a:spcBef>
                        <a:spcAft>
                          <a:spcPts val="0"/>
                        </a:spcAft>
                      </a:pPr>
                      <a:r>
                        <a:rPr lang="en-GB" sz="2000">
                          <a:effectLst/>
                        </a:rPr>
                        <a:t>**</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100"/>
                        </a:spcBef>
                        <a:spcAft>
                          <a:spcPts val="100"/>
                        </a:spcAft>
                      </a:pPr>
                      <a:r>
                        <a:rPr lang="en-US" sz="2000" dirty="0">
                          <a:effectLst/>
                        </a:rPr>
                        <a:t>Demonstrate a solution for a complex problem using modelling.</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tabLst>
                          <a:tab pos="0" algn="l"/>
                        </a:tabLst>
                      </a:pPr>
                      <a:r>
                        <a:rPr lang="en-GB" sz="2000" dirty="0">
                          <a:effectLst/>
                        </a:rPr>
                        <a:t>3</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dirty="0">
                          <a:effectLst/>
                        </a:rPr>
                        <a:t> </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PO-e-1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544529572"/>
                  </a:ext>
                </a:extLst>
              </a:tr>
              <a:tr h="0">
                <a:tc>
                  <a:txBody>
                    <a:bodyPr/>
                    <a:lstStyle/>
                    <a:p>
                      <a:pPr marL="0" marR="0" algn="ctr">
                        <a:spcBef>
                          <a:spcPts val="0"/>
                        </a:spcBef>
                        <a:spcAft>
                          <a:spcPts val="0"/>
                        </a:spcAft>
                      </a:pPr>
                      <a:r>
                        <a:rPr lang="en-GB" sz="2000">
                          <a:effectLst/>
                        </a:rPr>
                        <a:t>CO4</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100"/>
                        </a:spcBef>
                        <a:spcAft>
                          <a:spcPts val="100"/>
                        </a:spcAft>
                      </a:pPr>
                      <a:r>
                        <a:rPr lang="en-US" sz="2000">
                          <a:effectLst/>
                        </a:rPr>
                        <a:t>Compute required resources of the system and evaluate necessary software metrics.</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tabLst>
                          <a:tab pos="0" algn="l"/>
                        </a:tabLst>
                      </a:pPr>
                      <a:r>
                        <a:rPr lang="en-GB" sz="2000">
                          <a:effectLst/>
                        </a:rPr>
                        <a:t>3</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dirty="0">
                          <a:effectLst/>
                        </a:rPr>
                        <a:t> </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tabLst>
                          <a:tab pos="0" algn="l"/>
                        </a:tabLst>
                      </a:pPr>
                      <a:r>
                        <a:rPr lang="en-GB" sz="2000" dirty="0">
                          <a:effectLst/>
                        </a:rPr>
                        <a:t>PO-e-1</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944717096"/>
                  </a:ext>
                </a:extLst>
              </a:tr>
            </a:tbl>
          </a:graphicData>
        </a:graphic>
      </p:graphicFrame>
    </p:spTree>
    <p:extLst>
      <p:ext uri="{BB962C8B-B14F-4D97-AF65-F5344CB8AC3E}">
        <p14:creationId xmlns:p14="http://schemas.microsoft.com/office/powerpoint/2010/main" val="120320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0F66-89DD-DBC8-B522-C8F41F16A282}"/>
              </a:ext>
            </a:extLst>
          </p:cNvPr>
          <p:cNvSpPr>
            <a:spLocks noGrp="1"/>
          </p:cNvSpPr>
          <p:nvPr>
            <p:ph type="title"/>
          </p:nvPr>
        </p:nvSpPr>
        <p:spPr/>
        <p:txBody>
          <a:bodyPr/>
          <a:lstStyle/>
          <a:p>
            <a:r>
              <a:rPr lang="en-US" dirty="0"/>
              <a:t>Course Topics</a:t>
            </a:r>
          </a:p>
        </p:txBody>
      </p:sp>
      <p:graphicFrame>
        <p:nvGraphicFramePr>
          <p:cNvPr id="4" name="Table 3">
            <a:extLst>
              <a:ext uri="{FF2B5EF4-FFF2-40B4-BE49-F238E27FC236}">
                <a16:creationId xmlns:a16="http://schemas.microsoft.com/office/drawing/2014/main" id="{A063A667-60AF-1DD9-C515-6A3B0496B9B2}"/>
              </a:ext>
            </a:extLst>
          </p:cNvPr>
          <p:cNvGraphicFramePr>
            <a:graphicFrameLocks noGrp="1"/>
          </p:cNvGraphicFramePr>
          <p:nvPr>
            <p:extLst>
              <p:ext uri="{D42A27DB-BD31-4B8C-83A1-F6EECF244321}">
                <p14:modId xmlns:p14="http://schemas.microsoft.com/office/powerpoint/2010/main" val="784833211"/>
              </p:ext>
            </p:extLst>
          </p:nvPr>
        </p:nvGraphicFramePr>
        <p:xfrm>
          <a:off x="609600" y="1295400"/>
          <a:ext cx="10861754" cy="4572000"/>
        </p:xfrm>
        <a:graphic>
          <a:graphicData uri="http://schemas.openxmlformats.org/drawingml/2006/table">
            <a:tbl>
              <a:tblPr firstRow="1" bandRow="1">
                <a:tableStyleId>{B301B821-A1FF-4177-AEE7-76D212191A09}</a:tableStyleId>
              </a:tblPr>
              <a:tblGrid>
                <a:gridCol w="1270160">
                  <a:extLst>
                    <a:ext uri="{9D8B030D-6E8A-4147-A177-3AD203B41FA5}">
                      <a16:colId xmlns:a16="http://schemas.microsoft.com/office/drawing/2014/main" val="2774043740"/>
                    </a:ext>
                  </a:extLst>
                </a:gridCol>
                <a:gridCol w="1043782">
                  <a:extLst>
                    <a:ext uri="{9D8B030D-6E8A-4147-A177-3AD203B41FA5}">
                      <a16:colId xmlns:a16="http://schemas.microsoft.com/office/drawing/2014/main" val="4022613324"/>
                    </a:ext>
                  </a:extLst>
                </a:gridCol>
                <a:gridCol w="4325477">
                  <a:extLst>
                    <a:ext uri="{9D8B030D-6E8A-4147-A177-3AD203B41FA5}">
                      <a16:colId xmlns:a16="http://schemas.microsoft.com/office/drawing/2014/main" val="3377689953"/>
                    </a:ext>
                  </a:extLst>
                </a:gridCol>
                <a:gridCol w="2113362">
                  <a:extLst>
                    <a:ext uri="{9D8B030D-6E8A-4147-A177-3AD203B41FA5}">
                      <a16:colId xmlns:a16="http://schemas.microsoft.com/office/drawing/2014/main" val="3568783450"/>
                    </a:ext>
                  </a:extLst>
                </a:gridCol>
                <a:gridCol w="2108973">
                  <a:extLst>
                    <a:ext uri="{9D8B030D-6E8A-4147-A177-3AD203B41FA5}">
                      <a16:colId xmlns:a16="http://schemas.microsoft.com/office/drawing/2014/main" val="2369950847"/>
                    </a:ext>
                  </a:extLst>
                </a:gridCol>
              </a:tblGrid>
              <a:tr h="0">
                <a:tc>
                  <a:txBody>
                    <a:bodyPr/>
                    <a:lstStyle/>
                    <a:p>
                      <a:pPr marL="0" marR="0" algn="ctr">
                        <a:lnSpc>
                          <a:spcPct val="100000"/>
                        </a:lnSpc>
                        <a:spcBef>
                          <a:spcPts val="0"/>
                        </a:spcBef>
                        <a:spcAft>
                          <a:spcPts val="0"/>
                        </a:spcAft>
                      </a:pPr>
                      <a:r>
                        <a:rPr lang="en-US" sz="2000" dirty="0">
                          <a:effectLst/>
                        </a:rPr>
                        <a:t>Time Frame</a:t>
                      </a:r>
                      <a:endParaRPr lang="en-US" sz="20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2000" dirty="0">
                          <a:effectLst/>
                        </a:rPr>
                        <a:t>CO</a:t>
                      </a:r>
                    </a:p>
                    <a:p>
                      <a:pPr marL="0" marR="0" algn="ctr">
                        <a:lnSpc>
                          <a:spcPct val="100000"/>
                        </a:lnSpc>
                        <a:spcBef>
                          <a:spcPts val="0"/>
                        </a:spcBef>
                        <a:spcAft>
                          <a:spcPts val="0"/>
                        </a:spcAft>
                      </a:pPr>
                      <a:r>
                        <a:rPr lang="en-US" sz="2000" dirty="0">
                          <a:effectLst/>
                        </a:rPr>
                        <a:t>Mapped</a:t>
                      </a:r>
                      <a:endParaRPr lang="en-US" sz="20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2000" dirty="0">
                          <a:effectLst/>
                        </a:rPr>
                        <a:t>Topics</a:t>
                      </a:r>
                      <a:endParaRPr lang="en-US" sz="20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2000" dirty="0">
                          <a:effectLst/>
                        </a:rPr>
                        <a:t>Teaching</a:t>
                      </a:r>
                    </a:p>
                    <a:p>
                      <a:pPr marL="0" marR="0" algn="ctr">
                        <a:lnSpc>
                          <a:spcPct val="100000"/>
                        </a:lnSpc>
                        <a:spcBef>
                          <a:spcPts val="0"/>
                        </a:spcBef>
                        <a:spcAft>
                          <a:spcPts val="0"/>
                        </a:spcAft>
                      </a:pPr>
                      <a:r>
                        <a:rPr lang="en-US" sz="2000" dirty="0">
                          <a:effectLst/>
                        </a:rPr>
                        <a:t>Activities</a:t>
                      </a:r>
                      <a:endParaRPr lang="en-US" sz="20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2000" dirty="0">
                          <a:effectLst/>
                        </a:rPr>
                        <a:t>Assessment Strategy(s)</a:t>
                      </a:r>
                      <a:endParaRPr lang="en-US" sz="2000" dirty="0">
                        <a:effectLst/>
                        <a:latin typeface="Times New Roman" panose="02020603050405020304" pitchFamily="18" charset="0"/>
                        <a:ea typeface="Times New Roman" panose="02020603050405020304" pitchFamily="18" charset="0"/>
                      </a:endParaRPr>
                    </a:p>
                  </a:txBody>
                  <a:tcPr marL="49419" marR="49419" marT="0" marB="0"/>
                </a:tc>
                <a:extLst>
                  <a:ext uri="{0D108BD9-81ED-4DB2-BD59-A6C34878D82A}">
                    <a16:rowId xmlns:a16="http://schemas.microsoft.com/office/drawing/2014/main" val="3289385721"/>
                  </a:ext>
                </a:extLst>
              </a:tr>
              <a:tr h="0">
                <a:tc>
                  <a:txBody>
                    <a:bodyPr/>
                    <a:lstStyle/>
                    <a:p>
                      <a:pPr marL="0" marR="0" algn="l">
                        <a:lnSpc>
                          <a:spcPct val="100000"/>
                        </a:lnSpc>
                        <a:spcBef>
                          <a:spcPts val="0"/>
                        </a:spcBef>
                        <a:spcAft>
                          <a:spcPts val="0"/>
                        </a:spcAft>
                      </a:pPr>
                      <a:r>
                        <a:rPr lang="en-US" sz="2000" dirty="0">
                          <a:effectLst/>
                        </a:rPr>
                        <a:t>Week 1</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Introduction to Software Modeling</a:t>
                      </a:r>
                    </a:p>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Basic Concepts of Modeling</a:t>
                      </a:r>
                      <a:endParaRPr lang="en-US" sz="20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2000" dirty="0">
                          <a:effectLst/>
                        </a:rPr>
                        <a:t>Lecture, Practice, Question-answer</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Quiz, Assignment, Term exam</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3255738819"/>
                  </a:ext>
                </a:extLst>
              </a:tr>
              <a:tr h="365760">
                <a:tc>
                  <a:txBody>
                    <a:bodyPr/>
                    <a:lstStyle/>
                    <a:p>
                      <a:pPr marL="0" marR="0" algn="l">
                        <a:lnSpc>
                          <a:spcPct val="100000"/>
                        </a:lnSpc>
                        <a:spcBef>
                          <a:spcPts val="0"/>
                        </a:spcBef>
                        <a:spcAft>
                          <a:spcPts val="0"/>
                        </a:spcAft>
                      </a:pPr>
                      <a:r>
                        <a:rPr lang="en-US" sz="2000" dirty="0">
                          <a:effectLst/>
                        </a:rPr>
                        <a:t>Week 1-2</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Introduction of UML </a:t>
                      </a:r>
                    </a:p>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UML Building Blocks</a:t>
                      </a:r>
                    </a:p>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SDLC – RUP</a:t>
                      </a:r>
                      <a:endParaRPr lang="en-US" sz="20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2000">
                          <a:effectLst/>
                        </a:rPr>
                        <a:t>Lecture, Practice, Question-answer</a:t>
                      </a:r>
                      <a:endParaRPr lang="en-US" sz="200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Quiz, Assignment, Term exam</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3433646227"/>
                  </a:ext>
                </a:extLst>
              </a:tr>
              <a:tr h="0">
                <a:tc>
                  <a:txBody>
                    <a:bodyPr/>
                    <a:lstStyle/>
                    <a:p>
                      <a:pPr marL="0" marR="0" algn="l">
                        <a:lnSpc>
                          <a:spcPct val="100000"/>
                        </a:lnSpc>
                        <a:spcBef>
                          <a:spcPts val="0"/>
                        </a:spcBef>
                        <a:spcAft>
                          <a:spcPts val="0"/>
                        </a:spcAft>
                      </a:pPr>
                      <a:r>
                        <a:rPr lang="en-US" sz="2000" dirty="0">
                          <a:effectLst/>
                        </a:rPr>
                        <a:t>Week 3</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CO1, CO2</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Use Case Diagram</a:t>
                      </a:r>
                    </a:p>
                  </a:txBody>
                  <a:tcPr marL="49419" marR="49419" marT="0" marB="0" anchor="ctr"/>
                </a:tc>
                <a:tc>
                  <a:txBody>
                    <a:bodyPr/>
                    <a:lstStyle/>
                    <a:p>
                      <a:pPr marL="0" marR="0" algn="l">
                        <a:lnSpc>
                          <a:spcPct val="100000"/>
                        </a:lnSpc>
                        <a:spcBef>
                          <a:spcPts val="0"/>
                        </a:spcBef>
                        <a:spcAft>
                          <a:spcPts val="0"/>
                        </a:spcAft>
                      </a:pPr>
                      <a:r>
                        <a:rPr lang="en-US" sz="2000" dirty="0">
                          <a:effectLst/>
                        </a:rPr>
                        <a:t>Lecture, Practice, Question-answer</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Quiz, Assignment, Term exam</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532125227"/>
                  </a:ext>
                </a:extLst>
              </a:tr>
              <a:tr h="45720">
                <a:tc>
                  <a:txBody>
                    <a:bodyPr/>
                    <a:lstStyle/>
                    <a:p>
                      <a:pPr marL="0" marR="0" algn="l">
                        <a:lnSpc>
                          <a:spcPct val="100000"/>
                        </a:lnSpc>
                        <a:spcBef>
                          <a:spcPts val="0"/>
                        </a:spcBef>
                        <a:spcAft>
                          <a:spcPts val="0"/>
                        </a:spcAft>
                      </a:pPr>
                      <a:r>
                        <a:rPr lang="en-US" sz="2000" dirty="0">
                          <a:effectLst/>
                        </a:rPr>
                        <a:t>Week 4-5</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CO2, CO3</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CRC</a:t>
                      </a:r>
                    </a:p>
                    <a:p>
                      <a:pPr marL="342900" marR="0" lvl="0" indent="-342900" algn="l">
                        <a:lnSpc>
                          <a:spcPct val="100000"/>
                        </a:lnSpc>
                        <a:spcBef>
                          <a:spcPts val="0"/>
                        </a:spcBef>
                        <a:spcAft>
                          <a:spcPts val="0"/>
                        </a:spcAft>
                        <a:buFont typeface="Wingdings" panose="05000000000000000000" pitchFamily="2" charset="2"/>
                        <a:buChar char=""/>
                      </a:pPr>
                      <a:r>
                        <a:rPr lang="en-US" sz="2000" dirty="0">
                          <a:effectLst/>
                        </a:rPr>
                        <a:t>Class Diagram</a:t>
                      </a:r>
                    </a:p>
                    <a:p>
                      <a:pPr marL="569913" marR="0" lvl="0" indent="-166688" algn="l">
                        <a:lnSpc>
                          <a:spcPct val="100000"/>
                        </a:lnSpc>
                        <a:spcBef>
                          <a:spcPts val="0"/>
                        </a:spcBef>
                        <a:spcAft>
                          <a:spcPts val="0"/>
                        </a:spcAft>
                        <a:buFont typeface="Wingdings" panose="05000000000000000000" pitchFamily="2" charset="2"/>
                        <a:buChar char="§"/>
                      </a:pPr>
                      <a:r>
                        <a:rPr lang="en-US" sz="2000" dirty="0">
                          <a:effectLst/>
                        </a:rPr>
                        <a:t>Class Notation</a:t>
                      </a:r>
                    </a:p>
                    <a:p>
                      <a:pPr marL="569913" marR="0" lvl="0" indent="-166688" algn="l">
                        <a:lnSpc>
                          <a:spcPct val="100000"/>
                        </a:lnSpc>
                        <a:spcBef>
                          <a:spcPts val="0"/>
                        </a:spcBef>
                        <a:spcAft>
                          <a:spcPts val="0"/>
                        </a:spcAft>
                        <a:buFont typeface="Wingdings" panose="05000000000000000000" pitchFamily="2" charset="2"/>
                        <a:buChar char="§"/>
                      </a:pPr>
                      <a:r>
                        <a:rPr lang="en-US" sz="2000" dirty="0">
                          <a:effectLst/>
                        </a:rPr>
                        <a:t>Class Diagram</a:t>
                      </a:r>
                      <a:endParaRPr lang="en-US" sz="20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2000" dirty="0">
                          <a:effectLst/>
                        </a:rPr>
                        <a:t>Lecture, Practice, Question-answer</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Quiz, Assignment, Term exam</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3305276968"/>
                  </a:ext>
                </a:extLst>
              </a:tr>
              <a:tr h="30480">
                <a:tc>
                  <a:txBody>
                    <a:bodyPr/>
                    <a:lstStyle/>
                    <a:p>
                      <a:pPr marL="0" marR="0" algn="l">
                        <a:lnSpc>
                          <a:spcPct val="100000"/>
                        </a:lnSpc>
                        <a:spcBef>
                          <a:spcPts val="0"/>
                        </a:spcBef>
                        <a:spcAft>
                          <a:spcPts val="0"/>
                        </a:spcAft>
                      </a:pPr>
                      <a:r>
                        <a:rPr lang="en-US" sz="2000" dirty="0">
                          <a:effectLst/>
                        </a:rPr>
                        <a:t>Week 6</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CO2, CO3</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2000" dirty="0">
                          <a:effectLst/>
                        </a:rPr>
                        <a:t>Class Diagram (Continued)</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2000" dirty="0">
                          <a:effectLst/>
                        </a:rPr>
                        <a:t>Object Diagram</a:t>
                      </a:r>
                      <a:endParaRPr lang="en-US" sz="20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2000" dirty="0">
                          <a:effectLst/>
                        </a:rPr>
                        <a:t>Lecture, Practice, Question-answer</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2000" dirty="0">
                          <a:effectLst/>
                        </a:rPr>
                        <a:t>Quiz, Assignment, Term exam</a:t>
                      </a:r>
                      <a:endParaRPr lang="en-US" sz="20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4228922209"/>
                  </a:ext>
                </a:extLst>
              </a:tr>
            </a:tbl>
          </a:graphicData>
        </a:graphic>
      </p:graphicFrame>
    </p:spTree>
    <p:extLst>
      <p:ext uri="{BB962C8B-B14F-4D97-AF65-F5344CB8AC3E}">
        <p14:creationId xmlns:p14="http://schemas.microsoft.com/office/powerpoint/2010/main" val="3338654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0F66-89DD-DBC8-B522-C8F41F16A282}"/>
              </a:ext>
            </a:extLst>
          </p:cNvPr>
          <p:cNvSpPr>
            <a:spLocks noGrp="1"/>
          </p:cNvSpPr>
          <p:nvPr>
            <p:ph type="title"/>
          </p:nvPr>
        </p:nvSpPr>
        <p:spPr/>
        <p:txBody>
          <a:bodyPr/>
          <a:lstStyle/>
          <a:p>
            <a:r>
              <a:rPr lang="en-US" dirty="0"/>
              <a:t>Course Topics</a:t>
            </a:r>
          </a:p>
        </p:txBody>
      </p:sp>
      <p:graphicFrame>
        <p:nvGraphicFramePr>
          <p:cNvPr id="4" name="Table 3">
            <a:extLst>
              <a:ext uri="{FF2B5EF4-FFF2-40B4-BE49-F238E27FC236}">
                <a16:creationId xmlns:a16="http://schemas.microsoft.com/office/drawing/2014/main" id="{A063A667-60AF-1DD9-C515-6A3B0496B9B2}"/>
              </a:ext>
            </a:extLst>
          </p:cNvPr>
          <p:cNvGraphicFramePr>
            <a:graphicFrameLocks noGrp="1"/>
          </p:cNvGraphicFramePr>
          <p:nvPr>
            <p:extLst>
              <p:ext uri="{D42A27DB-BD31-4B8C-83A1-F6EECF244321}">
                <p14:modId xmlns:p14="http://schemas.microsoft.com/office/powerpoint/2010/main" val="4107281547"/>
              </p:ext>
            </p:extLst>
          </p:nvPr>
        </p:nvGraphicFramePr>
        <p:xfrm>
          <a:off x="609600" y="1295400"/>
          <a:ext cx="10861754" cy="3566160"/>
        </p:xfrm>
        <a:graphic>
          <a:graphicData uri="http://schemas.openxmlformats.org/drawingml/2006/table">
            <a:tbl>
              <a:tblPr firstRow="1" bandRow="1">
                <a:tableStyleId>{B301B821-A1FF-4177-AEE7-76D212191A09}</a:tableStyleId>
              </a:tblPr>
              <a:tblGrid>
                <a:gridCol w="1270160">
                  <a:extLst>
                    <a:ext uri="{9D8B030D-6E8A-4147-A177-3AD203B41FA5}">
                      <a16:colId xmlns:a16="http://schemas.microsoft.com/office/drawing/2014/main" val="2774043740"/>
                    </a:ext>
                  </a:extLst>
                </a:gridCol>
                <a:gridCol w="1043782">
                  <a:extLst>
                    <a:ext uri="{9D8B030D-6E8A-4147-A177-3AD203B41FA5}">
                      <a16:colId xmlns:a16="http://schemas.microsoft.com/office/drawing/2014/main" val="4022613324"/>
                    </a:ext>
                  </a:extLst>
                </a:gridCol>
                <a:gridCol w="4325477">
                  <a:extLst>
                    <a:ext uri="{9D8B030D-6E8A-4147-A177-3AD203B41FA5}">
                      <a16:colId xmlns:a16="http://schemas.microsoft.com/office/drawing/2014/main" val="3377689953"/>
                    </a:ext>
                  </a:extLst>
                </a:gridCol>
                <a:gridCol w="2113362">
                  <a:extLst>
                    <a:ext uri="{9D8B030D-6E8A-4147-A177-3AD203B41FA5}">
                      <a16:colId xmlns:a16="http://schemas.microsoft.com/office/drawing/2014/main" val="3568783450"/>
                    </a:ext>
                  </a:extLst>
                </a:gridCol>
                <a:gridCol w="2108973">
                  <a:extLst>
                    <a:ext uri="{9D8B030D-6E8A-4147-A177-3AD203B41FA5}">
                      <a16:colId xmlns:a16="http://schemas.microsoft.com/office/drawing/2014/main" val="2369950847"/>
                    </a:ext>
                  </a:extLst>
                </a:gridCol>
              </a:tblGrid>
              <a:tr h="0">
                <a:tc>
                  <a:txBody>
                    <a:bodyPr/>
                    <a:lstStyle/>
                    <a:p>
                      <a:pPr marL="0" marR="0" algn="ctr">
                        <a:lnSpc>
                          <a:spcPct val="100000"/>
                        </a:lnSpc>
                        <a:spcBef>
                          <a:spcPts val="0"/>
                        </a:spcBef>
                        <a:spcAft>
                          <a:spcPts val="0"/>
                        </a:spcAft>
                      </a:pPr>
                      <a:r>
                        <a:rPr lang="en-US" sz="1800" dirty="0">
                          <a:effectLst/>
                        </a:rPr>
                        <a:t>Time Frame</a:t>
                      </a:r>
                      <a:endParaRPr lang="en-US" sz="18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1800" dirty="0">
                          <a:effectLst/>
                        </a:rPr>
                        <a:t>CO</a:t>
                      </a:r>
                    </a:p>
                    <a:p>
                      <a:pPr marL="0" marR="0" algn="ctr">
                        <a:lnSpc>
                          <a:spcPct val="100000"/>
                        </a:lnSpc>
                        <a:spcBef>
                          <a:spcPts val="0"/>
                        </a:spcBef>
                        <a:spcAft>
                          <a:spcPts val="0"/>
                        </a:spcAft>
                      </a:pPr>
                      <a:r>
                        <a:rPr lang="en-US" sz="1800" dirty="0">
                          <a:effectLst/>
                        </a:rPr>
                        <a:t>Mapped</a:t>
                      </a:r>
                      <a:endParaRPr lang="en-US" sz="18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1800" dirty="0">
                          <a:effectLst/>
                        </a:rPr>
                        <a:t>Topics</a:t>
                      </a:r>
                      <a:endParaRPr lang="en-US" sz="18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1800" dirty="0">
                          <a:effectLst/>
                        </a:rPr>
                        <a:t>Teaching</a:t>
                      </a:r>
                    </a:p>
                    <a:p>
                      <a:pPr marL="0" marR="0" algn="ctr">
                        <a:lnSpc>
                          <a:spcPct val="100000"/>
                        </a:lnSpc>
                        <a:spcBef>
                          <a:spcPts val="0"/>
                        </a:spcBef>
                        <a:spcAft>
                          <a:spcPts val="0"/>
                        </a:spcAft>
                      </a:pPr>
                      <a:r>
                        <a:rPr lang="en-US" sz="1800" dirty="0">
                          <a:effectLst/>
                        </a:rPr>
                        <a:t>Activities</a:t>
                      </a:r>
                      <a:endParaRPr lang="en-US" sz="1800" dirty="0">
                        <a:effectLst/>
                        <a:latin typeface="Times New Roman" panose="02020603050405020304" pitchFamily="18" charset="0"/>
                        <a:ea typeface="Times New Roman" panose="02020603050405020304" pitchFamily="18" charset="0"/>
                      </a:endParaRPr>
                    </a:p>
                  </a:txBody>
                  <a:tcPr marL="49419" marR="49419" marT="0" marB="0"/>
                </a:tc>
                <a:tc>
                  <a:txBody>
                    <a:bodyPr/>
                    <a:lstStyle/>
                    <a:p>
                      <a:pPr marL="0" marR="0" algn="ctr">
                        <a:lnSpc>
                          <a:spcPct val="100000"/>
                        </a:lnSpc>
                        <a:spcBef>
                          <a:spcPts val="0"/>
                        </a:spcBef>
                        <a:spcAft>
                          <a:spcPts val="0"/>
                        </a:spcAft>
                      </a:pPr>
                      <a:r>
                        <a:rPr lang="en-US" sz="1800" dirty="0">
                          <a:effectLst/>
                        </a:rPr>
                        <a:t>Assessment Strategy(s)</a:t>
                      </a:r>
                      <a:endParaRPr lang="en-US" sz="1800" dirty="0">
                        <a:effectLst/>
                        <a:latin typeface="Times New Roman" panose="02020603050405020304" pitchFamily="18" charset="0"/>
                        <a:ea typeface="Times New Roman" panose="02020603050405020304" pitchFamily="18" charset="0"/>
                      </a:endParaRPr>
                    </a:p>
                  </a:txBody>
                  <a:tcPr marL="49419" marR="49419" marT="0" marB="0"/>
                </a:tc>
                <a:extLst>
                  <a:ext uri="{0D108BD9-81ED-4DB2-BD59-A6C34878D82A}">
                    <a16:rowId xmlns:a16="http://schemas.microsoft.com/office/drawing/2014/main" val="3289385721"/>
                  </a:ext>
                </a:extLst>
              </a:tr>
              <a:tr h="60960">
                <a:tc>
                  <a:txBody>
                    <a:bodyPr/>
                    <a:lstStyle/>
                    <a:p>
                      <a:pPr marL="0" marR="0" algn="l">
                        <a:lnSpc>
                          <a:spcPct val="100000"/>
                        </a:lnSpc>
                        <a:spcBef>
                          <a:spcPts val="0"/>
                        </a:spcBef>
                        <a:spcAft>
                          <a:spcPts val="0"/>
                        </a:spcAft>
                      </a:pPr>
                      <a:r>
                        <a:rPr lang="en-US" sz="1800" dirty="0">
                          <a:effectLst/>
                        </a:rPr>
                        <a:t>Week 8</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4445" marR="0" algn="l">
                        <a:lnSpc>
                          <a:spcPct val="100000"/>
                        </a:lnSpc>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800" dirty="0">
                          <a:effectLst/>
                        </a:rPr>
                        <a:t>Activity Diagram</a:t>
                      </a:r>
                      <a:endParaRPr lang="en-US" sz="18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1800">
                          <a:effectLst/>
                        </a:rPr>
                        <a:t>Lecture, Practice, Question-answer</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dirty="0">
                          <a:effectLst/>
                        </a:rPr>
                        <a:t>Quiz, Assignment, Term exam</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2805140126"/>
                  </a:ext>
                </a:extLst>
              </a:tr>
              <a:tr h="0">
                <a:tc>
                  <a:txBody>
                    <a:bodyPr/>
                    <a:lstStyle/>
                    <a:p>
                      <a:pPr marL="0" marR="0" algn="l">
                        <a:lnSpc>
                          <a:spcPct val="100000"/>
                        </a:lnSpc>
                        <a:spcBef>
                          <a:spcPts val="0"/>
                        </a:spcBef>
                        <a:spcAft>
                          <a:spcPts val="0"/>
                        </a:spcAft>
                      </a:pPr>
                      <a:r>
                        <a:rPr lang="en-US" sz="1800" dirty="0">
                          <a:effectLst/>
                        </a:rPr>
                        <a:t>Week 9</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4445"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rPr>
                        <a:t> CO2, CO3</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1800" dirty="0">
                          <a:effectLst/>
                        </a:rPr>
                        <a:t>State chart Diagram</a:t>
                      </a:r>
                      <a:endParaRPr lang="en-US" sz="18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1800">
                          <a:effectLst/>
                        </a:rPr>
                        <a:t>Lecture, Practice, Question-answer</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a:effectLst/>
                        </a:rPr>
                        <a:t>Quiz, Assignment, Term exam</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830218038"/>
                  </a:ext>
                </a:extLst>
              </a:tr>
              <a:tr h="0">
                <a:tc>
                  <a:txBody>
                    <a:bodyPr/>
                    <a:lstStyle/>
                    <a:p>
                      <a:pPr marL="0" marR="0" algn="l">
                        <a:lnSpc>
                          <a:spcPct val="100000"/>
                        </a:lnSpc>
                        <a:spcBef>
                          <a:spcPts val="0"/>
                        </a:spcBef>
                        <a:spcAft>
                          <a:spcPts val="0"/>
                        </a:spcAft>
                      </a:pPr>
                      <a:r>
                        <a:rPr lang="en-US" sz="1800" dirty="0">
                          <a:effectLst/>
                        </a:rPr>
                        <a:t>Week 10</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4445" marR="0" algn="l">
                        <a:lnSpc>
                          <a:spcPct val="10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800" dirty="0">
                          <a:effectLst/>
                        </a:rPr>
                        <a:t>Sequence Diagram</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a:effectLst/>
                        </a:rPr>
                        <a:t>Lecture, Practice, Question-answer</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a:effectLst/>
                        </a:rPr>
                        <a:t>Quiz, Assignment, Term exam</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1566254814"/>
                  </a:ext>
                </a:extLst>
              </a:tr>
              <a:tr h="60960">
                <a:tc>
                  <a:txBody>
                    <a:bodyPr/>
                    <a:lstStyle/>
                    <a:p>
                      <a:pPr marL="0" marR="0" algn="l">
                        <a:lnSpc>
                          <a:spcPct val="100000"/>
                        </a:lnSpc>
                        <a:spcBef>
                          <a:spcPts val="0"/>
                        </a:spcBef>
                        <a:spcAft>
                          <a:spcPts val="0"/>
                        </a:spcAft>
                      </a:pPr>
                      <a:r>
                        <a:rPr lang="en-US" sz="1800" dirty="0">
                          <a:effectLst/>
                        </a:rPr>
                        <a:t>Week 11</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4445" marR="0" algn="l">
                        <a:lnSpc>
                          <a:spcPct val="100000"/>
                        </a:lnSpc>
                        <a:spcBef>
                          <a:spcPts val="0"/>
                        </a:spcBef>
                        <a:spcAft>
                          <a:spcPts val="0"/>
                        </a:spcAft>
                      </a:pPr>
                      <a:r>
                        <a:rPr lang="en-US" sz="1800" dirty="0">
                          <a:effectLst/>
                        </a:rPr>
                        <a:t>CO4</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a:lnSpc>
                          <a:spcPct val="100000"/>
                        </a:lnSpc>
                        <a:spcBef>
                          <a:spcPts val="0"/>
                        </a:spcBef>
                        <a:spcAft>
                          <a:spcPts val="0"/>
                        </a:spcAft>
                        <a:buFont typeface="Wingdings" panose="05000000000000000000" pitchFamily="2" charset="2"/>
                        <a:buChar char=""/>
                      </a:pPr>
                      <a:r>
                        <a:rPr lang="en-US" sz="1800" dirty="0" err="1">
                          <a:effectLst/>
                        </a:rPr>
                        <a:t>COCOMO</a:t>
                      </a:r>
                      <a:r>
                        <a:rPr lang="en-US" sz="1800" dirty="0">
                          <a:effectLst/>
                        </a:rPr>
                        <a:t> &amp; Function Point (Software Project Estimation)</a:t>
                      </a:r>
                    </a:p>
                    <a:p>
                      <a:pPr marL="342900" marR="0" lvl="0" indent="-342900" algn="l">
                        <a:lnSpc>
                          <a:spcPct val="100000"/>
                        </a:lnSpc>
                        <a:spcBef>
                          <a:spcPts val="0"/>
                        </a:spcBef>
                        <a:spcAft>
                          <a:spcPts val="0"/>
                        </a:spcAft>
                        <a:buFont typeface="Wingdings" panose="05000000000000000000" pitchFamily="2" charset="2"/>
                        <a:buChar char=""/>
                      </a:pPr>
                      <a:r>
                        <a:rPr lang="en-US" sz="1800" dirty="0">
                          <a:effectLst/>
                        </a:rPr>
                        <a:t>OO Software Metrics</a:t>
                      </a:r>
                      <a:endParaRPr lang="en-US" sz="18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1800" dirty="0">
                          <a:effectLst/>
                        </a:rPr>
                        <a:t>Lecture, Practice, Question-answer</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a:effectLst/>
                        </a:rPr>
                        <a:t>Quiz, Assignment, Term exam</a:t>
                      </a:r>
                      <a:endParaRPr lang="en-US" sz="180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406724412"/>
                  </a:ext>
                </a:extLst>
              </a:tr>
              <a:tr h="0">
                <a:tc>
                  <a:txBody>
                    <a:bodyPr/>
                    <a:lstStyle/>
                    <a:p>
                      <a:pPr marL="0" marR="0" algn="l">
                        <a:lnSpc>
                          <a:spcPct val="100000"/>
                        </a:lnSpc>
                        <a:spcBef>
                          <a:spcPts val="0"/>
                        </a:spcBef>
                        <a:spcAft>
                          <a:spcPts val="0"/>
                        </a:spcAft>
                      </a:pPr>
                      <a:r>
                        <a:rPr lang="en-US" sz="1800" dirty="0">
                          <a:effectLst/>
                        </a:rPr>
                        <a:t>Week 12-13</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4445" marR="0" algn="l">
                        <a:lnSpc>
                          <a:spcPct val="10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800" dirty="0">
                          <a:effectLst/>
                        </a:rPr>
                        <a:t>OO Software Metrics (Continued)</a:t>
                      </a:r>
                      <a:endParaRPr lang="en-US" sz="1800" dirty="0">
                        <a:effectLst/>
                        <a:latin typeface="Times New Roman" panose="02020603050405020304" pitchFamily="18" charset="0"/>
                        <a:ea typeface="MS Mincho" panose="02020609040205080304" pitchFamily="49" charset="-128"/>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800" dirty="0">
                          <a:effectLst/>
                        </a:rPr>
                        <a:t>Design Patterns</a:t>
                      </a:r>
                      <a:endParaRPr lang="en-US" sz="1800" dirty="0">
                        <a:effectLst/>
                        <a:latin typeface="Times New Roman" panose="02020603050405020304" pitchFamily="18" charset="0"/>
                        <a:ea typeface="MS Mincho" panose="02020609040205080304" pitchFamily="49" charset="-128"/>
                      </a:endParaRPr>
                    </a:p>
                  </a:txBody>
                  <a:tcPr marL="49419" marR="49419" marT="0" marB="0" anchor="ctr"/>
                </a:tc>
                <a:tc>
                  <a:txBody>
                    <a:bodyPr/>
                    <a:lstStyle/>
                    <a:p>
                      <a:pPr marL="0" marR="0" algn="l">
                        <a:lnSpc>
                          <a:spcPct val="100000"/>
                        </a:lnSpc>
                        <a:spcBef>
                          <a:spcPts val="0"/>
                        </a:spcBef>
                        <a:spcAft>
                          <a:spcPts val="0"/>
                        </a:spcAft>
                      </a:pPr>
                      <a:r>
                        <a:rPr lang="en-US" sz="1800" dirty="0">
                          <a:effectLst/>
                        </a:rPr>
                        <a:t>Lecture, Practice, Question-answer</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tc>
                  <a:txBody>
                    <a:bodyPr/>
                    <a:lstStyle/>
                    <a:p>
                      <a:pPr marL="0" marR="0" algn="l">
                        <a:lnSpc>
                          <a:spcPct val="100000"/>
                        </a:lnSpc>
                        <a:spcBef>
                          <a:spcPts val="0"/>
                        </a:spcBef>
                        <a:spcAft>
                          <a:spcPts val="0"/>
                        </a:spcAft>
                      </a:pPr>
                      <a:r>
                        <a:rPr lang="en-US" sz="1800" dirty="0">
                          <a:effectLst/>
                        </a:rPr>
                        <a:t>Quiz, Assignment, Term exam</a:t>
                      </a:r>
                      <a:endParaRPr lang="en-US" sz="1800" dirty="0">
                        <a:effectLst/>
                        <a:latin typeface="Times New Roman" panose="02020603050405020304" pitchFamily="18" charset="0"/>
                        <a:ea typeface="Times New Roman" panose="02020603050405020304" pitchFamily="18" charset="0"/>
                      </a:endParaRPr>
                    </a:p>
                  </a:txBody>
                  <a:tcPr marL="49419" marR="49419" marT="0" marB="0" anchor="ctr"/>
                </a:tc>
                <a:extLst>
                  <a:ext uri="{0D108BD9-81ED-4DB2-BD59-A6C34878D82A}">
                    <a16:rowId xmlns:a16="http://schemas.microsoft.com/office/drawing/2014/main" val="3042255154"/>
                  </a:ext>
                </a:extLst>
              </a:tr>
            </a:tbl>
          </a:graphicData>
        </a:graphic>
      </p:graphicFrame>
    </p:spTree>
    <p:extLst>
      <p:ext uri="{BB962C8B-B14F-4D97-AF65-F5344CB8AC3E}">
        <p14:creationId xmlns:p14="http://schemas.microsoft.com/office/powerpoint/2010/main" val="80701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8C1537B-469F-4AB7-9970-F1B068EA60BA}"/>
              </a:ext>
            </a:extLst>
          </p:cNvPr>
          <p:cNvSpPr>
            <a:spLocks noGrp="1"/>
          </p:cNvSpPr>
          <p:nvPr>
            <p:ph type="title"/>
          </p:nvPr>
        </p:nvSpPr>
        <p:spPr/>
        <p:txBody>
          <a:bodyPr/>
          <a:lstStyle/>
          <a:p>
            <a:r>
              <a:rPr lang="en-US" altLang="en-US" b="1" dirty="0"/>
              <a:t>Mandatory Requirements</a:t>
            </a:r>
          </a:p>
        </p:txBody>
      </p:sp>
      <p:sp>
        <p:nvSpPr>
          <p:cNvPr id="13315" name="Content Placeholder 2">
            <a:extLst>
              <a:ext uri="{FF2B5EF4-FFF2-40B4-BE49-F238E27FC236}">
                <a16:creationId xmlns:a16="http://schemas.microsoft.com/office/drawing/2014/main" id="{18462E75-BE8B-4ABC-AF2A-83B0C6CE732A}"/>
              </a:ext>
            </a:extLst>
          </p:cNvPr>
          <p:cNvSpPr>
            <a:spLocks noGrp="1"/>
          </p:cNvSpPr>
          <p:nvPr>
            <p:ph idx="1"/>
          </p:nvPr>
        </p:nvSpPr>
        <p:spPr/>
        <p:txBody>
          <a:bodyPr/>
          <a:lstStyle/>
          <a:p>
            <a:r>
              <a:rPr lang="en-US" altLang="en-US" dirty="0"/>
              <a:t>Must appear mandatory number of quizzes (including the OBE quiz) before the mid semester assessment and before the final assessment.</a:t>
            </a:r>
          </a:p>
          <a:p>
            <a:r>
              <a:rPr lang="en-US" altLang="en-US" dirty="0"/>
              <a:t>Students must have 80% attendance to pass the course.</a:t>
            </a:r>
          </a:p>
          <a:p>
            <a:r>
              <a:rPr lang="en-US" altLang="en-US" dirty="0"/>
              <a:t>Must appear in both term exams.</a:t>
            </a:r>
          </a:p>
          <a:p>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6DAE0DB-3845-4DB0-8762-9C6A34BCDECC}"/>
              </a:ext>
            </a:extLst>
          </p:cNvPr>
          <p:cNvSpPr>
            <a:spLocks noGrp="1"/>
          </p:cNvSpPr>
          <p:nvPr>
            <p:ph type="title"/>
          </p:nvPr>
        </p:nvSpPr>
        <p:spPr/>
        <p:txBody>
          <a:bodyPr/>
          <a:lstStyle/>
          <a:p>
            <a:r>
              <a:rPr lang="en-US" altLang="en-US" b="1" dirty="0"/>
              <a:t>Evaluation</a:t>
            </a:r>
          </a:p>
        </p:txBody>
      </p:sp>
      <p:sp>
        <p:nvSpPr>
          <p:cNvPr id="3" name="Content Placeholder 2">
            <a:extLst>
              <a:ext uri="{FF2B5EF4-FFF2-40B4-BE49-F238E27FC236}">
                <a16:creationId xmlns:a16="http://schemas.microsoft.com/office/drawing/2014/main" id="{0BB2AD28-1EC7-440E-9F1A-175C9B9A7D96}"/>
              </a:ext>
            </a:extLst>
          </p:cNvPr>
          <p:cNvSpPr>
            <a:spLocks noGrp="1"/>
          </p:cNvSpPr>
          <p:nvPr>
            <p:ph idx="1"/>
          </p:nvPr>
        </p:nvSpPr>
        <p:spPr/>
        <p:txBody>
          <a:bodyPr>
            <a:normAutofit fontScale="70000" lnSpcReduction="20000"/>
          </a:bodyPr>
          <a:lstStyle/>
          <a:p>
            <a:pPr marL="0" indent="0">
              <a:buNone/>
              <a:defRPr/>
            </a:pPr>
            <a:r>
              <a:rPr lang="en-US" b="1" dirty="0"/>
              <a:t>Mid Semester Assessment:</a:t>
            </a:r>
          </a:p>
          <a:p>
            <a:pPr>
              <a:defRPr/>
            </a:pPr>
            <a:r>
              <a:rPr lang="en-US" dirty="0"/>
              <a:t>Short Quiz (Best 2 out of 3 or 3 out of 4): 	40%</a:t>
            </a:r>
          </a:p>
          <a:p>
            <a:pPr>
              <a:defRPr/>
            </a:pPr>
            <a:r>
              <a:rPr lang="en-US" dirty="0"/>
              <a:t>Midterm Exam:				40%</a:t>
            </a:r>
          </a:p>
          <a:p>
            <a:pPr>
              <a:defRPr/>
            </a:pPr>
            <a:r>
              <a:rPr lang="en-US" dirty="0"/>
              <a:t>Assignment (if declared) :			10%</a:t>
            </a:r>
          </a:p>
          <a:p>
            <a:pPr>
              <a:defRPr/>
            </a:pPr>
            <a:r>
              <a:rPr lang="en-US" dirty="0"/>
              <a:t>Attendance &amp; Performance:			10%</a:t>
            </a:r>
          </a:p>
          <a:p>
            <a:pPr>
              <a:defRPr/>
            </a:pPr>
            <a:endParaRPr lang="en-US" dirty="0"/>
          </a:p>
          <a:p>
            <a:pPr marL="0" indent="0">
              <a:buNone/>
              <a:defRPr/>
            </a:pPr>
            <a:r>
              <a:rPr lang="en-US" b="1" dirty="0"/>
              <a:t>Final Assessment (on campus):</a:t>
            </a:r>
          </a:p>
          <a:p>
            <a:pPr>
              <a:defRPr/>
            </a:pPr>
            <a:r>
              <a:rPr lang="en-US" dirty="0"/>
              <a:t>Short Quiz (Best 3 out of 4 or 4 out of 5): 	40%</a:t>
            </a:r>
          </a:p>
          <a:p>
            <a:pPr>
              <a:defRPr/>
            </a:pPr>
            <a:r>
              <a:rPr lang="en-US" dirty="0"/>
              <a:t>Assignment (if declared) : 			10%</a:t>
            </a:r>
          </a:p>
          <a:p>
            <a:pPr>
              <a:defRPr/>
            </a:pPr>
            <a:r>
              <a:rPr lang="en-US" dirty="0"/>
              <a:t>Final Exam:					40%</a:t>
            </a:r>
          </a:p>
          <a:p>
            <a:pPr>
              <a:defRPr/>
            </a:pPr>
            <a:r>
              <a:rPr lang="en-US" dirty="0"/>
              <a:t>Attendance &amp; Performance:			10%</a:t>
            </a:r>
          </a:p>
          <a:p>
            <a:pPr>
              <a:defRPr/>
            </a:pPr>
            <a:endParaRPr lang="en-US" dirty="0"/>
          </a:p>
          <a:p>
            <a:pPr marL="0" indent="0">
              <a:buNone/>
              <a:defRPr/>
            </a:pPr>
            <a:r>
              <a:rPr lang="en-US" b="1" dirty="0"/>
              <a:t>Semester grade:  40% mid semester assessment + 60% final assessment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7D87DE7-8A88-47D2-AEB2-229C694C76E9}"/>
              </a:ext>
            </a:extLst>
          </p:cNvPr>
          <p:cNvSpPr>
            <a:spLocks noGrp="1"/>
          </p:cNvSpPr>
          <p:nvPr>
            <p:ph type="title"/>
          </p:nvPr>
        </p:nvSpPr>
        <p:spPr/>
        <p:txBody>
          <a:bodyPr/>
          <a:lstStyle/>
          <a:p>
            <a:r>
              <a:rPr lang="en-US" altLang="en-US" b="1"/>
              <a:t>Text Books</a:t>
            </a:r>
          </a:p>
        </p:txBody>
      </p:sp>
      <p:sp>
        <p:nvSpPr>
          <p:cNvPr id="3" name="Content Placeholder 2">
            <a:extLst>
              <a:ext uri="{FF2B5EF4-FFF2-40B4-BE49-F238E27FC236}">
                <a16:creationId xmlns:a16="http://schemas.microsoft.com/office/drawing/2014/main" id="{084398DC-E43D-4701-ACD1-2C74A7A5D4B0}"/>
              </a:ext>
            </a:extLst>
          </p:cNvPr>
          <p:cNvSpPr>
            <a:spLocks noGrp="1"/>
          </p:cNvSpPr>
          <p:nvPr>
            <p:ph idx="1"/>
          </p:nvPr>
        </p:nvSpPr>
        <p:spPr/>
        <p:txBody>
          <a:bodyPr>
            <a:normAutofit lnSpcReduction="10000"/>
          </a:bodyPr>
          <a:lstStyle/>
          <a:p>
            <a:pPr>
              <a:defRPr/>
            </a:pPr>
            <a:r>
              <a:rPr lang="en-US" dirty="0"/>
              <a:t>The Unified Modeling Language User Guide</a:t>
            </a:r>
          </a:p>
          <a:p>
            <a:pPr lvl="1">
              <a:defRPr/>
            </a:pPr>
            <a:r>
              <a:rPr lang="en-US" dirty="0"/>
              <a:t>by Grady </a:t>
            </a:r>
            <a:r>
              <a:rPr lang="en-US" dirty="0" err="1"/>
              <a:t>Booch</a:t>
            </a:r>
            <a:r>
              <a:rPr lang="en-US" dirty="0"/>
              <a:t>, James Rumbaugh, Ivar Jacobson</a:t>
            </a:r>
          </a:p>
          <a:p>
            <a:pPr>
              <a:defRPr/>
            </a:pPr>
            <a:r>
              <a:rPr lang="en-US" dirty="0"/>
              <a:t>UML Weekend Crash Course</a:t>
            </a:r>
          </a:p>
          <a:p>
            <a:pPr lvl="1">
              <a:defRPr/>
            </a:pPr>
            <a:r>
              <a:rPr lang="en-US" dirty="0"/>
              <a:t>by Thomas A Pender</a:t>
            </a:r>
          </a:p>
          <a:p>
            <a:pPr>
              <a:defRPr/>
            </a:pPr>
            <a:r>
              <a:rPr lang="en-US" dirty="0"/>
              <a:t>Headfirst design patterns</a:t>
            </a:r>
          </a:p>
          <a:p>
            <a:pPr lvl="1">
              <a:defRPr/>
            </a:pPr>
            <a:r>
              <a:rPr lang="en-US" dirty="0"/>
              <a:t>by Eric Freeman, Elisabeth Freeman, Kathy Sierra, Bert Bates</a:t>
            </a:r>
          </a:p>
          <a:p>
            <a:pPr>
              <a:defRPr/>
            </a:pPr>
            <a:r>
              <a:rPr lang="en-US" dirty="0"/>
              <a:t>Design Patterns- Elements of Reusable Object-Oriented Software</a:t>
            </a:r>
          </a:p>
          <a:p>
            <a:pPr lvl="1">
              <a:defRPr/>
            </a:pPr>
            <a:r>
              <a:rPr lang="en-US" dirty="0"/>
              <a:t>by Eric, Gamma, Richard Helm, Ralph Johnson, John </a:t>
            </a:r>
            <a:r>
              <a:rPr lang="en-US" dirty="0" err="1"/>
              <a:t>Vlissides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EB8F1D-E791-4009-841A-C6517B0C5F4D}"/>
              </a:ext>
            </a:extLst>
          </p:cNvPr>
          <p:cNvSpPr>
            <a:spLocks noGrp="1"/>
          </p:cNvSpPr>
          <p:nvPr>
            <p:ph type="title"/>
          </p:nvPr>
        </p:nvSpPr>
        <p:spPr/>
        <p:txBody>
          <a:bodyPr/>
          <a:lstStyle/>
          <a:p>
            <a:r>
              <a:rPr lang="en-US" altLang="en-US" b="1"/>
              <a:t>Reference Materials</a:t>
            </a:r>
          </a:p>
        </p:txBody>
      </p:sp>
      <p:sp>
        <p:nvSpPr>
          <p:cNvPr id="3" name="Content Placeholder 2">
            <a:extLst>
              <a:ext uri="{FF2B5EF4-FFF2-40B4-BE49-F238E27FC236}">
                <a16:creationId xmlns:a16="http://schemas.microsoft.com/office/drawing/2014/main" id="{3A150DFB-76A0-423B-AD9C-6877539BFAD9}"/>
              </a:ext>
            </a:extLst>
          </p:cNvPr>
          <p:cNvSpPr>
            <a:spLocks noGrp="1"/>
          </p:cNvSpPr>
          <p:nvPr>
            <p:ph idx="1"/>
          </p:nvPr>
        </p:nvSpPr>
        <p:spPr/>
        <p:txBody>
          <a:bodyPr>
            <a:normAutofit fontScale="92500" lnSpcReduction="20000"/>
          </a:bodyPr>
          <a:lstStyle/>
          <a:p>
            <a:pPr>
              <a:defRPr/>
            </a:pPr>
            <a:r>
              <a:rPr lang="en-US" dirty="0"/>
              <a:t>UML @ Classroom - An Introduction to Object-Oriented Modeling</a:t>
            </a:r>
          </a:p>
          <a:p>
            <a:pPr marL="0" indent="0">
              <a:buNone/>
              <a:defRPr/>
            </a:pPr>
            <a:r>
              <a:rPr lang="en-US" dirty="0"/>
              <a:t>- by Martina </a:t>
            </a:r>
            <a:r>
              <a:rPr lang="en-US" dirty="0" err="1"/>
              <a:t>Seidl</a:t>
            </a:r>
            <a:r>
              <a:rPr lang="en-US" dirty="0"/>
              <a:t>, Marion Scholz, Christian </a:t>
            </a:r>
            <a:r>
              <a:rPr lang="en-US" dirty="0" err="1"/>
              <a:t>Huemer</a:t>
            </a:r>
            <a:r>
              <a:rPr lang="en-US" dirty="0"/>
              <a:t>, </a:t>
            </a:r>
            <a:r>
              <a:rPr lang="en-US" dirty="0" err="1"/>
              <a:t>Gerti</a:t>
            </a:r>
            <a:r>
              <a:rPr lang="en-US" dirty="0"/>
              <a:t> Kappel</a:t>
            </a:r>
          </a:p>
          <a:p>
            <a:pPr>
              <a:defRPr/>
            </a:pPr>
            <a:r>
              <a:rPr lang="en-US" dirty="0"/>
              <a:t>An Integrated Approach to Software Engineering</a:t>
            </a:r>
          </a:p>
          <a:p>
            <a:pPr lvl="1">
              <a:defRPr/>
            </a:pPr>
            <a:r>
              <a:rPr lang="en-US" dirty="0"/>
              <a:t>by Pankaj </a:t>
            </a:r>
            <a:r>
              <a:rPr lang="en-US" dirty="0" err="1"/>
              <a:t>Jalote</a:t>
            </a:r>
            <a:endParaRPr lang="en-US" dirty="0"/>
          </a:p>
          <a:p>
            <a:pPr>
              <a:defRPr/>
            </a:pPr>
            <a:r>
              <a:rPr lang="en-US" dirty="0"/>
              <a:t>Object Oriented Software Engineering</a:t>
            </a:r>
          </a:p>
          <a:p>
            <a:pPr lvl="1">
              <a:defRPr/>
            </a:pPr>
            <a:r>
              <a:rPr lang="en-US" dirty="0"/>
              <a:t>Ivar Jacobson, Magnus </a:t>
            </a:r>
            <a:r>
              <a:rPr lang="en-US" dirty="0" err="1"/>
              <a:t>Christerson</a:t>
            </a:r>
            <a:r>
              <a:rPr lang="en-US" dirty="0"/>
              <a:t>, </a:t>
            </a:r>
            <a:r>
              <a:rPr lang="en-US" dirty="0" err="1"/>
              <a:t>Patrik</a:t>
            </a:r>
            <a:r>
              <a:rPr lang="en-US" dirty="0"/>
              <a:t> Jonsson, Gunnar Overgaard</a:t>
            </a:r>
          </a:p>
          <a:p>
            <a:pPr>
              <a:defRPr/>
            </a:pPr>
            <a:r>
              <a:rPr lang="en-US" dirty="0"/>
              <a:t>The Unified Modeling Language Reference Manual</a:t>
            </a:r>
          </a:p>
          <a:p>
            <a:pPr lvl="1">
              <a:defRPr/>
            </a:pPr>
            <a:r>
              <a:rPr lang="en-US" dirty="0"/>
              <a:t>by Grady </a:t>
            </a:r>
            <a:r>
              <a:rPr lang="en-US" dirty="0" err="1"/>
              <a:t>Booch</a:t>
            </a:r>
            <a:r>
              <a:rPr lang="en-US" dirty="0"/>
              <a:t>, James Rumbaugh, Ivar Jacobson</a:t>
            </a:r>
          </a:p>
          <a:p>
            <a:pPr>
              <a:defRPr/>
            </a:pPr>
            <a:r>
              <a:rPr lang="en-US" dirty="0"/>
              <a:t>Object Oriented System Analysis and Design, Second Edition</a:t>
            </a:r>
          </a:p>
          <a:p>
            <a:pPr lvl="1">
              <a:defRPr/>
            </a:pPr>
            <a:r>
              <a:rPr lang="en-US" dirty="0"/>
              <a:t>by Grady </a:t>
            </a:r>
            <a:r>
              <a:rPr lang="en-US" dirty="0" err="1"/>
              <a:t>Booch</a:t>
            </a:r>
            <a:endParaRPr lang="en-US" dirty="0"/>
          </a:p>
          <a:p>
            <a:pP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E138DD3-F314-45A4-980B-79CA553E5EFE}"/>
              </a:ext>
            </a:extLst>
          </p:cNvPr>
          <p:cNvSpPr>
            <a:spLocks noGrp="1"/>
          </p:cNvSpPr>
          <p:nvPr>
            <p:ph type="title"/>
          </p:nvPr>
        </p:nvSpPr>
        <p:spPr/>
        <p:txBody>
          <a:bodyPr/>
          <a:lstStyle/>
          <a:p>
            <a:r>
              <a:rPr lang="en-US" altLang="en-US" b="1"/>
              <a:t>Contacts and Designations</a:t>
            </a:r>
          </a:p>
        </p:txBody>
      </p:sp>
      <p:sp>
        <p:nvSpPr>
          <p:cNvPr id="19459" name="Content Placeholder 2">
            <a:extLst>
              <a:ext uri="{FF2B5EF4-FFF2-40B4-BE49-F238E27FC236}">
                <a16:creationId xmlns:a16="http://schemas.microsoft.com/office/drawing/2014/main" id="{6D8EFB9C-5FBD-4B43-B641-CD2282D8A7D3}"/>
              </a:ext>
            </a:extLst>
          </p:cNvPr>
          <p:cNvSpPr>
            <a:spLocks noGrp="1"/>
          </p:cNvSpPr>
          <p:nvPr>
            <p:ph idx="1"/>
          </p:nvPr>
        </p:nvSpPr>
        <p:spPr/>
        <p:txBody>
          <a:bodyPr/>
          <a:lstStyle/>
          <a:p>
            <a:r>
              <a:rPr lang="de-DE" altLang="en-US" b="1" dirty="0"/>
              <a:t>Dr. Manzur H. Khan</a:t>
            </a:r>
            <a:endParaRPr lang="en-US" altLang="en-US" dirty="0"/>
          </a:p>
          <a:p>
            <a:pPr lvl="1"/>
            <a:r>
              <a:rPr lang="en-US" altLang="en-US"/>
              <a:t>Professor</a:t>
            </a:r>
            <a:r>
              <a:rPr lang="en-US" altLang="en-US" dirty="0"/>
              <a:t>, Department of Computer Science &amp; MIS</a:t>
            </a:r>
          </a:p>
          <a:p>
            <a:pPr lvl="1"/>
            <a:r>
              <a:rPr lang="en-US" altLang="en-US" dirty="0"/>
              <a:t>Proctor &amp; Director, Office of Student Affairs (OSA)</a:t>
            </a:r>
          </a:p>
          <a:p>
            <a:r>
              <a:rPr lang="en-US" altLang="en-US" dirty="0"/>
              <a:t>Office: Level 3, Building C, AIUB Campus</a:t>
            </a:r>
          </a:p>
          <a:p>
            <a:r>
              <a:rPr lang="en-US" altLang="en-US" dirty="0"/>
              <a:t>Phone: +88 02 8414046-50 (Ext: 121)</a:t>
            </a:r>
          </a:p>
          <a:p>
            <a:r>
              <a:rPr lang="en-US" altLang="en-US" dirty="0"/>
              <a:t>Email or MS Teams: manzur@aiub.edu; </a:t>
            </a:r>
          </a:p>
          <a:p>
            <a:r>
              <a:rPr lang="en-US" altLang="en-US" dirty="0"/>
              <a:t>Alternate Email: manzurhkhan@gmail.com </a:t>
            </a:r>
          </a:p>
          <a:p>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935</TotalTime>
  <Words>969</Words>
  <Application>Microsoft Office PowerPoint</Application>
  <PresentationFormat>Widescreen</PresentationFormat>
  <Paragraphs>173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AMERICAN INTERNATIONAL UNIVERSITY-BANGLADESH (AIUB) Faculty of Science and Technology</vt:lpstr>
      <vt:lpstr>COURSE OUTLINE: OOAD</vt:lpstr>
      <vt:lpstr>Course Description</vt:lpstr>
      <vt:lpstr>Objectives</vt:lpstr>
      <vt:lpstr>Course outcomes (CO) Matrix: </vt:lpstr>
      <vt:lpstr>Course Topics</vt:lpstr>
      <vt:lpstr>Course Topics</vt:lpstr>
      <vt:lpstr>Mandatory Requirements</vt:lpstr>
      <vt:lpstr>Evaluation</vt:lpstr>
      <vt:lpstr>Text Books</vt:lpstr>
      <vt:lpstr>Reference Materials</vt:lpstr>
      <vt:lpstr>Contacts and Designations</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Manzur</dc:creator>
  <cp:lastModifiedBy>Mohaimen-Bin-Noor</cp:lastModifiedBy>
  <cp:revision>63</cp:revision>
  <dcterms:created xsi:type="dcterms:W3CDTF">2010-05-25T06:52:40Z</dcterms:created>
  <dcterms:modified xsi:type="dcterms:W3CDTF">2025-03-01T09:56:47Z</dcterms:modified>
</cp:coreProperties>
</file>