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1"/>
  </p:notesMasterIdLst>
  <p:sldIdLst>
    <p:sldId id="256" r:id="rId2"/>
    <p:sldId id="291" r:id="rId3"/>
    <p:sldId id="326" r:id="rId4"/>
    <p:sldId id="325" r:id="rId5"/>
    <p:sldId id="293" r:id="rId6"/>
    <p:sldId id="295" r:id="rId7"/>
    <p:sldId id="294" r:id="rId8"/>
    <p:sldId id="327" r:id="rId9"/>
    <p:sldId id="328"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3" autoAdjust="0"/>
    <p:restoredTop sz="94660"/>
  </p:normalViewPr>
  <p:slideViewPr>
    <p:cSldViewPr snapToGrid="0">
      <p:cViewPr varScale="1">
        <p:scale>
          <a:sx n="60" d="100"/>
          <a:sy n="60" d="100"/>
        </p:scale>
        <p:origin x="648"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11/03/2025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3/11/2025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3/11/2025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3/11/2025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3/11/2025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3/11/2025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3/11/2025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3/11/2025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3/11/2025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3/11/2025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3/11/2025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dirty="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606035" y="486697"/>
            <a:ext cx="3405526" cy="293492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u="sng" cap="all" dirty="0">
                <a:solidFill>
                  <a:srgbClr val="FFFFFF"/>
                </a:solidFill>
              </a:rPr>
            </a:br>
            <a:br>
              <a:rPr lang="en-US" sz="2400" cap="all" dirty="0">
                <a:solidFill>
                  <a:srgbClr val="FFFFFF"/>
                </a:solidFill>
              </a:rPr>
            </a:br>
            <a:r>
              <a:rPr lang="en-US" sz="2400" cap="all" dirty="0">
                <a:solidFill>
                  <a:srgbClr val="FFFFFF"/>
                </a:solidFill>
              </a:rPr>
              <a:t>object oriented analysis and design</a:t>
            </a:r>
          </a:p>
          <a:p>
            <a:pPr marL="0" indent="0" algn="ctr">
              <a:buFont typeface="Wingdings 2" panose="05020102010507070707" pitchFamily="18" charset="2"/>
              <a:buNone/>
            </a:pPr>
            <a:r>
              <a:rPr lang="en-US" sz="2400" cap="all" dirty="0">
                <a:solidFill>
                  <a:srgbClr val="FFFFFF"/>
                </a:solidFill>
              </a:rPr>
              <a:t>CSC 2210</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dirty="0">
                <a:solidFill>
                  <a:srgbClr val="C00000"/>
                </a:solidFill>
              </a:rPr>
              <a:t>Chapter 1</a:t>
            </a:r>
            <a:br>
              <a:rPr lang="en-US" sz="3000" dirty="0">
                <a:solidFill>
                  <a:srgbClr val="C00000"/>
                </a:solidFill>
              </a:rPr>
            </a:br>
            <a:br>
              <a:rPr lang="en-US" sz="3000" dirty="0">
                <a:solidFill>
                  <a:schemeClr val="tx2"/>
                </a:solidFill>
              </a:rPr>
            </a:br>
            <a:r>
              <a:rPr lang="en-US" sz="3000" dirty="0">
                <a:solidFill>
                  <a:schemeClr val="tx2"/>
                </a:solidFill>
              </a:rPr>
              <a:t>why do we model things?</a:t>
            </a: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pic>
        <p:nvPicPr>
          <p:cNvPr id="30" name="Picture 1" descr="C:\Users\teacher\Desktop\download.jpg">
            <a:extLst>
              <a:ext uri="{FF2B5EF4-FFF2-40B4-BE49-F238E27FC236}">
                <a16:creationId xmlns:a16="http://schemas.microsoft.com/office/drawing/2014/main" id="{1799BA9A-E3B9-47F7-BB6C-545ACE6A83B9}"/>
              </a:ext>
            </a:extLst>
          </p:cNvPr>
          <p:cNvPicPr>
            <a:picLocks noChangeAspect="1" noChangeArrowheads="1"/>
          </p:cNvPicPr>
          <p:nvPr/>
        </p:nvPicPr>
        <p:blipFill>
          <a:blip r:embed="rId3"/>
          <a:srcRect/>
          <a:stretch>
            <a:fillRect/>
          </a:stretch>
        </p:blipFill>
        <p:spPr bwMode="auto">
          <a:xfrm>
            <a:off x="486697" y="3333135"/>
            <a:ext cx="3598606" cy="1887793"/>
          </a:xfrm>
          <a:prstGeom prst="rect">
            <a:avLst/>
          </a:prstGeom>
          <a:noFill/>
        </p:spPr>
      </p:pic>
      <p:pic>
        <p:nvPicPr>
          <p:cNvPr id="31" name="Picture 3" descr="https://encrypted-tbn2.gstatic.com/images?q=tbn:ANd9GcTZSqWmbgJA9IY9oTGf6ls2w158A103Jg2WEGhWbMSOl3O_igInBAxJpJ9N">
            <a:extLst>
              <a:ext uri="{FF2B5EF4-FFF2-40B4-BE49-F238E27FC236}">
                <a16:creationId xmlns:a16="http://schemas.microsoft.com/office/drawing/2014/main" id="{ACD720F7-42BA-49BE-A110-5F85475442F6}"/>
              </a:ext>
            </a:extLst>
          </p:cNvPr>
          <p:cNvPicPr>
            <a:picLocks noChangeAspect="1" noChangeArrowheads="1"/>
          </p:cNvPicPr>
          <p:nvPr/>
        </p:nvPicPr>
        <p:blipFill>
          <a:blip r:embed="rId4"/>
          <a:srcRect/>
          <a:stretch>
            <a:fillRect/>
          </a:stretch>
        </p:blipFill>
        <p:spPr bwMode="auto">
          <a:xfrm>
            <a:off x="486697" y="5279921"/>
            <a:ext cx="3598606" cy="1080425"/>
          </a:xfrm>
          <a:prstGeom prst="rect">
            <a:avLst/>
          </a:prstGeom>
          <a:noFill/>
        </p:spPr>
      </p:pic>
      <p:sp>
        <p:nvSpPr>
          <p:cNvPr id="2" name="Title 1">
            <a:extLst>
              <a:ext uri="{FF2B5EF4-FFF2-40B4-BE49-F238E27FC236}">
                <a16:creationId xmlns:a16="http://schemas.microsoft.com/office/drawing/2014/main" id="{109F5B63-3205-4186-9972-B0B21B3211C6}"/>
              </a:ext>
            </a:extLst>
          </p:cNvPr>
          <p:cNvSpPr txBox="1">
            <a:spLocks/>
          </p:cNvSpPr>
          <p:nvPr/>
        </p:nvSpPr>
        <p:spPr>
          <a:xfrm>
            <a:off x="4321278" y="3471955"/>
            <a:ext cx="7152968"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rgbClr val="7030A0"/>
                </a:solidFill>
              </a:rPr>
              <a:t>MOHAIMEN-BIN-NOOR</a:t>
            </a:r>
          </a:p>
          <a:p>
            <a:r>
              <a:rPr lang="en-US" sz="2000" dirty="0">
                <a:solidFill>
                  <a:schemeClr val="tx1"/>
                </a:solidFill>
              </a:rPr>
              <a:t>Assistant Professor, CS</a:t>
            </a:r>
          </a:p>
          <a:p>
            <a:r>
              <a:rPr lang="en-US" sz="2000" cap="none" dirty="0">
                <a:solidFill>
                  <a:schemeClr val="tx1"/>
                </a:solidFill>
                <a:latin typeface="+mn-lt"/>
              </a:rPr>
              <a:t>mohaimen.niloy@aiub.edu</a:t>
            </a:r>
          </a:p>
        </p:txBody>
      </p: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9716" y="568940"/>
            <a:ext cx="11029950" cy="537190"/>
          </a:xfrm>
        </p:spPr>
        <p:txBody>
          <a:bodyPr/>
          <a:lstStyle/>
          <a:p>
            <a:pPr algn="ctr"/>
            <a:r>
              <a:rPr lang="en-US" altLang="en-US" b="1" dirty="0">
                <a:solidFill>
                  <a:srgbClr val="0070C0"/>
                </a:solidFill>
                <a:latin typeface="Book Antiqua" pitchFamily="18" charset="0"/>
              </a:rPr>
              <a:t>What is a System?</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1047134" y="1284063"/>
            <a:ext cx="10292532" cy="3319758"/>
          </a:xfrm>
        </p:spPr>
        <p:txBody>
          <a:bodyPr>
            <a:noAutofit/>
          </a:bodyPr>
          <a:lstStyle/>
          <a:p>
            <a:pPr algn="just">
              <a:buClr>
                <a:schemeClr val="tx1"/>
              </a:buClr>
              <a:buFont typeface="Wingdings" pitchFamily="2" charset="2"/>
              <a:buChar char="q"/>
            </a:pPr>
            <a:r>
              <a:rPr lang="en-US" altLang="en-US" sz="2400" dirty="0">
                <a:solidFill>
                  <a:schemeClr val="tx1"/>
                </a:solidFill>
                <a:latin typeface="+mj-lt"/>
              </a:rPr>
              <a:t> A system has a specific set of objectives.</a:t>
            </a:r>
          </a:p>
          <a:p>
            <a:pPr algn="just">
              <a:buClr>
                <a:schemeClr val="tx1"/>
              </a:buClr>
              <a:buFont typeface="Wingdings" pitchFamily="2" charset="2"/>
              <a:buChar char="q"/>
            </a:pPr>
            <a:r>
              <a:rPr lang="en-US" altLang="en-US" sz="2400" dirty="0">
                <a:solidFill>
                  <a:schemeClr val="tx1"/>
                </a:solidFill>
                <a:latin typeface="+mj-lt"/>
              </a:rPr>
              <a:t>Components of a system are given a specific set of tasks/ responsibilities.</a:t>
            </a:r>
          </a:p>
          <a:p>
            <a:pPr algn="just">
              <a:buClr>
                <a:schemeClr val="tx1"/>
              </a:buClr>
              <a:buFont typeface="Wingdings" pitchFamily="2" charset="2"/>
              <a:buChar char="q"/>
            </a:pPr>
            <a:r>
              <a:rPr lang="en-US" altLang="en-US" sz="2400" dirty="0">
                <a:solidFill>
                  <a:schemeClr val="tx1"/>
                </a:solidFill>
                <a:latin typeface="+mj-lt"/>
              </a:rPr>
              <a:t>Components of a system work together to achieve those objectives within a limited boundary.</a:t>
            </a:r>
          </a:p>
          <a:p>
            <a:pPr algn="just">
              <a:buClr>
                <a:schemeClr val="tx1"/>
              </a:buClr>
              <a:buFont typeface="Wingdings" pitchFamily="2" charset="2"/>
              <a:buChar char="q"/>
            </a:pPr>
            <a:r>
              <a:rPr lang="en-US" altLang="en-US" sz="2400" dirty="0">
                <a:solidFill>
                  <a:schemeClr val="tx1"/>
                </a:solidFill>
                <a:latin typeface="+mj-lt"/>
              </a:rPr>
              <a:t>Components are related with each other and communicate with each other based on the type of the relationships.</a:t>
            </a:r>
          </a:p>
        </p:txBody>
      </p:sp>
      <p:sp>
        <p:nvSpPr>
          <p:cNvPr id="8" name="Content Placeholder 2">
            <a:extLst>
              <a:ext uri="{FF2B5EF4-FFF2-40B4-BE49-F238E27FC236}">
                <a16:creationId xmlns:a16="http://schemas.microsoft.com/office/drawing/2014/main" id="{AAF32433-6800-4261-A0A0-212E85339E21}"/>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6A6CB1B1-1016-46F1-A2AD-D26A52C581B6}"/>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a:t>
            </a:fld>
            <a:r>
              <a:rPr lang="en-US" sz="1400" b="1" dirty="0"/>
              <a:t> </a:t>
            </a:r>
          </a:p>
        </p:txBody>
      </p:sp>
      <p:sp>
        <p:nvSpPr>
          <p:cNvPr id="3" name="Rectangle 2" descr="M. Mhahudul Hasan">
            <a:extLst>
              <a:ext uri="{FF2B5EF4-FFF2-40B4-BE49-F238E27FC236}">
                <a16:creationId xmlns:a16="http://schemas.microsoft.com/office/drawing/2014/main" id="{11B50FE9-BB88-463D-92F0-21176B5C5A42}"/>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1AA18127-9150-4D15-A763-615B686C8E61}"/>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2" name="Rectangle 11" descr="M. Mhahudul Hasan">
            <a:extLst>
              <a:ext uri="{FF2B5EF4-FFF2-40B4-BE49-F238E27FC236}">
                <a16:creationId xmlns:a16="http://schemas.microsoft.com/office/drawing/2014/main" id="{0B9685EC-4BC6-4259-B7F8-3E4DE37D18E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1663529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51B38-619F-A9CF-135E-CD08243196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12B229-5F03-06A6-7C29-466756ED6189}"/>
              </a:ext>
            </a:extLst>
          </p:cNvPr>
          <p:cNvSpPr>
            <a:spLocks noGrp="1"/>
          </p:cNvSpPr>
          <p:nvPr>
            <p:ph type="title" idx="4294967295"/>
          </p:nvPr>
        </p:nvSpPr>
        <p:spPr>
          <a:xfrm>
            <a:off x="309716" y="568940"/>
            <a:ext cx="11029950" cy="537190"/>
          </a:xfrm>
        </p:spPr>
        <p:txBody>
          <a:bodyPr/>
          <a:lstStyle/>
          <a:p>
            <a:pPr algn="ctr"/>
            <a:r>
              <a:rPr lang="en-US" altLang="en-US" b="1" dirty="0">
                <a:solidFill>
                  <a:srgbClr val="0070C0"/>
                </a:solidFill>
                <a:latin typeface="Book Antiqua" pitchFamily="18" charset="0"/>
              </a:rPr>
              <a:t>Quality of a System</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a:extLst>
              <a:ext uri="{FF2B5EF4-FFF2-40B4-BE49-F238E27FC236}">
                <a16:creationId xmlns:a16="http://schemas.microsoft.com/office/drawing/2014/main" id="{5CE2F075-E765-63FF-B14A-B45D63AE7CF4}"/>
              </a:ext>
            </a:extLst>
          </p:cNvPr>
          <p:cNvSpPr>
            <a:spLocks noGrp="1"/>
          </p:cNvSpPr>
          <p:nvPr>
            <p:ph idx="4294967295"/>
          </p:nvPr>
        </p:nvSpPr>
        <p:spPr>
          <a:xfrm>
            <a:off x="1047134" y="1284063"/>
            <a:ext cx="10292532" cy="3319758"/>
          </a:xfrm>
        </p:spPr>
        <p:txBody>
          <a:bodyPr>
            <a:noAutofit/>
          </a:bodyPr>
          <a:lstStyle/>
          <a:p>
            <a:pPr algn="just">
              <a:buClr>
                <a:schemeClr val="tx1"/>
              </a:buClr>
              <a:buFont typeface="Wingdings" pitchFamily="2" charset="2"/>
              <a:buChar char="q"/>
            </a:pPr>
            <a:r>
              <a:rPr lang="en-US" altLang="en-US" sz="2400" dirty="0">
                <a:solidFill>
                  <a:schemeClr val="tx1"/>
                </a:solidFill>
                <a:latin typeface="+mj-lt"/>
              </a:rPr>
              <a:t>Objectives must be well defined and specific</a:t>
            </a:r>
          </a:p>
          <a:p>
            <a:pPr algn="just">
              <a:buClr>
                <a:schemeClr val="tx1"/>
              </a:buClr>
              <a:buFont typeface="Wingdings" pitchFamily="2" charset="2"/>
              <a:buChar char="q"/>
            </a:pPr>
            <a:r>
              <a:rPr lang="en-US" altLang="en-US" sz="2400" dirty="0">
                <a:solidFill>
                  <a:schemeClr val="tx1"/>
                </a:solidFill>
                <a:latin typeface="+mj-lt"/>
              </a:rPr>
              <a:t>Components must have well defined and specific responsibilities that they can perform independently.</a:t>
            </a:r>
          </a:p>
          <a:p>
            <a:pPr algn="just">
              <a:buClr>
                <a:schemeClr val="tx1"/>
              </a:buClr>
              <a:buFont typeface="Wingdings" pitchFamily="2" charset="2"/>
              <a:buChar char="q"/>
            </a:pPr>
            <a:r>
              <a:rPr lang="en-US" altLang="en-US" sz="2400" dirty="0">
                <a:solidFill>
                  <a:schemeClr val="tx1"/>
                </a:solidFill>
                <a:latin typeface="+mj-lt"/>
              </a:rPr>
              <a:t>Communication among components should be as minimum as possible; only on need basis to transfer the output of one component to another component.</a:t>
            </a:r>
          </a:p>
        </p:txBody>
      </p:sp>
      <p:sp>
        <p:nvSpPr>
          <p:cNvPr id="8" name="Content Placeholder 2">
            <a:extLst>
              <a:ext uri="{FF2B5EF4-FFF2-40B4-BE49-F238E27FC236}">
                <a16:creationId xmlns:a16="http://schemas.microsoft.com/office/drawing/2014/main" id="{4E533229-8BCE-AC34-3443-8FD9008C80B9}"/>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F518FE08-2F41-2B24-224E-22CA215AB4BD}"/>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a:t>
            </a:fld>
            <a:r>
              <a:rPr lang="en-US" sz="1400" b="1" dirty="0"/>
              <a:t> </a:t>
            </a:r>
          </a:p>
        </p:txBody>
      </p:sp>
      <p:sp>
        <p:nvSpPr>
          <p:cNvPr id="3" name="Rectangle 2" descr="M. Mhahudul Hasan">
            <a:extLst>
              <a:ext uri="{FF2B5EF4-FFF2-40B4-BE49-F238E27FC236}">
                <a16:creationId xmlns:a16="http://schemas.microsoft.com/office/drawing/2014/main" id="{51DCEA66-220A-5A57-0B76-E2DCA585C3F6}"/>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D1D34C39-1B74-4E3A-D3D5-84AF6F512E9E}"/>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2" name="Rectangle 11" descr="M. Mhahudul Hasan">
            <a:extLst>
              <a:ext uri="{FF2B5EF4-FFF2-40B4-BE49-F238E27FC236}">
                <a16:creationId xmlns:a16="http://schemas.microsoft.com/office/drawing/2014/main" id="{C3A80E82-9416-9DAE-5F05-A7ADD1C1ED5D}"/>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1328319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771F2-DE2C-2A89-74E0-419C93605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27103-A3C4-E7E7-C65D-DFC533CC655B}"/>
              </a:ext>
            </a:extLst>
          </p:cNvPr>
          <p:cNvSpPr>
            <a:spLocks noGrp="1"/>
          </p:cNvSpPr>
          <p:nvPr>
            <p:ph type="title" idx="4294967295"/>
          </p:nvPr>
        </p:nvSpPr>
        <p:spPr>
          <a:xfrm>
            <a:off x="309716" y="568940"/>
            <a:ext cx="11029950" cy="537190"/>
          </a:xfrm>
        </p:spPr>
        <p:txBody>
          <a:bodyPr/>
          <a:lstStyle/>
          <a:p>
            <a:pPr algn="ctr"/>
            <a:r>
              <a:rPr lang="en-US" altLang="en-US" b="1" dirty="0">
                <a:solidFill>
                  <a:srgbClr val="0070C0"/>
                </a:solidFill>
                <a:latin typeface="Book Antiqua" pitchFamily="18" charset="0"/>
              </a:rPr>
              <a:t>        Why  we  model?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a:extLst>
              <a:ext uri="{FF2B5EF4-FFF2-40B4-BE49-F238E27FC236}">
                <a16:creationId xmlns:a16="http://schemas.microsoft.com/office/drawing/2014/main" id="{D8C71AFD-4841-E2FF-E1AF-631E16DCED25}"/>
              </a:ext>
            </a:extLst>
          </p:cNvPr>
          <p:cNvSpPr>
            <a:spLocks noGrp="1"/>
          </p:cNvSpPr>
          <p:nvPr>
            <p:ph idx="4294967295"/>
          </p:nvPr>
        </p:nvSpPr>
        <p:spPr>
          <a:xfrm>
            <a:off x="1047135" y="1293504"/>
            <a:ext cx="11029950" cy="992495"/>
          </a:xfrm>
        </p:spPr>
        <p:txBody>
          <a:bodyPr>
            <a:noAutofit/>
          </a:bodyPr>
          <a:lstStyle/>
          <a:p>
            <a:pPr>
              <a:buClr>
                <a:schemeClr val="tx1"/>
              </a:buClr>
              <a:buFont typeface="Wingdings" pitchFamily="2" charset="2"/>
              <a:buChar char="q"/>
            </a:pPr>
            <a:r>
              <a:rPr lang="en-GB" altLang="en-US" sz="2200" dirty="0">
                <a:solidFill>
                  <a:schemeClr val="tx1"/>
                </a:solidFill>
                <a:latin typeface="+mj-lt"/>
              </a:rPr>
              <a:t>A model is a simplification of reality</a:t>
            </a:r>
            <a:endParaRPr lang="en-US" altLang="en-US" sz="2200" dirty="0">
              <a:solidFill>
                <a:schemeClr val="tx1"/>
              </a:solidFill>
              <a:latin typeface="+mj-lt"/>
            </a:endParaRPr>
          </a:p>
          <a:p>
            <a:pPr>
              <a:buClr>
                <a:schemeClr val="tx1"/>
              </a:buClr>
              <a:buFont typeface="Wingdings" pitchFamily="2" charset="2"/>
              <a:buChar char="q"/>
            </a:pPr>
            <a:r>
              <a:rPr lang="en-GB" altLang="en-US" sz="2200" dirty="0">
                <a:solidFill>
                  <a:schemeClr val="tx1"/>
                </a:solidFill>
                <a:latin typeface="+mj-lt"/>
              </a:rPr>
              <a:t>A model provides the blueprints of a system. </a:t>
            </a:r>
            <a:endParaRPr lang="en-US" sz="2200" dirty="0">
              <a:solidFill>
                <a:schemeClr val="tx1"/>
              </a:solidFill>
              <a:latin typeface="+mj-lt"/>
            </a:endParaRPr>
          </a:p>
        </p:txBody>
      </p:sp>
      <p:pic>
        <p:nvPicPr>
          <p:cNvPr id="5" name="Picture 2">
            <a:extLst>
              <a:ext uri="{FF2B5EF4-FFF2-40B4-BE49-F238E27FC236}">
                <a16:creationId xmlns:a16="http://schemas.microsoft.com/office/drawing/2014/main" id="{2B8D5EE6-CEB7-54AA-A3F8-70D068B07C36}"/>
              </a:ext>
            </a:extLst>
          </p:cNvPr>
          <p:cNvPicPr>
            <a:picLocks noChangeAspect="1" noChangeArrowheads="1"/>
          </p:cNvPicPr>
          <p:nvPr/>
        </p:nvPicPr>
        <p:blipFill>
          <a:blip r:embed="rId2"/>
          <a:srcRect/>
          <a:stretch>
            <a:fillRect/>
          </a:stretch>
        </p:blipFill>
        <p:spPr bwMode="auto">
          <a:xfrm>
            <a:off x="1381292" y="2718620"/>
            <a:ext cx="8138160" cy="3531325"/>
          </a:xfrm>
          <a:prstGeom prst="rect">
            <a:avLst/>
          </a:prstGeom>
          <a:noFill/>
          <a:ln w="9525">
            <a:noFill/>
            <a:miter lim="800000"/>
            <a:headEnd/>
            <a:tailEnd/>
          </a:ln>
          <a:effectLst/>
        </p:spPr>
      </p:pic>
      <p:sp>
        <p:nvSpPr>
          <p:cNvPr id="8" name="Content Placeholder 2">
            <a:extLst>
              <a:ext uri="{FF2B5EF4-FFF2-40B4-BE49-F238E27FC236}">
                <a16:creationId xmlns:a16="http://schemas.microsoft.com/office/drawing/2014/main" id="{A4D5B348-829E-AE1C-B913-6F64C8FE2201}"/>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F0F0710A-6E19-D14A-C679-C9B2E1279FD1}"/>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4</a:t>
            </a:fld>
            <a:r>
              <a:rPr lang="en-US" sz="1400" b="1" dirty="0"/>
              <a:t> </a:t>
            </a:r>
          </a:p>
        </p:txBody>
      </p:sp>
      <p:sp>
        <p:nvSpPr>
          <p:cNvPr id="3" name="Rectangle 2" descr="M. Mhahudul Hasan">
            <a:extLst>
              <a:ext uri="{FF2B5EF4-FFF2-40B4-BE49-F238E27FC236}">
                <a16:creationId xmlns:a16="http://schemas.microsoft.com/office/drawing/2014/main" id="{2E7DDABB-ADB2-055D-BFF1-E9DD91A4E68C}"/>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02519B9E-649E-72D9-1162-ABBF5222F845}"/>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2" name="Rectangle 11" descr="M. Mhahudul Hasan">
            <a:extLst>
              <a:ext uri="{FF2B5EF4-FFF2-40B4-BE49-F238E27FC236}">
                <a16:creationId xmlns:a16="http://schemas.microsoft.com/office/drawing/2014/main" id="{54A8443F-7225-01A8-3D50-102074D55DCF}"/>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4044486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53962" y="568939"/>
            <a:ext cx="11029950" cy="522441"/>
          </a:xfrm>
        </p:spPr>
        <p:txBody>
          <a:bodyPr/>
          <a:lstStyle/>
          <a:p>
            <a:pPr algn="ctr"/>
            <a:r>
              <a:rPr lang="en-US" altLang="en-US" b="1" dirty="0">
                <a:solidFill>
                  <a:srgbClr val="0070C0"/>
                </a:solidFill>
                <a:latin typeface="Book Antiqua" pitchFamily="18" charset="0"/>
              </a:rPr>
              <a:t>Why  we  model?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75188" y="1276964"/>
            <a:ext cx="11029950" cy="2203655"/>
          </a:xfrm>
        </p:spPr>
        <p:txBody>
          <a:bodyPr>
            <a:noAutofit/>
          </a:bodyPr>
          <a:lstStyle/>
          <a:p>
            <a:pPr>
              <a:buClrTx/>
              <a:buFont typeface="Wingdings" pitchFamily="2" charset="2"/>
              <a:buChar char="q"/>
            </a:pPr>
            <a:r>
              <a:rPr lang="en-GB" altLang="en-US" sz="2200" dirty="0">
                <a:solidFill>
                  <a:schemeClr val="tx1"/>
                </a:solidFill>
                <a:latin typeface="+mj-lt"/>
              </a:rPr>
              <a:t>The larger and more complex the system, the more important modelling becomes, for one very simple reason:</a:t>
            </a:r>
            <a:br>
              <a:rPr lang="en-US" altLang="en-US" sz="2200" dirty="0">
                <a:latin typeface="+mj-lt"/>
              </a:rPr>
            </a:br>
            <a:br>
              <a:rPr lang="en-GB" altLang="en-US" sz="2200" i="1" dirty="0">
                <a:latin typeface="+mj-lt"/>
              </a:rPr>
            </a:br>
            <a:r>
              <a:rPr lang="en-GB" altLang="en-US" sz="2200" i="1" dirty="0">
                <a:solidFill>
                  <a:srgbClr val="C00000"/>
                </a:solidFill>
                <a:latin typeface="+mj-lt"/>
              </a:rPr>
              <a:t>We build models of complex systems because we cannot fully mean of such a system in its entirety.</a:t>
            </a:r>
            <a:endParaRPr lang="en-GB" altLang="en-US" sz="2200" dirty="0">
              <a:solidFill>
                <a:srgbClr val="C00000"/>
              </a:solidFill>
              <a:latin typeface="+mj-lt"/>
            </a:endParaRPr>
          </a:p>
          <a:p>
            <a:pPr>
              <a:buClr>
                <a:schemeClr val="tx1"/>
              </a:buClr>
              <a:buFont typeface="Wingdings" pitchFamily="2" charset="2"/>
              <a:buChar char="q"/>
            </a:pPr>
            <a:r>
              <a:rPr lang="en-GB" altLang="en-US" sz="2200" dirty="0">
                <a:solidFill>
                  <a:schemeClr val="tx1"/>
                </a:solidFill>
                <a:latin typeface="+mj-lt"/>
              </a:rPr>
              <a:t>There are limits to the human ability to understand complexity. Through modelling we narrow the problem we are studying by focusing on only </a:t>
            </a:r>
            <a:r>
              <a:rPr lang="en-GB" altLang="en-US" sz="2200" b="1" dirty="0">
                <a:solidFill>
                  <a:schemeClr val="tx1"/>
                </a:solidFill>
                <a:latin typeface="+mj-lt"/>
              </a:rPr>
              <a:t>one aspect </a:t>
            </a:r>
            <a:r>
              <a:rPr lang="en-GB" altLang="en-US" sz="2200" dirty="0">
                <a:solidFill>
                  <a:schemeClr val="tx1"/>
                </a:solidFill>
                <a:latin typeface="+mj-lt"/>
              </a:rPr>
              <a:t>at a time.</a:t>
            </a:r>
            <a:endParaRPr lang="en-US" sz="2200" dirty="0">
              <a:solidFill>
                <a:schemeClr val="tx1"/>
              </a:solidFill>
              <a:latin typeface="+mj-lt"/>
            </a:endParaRPr>
          </a:p>
        </p:txBody>
      </p:sp>
      <p:pic>
        <p:nvPicPr>
          <p:cNvPr id="6" name="Picture 2"/>
          <p:cNvPicPr>
            <a:picLocks noChangeAspect="1" noChangeArrowheads="1"/>
          </p:cNvPicPr>
          <p:nvPr/>
        </p:nvPicPr>
        <p:blipFill>
          <a:blip r:embed="rId2"/>
          <a:srcRect/>
          <a:stretch>
            <a:fillRect/>
          </a:stretch>
        </p:blipFill>
        <p:spPr bwMode="auto">
          <a:xfrm>
            <a:off x="1103670" y="3927987"/>
            <a:ext cx="9625149" cy="2209800"/>
          </a:xfrm>
          <a:prstGeom prst="rect">
            <a:avLst/>
          </a:prstGeom>
          <a:noFill/>
          <a:ln w="9525">
            <a:noFill/>
            <a:miter lim="800000"/>
            <a:headEnd/>
            <a:tailEnd/>
          </a:ln>
          <a:effectLst/>
        </p:spPr>
      </p:pic>
      <p:sp>
        <p:nvSpPr>
          <p:cNvPr id="9" name="Content Placeholder 2">
            <a:extLst>
              <a:ext uri="{FF2B5EF4-FFF2-40B4-BE49-F238E27FC236}">
                <a16:creationId xmlns:a16="http://schemas.microsoft.com/office/drawing/2014/main" id="{4BC02A89-7FDC-4520-B260-94E64C8F9521}"/>
              </a:ext>
            </a:extLst>
          </p:cNvPr>
          <p:cNvSpPr>
            <a:spLocks noGrp="1"/>
          </p:cNvSpPr>
          <p:nvPr/>
        </p:nvSpPr>
        <p:spPr>
          <a:xfrm>
            <a:off x="-116387"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10" name="Slide Number Placeholder 3">
            <a:extLst>
              <a:ext uri="{FF2B5EF4-FFF2-40B4-BE49-F238E27FC236}">
                <a16:creationId xmlns:a16="http://schemas.microsoft.com/office/drawing/2014/main" id="{8FBEF14D-9F1B-4956-920A-AE7B3F0C92B1}"/>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5</a:t>
            </a:fld>
            <a:r>
              <a:rPr lang="en-US" sz="1400" b="1" dirty="0"/>
              <a:t> </a:t>
            </a:r>
          </a:p>
        </p:txBody>
      </p:sp>
      <p:sp>
        <p:nvSpPr>
          <p:cNvPr id="3" name="Rectangle 2" descr="M. Mhahudul Hasan">
            <a:extLst>
              <a:ext uri="{FF2B5EF4-FFF2-40B4-BE49-F238E27FC236}">
                <a16:creationId xmlns:a16="http://schemas.microsoft.com/office/drawing/2014/main" id="{9BF30A4D-B93D-44C5-9DA2-D969A6BA552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DFECC8F0-7D36-49CF-97D9-13C0082EF16E}"/>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8" name="Rectangle 7" descr="M. Mhahudul Hasan">
            <a:extLst>
              <a:ext uri="{FF2B5EF4-FFF2-40B4-BE49-F238E27FC236}">
                <a16:creationId xmlns:a16="http://schemas.microsoft.com/office/drawing/2014/main" id="{F2526B8C-2844-44AD-B93A-5AC35A1440E4}"/>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4286809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9716" y="568941"/>
            <a:ext cx="11029950" cy="551938"/>
          </a:xfrm>
        </p:spPr>
        <p:txBody>
          <a:bodyPr/>
          <a:lstStyle/>
          <a:p>
            <a:pPr algn="ctr"/>
            <a:r>
              <a:rPr lang="en-US" altLang="en-US" b="1" dirty="0">
                <a:solidFill>
                  <a:srgbClr val="0070C0"/>
                </a:solidFill>
                <a:latin typeface="Book Antiqua" pitchFamily="18" charset="0"/>
              </a:rPr>
              <a:t>Why  we  model?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14709" y="1242450"/>
            <a:ext cx="11028362" cy="4449763"/>
          </a:xfrm>
        </p:spPr>
        <p:txBody>
          <a:bodyPr>
            <a:noAutofit/>
          </a:bodyPr>
          <a:lstStyle/>
          <a:p>
            <a:pPr>
              <a:buFont typeface="Wingdings" pitchFamily="2" charset="2"/>
              <a:buChar char="q"/>
            </a:pPr>
            <a:r>
              <a:rPr lang="en-US" altLang="en-US" sz="2200" b="1" dirty="0">
                <a:latin typeface="+mj-lt"/>
              </a:rPr>
              <a:t>Modeling</a:t>
            </a:r>
            <a:r>
              <a:rPr lang="en-US" altLang="en-US" sz="2200" dirty="0">
                <a:latin typeface="+mj-lt"/>
              </a:rPr>
              <a:t> is the designing of software applications before coding.</a:t>
            </a:r>
          </a:p>
          <a:p>
            <a:pPr>
              <a:buFont typeface="Wingdings" pitchFamily="2" charset="2"/>
              <a:buChar char="q"/>
            </a:pPr>
            <a:r>
              <a:rPr lang="en-US" altLang="en-US" sz="2200" dirty="0">
                <a:latin typeface="+mj-lt"/>
              </a:rPr>
              <a:t>Modeling is an Essential Part of large software projects, and helpful to medium and even small projects as well.</a:t>
            </a:r>
            <a:endParaRPr lang="en-GB" altLang="en-US" sz="2200" b="1" dirty="0">
              <a:latin typeface="+mj-lt"/>
            </a:endParaRPr>
          </a:p>
          <a:p>
            <a:pPr>
              <a:buFont typeface="Wingdings" pitchFamily="2" charset="2"/>
              <a:buChar char="q"/>
            </a:pPr>
            <a:r>
              <a:rPr lang="en-GB" altLang="en-US" sz="2200" b="1" dirty="0">
                <a:latin typeface="+mj-lt"/>
              </a:rPr>
              <a:t>Modelling</a:t>
            </a:r>
            <a:r>
              <a:rPr lang="en-GB" altLang="en-US" sz="2200" dirty="0">
                <a:latin typeface="+mj-lt"/>
              </a:rPr>
              <a:t> is a proven and well-accepted engineering technique.</a:t>
            </a:r>
          </a:p>
          <a:p>
            <a:pPr>
              <a:buFont typeface="Wingdings" pitchFamily="2" charset="2"/>
              <a:buChar char="q"/>
            </a:pPr>
            <a:r>
              <a:rPr lang="en-GB" altLang="en-US" sz="2200" dirty="0">
                <a:latin typeface="+mj-lt"/>
              </a:rPr>
              <a:t>Unsuccessful software projects fail in their own unique ways, but all successful projects are alike in many ways. </a:t>
            </a:r>
          </a:p>
          <a:p>
            <a:pPr>
              <a:buFont typeface="Wingdings" pitchFamily="2" charset="2"/>
              <a:buChar char="q"/>
            </a:pPr>
            <a:r>
              <a:rPr lang="en-GB" altLang="en-US" sz="2200" dirty="0">
                <a:latin typeface="+mj-lt"/>
              </a:rPr>
              <a:t>There are many elements that contribute to a successful software organization; one common thread is the use of </a:t>
            </a:r>
            <a:r>
              <a:rPr lang="en-GB" altLang="en-US" sz="2200" b="1" dirty="0">
                <a:latin typeface="+mj-lt"/>
              </a:rPr>
              <a:t>modelling</a:t>
            </a:r>
            <a:r>
              <a:rPr lang="en-GB" altLang="en-US" sz="2200" dirty="0">
                <a:latin typeface="+mj-lt"/>
              </a:rPr>
              <a:t>.</a:t>
            </a:r>
          </a:p>
          <a:p>
            <a:pPr>
              <a:buFont typeface="Wingdings" pitchFamily="2" charset="2"/>
              <a:buChar char="q"/>
            </a:pPr>
            <a:r>
              <a:rPr lang="en-GB" altLang="en-US" sz="2200" dirty="0">
                <a:latin typeface="+mj-lt"/>
              </a:rPr>
              <a:t>We do model so that we can better understand the system we are developing.</a:t>
            </a:r>
          </a:p>
        </p:txBody>
      </p:sp>
      <p:sp>
        <p:nvSpPr>
          <p:cNvPr id="7" name="Content Placeholder 2">
            <a:extLst>
              <a:ext uri="{FF2B5EF4-FFF2-40B4-BE49-F238E27FC236}">
                <a16:creationId xmlns:a16="http://schemas.microsoft.com/office/drawing/2014/main" id="{C4C2C9EA-CD69-40BB-B1A6-8923E99D5D22}"/>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8" name="Slide Number Placeholder 3">
            <a:extLst>
              <a:ext uri="{FF2B5EF4-FFF2-40B4-BE49-F238E27FC236}">
                <a16:creationId xmlns:a16="http://schemas.microsoft.com/office/drawing/2014/main" id="{0BFAC87B-C384-4214-AD9A-2B47D7BD673C}"/>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6</a:t>
            </a:fld>
            <a:r>
              <a:rPr lang="en-US" sz="1400" b="1" dirty="0"/>
              <a:t> </a:t>
            </a:r>
          </a:p>
        </p:txBody>
      </p:sp>
      <p:sp>
        <p:nvSpPr>
          <p:cNvPr id="3" name="Rectangle 2" descr="M. Mhahudul Hasan">
            <a:extLst>
              <a:ext uri="{FF2B5EF4-FFF2-40B4-BE49-F238E27FC236}">
                <a16:creationId xmlns:a16="http://schemas.microsoft.com/office/drawing/2014/main" id="{974D7999-1B6A-4D74-A331-B8320C49579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1CAF846A-238D-4D16-8B45-2EAF123636F4}"/>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73673C30-8415-4D90-B946-0EFEF8ABC835}"/>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348599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3" y="539443"/>
            <a:ext cx="11029950" cy="610931"/>
          </a:xfrm>
        </p:spPr>
        <p:txBody>
          <a:bodyPr>
            <a:normAutofit/>
          </a:bodyPr>
          <a:lstStyle/>
          <a:p>
            <a:pPr algn="ctr"/>
            <a:r>
              <a:rPr lang="en-US" altLang="en-US" b="1" dirty="0">
                <a:solidFill>
                  <a:srgbClr val="0070C0"/>
                </a:solidFill>
                <a:latin typeface="Book Antiqua" pitchFamily="18" charset="0"/>
              </a:rPr>
              <a:t>Benefits  of  model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619432" y="1371600"/>
            <a:ext cx="11029950" cy="3082925"/>
          </a:xfrm>
        </p:spPr>
        <p:txBody>
          <a:bodyPr>
            <a:normAutofit fontScale="85000" lnSpcReduction="20000"/>
          </a:bodyPr>
          <a:lstStyle/>
          <a:p>
            <a:pPr>
              <a:buFont typeface="Wingdings" pitchFamily="2" charset="2"/>
              <a:buChar char="q"/>
            </a:pPr>
            <a:endParaRPr lang="en-GB" altLang="en-US" sz="2400" dirty="0">
              <a:latin typeface="+mj-lt"/>
            </a:endParaRPr>
          </a:p>
          <a:p>
            <a:pPr>
              <a:buFont typeface="Wingdings" pitchFamily="2" charset="2"/>
              <a:buChar char="q"/>
            </a:pPr>
            <a:r>
              <a:rPr lang="en-GB" altLang="en-US" sz="2600" dirty="0">
                <a:latin typeface="+mj-lt"/>
              </a:rPr>
              <a:t>Through modelling we achieve four aims:</a:t>
            </a:r>
          </a:p>
          <a:p>
            <a:pPr>
              <a:buFont typeface="Wingdings" pitchFamily="2" charset="2"/>
              <a:buChar char="q"/>
            </a:pPr>
            <a:endParaRPr lang="en-US" altLang="en-US" sz="2600" dirty="0">
              <a:latin typeface="+mj-lt"/>
            </a:endParaRPr>
          </a:p>
          <a:p>
            <a:pPr marL="971550" lvl="1" indent="-514350">
              <a:buFont typeface="Calibri" panose="020F0502020204030204" pitchFamily="34" charset="0"/>
              <a:buAutoNum type="arabicPeriod"/>
            </a:pPr>
            <a:r>
              <a:rPr lang="en-GB" altLang="en-US" sz="2600" dirty="0">
                <a:latin typeface="+mj-lt"/>
              </a:rPr>
              <a:t>Models help us to </a:t>
            </a:r>
            <a:r>
              <a:rPr lang="en-GB" altLang="en-US" sz="2600" b="1" dirty="0">
                <a:latin typeface="+mj-lt"/>
              </a:rPr>
              <a:t>visualize a system </a:t>
            </a:r>
            <a:r>
              <a:rPr lang="en-GB" altLang="en-US" sz="2600" dirty="0">
                <a:latin typeface="+mj-lt"/>
              </a:rPr>
              <a:t>as it is or as we want it to be</a:t>
            </a:r>
            <a:endParaRPr lang="en-US" altLang="en-US" sz="2600" dirty="0">
              <a:latin typeface="+mj-lt"/>
            </a:endParaRPr>
          </a:p>
          <a:p>
            <a:pPr marL="971550" lvl="1" indent="-514350">
              <a:buFont typeface="Calibri" panose="020F0502020204030204" pitchFamily="34" charset="0"/>
              <a:buAutoNum type="arabicPeriod"/>
            </a:pPr>
            <a:r>
              <a:rPr lang="en-GB" altLang="en-US" sz="2600" dirty="0">
                <a:latin typeface="+mj-lt"/>
              </a:rPr>
              <a:t>Models permit us to specify the </a:t>
            </a:r>
            <a:r>
              <a:rPr lang="en-GB" altLang="en-US" sz="2600" b="1" dirty="0">
                <a:latin typeface="+mj-lt"/>
              </a:rPr>
              <a:t>structure or behaviour </a:t>
            </a:r>
            <a:r>
              <a:rPr lang="en-GB" altLang="en-US" sz="2600" dirty="0">
                <a:latin typeface="+mj-lt"/>
              </a:rPr>
              <a:t>of a system</a:t>
            </a:r>
            <a:endParaRPr lang="en-US" altLang="en-US" sz="2600" dirty="0">
              <a:latin typeface="+mj-lt"/>
            </a:endParaRPr>
          </a:p>
          <a:p>
            <a:pPr marL="971550" lvl="1" indent="-514350">
              <a:buFont typeface="Calibri" panose="020F0502020204030204" pitchFamily="34" charset="0"/>
              <a:buAutoNum type="arabicPeriod"/>
            </a:pPr>
            <a:r>
              <a:rPr lang="en-GB" altLang="en-US" sz="2600" dirty="0">
                <a:latin typeface="+mj-lt"/>
              </a:rPr>
              <a:t>Models give us </a:t>
            </a:r>
            <a:r>
              <a:rPr lang="en-GB" altLang="en-US" sz="2600" b="1" dirty="0">
                <a:latin typeface="+mj-lt"/>
              </a:rPr>
              <a:t>a template that guides us in constructing</a:t>
            </a:r>
            <a:r>
              <a:rPr lang="en-GB" altLang="en-US" sz="2600" dirty="0">
                <a:latin typeface="+mj-lt"/>
              </a:rPr>
              <a:t> a system</a:t>
            </a:r>
            <a:endParaRPr lang="en-US" altLang="en-US" sz="2600" dirty="0">
              <a:latin typeface="+mj-lt"/>
            </a:endParaRPr>
          </a:p>
          <a:p>
            <a:pPr marL="971550" lvl="1" indent="-514350">
              <a:buFont typeface="Calibri" panose="020F0502020204030204" pitchFamily="34" charset="0"/>
              <a:buAutoNum type="arabicPeriod"/>
            </a:pPr>
            <a:r>
              <a:rPr lang="en-GB" altLang="en-US" sz="2600" dirty="0">
                <a:latin typeface="+mj-lt"/>
              </a:rPr>
              <a:t>Models </a:t>
            </a:r>
            <a:r>
              <a:rPr lang="en-GB" altLang="en-US" sz="2600" b="1" dirty="0">
                <a:latin typeface="+mj-lt"/>
              </a:rPr>
              <a:t>document the decisions </a:t>
            </a:r>
            <a:r>
              <a:rPr lang="en-GB" altLang="en-US" sz="2600" dirty="0">
                <a:latin typeface="+mj-lt"/>
              </a:rPr>
              <a:t>we have made</a:t>
            </a:r>
            <a:endParaRPr lang="en-US" sz="2600" b="1" dirty="0">
              <a:latin typeface="+mj-lt"/>
            </a:endParaRPr>
          </a:p>
          <a:p>
            <a:pPr>
              <a:buFont typeface="Wingdings" pitchFamily="2" charset="2"/>
              <a:buChar char="q"/>
            </a:pPr>
            <a:endParaRPr lang="en-US" dirty="0">
              <a:solidFill>
                <a:srgbClr val="0070C0"/>
              </a:solidFill>
              <a:latin typeface="+mj-lt"/>
            </a:endParaRPr>
          </a:p>
        </p:txBody>
      </p:sp>
      <p:sp>
        <p:nvSpPr>
          <p:cNvPr id="7" name="Content Placeholder 2">
            <a:extLst>
              <a:ext uri="{FF2B5EF4-FFF2-40B4-BE49-F238E27FC236}">
                <a16:creationId xmlns:a16="http://schemas.microsoft.com/office/drawing/2014/main" id="{C2170A41-4F30-43DC-BB3E-50B6AE1C1A08}"/>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8" name="Slide Number Placeholder 3">
            <a:extLst>
              <a:ext uri="{FF2B5EF4-FFF2-40B4-BE49-F238E27FC236}">
                <a16:creationId xmlns:a16="http://schemas.microsoft.com/office/drawing/2014/main" id="{2AF457DB-6325-41B4-A7E4-2E2053AEE25B}"/>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7</a:t>
            </a:fld>
            <a:r>
              <a:rPr lang="en-US" sz="1400" b="1" dirty="0"/>
              <a:t> </a:t>
            </a:r>
          </a:p>
        </p:txBody>
      </p:sp>
      <p:sp>
        <p:nvSpPr>
          <p:cNvPr id="3" name="Rectangle 2" descr="M. Mhahudul Hasan">
            <a:extLst>
              <a:ext uri="{FF2B5EF4-FFF2-40B4-BE49-F238E27FC236}">
                <a16:creationId xmlns:a16="http://schemas.microsoft.com/office/drawing/2014/main" id="{76A2FE30-41F5-42CF-B4D5-E13275B83E2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2E4B3468-550E-46D6-8AAD-A54BE5E673CD}"/>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70F1CFF4-C3FF-46B9-B457-893E910959A1}"/>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2325330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31B11-4E74-CF13-DCD7-F6E7D547B7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FDB7E3-4835-3B31-4323-F5908E365E2F}"/>
              </a:ext>
            </a:extLst>
          </p:cNvPr>
          <p:cNvSpPr>
            <a:spLocks noGrp="1"/>
          </p:cNvSpPr>
          <p:nvPr>
            <p:ph type="title" idx="4294967295"/>
          </p:nvPr>
        </p:nvSpPr>
        <p:spPr>
          <a:xfrm>
            <a:off x="427703" y="539443"/>
            <a:ext cx="11029950" cy="610931"/>
          </a:xfrm>
        </p:spPr>
        <p:txBody>
          <a:bodyPr>
            <a:normAutofit/>
          </a:bodyPr>
          <a:lstStyle/>
          <a:p>
            <a:pPr algn="ctr"/>
            <a:r>
              <a:rPr lang="en-US" altLang="en-US" b="1" dirty="0">
                <a:solidFill>
                  <a:srgbClr val="0070C0"/>
                </a:solidFill>
                <a:latin typeface="Book Antiqua" pitchFamily="18" charset="0"/>
              </a:rPr>
              <a:t>Principles of Modelling</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a:extLst>
              <a:ext uri="{FF2B5EF4-FFF2-40B4-BE49-F238E27FC236}">
                <a16:creationId xmlns:a16="http://schemas.microsoft.com/office/drawing/2014/main" id="{82B8A274-9FF2-DA73-7110-8666BF6D39BE}"/>
              </a:ext>
            </a:extLst>
          </p:cNvPr>
          <p:cNvSpPr>
            <a:spLocks noGrp="1"/>
          </p:cNvSpPr>
          <p:nvPr>
            <p:ph idx="4294967295"/>
          </p:nvPr>
        </p:nvSpPr>
        <p:spPr>
          <a:xfrm>
            <a:off x="581025" y="1306359"/>
            <a:ext cx="11029950" cy="4498258"/>
          </a:xfrm>
        </p:spPr>
        <p:txBody>
          <a:bodyPr>
            <a:normAutofit/>
          </a:bodyPr>
          <a:lstStyle/>
          <a:p>
            <a:pPr marL="0" indent="0" algn="just" eaLnBrk="1" hangingPunct="1">
              <a:buNone/>
            </a:pPr>
            <a:r>
              <a:rPr lang="en-GB" altLang="en-US" sz="2400" b="1" dirty="0"/>
              <a:t>1. The choice of what models to create has a profound influence on how a problem is attacked and how a solution is shaped.</a:t>
            </a:r>
            <a:endParaRPr lang="en-US" altLang="en-US" sz="2400" b="1" dirty="0"/>
          </a:p>
          <a:p>
            <a:pPr lvl="1" algn="just" eaLnBrk="1" hangingPunct="1"/>
            <a:r>
              <a:rPr lang="en-GB" altLang="en-US" sz="2400" dirty="0"/>
              <a:t>In other words, choose models intelligently. The right models will illuminate the wicked development problems. </a:t>
            </a:r>
          </a:p>
          <a:p>
            <a:pPr marL="0" lvl="1" indent="0" algn="just" eaLnBrk="1" hangingPunct="1">
              <a:buNone/>
            </a:pPr>
            <a:r>
              <a:rPr lang="en-GB" altLang="en-US" sz="2400" b="1" dirty="0"/>
              <a:t>2. Every model may be expressed at different levels of precision. </a:t>
            </a:r>
            <a:endParaRPr lang="en-US" altLang="en-US" sz="2400" b="1" dirty="0"/>
          </a:p>
          <a:p>
            <a:pPr lvl="1" algn="just" eaLnBrk="1" hangingPunct="1"/>
            <a:r>
              <a:rPr lang="en-GB" altLang="en-US" sz="2400" dirty="0"/>
              <a:t>Sometimes a quick and simple executable model of the user interface is exactly what you need; at other times, one has to get down and dirty with the bits. The best kinds of models are those that let you choose your degree of detail, depending on who is viewing and why.</a:t>
            </a:r>
          </a:p>
          <a:p>
            <a:pPr algn="just">
              <a:buFont typeface="Wingdings" pitchFamily="2" charset="2"/>
              <a:buChar char="q"/>
            </a:pPr>
            <a:endParaRPr lang="en-US" dirty="0">
              <a:solidFill>
                <a:srgbClr val="0070C0"/>
              </a:solidFill>
              <a:latin typeface="+mj-lt"/>
            </a:endParaRPr>
          </a:p>
        </p:txBody>
      </p:sp>
      <p:sp>
        <p:nvSpPr>
          <p:cNvPr id="7" name="Content Placeholder 2">
            <a:extLst>
              <a:ext uri="{FF2B5EF4-FFF2-40B4-BE49-F238E27FC236}">
                <a16:creationId xmlns:a16="http://schemas.microsoft.com/office/drawing/2014/main" id="{E1521E34-7E93-E63A-70B0-304ACB095308}"/>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8" name="Slide Number Placeholder 3">
            <a:extLst>
              <a:ext uri="{FF2B5EF4-FFF2-40B4-BE49-F238E27FC236}">
                <a16:creationId xmlns:a16="http://schemas.microsoft.com/office/drawing/2014/main" id="{AD1C4198-808E-819E-D538-FD949A08476C}"/>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8</a:t>
            </a:fld>
            <a:r>
              <a:rPr lang="en-US" sz="1400" b="1" dirty="0"/>
              <a:t> </a:t>
            </a:r>
          </a:p>
        </p:txBody>
      </p:sp>
      <p:sp>
        <p:nvSpPr>
          <p:cNvPr id="3" name="Rectangle 2" descr="M. Mhahudul Hasan">
            <a:extLst>
              <a:ext uri="{FF2B5EF4-FFF2-40B4-BE49-F238E27FC236}">
                <a16:creationId xmlns:a16="http://schemas.microsoft.com/office/drawing/2014/main" id="{412B9B32-9F13-352E-8F48-1138A5C476EC}"/>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9E59C103-6D03-ED40-98DD-6B3EBF381D4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AE8993CB-A54E-806B-A441-4A2123F888B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2706964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28899-1D3C-F2A1-FE2D-B8CCA914E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EC314-EE13-D046-FBA9-E650260D84DC}"/>
              </a:ext>
            </a:extLst>
          </p:cNvPr>
          <p:cNvSpPr>
            <a:spLocks noGrp="1"/>
          </p:cNvSpPr>
          <p:nvPr>
            <p:ph type="title" idx="4294967295"/>
          </p:nvPr>
        </p:nvSpPr>
        <p:spPr>
          <a:xfrm>
            <a:off x="427703" y="539443"/>
            <a:ext cx="11029950" cy="610931"/>
          </a:xfrm>
        </p:spPr>
        <p:txBody>
          <a:bodyPr>
            <a:normAutofit/>
          </a:bodyPr>
          <a:lstStyle/>
          <a:p>
            <a:pPr algn="ctr"/>
            <a:r>
              <a:rPr lang="en-US" altLang="en-US" b="1" dirty="0">
                <a:solidFill>
                  <a:srgbClr val="0070C0"/>
                </a:solidFill>
                <a:latin typeface="Book Antiqua" pitchFamily="18" charset="0"/>
              </a:rPr>
              <a:t>Principles of Modelling</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a:extLst>
              <a:ext uri="{FF2B5EF4-FFF2-40B4-BE49-F238E27FC236}">
                <a16:creationId xmlns:a16="http://schemas.microsoft.com/office/drawing/2014/main" id="{2C946D90-810D-153B-37BA-5D756BA6D8C8}"/>
              </a:ext>
            </a:extLst>
          </p:cNvPr>
          <p:cNvSpPr>
            <a:spLocks noGrp="1"/>
          </p:cNvSpPr>
          <p:nvPr>
            <p:ph idx="4294967295"/>
          </p:nvPr>
        </p:nvSpPr>
        <p:spPr>
          <a:xfrm>
            <a:off x="581025" y="1306359"/>
            <a:ext cx="11029950" cy="3286146"/>
          </a:xfrm>
        </p:spPr>
        <p:txBody>
          <a:bodyPr>
            <a:normAutofit/>
          </a:bodyPr>
          <a:lstStyle/>
          <a:p>
            <a:pPr marL="0" indent="0" eaLnBrk="1" hangingPunct="1">
              <a:buNone/>
            </a:pPr>
            <a:r>
              <a:rPr lang="en-GB" altLang="en-US" sz="2400" b="1" dirty="0"/>
              <a:t>3. The best models are connected to reality.</a:t>
            </a:r>
          </a:p>
          <a:p>
            <a:pPr lvl="1" eaLnBrk="1" hangingPunct="1"/>
            <a:r>
              <a:rPr lang="en-GB" altLang="en-US" sz="2400" dirty="0"/>
              <a:t>A Model connected to reality makes it more understandable and presentable. The more abstract a model is the more it needs to be closer to reality.</a:t>
            </a:r>
          </a:p>
          <a:p>
            <a:pPr marL="0" indent="0" eaLnBrk="1" hangingPunct="1">
              <a:buNone/>
            </a:pPr>
            <a:r>
              <a:rPr lang="en-GB" altLang="en-US" sz="2400" b="1" dirty="0"/>
              <a:t>4. No single model is sufficient. </a:t>
            </a:r>
          </a:p>
          <a:p>
            <a:pPr lvl="1" eaLnBrk="1" hangingPunct="1"/>
            <a:r>
              <a:rPr lang="en-GB" altLang="en-US" sz="2400" dirty="0"/>
              <a:t>Every nontrivial system is best approached through a small set of nearly independent models</a:t>
            </a:r>
            <a:endParaRPr lang="en-US" altLang="en-US" sz="2400" dirty="0"/>
          </a:p>
        </p:txBody>
      </p:sp>
      <p:sp>
        <p:nvSpPr>
          <p:cNvPr id="7" name="Content Placeholder 2">
            <a:extLst>
              <a:ext uri="{FF2B5EF4-FFF2-40B4-BE49-F238E27FC236}">
                <a16:creationId xmlns:a16="http://schemas.microsoft.com/office/drawing/2014/main" id="{93185F68-D12F-4B9B-2827-051B4DEAC6B3}"/>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8" name="Slide Number Placeholder 3">
            <a:extLst>
              <a:ext uri="{FF2B5EF4-FFF2-40B4-BE49-F238E27FC236}">
                <a16:creationId xmlns:a16="http://schemas.microsoft.com/office/drawing/2014/main" id="{9C4F870E-B439-4B9D-AA70-88E8E9C42207}"/>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9</a:t>
            </a:fld>
            <a:r>
              <a:rPr lang="en-US" sz="1400" b="1" dirty="0"/>
              <a:t> </a:t>
            </a:r>
          </a:p>
        </p:txBody>
      </p:sp>
      <p:sp>
        <p:nvSpPr>
          <p:cNvPr id="3" name="Rectangle 2" descr="M. Mhahudul Hasan">
            <a:extLst>
              <a:ext uri="{FF2B5EF4-FFF2-40B4-BE49-F238E27FC236}">
                <a16:creationId xmlns:a16="http://schemas.microsoft.com/office/drawing/2014/main" id="{EB2F6CC9-4CB1-2D31-3819-D66612EDE38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F3E9F866-FECC-20BE-1ED5-366222A65C31}"/>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6953E091-E0C3-1BB6-7FCA-0A98A9657D4B}"/>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3451194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1570</TotalTime>
  <Words>709</Words>
  <Application>Microsoft Office PowerPoint</Application>
  <PresentationFormat>Widescreen</PresentationFormat>
  <Paragraphs>81</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Book Antiqua</vt:lpstr>
      <vt:lpstr>Calibri</vt:lpstr>
      <vt:lpstr>Gill Sans MT</vt:lpstr>
      <vt:lpstr>Wingdings</vt:lpstr>
      <vt:lpstr>Wingdings 2</vt:lpstr>
      <vt:lpstr>Dividend</vt:lpstr>
      <vt:lpstr>PowerPoint Presentation</vt:lpstr>
      <vt:lpstr>What is a System?</vt:lpstr>
      <vt:lpstr>Quality of a System</vt:lpstr>
      <vt:lpstr>        Why  we  model?</vt:lpstr>
      <vt:lpstr>Why  we  model?</vt:lpstr>
      <vt:lpstr>Why  we  model?</vt:lpstr>
      <vt:lpstr>Benefits  of  model</vt:lpstr>
      <vt:lpstr>Principles of Modelling</vt:lpstr>
      <vt:lpstr>Principles of Modelling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OOAD - Ch.01 - Why do We Model Things</dc:title>
  <dc:subject>Object Oriented Analysis and Design (OOAD)</dc:subject>
  <dc:creator>M. Mahmudul Hasan</dc:creator>
  <cp:lastModifiedBy>Mohaimen-Bin-Noor</cp:lastModifiedBy>
  <cp:revision>86</cp:revision>
  <cp:lastPrinted>2021-01-26T07:46:39Z</cp:lastPrinted>
  <dcterms:created xsi:type="dcterms:W3CDTF">2019-05-13T08:37:20Z</dcterms:created>
  <dcterms:modified xsi:type="dcterms:W3CDTF">2025-03-11T06:23:25Z</dcterms:modified>
</cp:coreProperties>
</file>