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3"/>
  </p:notesMasterIdLst>
  <p:sldIdLst>
    <p:sldId id="256" r:id="rId2"/>
    <p:sldId id="291" r:id="rId3"/>
    <p:sldId id="327" r:id="rId4"/>
    <p:sldId id="329" r:id="rId5"/>
    <p:sldId id="330" r:id="rId6"/>
    <p:sldId id="331" r:id="rId7"/>
    <p:sldId id="332" r:id="rId8"/>
    <p:sldId id="333" r:id="rId9"/>
    <p:sldId id="335" r:id="rId10"/>
    <p:sldId id="336" r:id="rId11"/>
    <p:sldId id="33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3" autoAdjust="0"/>
    <p:restoredTop sz="93447" autoAdjust="0"/>
  </p:normalViewPr>
  <p:slideViewPr>
    <p:cSldViewPr snapToGrid="0">
      <p:cViewPr varScale="1">
        <p:scale>
          <a:sx n="56" d="100"/>
          <a:sy n="56" d="100"/>
        </p:scale>
        <p:origin x="80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11/03/2025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606035" y="486697"/>
            <a:ext cx="3405526" cy="2934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u="sng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object oriented analysis and design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2210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3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USE Case Diagram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0" name="Picture 1" descr="C:\Users\teacher\Desktop\download.jpg">
            <a:extLst>
              <a:ext uri="{FF2B5EF4-FFF2-40B4-BE49-F238E27FC236}">
                <a16:creationId xmlns:a16="http://schemas.microsoft.com/office/drawing/2014/main" id="{1799BA9A-E3B9-47F7-BB6C-545ACE6A8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6697" y="3333135"/>
            <a:ext cx="3598606" cy="1887793"/>
          </a:xfrm>
          <a:prstGeom prst="rect">
            <a:avLst/>
          </a:prstGeom>
          <a:noFill/>
        </p:spPr>
      </p:pic>
      <p:pic>
        <p:nvPicPr>
          <p:cNvPr id="31" name="Picture 3" descr="https://encrypted-tbn2.gstatic.com/images?q=tbn:ANd9GcTZSqWmbgJA9IY9oTGf6ls2w158A103Jg2WEGhWbMSOl3O_igInBAxJpJ9N">
            <a:extLst>
              <a:ext uri="{FF2B5EF4-FFF2-40B4-BE49-F238E27FC236}">
                <a16:creationId xmlns:a16="http://schemas.microsoft.com/office/drawing/2014/main" id="{ACD720F7-42BA-49BE-A110-5F8547544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6697" y="5279921"/>
            <a:ext cx="3598606" cy="1080425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9F5B63-3205-4186-9972-B0B21B3211C6}"/>
              </a:ext>
            </a:extLst>
          </p:cNvPr>
          <p:cNvSpPr txBox="1">
            <a:spLocks/>
          </p:cNvSpPr>
          <p:nvPr/>
        </p:nvSpPr>
        <p:spPr>
          <a:xfrm>
            <a:off x="4321278" y="3471955"/>
            <a:ext cx="715296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MOHAIMEN-BIN-NOOR</a:t>
            </a:r>
          </a:p>
          <a:p>
            <a:r>
              <a:rPr lang="en-US" sz="2000" dirty="0">
                <a:solidFill>
                  <a:schemeClr val="tx1"/>
                </a:solidFill>
              </a:rPr>
              <a:t>Assistant Professor, CS</a:t>
            </a:r>
          </a:p>
          <a:p>
            <a:r>
              <a:rPr lang="en-US" sz="2000" cap="none" dirty="0">
                <a:solidFill>
                  <a:schemeClr val="tx1"/>
                </a:solidFill>
                <a:latin typeface="+mn-lt"/>
              </a:rPr>
              <a:t>mohaimen.niloy@aiub.edu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09716" y="568940"/>
            <a:ext cx="11029950" cy="53719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Objectives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AF32433-6800-4261-A0A0-212E85339E21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6CB1B1-1016-46F1-A2AD-D26A52C581B6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2</a:t>
            </a:fld>
            <a:r>
              <a:rPr lang="en-US" sz="1400" b="1" dirty="0"/>
              <a:t> 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11B50FE9-BB88-463D-92F0-21176B5C5A42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1AA18127-9150-4D15-A763-615B686C8E61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3:  Use Case Diagram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0B9685EC-4BC6-4259-B7F8-3E4DE37D18E6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MOHAIMEN-BIN-NOOR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93DA8C-4E58-CC17-F2E3-34C04B58708E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077585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charset="0"/>
              <a:buChar char="•"/>
              <a:defRPr/>
            </a:pPr>
            <a:r>
              <a:rPr lang="en-US" sz="2400" dirty="0"/>
              <a:t>Capture the intended behavior of the system.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sz="2400" dirty="0"/>
              <a:t>Without specifying how that behavior is implemented. 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sz="2400" dirty="0"/>
              <a:t>Use cases provide a way for developers to come to a common understanding with your system's end users and domain experts.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sz="2400" dirty="0"/>
              <a:t>In addition, use cases serve to help validate your architecture and to verify your system as it evolves during development.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sz="2400" dirty="0"/>
              <a:t>Use cases specify </a:t>
            </a:r>
            <a:r>
              <a:rPr lang="en-US" sz="2400" b="1" dirty="0"/>
              <a:t>WHAT </a:t>
            </a:r>
            <a:r>
              <a:rPr lang="en-US" sz="2400" dirty="0"/>
              <a:t>are the externally visible behaviors; they </a:t>
            </a:r>
            <a:r>
              <a:rPr lang="en-US" sz="2400" b="1" dirty="0"/>
              <a:t>DO NOT </a:t>
            </a:r>
            <a:r>
              <a:rPr lang="en-US" sz="2400" dirty="0"/>
              <a:t>dictate </a:t>
            </a:r>
            <a:r>
              <a:rPr lang="en-US" sz="2400" b="1" dirty="0"/>
              <a:t>HOW</a:t>
            </a:r>
            <a:r>
              <a:rPr lang="en-US" sz="2400" dirty="0"/>
              <a:t> that behavior will be carried out internally.</a:t>
            </a:r>
          </a:p>
        </p:txBody>
      </p:sp>
    </p:spTree>
    <p:extLst>
      <p:ext uri="{BB962C8B-B14F-4D97-AF65-F5344CB8AC3E}">
        <p14:creationId xmlns:p14="http://schemas.microsoft.com/office/powerpoint/2010/main" val="166352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0C3B1-6779-34B3-F653-435C2889B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3A51-9ED0-C2DE-4BF6-A2487376E8E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9716" y="568940"/>
            <a:ext cx="11029950" cy="53719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Use Case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B3A991A-7B79-E942-5533-7F59911FCCED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69FF0FB-69D6-F7CC-C6E0-87EE3C78B24F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3</a:t>
            </a:fld>
            <a:r>
              <a:rPr lang="en-US" sz="1400" b="1" dirty="0"/>
              <a:t> 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693933EE-E1B9-3DCC-AE95-05793E7ACDD0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3A1676D9-80F5-6A9F-B433-61F184DD7274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3:  Use Case Diagram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8F1B4EEA-0F45-6C0C-65A8-127AC54D604E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MOHAIMEN-BIN-NOOR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36FA6-9C2E-61E1-4C8B-E50377D71116}"/>
              </a:ext>
            </a:extLst>
          </p:cNvPr>
          <p:cNvSpPr txBox="1">
            <a:spLocks/>
          </p:cNvSpPr>
          <p:nvPr/>
        </p:nvSpPr>
        <p:spPr>
          <a:xfrm>
            <a:off x="486695" y="1226676"/>
            <a:ext cx="11223523" cy="53216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Use cases specify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desired behavior</a:t>
            </a:r>
            <a:r>
              <a:rPr lang="en-US" sz="2200" dirty="0">
                <a:latin typeface="+mj-lt"/>
              </a:rPr>
              <a:t>.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A use case is a description of a set of sequences of actions, including variants (alternatives),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a system performs to yield an observable result of value to an actor.</a:t>
            </a:r>
          </a:p>
          <a:p>
            <a:pPr marL="306000" lvl="1">
              <a:buFont typeface="Wingdings" pitchFamily="2" charset="2"/>
              <a:buChar char="q"/>
              <a:defRPr/>
            </a:pPr>
            <a:r>
              <a:rPr lang="en-GB" sz="2200" dirty="0">
                <a:solidFill>
                  <a:srgbClr val="002060"/>
                </a:solidFill>
              </a:rPr>
              <a:t> The names of use cases are always written in the </a:t>
            </a:r>
            <a:r>
              <a:rPr lang="en-GB" sz="2200" dirty="0">
                <a:solidFill>
                  <a:srgbClr val="7030A0"/>
                </a:solidFill>
              </a:rPr>
              <a:t>form of a verb followed by an object</a:t>
            </a:r>
            <a:r>
              <a:rPr lang="en-GB" sz="2200" dirty="0">
                <a:solidFill>
                  <a:srgbClr val="002060"/>
                </a:solidFill>
              </a:rPr>
              <a:t>.</a:t>
            </a:r>
            <a:endParaRPr lang="en-US" sz="2200" dirty="0">
              <a:latin typeface="+mj-lt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Each sequence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represent an interaction of actors with the system</a:t>
            </a:r>
            <a:r>
              <a:rPr lang="en-US" sz="2200" dirty="0">
                <a:latin typeface="+mj-lt"/>
              </a:rPr>
              <a:t>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Describing the flow of events within the use case.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Can be done in natural language, formal language or pseudo-code.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Includes: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 How and when the use case starts and ends; 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 When the use case interacts with actors and what objects are exchanged;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 The basic flow and alternative flows of the behavior.</a:t>
            </a:r>
            <a:endParaRPr lang="en-GB" altLang="en-US" sz="22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BDA80E-BA8D-DC88-74E5-7087BC9E8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231" y="3701231"/>
            <a:ext cx="2153447" cy="107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43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34DE5-E67C-7BDB-B386-79436A6CF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DD931-3E60-2B66-12C5-7CC3C54C95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9716" y="568940"/>
            <a:ext cx="11029950" cy="53719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Actor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F18025-F915-7DCC-67ED-DDA0C1C6F74E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0C90CCE-9535-F91D-B425-8F5D982F124B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4</a:t>
            </a:fld>
            <a:r>
              <a:rPr lang="en-US" sz="1400" b="1" dirty="0"/>
              <a:t> 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2AA72F21-74F8-9D96-E4FA-E9609EE1A279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6972E6BC-9961-671B-5872-4440765CEC7D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3:  Use Case Diagram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3C67DB83-3994-AD83-19FA-E1CCE2C0C0B2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MOHAIMEN-BIN-NOOR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102CA6-81E7-F662-8E54-2A3EF100D5E6}"/>
              </a:ext>
            </a:extLst>
          </p:cNvPr>
          <p:cNvSpPr txBox="1">
            <a:spLocks/>
          </p:cNvSpPr>
          <p:nvPr/>
        </p:nvSpPr>
        <p:spPr>
          <a:xfrm>
            <a:off x="619432" y="1348198"/>
            <a:ext cx="10884310" cy="4138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400" dirty="0">
                <a:latin typeface="+mj-lt"/>
              </a:rPr>
              <a:t>An actor represents a set of roles that users of use case play when interacting  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with these use cases.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400" dirty="0">
                <a:latin typeface="+mj-lt"/>
              </a:rPr>
              <a:t>Actors can be human or automated systems.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400" dirty="0">
                <a:latin typeface="+mj-lt"/>
              </a:rPr>
              <a:t>For example, in modeling a bank, processing a loan involves, among other things, the interaction between a customer and a loan officer.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400" dirty="0">
                <a:latin typeface="+mj-lt"/>
              </a:rPr>
              <a:t>Actors are not part of the system.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A system can be an Actor of other systems</a:t>
            </a:r>
            <a:endParaRPr lang="en-GB" altLang="en-US" sz="2400" dirty="0">
              <a:latin typeface="+mj-lt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A097C5CD-E201-1B44-4A52-F4CCF05A5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679" y="4210494"/>
            <a:ext cx="5541334" cy="1919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640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38A32-20B2-BCC7-3DA6-9F63185D0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A7A8E-0EB1-9071-957D-D90C35FE73A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9716" y="568940"/>
            <a:ext cx="11029950" cy="53719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Relationships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E5886E-59AB-2434-4D26-FCEFDC23CBC7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E8A69754-F8A3-6AE3-12B7-982B1E8B203A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5</a:t>
            </a:fld>
            <a:r>
              <a:rPr lang="en-US" sz="1400" b="1" dirty="0"/>
              <a:t> 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0AA6FA87-2741-2F7F-C863-85D38A626615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27FA02C6-945C-2471-F9BC-3BD448CB1A7A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3:  Use Case Diagram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91E96038-540F-2B04-BD12-A587152415E6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MOHAIMEN-BIN-NOOR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952D9D-6D80-E835-ED37-DCF350395EC0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dirty="0"/>
              <a:t>Association</a:t>
            </a:r>
          </a:p>
          <a:p>
            <a:pPr lvl="1">
              <a:defRPr/>
            </a:pPr>
            <a:r>
              <a:rPr lang="en-US" sz="2000" dirty="0">
                <a:solidFill>
                  <a:srgbClr val="FF0000"/>
                </a:solidFill>
              </a:rPr>
              <a:t>Actor to Use Case</a:t>
            </a:r>
          </a:p>
          <a:p>
            <a:pPr>
              <a:defRPr/>
            </a:pPr>
            <a:r>
              <a:rPr lang="en-US" sz="2400" dirty="0"/>
              <a:t>Generalization</a:t>
            </a:r>
          </a:p>
          <a:p>
            <a:pPr lvl="1">
              <a:defRPr/>
            </a:pPr>
            <a:r>
              <a:rPr lang="en-US" sz="2000" dirty="0">
                <a:solidFill>
                  <a:srgbClr val="FF0000"/>
                </a:solidFill>
              </a:rPr>
              <a:t>Actor to Actor</a:t>
            </a:r>
          </a:p>
          <a:p>
            <a:pPr lvl="1">
              <a:defRPr/>
            </a:pPr>
            <a:r>
              <a:rPr lang="en-US" sz="2000" dirty="0">
                <a:solidFill>
                  <a:srgbClr val="FF0000"/>
                </a:solidFill>
              </a:rPr>
              <a:t>Use Case to Use Case</a:t>
            </a:r>
          </a:p>
          <a:p>
            <a:pPr>
              <a:defRPr/>
            </a:pPr>
            <a:r>
              <a:rPr lang="en-US" sz="2400" dirty="0"/>
              <a:t>Dependency</a:t>
            </a:r>
          </a:p>
          <a:p>
            <a:pPr lvl="1">
              <a:defRPr/>
            </a:pPr>
            <a:r>
              <a:rPr lang="en-US" sz="2000" dirty="0">
                <a:solidFill>
                  <a:srgbClr val="FF0000"/>
                </a:solidFill>
              </a:rPr>
              <a:t>Use Case to Use Case</a:t>
            </a:r>
          </a:p>
        </p:txBody>
      </p:sp>
    </p:spTree>
    <p:extLst>
      <p:ext uri="{BB962C8B-B14F-4D97-AF65-F5344CB8AC3E}">
        <p14:creationId xmlns:p14="http://schemas.microsoft.com/office/powerpoint/2010/main" val="288176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A93C3-20F0-0A85-F067-9C5314689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B7B72-F73D-591A-0B4F-AD213799987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9716" y="568940"/>
            <a:ext cx="11029950" cy="53719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Relationships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B40DE1D-A93A-B9CD-279F-0E941CBCCC49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E308B1B-C71C-A4E2-44CE-F50008CCE155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6</a:t>
            </a:fld>
            <a:r>
              <a:rPr lang="en-US" sz="1400" b="1" dirty="0"/>
              <a:t> 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FD599013-761A-3202-3C91-479E6BE36CA4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8D756276-8EB7-6787-85B8-BC8986EE80F9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3:  Use Case Diagram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BF93151D-FAB7-5103-A0E1-EB604B7A62D6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MOHAIMEN-BIN-NOOR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741D02-2065-DB1E-2DB0-26A34F869CDE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5886893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dirty="0"/>
              <a:t>Association</a:t>
            </a:r>
          </a:p>
          <a:p>
            <a:pPr lvl="1" algn="just">
              <a:defRPr/>
            </a:pPr>
            <a:r>
              <a:rPr lang="en-US" sz="2000" dirty="0">
                <a:solidFill>
                  <a:srgbClr val="0070C0"/>
                </a:solidFill>
              </a:rPr>
              <a:t>Actors are connected to use cases by associations, indicating that the actor and the use case communicate with one another using messages.</a:t>
            </a:r>
          </a:p>
          <a:p>
            <a:pPr marL="324000" lvl="1" indent="0">
              <a:buNone/>
              <a:defRPr/>
            </a:pPr>
            <a:endParaRPr lang="en-US" sz="2000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dirty="0"/>
              <a:t>Generalization</a:t>
            </a:r>
          </a:p>
          <a:p>
            <a:pPr lvl="1" algn="just">
              <a:defRPr/>
            </a:pPr>
            <a:r>
              <a:rPr lang="en-US" sz="2000" dirty="0">
                <a:solidFill>
                  <a:srgbClr val="0070C0"/>
                </a:solidFill>
              </a:rPr>
              <a:t>The child use case inherits the behavior and meaning of the parent use case.</a:t>
            </a:r>
          </a:p>
          <a:p>
            <a:pPr lvl="1" algn="just">
              <a:defRPr/>
            </a:pPr>
            <a:r>
              <a:rPr lang="en-US" sz="2000" dirty="0">
                <a:solidFill>
                  <a:srgbClr val="0070C0"/>
                </a:solidFill>
              </a:rPr>
              <a:t>The child may add to or override the behavior of its parent.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  <a:defRPr/>
            </a:pPr>
            <a:endParaRPr lang="en-US" sz="2400" dirty="0"/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38FD90D4-6D52-886C-1176-B8790FD2F44F}"/>
              </a:ext>
            </a:extLst>
          </p:cNvPr>
          <p:cNvGrpSpPr>
            <a:grpSpLocks/>
          </p:cNvGrpSpPr>
          <p:nvPr/>
        </p:nvGrpSpPr>
        <p:grpSpPr bwMode="auto">
          <a:xfrm>
            <a:off x="7088804" y="1923320"/>
            <a:ext cx="3805238" cy="1308101"/>
            <a:chOff x="1635" y="2812"/>
            <a:chExt cx="2397" cy="824"/>
          </a:xfrm>
        </p:grpSpPr>
        <p:sp>
          <p:nvSpPr>
            <p:cNvPr id="10" name="Oval 5">
              <a:extLst>
                <a:ext uri="{FF2B5EF4-FFF2-40B4-BE49-F238E27FC236}">
                  <a16:creationId xmlns:a16="http://schemas.microsoft.com/office/drawing/2014/main" id="{D1E5BAFC-0FF6-63BD-6360-7872A0208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5" y="2953"/>
              <a:ext cx="720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id="{08245F5A-897E-4A95-6F9B-F854532B6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8" y="2968"/>
              <a:ext cx="66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rtl="0"/>
              <a:r>
                <a:rPr lang="en-US" b="0" dirty="0">
                  <a:latin typeface="Times New Roman" pitchFamily="18" charset="0"/>
                </a:rPr>
                <a:t>updating</a:t>
              </a:r>
            </a:p>
            <a:p>
              <a:pPr algn="ctr" rtl="0"/>
              <a:r>
                <a:rPr lang="en-US" b="0" dirty="0">
                  <a:latin typeface="Times New Roman" pitchFamily="18" charset="0"/>
                </a:rPr>
                <a:t>grades</a:t>
              </a:r>
              <a:endParaRPr lang="en-US" sz="1600" b="0" dirty="0">
                <a:latin typeface="Times New Roman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377C821-2AAC-58A0-D668-2399F1C87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81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76B517F1-91DE-0984-241A-A3191C9FF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00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57ED0F1C-8EBA-224E-FB97-26B377E3B4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100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4EA77467-28DC-EDCA-F0CE-24C22EA27B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3100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D8620569-718B-D884-B427-DAA797631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34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F4C254F1-E1FA-0912-8EF1-EA916C6443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334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14">
              <a:extLst>
                <a:ext uri="{FF2B5EF4-FFF2-40B4-BE49-F238E27FC236}">
                  <a16:creationId xmlns:a16="http://schemas.microsoft.com/office/drawing/2014/main" id="{155B060F-1374-5C0E-4E49-F9E16CC43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405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rtl="0"/>
              <a:r>
                <a:rPr lang="en-US" b="0" dirty="0">
                  <a:latin typeface="Times New Roman" pitchFamily="18" charset="0"/>
                </a:rPr>
                <a:t>faculty</a:t>
              </a:r>
              <a:endParaRPr lang="en-US" sz="1600" b="0" dirty="0">
                <a:latin typeface="Times New Roman" pitchFamily="18" charset="0"/>
              </a:endParaRPr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828E7EC6-EF2C-2045-6A5A-0A59BCCCC5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52" y="3148"/>
              <a:ext cx="123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" name="Group 16">
            <a:extLst>
              <a:ext uri="{FF2B5EF4-FFF2-40B4-BE49-F238E27FC236}">
                <a16:creationId xmlns:a16="http://schemas.microsoft.com/office/drawing/2014/main" id="{5017A288-2EA8-E408-5454-1803A20E7310}"/>
              </a:ext>
            </a:extLst>
          </p:cNvPr>
          <p:cNvGrpSpPr>
            <a:grpSpLocks/>
          </p:cNvGrpSpPr>
          <p:nvPr/>
        </p:nvGrpSpPr>
        <p:grpSpPr bwMode="auto">
          <a:xfrm>
            <a:off x="8586554" y="3838839"/>
            <a:ext cx="914400" cy="2133600"/>
            <a:chOff x="4608" y="1344"/>
            <a:chExt cx="576" cy="1344"/>
          </a:xfrm>
        </p:grpSpPr>
        <p:grpSp>
          <p:nvGrpSpPr>
            <p:cNvPr id="23" name="Group 4">
              <a:extLst>
                <a:ext uri="{FF2B5EF4-FFF2-40B4-BE49-F238E27FC236}">
                  <a16:creationId xmlns:a16="http://schemas.microsoft.com/office/drawing/2014/main" id="{68E37A2B-7BCE-5F67-0619-11D2E48EF6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1344"/>
              <a:ext cx="576" cy="432"/>
              <a:chOff x="4176" y="720"/>
              <a:chExt cx="576" cy="432"/>
            </a:xfrm>
          </p:grpSpPr>
          <p:sp>
            <p:nvSpPr>
              <p:cNvPr id="29" name="Oval 5">
                <a:extLst>
                  <a:ext uri="{FF2B5EF4-FFF2-40B4-BE49-F238E27FC236}">
                    <a16:creationId xmlns:a16="http://schemas.microsoft.com/office/drawing/2014/main" id="{6FAD7D84-89DA-5F97-A291-D31E9D370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720"/>
                <a:ext cx="576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Text Box 6">
                <a:extLst>
                  <a:ext uri="{FF2B5EF4-FFF2-40B4-BE49-F238E27FC236}">
                    <a16:creationId xmlns:a16="http://schemas.microsoft.com/office/drawing/2014/main" id="{D5952DF4-CE3E-D7CF-8141-FCC4CC52BE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4" y="816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rtl="0"/>
                <a:r>
                  <a:rPr lang="en-US" sz="2000" b="0" dirty="0">
                    <a:latin typeface="Times New Roman" pitchFamily="18" charset="0"/>
                  </a:rPr>
                  <a:t>parent</a:t>
                </a:r>
                <a:endParaRPr lang="en-US" sz="2400" b="0" dirty="0">
                  <a:latin typeface="Times New Roman" pitchFamily="18" charset="0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36AD1CB-FD6B-E0E9-12F6-14378FAF6F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2256"/>
              <a:ext cx="576" cy="432"/>
              <a:chOff x="4176" y="720"/>
              <a:chExt cx="576" cy="432"/>
            </a:xfrm>
          </p:grpSpPr>
          <p:sp>
            <p:nvSpPr>
              <p:cNvPr id="27" name="Oval 8">
                <a:extLst>
                  <a:ext uri="{FF2B5EF4-FFF2-40B4-BE49-F238E27FC236}">
                    <a16:creationId xmlns:a16="http://schemas.microsoft.com/office/drawing/2014/main" id="{7FBAF8FD-EB76-DF18-77D1-1D8B424A1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720"/>
                <a:ext cx="576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Text Box 9">
                <a:extLst>
                  <a:ext uri="{FF2B5EF4-FFF2-40B4-BE49-F238E27FC236}">
                    <a16:creationId xmlns:a16="http://schemas.microsoft.com/office/drawing/2014/main" id="{B3A1F28A-AF06-2248-3AB4-06546A24A3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4" y="816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rtl="0"/>
                <a:r>
                  <a:rPr lang="en-US" sz="2000" b="0">
                    <a:latin typeface="Times New Roman" pitchFamily="18" charset="0"/>
                  </a:rPr>
                  <a:t>child</a:t>
                </a:r>
                <a:endParaRPr lang="en-US" sz="2400" b="0">
                  <a:latin typeface="Times New Roman" pitchFamily="18" charset="0"/>
                </a:endParaRPr>
              </a:p>
            </p:txBody>
          </p:sp>
        </p:grpSp>
        <p:sp>
          <p:nvSpPr>
            <p:cNvPr id="25" name="Line 12">
              <a:extLst>
                <a:ext uri="{FF2B5EF4-FFF2-40B4-BE49-F238E27FC236}">
                  <a16:creationId xmlns:a16="http://schemas.microsoft.com/office/drawing/2014/main" id="{90C7F713-9B04-90D2-7CC9-4F766F773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utoShape 15">
              <a:extLst>
                <a:ext uri="{FF2B5EF4-FFF2-40B4-BE49-F238E27FC236}">
                  <a16:creationId xmlns:a16="http://schemas.microsoft.com/office/drawing/2014/main" id="{371E791E-FB36-1F10-DC9B-19DA11258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776"/>
              <a:ext cx="288" cy="19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522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2CEAD-1182-C7AD-50A3-9B572EF36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E696-2E11-DDD5-7786-926E8474CD4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8007" y="544163"/>
            <a:ext cx="11029950" cy="566738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Relationships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B8BC8D3-CE7F-3FCC-54B0-6AC85E4DBF4C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5BCCC38-FA0E-6E1E-2557-32F08A5C0521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7</a:t>
            </a:fld>
            <a:r>
              <a:rPr lang="en-US" sz="1400" b="1" dirty="0"/>
              <a:t> 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866C16BE-20DA-AFAF-2DB4-35E509764A91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68BD04F8-F752-BF5E-4187-E35769BD6139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3:  Use Case Diagram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687C5225-895E-ADC6-DD59-D276F59BDB5A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MOHAIMEN-BIN-NOOR</a:t>
            </a:r>
          </a:p>
        </p:txBody>
      </p:sp>
      <p:grpSp>
        <p:nvGrpSpPr>
          <p:cNvPr id="5" name="Group 18">
            <a:extLst>
              <a:ext uri="{FF2B5EF4-FFF2-40B4-BE49-F238E27FC236}">
                <a16:creationId xmlns:a16="http://schemas.microsoft.com/office/drawing/2014/main" id="{ED463251-5470-3805-4C7D-277317218264}"/>
              </a:ext>
            </a:extLst>
          </p:cNvPr>
          <p:cNvGrpSpPr>
            <a:grpSpLocks/>
          </p:cNvGrpSpPr>
          <p:nvPr/>
        </p:nvGrpSpPr>
        <p:grpSpPr bwMode="auto">
          <a:xfrm>
            <a:off x="1139792" y="2528236"/>
            <a:ext cx="4191000" cy="2900363"/>
            <a:chOff x="1488" y="1344"/>
            <a:chExt cx="2640" cy="1827"/>
          </a:xfrm>
        </p:grpSpPr>
        <p:grpSp>
          <p:nvGrpSpPr>
            <p:cNvPr id="21" name="Group 3">
              <a:extLst>
                <a:ext uri="{FF2B5EF4-FFF2-40B4-BE49-F238E27FC236}">
                  <a16:creationId xmlns:a16="http://schemas.microsoft.com/office/drawing/2014/main" id="{057E2F47-8E84-9FBD-AD4D-D851D51DF8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344"/>
              <a:ext cx="960" cy="432"/>
              <a:chOff x="4176" y="720"/>
              <a:chExt cx="576" cy="432"/>
            </a:xfrm>
          </p:grpSpPr>
          <p:sp>
            <p:nvSpPr>
              <p:cNvPr id="40" name="Oval 4">
                <a:extLst>
                  <a:ext uri="{FF2B5EF4-FFF2-40B4-BE49-F238E27FC236}">
                    <a16:creationId xmlns:a16="http://schemas.microsoft.com/office/drawing/2014/main" id="{A3179ECC-8B9C-5EDD-71D0-3B2C891B9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720"/>
                <a:ext cx="576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Text Box 5">
                <a:extLst>
                  <a:ext uri="{FF2B5EF4-FFF2-40B4-BE49-F238E27FC236}">
                    <a16:creationId xmlns:a16="http://schemas.microsoft.com/office/drawing/2014/main" id="{D4F8EBF1-C767-0A3E-FC1E-C7946950F2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4" y="816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rtl="0"/>
                <a:r>
                  <a:rPr lang="en-US" sz="2000" b="0" dirty="0">
                    <a:latin typeface="Times New Roman" pitchFamily="18" charset="0"/>
                  </a:rPr>
                  <a:t>registration</a:t>
                </a:r>
                <a:endParaRPr lang="en-US" sz="2400" b="0" dirty="0">
                  <a:latin typeface="Times New Roman" pitchFamily="18" charset="0"/>
                </a:endParaRPr>
              </a:p>
            </p:txBody>
          </p:sp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6CA0A8D-9C9B-5AD4-C4A2-A2A71C1F0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592"/>
              <a:ext cx="1008" cy="57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Text Box 8">
              <a:extLst>
                <a:ext uri="{FF2B5EF4-FFF2-40B4-BE49-F238E27FC236}">
                  <a16:creationId xmlns:a16="http://schemas.microsoft.com/office/drawing/2014/main" id="{70654D08-1AF5-69C3-9580-966DB0909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6" y="2640"/>
              <a:ext cx="92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rtl="0"/>
              <a:r>
                <a:rPr lang="en-US" sz="2000" b="0">
                  <a:latin typeface="Times New Roman" pitchFamily="18" charset="0"/>
                </a:rPr>
                <a:t>graduate</a:t>
              </a:r>
            </a:p>
            <a:p>
              <a:pPr algn="ctr" rtl="0"/>
              <a:r>
                <a:rPr lang="en-US" sz="2000" b="0">
                  <a:latin typeface="Times New Roman" pitchFamily="18" charset="0"/>
                </a:rPr>
                <a:t>registration</a:t>
              </a:r>
              <a:endParaRPr lang="en-US" sz="2400" b="0">
                <a:latin typeface="Times New Roman" pitchFamily="18" charset="0"/>
              </a:endParaRPr>
            </a:p>
          </p:txBody>
        </p:sp>
        <p:sp>
          <p:nvSpPr>
            <p:cNvPr id="33" name="AutoShape 9">
              <a:extLst>
                <a:ext uri="{FF2B5EF4-FFF2-40B4-BE49-F238E27FC236}">
                  <a16:creationId xmlns:a16="http://schemas.microsoft.com/office/drawing/2014/main" id="{284BF049-D277-DCD1-8DB7-56F9B1E7F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776"/>
              <a:ext cx="192" cy="19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10">
              <a:extLst>
                <a:ext uri="{FF2B5EF4-FFF2-40B4-BE49-F238E27FC236}">
                  <a16:creationId xmlns:a16="http://schemas.microsoft.com/office/drawing/2014/main" id="{C760283C-668F-2C0E-F5EE-4E66CD0967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3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12">
              <a:extLst>
                <a:ext uri="{FF2B5EF4-FFF2-40B4-BE49-F238E27FC236}">
                  <a16:creationId xmlns:a16="http://schemas.microsoft.com/office/drawing/2014/main" id="{65E2C548-0211-2E84-F2F6-7C98FD83A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592"/>
              <a:ext cx="1152" cy="57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Text Box 13">
              <a:extLst>
                <a:ext uri="{FF2B5EF4-FFF2-40B4-BE49-F238E27FC236}">
                  <a16:creationId xmlns:a16="http://schemas.microsoft.com/office/drawing/2014/main" id="{1DA1F319-D0B9-ADB8-1FBB-E47160319D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640"/>
              <a:ext cx="105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rtl="0"/>
              <a:r>
                <a:rPr lang="en-US" sz="2000" b="0" dirty="0">
                  <a:latin typeface="Times New Roman" pitchFamily="18" charset="0"/>
                </a:rPr>
                <a:t>non-graduate</a:t>
              </a:r>
            </a:p>
            <a:p>
              <a:pPr algn="ctr" rtl="0"/>
              <a:r>
                <a:rPr lang="en-US" sz="2000" b="0" dirty="0">
                  <a:latin typeface="Times New Roman" pitchFamily="18" charset="0"/>
                </a:rPr>
                <a:t>registration</a:t>
              </a:r>
              <a:endParaRPr lang="en-US" sz="2400" b="0" dirty="0">
                <a:latin typeface="Times New Roman" pitchFamily="18" charset="0"/>
              </a:endParaRPr>
            </a:p>
          </p:txBody>
        </p:sp>
        <p:sp>
          <p:nvSpPr>
            <p:cNvPr id="37" name="Line 14">
              <a:extLst>
                <a:ext uri="{FF2B5EF4-FFF2-40B4-BE49-F238E27FC236}">
                  <a16:creationId xmlns:a16="http://schemas.microsoft.com/office/drawing/2014/main" id="{2BE1E7D7-2E6C-E48B-4587-B62DCDBBA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3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15">
              <a:extLst>
                <a:ext uri="{FF2B5EF4-FFF2-40B4-BE49-F238E27FC236}">
                  <a16:creationId xmlns:a16="http://schemas.microsoft.com/office/drawing/2014/main" id="{DB53C0DA-1FE4-CC22-63E0-FC1EE3862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304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16">
              <a:extLst>
                <a:ext uri="{FF2B5EF4-FFF2-40B4-BE49-F238E27FC236}">
                  <a16:creationId xmlns:a16="http://schemas.microsoft.com/office/drawing/2014/main" id="{904FE560-8C06-407D-B329-D691E2161C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" name="Group 33">
            <a:extLst>
              <a:ext uri="{FF2B5EF4-FFF2-40B4-BE49-F238E27FC236}">
                <a16:creationId xmlns:a16="http://schemas.microsoft.com/office/drawing/2014/main" id="{AA69E574-1465-1520-050E-76BB1B8623B7}"/>
              </a:ext>
            </a:extLst>
          </p:cNvPr>
          <p:cNvGrpSpPr>
            <a:grpSpLocks/>
          </p:cNvGrpSpPr>
          <p:nvPr/>
        </p:nvGrpSpPr>
        <p:grpSpPr bwMode="auto">
          <a:xfrm>
            <a:off x="6021805" y="1953928"/>
            <a:ext cx="5056873" cy="3960794"/>
            <a:chOff x="2088" y="1248"/>
            <a:chExt cx="3240" cy="2496"/>
          </a:xfrm>
        </p:grpSpPr>
        <p:sp>
          <p:nvSpPr>
            <p:cNvPr id="43" name="Oval 5">
              <a:extLst>
                <a:ext uri="{FF2B5EF4-FFF2-40B4-BE49-F238E27FC236}">
                  <a16:creationId xmlns:a16="http://schemas.microsoft.com/office/drawing/2014/main" id="{91BD262A-C768-0BE1-332E-6D5F26283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248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6">
              <a:extLst>
                <a:ext uri="{FF2B5EF4-FFF2-40B4-BE49-F238E27FC236}">
                  <a16:creationId xmlns:a16="http://schemas.microsoft.com/office/drawing/2014/main" id="{FB42F43B-5186-4284-F9E5-889282D53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44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7">
              <a:extLst>
                <a:ext uri="{FF2B5EF4-FFF2-40B4-BE49-F238E27FC236}">
                  <a16:creationId xmlns:a16="http://schemas.microsoft.com/office/drawing/2014/main" id="{5F851AF3-3186-CBEE-D32E-98D97E3C9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536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8">
              <a:extLst>
                <a:ext uri="{FF2B5EF4-FFF2-40B4-BE49-F238E27FC236}">
                  <a16:creationId xmlns:a16="http://schemas.microsoft.com/office/drawing/2014/main" id="{9BE85C61-0A53-9ECA-E4BF-7DCC4113C7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1536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9">
              <a:extLst>
                <a:ext uri="{FF2B5EF4-FFF2-40B4-BE49-F238E27FC236}">
                  <a16:creationId xmlns:a16="http://schemas.microsoft.com/office/drawing/2014/main" id="{155C52F5-9F17-973E-58B1-723D73BD4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10">
              <a:extLst>
                <a:ext uri="{FF2B5EF4-FFF2-40B4-BE49-F238E27FC236}">
                  <a16:creationId xmlns:a16="http://schemas.microsoft.com/office/drawing/2014/main" id="{932E71D4-EB9D-8DE0-5FBA-857FED9E32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Text Box 11">
              <a:extLst>
                <a:ext uri="{FF2B5EF4-FFF2-40B4-BE49-F238E27FC236}">
                  <a16:creationId xmlns:a16="http://schemas.microsoft.com/office/drawing/2014/main" id="{52D2B38C-AF42-F342-85B5-5F2F201537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846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rtl="0"/>
              <a:r>
                <a:rPr lang="en-US" b="0" dirty="0">
                  <a:latin typeface="Times New Roman" pitchFamily="18" charset="0"/>
                </a:rPr>
                <a:t>student</a:t>
              </a:r>
              <a:endParaRPr lang="en-US" sz="2400" b="0" dirty="0">
                <a:latin typeface="Times New Roman" pitchFamily="18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79246AA-176F-104B-581D-040132377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688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14">
              <a:extLst>
                <a:ext uri="{FF2B5EF4-FFF2-40B4-BE49-F238E27FC236}">
                  <a16:creationId xmlns:a16="http://schemas.microsoft.com/office/drawing/2014/main" id="{CA09F15B-93E3-07BD-4182-B34B26414A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8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15">
              <a:extLst>
                <a:ext uri="{FF2B5EF4-FFF2-40B4-BE49-F238E27FC236}">
                  <a16:creationId xmlns:a16="http://schemas.microsoft.com/office/drawing/2014/main" id="{318D2D8D-8A85-D71D-24BE-9FA3E7426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976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16">
              <a:extLst>
                <a:ext uri="{FF2B5EF4-FFF2-40B4-BE49-F238E27FC236}">
                  <a16:creationId xmlns:a16="http://schemas.microsoft.com/office/drawing/2014/main" id="{CC2A7602-645F-6412-6E2A-E97B7978DD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2976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17">
              <a:extLst>
                <a:ext uri="{FF2B5EF4-FFF2-40B4-BE49-F238E27FC236}">
                  <a16:creationId xmlns:a16="http://schemas.microsoft.com/office/drawing/2014/main" id="{47EC2CCB-5CCB-7BDB-5568-A6BBC7E430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321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Line 18">
              <a:extLst>
                <a:ext uri="{FF2B5EF4-FFF2-40B4-BE49-F238E27FC236}">
                  <a16:creationId xmlns:a16="http://schemas.microsoft.com/office/drawing/2014/main" id="{5A580CAE-EC9C-A1FF-4CF4-4583AD63BA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321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Text Box 19">
              <a:extLst>
                <a:ext uri="{FF2B5EF4-FFF2-40B4-BE49-F238E27FC236}">
                  <a16:creationId xmlns:a16="http://schemas.microsoft.com/office/drawing/2014/main" id="{C9A6F54B-0084-DBAA-D0CB-1380AD072A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264"/>
              <a:ext cx="96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rtl="0"/>
              <a:r>
                <a:rPr lang="en-US" b="0" dirty="0">
                  <a:latin typeface="Times New Roman" pitchFamily="18" charset="0"/>
                </a:rPr>
                <a:t>Regular Student</a:t>
              </a:r>
              <a:endParaRPr lang="en-US" sz="2400" b="0" dirty="0">
                <a:latin typeface="Times New Roman" pitchFamily="18" charset="0"/>
              </a:endParaRPr>
            </a:p>
          </p:txBody>
        </p:sp>
        <p:sp>
          <p:nvSpPr>
            <p:cNvPr id="57" name="Oval 21">
              <a:extLst>
                <a:ext uri="{FF2B5EF4-FFF2-40B4-BE49-F238E27FC236}">
                  <a16:creationId xmlns:a16="http://schemas.microsoft.com/office/drawing/2014/main" id="{9D7ED47F-F35F-602E-6BAB-C6E31CB32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688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22">
              <a:extLst>
                <a:ext uri="{FF2B5EF4-FFF2-40B4-BE49-F238E27FC236}">
                  <a16:creationId xmlns:a16="http://schemas.microsoft.com/office/drawing/2014/main" id="{9A24FB3A-4C00-A63B-9C0A-629B902E6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8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23">
              <a:extLst>
                <a:ext uri="{FF2B5EF4-FFF2-40B4-BE49-F238E27FC236}">
                  <a16:creationId xmlns:a16="http://schemas.microsoft.com/office/drawing/2014/main" id="{0ECE641B-368C-BB90-2749-7C85FB7CF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976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24">
              <a:extLst>
                <a:ext uri="{FF2B5EF4-FFF2-40B4-BE49-F238E27FC236}">
                  <a16:creationId xmlns:a16="http://schemas.microsoft.com/office/drawing/2014/main" id="{870EDA4C-A179-B29D-5239-09056B60CB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2976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25">
              <a:extLst>
                <a:ext uri="{FF2B5EF4-FFF2-40B4-BE49-F238E27FC236}">
                  <a16:creationId xmlns:a16="http://schemas.microsoft.com/office/drawing/2014/main" id="{B1890563-7E75-5E3F-9E28-21E1A3011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21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26">
              <a:extLst>
                <a:ext uri="{FF2B5EF4-FFF2-40B4-BE49-F238E27FC236}">
                  <a16:creationId xmlns:a16="http://schemas.microsoft.com/office/drawing/2014/main" id="{5F07A228-598D-FFF0-924F-027AECDE34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321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Text Box 27">
              <a:extLst>
                <a:ext uri="{FF2B5EF4-FFF2-40B4-BE49-F238E27FC236}">
                  <a16:creationId xmlns:a16="http://schemas.microsoft.com/office/drawing/2014/main" id="{122AFD73-3442-BDC5-238F-6FE4F0402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8" y="3279"/>
              <a:ext cx="1104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rtl="0"/>
              <a:r>
                <a:rPr lang="en-US" b="0" dirty="0">
                  <a:latin typeface="Times New Roman" pitchFamily="18" charset="0"/>
                </a:rPr>
                <a:t>Scholarship</a:t>
              </a:r>
            </a:p>
            <a:p>
              <a:pPr algn="ctr" rtl="0"/>
              <a:r>
                <a:rPr lang="en-US" b="0" dirty="0">
                  <a:latin typeface="Times New Roman" pitchFamily="18" charset="0"/>
                </a:rPr>
                <a:t>student</a:t>
              </a:r>
              <a:endParaRPr lang="en-US" sz="2400" b="0" dirty="0">
                <a:latin typeface="Times New Roman" pitchFamily="18" charset="0"/>
              </a:endParaRPr>
            </a:p>
          </p:txBody>
        </p:sp>
        <p:sp>
          <p:nvSpPr>
            <p:cNvPr id="64" name="Line 28">
              <a:extLst>
                <a:ext uri="{FF2B5EF4-FFF2-40B4-BE49-F238E27FC236}">
                  <a16:creationId xmlns:a16="http://schemas.microsoft.com/office/drawing/2014/main" id="{623BD80C-7F47-7B34-C802-0C5D1D7839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249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29">
              <a:extLst>
                <a:ext uri="{FF2B5EF4-FFF2-40B4-BE49-F238E27FC236}">
                  <a16:creationId xmlns:a16="http://schemas.microsoft.com/office/drawing/2014/main" id="{5A4FD042-D7E4-AAE2-AC29-AF8C64D919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249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Line 30">
              <a:extLst>
                <a:ext uri="{FF2B5EF4-FFF2-40B4-BE49-F238E27FC236}">
                  <a16:creationId xmlns:a16="http://schemas.microsoft.com/office/drawing/2014/main" id="{6059A615-8F45-26A2-9B37-11171BF1D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496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AutoShape 31">
              <a:extLst>
                <a:ext uri="{FF2B5EF4-FFF2-40B4-BE49-F238E27FC236}">
                  <a16:creationId xmlns:a16="http://schemas.microsoft.com/office/drawing/2014/main" id="{F5243262-7C13-3189-BB2D-4130F6F51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160"/>
              <a:ext cx="192" cy="144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Line 32">
              <a:extLst>
                <a:ext uri="{FF2B5EF4-FFF2-40B4-BE49-F238E27FC236}">
                  <a16:creationId xmlns:a16="http://schemas.microsoft.com/office/drawing/2014/main" id="{54A101A5-87E7-6630-92BD-890D2AA689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3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3C9FE112-1541-EAD3-B7CE-9FF8249A13DF}"/>
              </a:ext>
            </a:extLst>
          </p:cNvPr>
          <p:cNvSpPr txBox="1"/>
          <p:nvPr/>
        </p:nvSpPr>
        <p:spPr>
          <a:xfrm>
            <a:off x="724301" y="1533443"/>
            <a:ext cx="10604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70C0"/>
                </a:solidFill>
              </a:rPr>
              <a:t>Generalization Examples</a:t>
            </a:r>
          </a:p>
        </p:txBody>
      </p:sp>
    </p:spTree>
    <p:extLst>
      <p:ext uri="{BB962C8B-B14F-4D97-AF65-F5344CB8AC3E}">
        <p14:creationId xmlns:p14="http://schemas.microsoft.com/office/powerpoint/2010/main" val="24508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1016B-F78C-428D-7760-CFDD5EE6F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A22A2-5F5C-87E9-9AF4-8CCDF5E6EE3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9716" y="568940"/>
            <a:ext cx="11029950" cy="53719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Relationships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A09CA-2EC4-FF61-4E55-1579EA1E41CE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3234478-64E6-FB99-3069-DA93DDBDFBD8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8</a:t>
            </a:fld>
            <a:r>
              <a:rPr lang="en-US" sz="1400" b="1" dirty="0"/>
              <a:t> 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81D67739-DAC3-1A24-6597-75DEF8972F85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A1812BB7-C85E-D13B-CB6B-762376F9C748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3:  Use Case Diagram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E1A22767-5D04-CCF5-B3F2-B038C114FFCF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MOHAIMEN-BIN-NOOR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65A926-7E36-20A3-4B2D-F5904CA21A0E}"/>
              </a:ext>
            </a:extLst>
          </p:cNvPr>
          <p:cNvSpPr txBox="1">
            <a:spLocks/>
          </p:cNvSpPr>
          <p:nvPr/>
        </p:nvSpPr>
        <p:spPr>
          <a:xfrm>
            <a:off x="715478" y="1638702"/>
            <a:ext cx="5829701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b="1" dirty="0"/>
              <a:t>Dependency</a:t>
            </a:r>
          </a:p>
          <a:p>
            <a:pPr lvl="1">
              <a:defRPr/>
            </a:pPr>
            <a:r>
              <a:rPr lang="en-US" sz="2000" b="1" dirty="0">
                <a:solidFill>
                  <a:srgbClr val="C00000"/>
                </a:solidFill>
              </a:rPr>
              <a:t>&lt;&lt;include&gt;&gt;</a:t>
            </a:r>
          </a:p>
          <a:p>
            <a:pPr lvl="2">
              <a:defRPr/>
            </a:pPr>
            <a:r>
              <a:rPr lang="en-US" sz="2000" dirty="0"/>
              <a:t>Mandatory dependency</a:t>
            </a:r>
          </a:p>
          <a:p>
            <a:pPr lvl="2">
              <a:defRPr/>
            </a:pPr>
            <a:r>
              <a:rPr lang="en-US" sz="2000" dirty="0"/>
              <a:t>&lt;&lt; in &gt;&gt;, &lt;&lt; </a:t>
            </a:r>
            <a:r>
              <a:rPr lang="en-US" sz="2000" dirty="0" err="1"/>
              <a:t>i</a:t>
            </a:r>
            <a:r>
              <a:rPr lang="en-US" sz="2000" dirty="0"/>
              <a:t> &gt;&gt;</a:t>
            </a:r>
          </a:p>
          <a:p>
            <a:pPr lvl="2">
              <a:defRPr/>
            </a:pPr>
            <a:r>
              <a:rPr lang="en-US" sz="2000" dirty="0"/>
              <a:t>Arrow towards the use case dependent on</a:t>
            </a:r>
          </a:p>
          <a:p>
            <a:pPr lvl="1">
              <a:defRPr/>
            </a:pPr>
            <a:r>
              <a:rPr lang="en-US" sz="2000" b="1" dirty="0">
                <a:solidFill>
                  <a:srgbClr val="C00000"/>
                </a:solidFill>
              </a:rPr>
              <a:t>&lt;&lt;extend&gt;&gt;</a:t>
            </a:r>
          </a:p>
          <a:p>
            <a:pPr lvl="2">
              <a:defRPr/>
            </a:pPr>
            <a:r>
              <a:rPr lang="en-US" sz="2000" dirty="0"/>
              <a:t>Optional Dependency</a:t>
            </a:r>
          </a:p>
          <a:p>
            <a:pPr lvl="2">
              <a:defRPr/>
            </a:pPr>
            <a:r>
              <a:rPr lang="en-US" sz="2000" dirty="0"/>
              <a:t>&lt;&lt; ex &gt;&gt;, &lt;&lt; e &gt;&gt;</a:t>
            </a:r>
          </a:p>
          <a:p>
            <a:pPr lvl="2">
              <a:defRPr/>
            </a:pPr>
            <a:r>
              <a:rPr lang="en-US" sz="2000" dirty="0"/>
              <a:t>Arrow from the use case dependent on</a:t>
            </a:r>
          </a:p>
          <a:p>
            <a:pPr lvl="2">
              <a:defRPr/>
            </a:pPr>
            <a:r>
              <a:rPr lang="en-US" sz="2000" dirty="0"/>
              <a:t>Often referred as options of the use case</a:t>
            </a:r>
          </a:p>
        </p:txBody>
      </p:sp>
      <p:pic>
        <p:nvPicPr>
          <p:cNvPr id="31" name="Picture 30" descr="A diagram of a diagram&#10;&#10;AI-generated content may be incorrect.">
            <a:extLst>
              <a:ext uri="{FF2B5EF4-FFF2-40B4-BE49-F238E27FC236}">
                <a16:creationId xmlns:a16="http://schemas.microsoft.com/office/drawing/2014/main" id="{865BEF73-5FB4-8412-0549-3AF3AD630E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81" t="8170" r="9763" b="9063"/>
          <a:stretch/>
        </p:blipFill>
        <p:spPr>
          <a:xfrm>
            <a:off x="6169794" y="1944303"/>
            <a:ext cx="5476774" cy="357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5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77FE2-71D9-94F6-EFB8-7FB9A9EC9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62E19A-EA10-B396-276E-512337714F7C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C42A1A63-7528-049E-D24F-51C7F55C9A98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9</a:t>
            </a:fld>
            <a:r>
              <a:rPr lang="en-US" sz="1400" b="1" dirty="0"/>
              <a:t> 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D6D5ECE4-41F9-1C86-7166-2F890F20082C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9D97D682-7A5D-1A42-95BB-6E90DD5E6E70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3:  Use Case Diagram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B081EBE0-D535-45BB-E8FF-481F422E7716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MOHAIMEN-BIN-NOOR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4E1FE-4CCA-9605-3FDB-5F8C733B1E91}"/>
              </a:ext>
            </a:extLst>
          </p:cNvPr>
          <p:cNvSpPr txBox="1">
            <a:spLocks/>
          </p:cNvSpPr>
          <p:nvPr/>
        </p:nvSpPr>
        <p:spPr>
          <a:xfrm>
            <a:off x="265471" y="583689"/>
            <a:ext cx="11029950" cy="5371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en-US" b="1">
                <a:solidFill>
                  <a:srgbClr val="0070C0"/>
                </a:solidFill>
                <a:latin typeface="Book Antiqua" pitchFamily="18" charset="0"/>
              </a:rPr>
              <a:t>Example  of  Use cases  diagram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 33">
            <a:extLst>
              <a:ext uri="{FF2B5EF4-FFF2-40B4-BE49-F238E27FC236}">
                <a16:creationId xmlns:a16="http://schemas.microsoft.com/office/drawing/2014/main" id="{E931E2A1-4A16-FC68-B908-CFEBBD8219F6}"/>
              </a:ext>
            </a:extLst>
          </p:cNvPr>
          <p:cNvGrpSpPr>
            <a:grpSpLocks/>
          </p:cNvGrpSpPr>
          <p:nvPr/>
        </p:nvGrpSpPr>
        <p:grpSpPr bwMode="auto">
          <a:xfrm>
            <a:off x="1730805" y="2075309"/>
            <a:ext cx="8975712" cy="4310743"/>
            <a:chOff x="993" y="1344"/>
            <a:chExt cx="3811" cy="2400"/>
          </a:xfrm>
        </p:grpSpPr>
        <p:sp>
          <p:nvSpPr>
            <p:cNvPr id="10" name="Oval 4">
              <a:extLst>
                <a:ext uri="{FF2B5EF4-FFF2-40B4-BE49-F238E27FC236}">
                  <a16:creationId xmlns:a16="http://schemas.microsoft.com/office/drawing/2014/main" id="{EC12EEA3-331F-1694-C7CF-3723A0A09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87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763CC557-EC95-5112-9FC2-E13DE68E6A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06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FA706F59-3EF8-885C-C8AA-CAB6BCFCAA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160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93CD9F20-7270-A0EF-B902-975D09017A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2160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9C6AC104-A4DB-41FD-1A7D-D066704E3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4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52202C7A-9B3B-A00F-8C31-C3F517530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24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10">
              <a:extLst>
                <a:ext uri="{FF2B5EF4-FFF2-40B4-BE49-F238E27FC236}">
                  <a16:creationId xmlns:a16="http://schemas.microsoft.com/office/drawing/2014/main" id="{472983AB-4494-9F59-AA8D-FEB44EE7B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3" y="2496"/>
              <a:ext cx="516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b="0" dirty="0">
                  <a:latin typeface="Times New Roman" panose="02020603050405020304" pitchFamily="18" charset="0"/>
                </a:rPr>
                <a:t>Faculty</a:t>
              </a:r>
            </a:p>
          </p:txBody>
        </p:sp>
        <p:grpSp>
          <p:nvGrpSpPr>
            <p:cNvPr id="18" name="Group 11">
              <a:extLst>
                <a:ext uri="{FF2B5EF4-FFF2-40B4-BE49-F238E27FC236}">
                  <a16:creationId xmlns:a16="http://schemas.microsoft.com/office/drawing/2014/main" id="{45EC869E-307B-33BC-84EB-218CEA5371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1488"/>
              <a:ext cx="912" cy="432"/>
              <a:chOff x="4176" y="720"/>
              <a:chExt cx="576" cy="432"/>
            </a:xfrm>
          </p:grpSpPr>
          <p:sp>
            <p:nvSpPr>
              <p:cNvPr id="35" name="Oval 12">
                <a:extLst>
                  <a:ext uri="{FF2B5EF4-FFF2-40B4-BE49-F238E27FC236}">
                    <a16:creationId xmlns:a16="http://schemas.microsoft.com/office/drawing/2014/main" id="{BFA84F3C-B3BF-EDE7-CF03-E40ABD06C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720"/>
                <a:ext cx="576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6" name="Text Box 13">
                <a:extLst>
                  <a:ext uri="{FF2B5EF4-FFF2-40B4-BE49-F238E27FC236}">
                    <a16:creationId xmlns:a16="http://schemas.microsoft.com/office/drawing/2014/main" id="{CC17F38F-F1B4-EF2F-74B1-43EB2FDBCB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0" y="772"/>
                <a:ext cx="528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rtl="0"/>
                <a:endParaRPr lang="en-US" altLang="en-US" sz="2400" b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" name="Oval 15">
              <a:extLst>
                <a:ext uri="{FF2B5EF4-FFF2-40B4-BE49-F238E27FC236}">
                  <a16:creationId xmlns:a16="http://schemas.microsoft.com/office/drawing/2014/main" id="{8A349451-37A4-C61E-CD32-FA17D555E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" y="2101"/>
              <a:ext cx="816" cy="5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983953DA-C620-26BE-76FE-9068E871C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7" y="2208"/>
              <a:ext cx="813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Registration of Course</a:t>
              </a:r>
            </a:p>
          </p:txBody>
        </p:sp>
        <p:sp>
          <p:nvSpPr>
            <p:cNvPr id="21" name="Oval 18">
              <a:extLst>
                <a:ext uri="{FF2B5EF4-FFF2-40B4-BE49-F238E27FC236}">
                  <a16:creationId xmlns:a16="http://schemas.microsoft.com/office/drawing/2014/main" id="{52F66154-3917-5269-6973-D66EE10C9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976"/>
              <a:ext cx="816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D1B81C4A-1399-1499-1FC9-B10B5D8D2B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9" y="3005"/>
              <a:ext cx="748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b="0" dirty="0">
                  <a:latin typeface="Times New Roman" panose="02020603050405020304" pitchFamily="18" charset="0"/>
                </a:rPr>
                <a:t>Upload </a:t>
              </a:r>
              <a:br>
                <a:rPr lang="en-US" altLang="en-US" b="0" dirty="0">
                  <a:latin typeface="Times New Roman" panose="02020603050405020304" pitchFamily="18" charset="0"/>
                </a:rPr>
              </a:br>
              <a:r>
                <a:rPr lang="en-US" altLang="en-US" b="0" dirty="0">
                  <a:latin typeface="Times New Roman" panose="02020603050405020304" pitchFamily="18" charset="0"/>
                </a:rPr>
                <a:t>Grade</a:t>
              </a:r>
              <a:endParaRPr lang="en-US" altLang="en-US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210276E-F003-740A-2C22-302109A2E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87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98F7E33A-1346-F929-78D7-439E125A6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06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AA9DA4E1-A026-8F9C-7DA1-477AFF4CC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160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1A16A095-E33D-5935-D451-54CCD85581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2160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9B9A3841-4416-1069-3026-F17AD9FB6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4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6A9CAAD7-1388-B764-18A6-56B3570B0B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24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4C6CF2EC-31AB-38CD-D8B2-DF325A7DBE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2" y="2503"/>
              <a:ext cx="482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b="0" dirty="0">
                  <a:latin typeface="Times New Roman" panose="02020603050405020304" pitchFamily="18" charset="0"/>
                </a:rPr>
                <a:t>Student</a:t>
              </a:r>
              <a:endParaRPr lang="en-US" altLang="en-US" sz="16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59E56355-C31B-A9EF-399C-23108ED9F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1728"/>
              <a:ext cx="81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29AB7218-C290-557F-B4C0-C40E743B7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496"/>
              <a:ext cx="86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57E81AAF-5723-61B5-8F08-28D06BA7E9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35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58CD4AF0-A86A-A7A6-E610-4C9E9329F9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51" y="1729"/>
              <a:ext cx="1021" cy="5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90679B9-FEBA-0D1C-B2A6-5E6AF664C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344"/>
              <a:ext cx="1824" cy="2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9B3CAE8-7295-99F6-F8FF-F9C5E9218944}"/>
              </a:ext>
            </a:extLst>
          </p:cNvPr>
          <p:cNvSpPr txBox="1"/>
          <p:nvPr/>
        </p:nvSpPr>
        <p:spPr>
          <a:xfrm>
            <a:off x="4560623" y="1540153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University Management System</a:t>
            </a:r>
          </a:p>
        </p:txBody>
      </p:sp>
      <p:sp>
        <p:nvSpPr>
          <p:cNvPr id="38" name="Text Box 19">
            <a:extLst>
              <a:ext uri="{FF2B5EF4-FFF2-40B4-BE49-F238E27FC236}">
                <a16:creationId xmlns:a16="http://schemas.microsoft.com/office/drawing/2014/main" id="{679A0F5C-6264-2459-6AA9-192AB0230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683" y="2600379"/>
            <a:ext cx="17616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rtl="1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rtl="1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rtl="1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rtl="1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0" dirty="0">
                <a:latin typeface="Times New Roman" panose="02020603050405020304" pitchFamily="18" charset="0"/>
              </a:rPr>
              <a:t>Login</a:t>
            </a:r>
            <a:endParaRPr lang="en-US" altLang="en-US" sz="2400" b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09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294EE-B4DA-1B82-B77E-EE4DE871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8610831-65FC-3268-0D47-C441D7632156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948914DA-BABF-9481-D9CC-DAE5DD87551E}"/>
              </a:ext>
            </a:extLst>
          </p:cNvPr>
          <p:cNvSpPr txBox="1">
            <a:spLocks/>
          </p:cNvSpPr>
          <p:nvPr/>
        </p:nvSpPr>
        <p:spPr>
          <a:xfrm rot="5400000">
            <a:off x="11852787" y="1364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10</a:t>
            </a:fld>
            <a:r>
              <a:rPr lang="en-US" sz="1400" b="1" dirty="0"/>
              <a:t> 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CEA216C3-167F-25EB-B398-66A0FF50DA54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5C114828-293B-5EF9-34E7-9EEF1A4732F9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3:  Use Case Diagram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D67BFA32-A720-14C4-5CB1-75F16E9AB9A9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MOHAIMEN-BIN-NOOR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D2FAC-142D-FA30-9FBD-FAD4B6F1A137}"/>
              </a:ext>
            </a:extLst>
          </p:cNvPr>
          <p:cNvSpPr txBox="1">
            <a:spLocks/>
          </p:cNvSpPr>
          <p:nvPr/>
        </p:nvSpPr>
        <p:spPr>
          <a:xfrm>
            <a:off x="265471" y="583689"/>
            <a:ext cx="11029950" cy="5371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en-US" b="1">
                <a:solidFill>
                  <a:srgbClr val="0070C0"/>
                </a:solidFill>
                <a:latin typeface="Book Antiqua" pitchFamily="18" charset="0"/>
              </a:rPr>
              <a:t>Example  of  Use cases  diagram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1" name="Picture 40" descr="A diagram of a movie ticket&#10;&#10;AI-generated content may be incorrect.">
            <a:extLst>
              <a:ext uri="{FF2B5EF4-FFF2-40B4-BE49-F238E27FC236}">
                <a16:creationId xmlns:a16="http://schemas.microsoft.com/office/drawing/2014/main" id="{B95CE320-98F9-5C28-1673-506968771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234" y="1321960"/>
            <a:ext cx="6524626" cy="498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4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3710E-7B8A-7860-3F0E-C26CDB95B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2DD16F-8DC3-35AF-3097-071E0EDA425A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F3145A5-AAD4-BC92-627D-0CBFF5DE81C6}"/>
              </a:ext>
            </a:extLst>
          </p:cNvPr>
          <p:cNvSpPr txBox="1">
            <a:spLocks/>
          </p:cNvSpPr>
          <p:nvPr/>
        </p:nvSpPr>
        <p:spPr>
          <a:xfrm rot="5400000">
            <a:off x="11852787" y="17071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11</a:t>
            </a:fld>
            <a:r>
              <a:rPr lang="en-US" sz="1400" b="1" dirty="0"/>
              <a:t> 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BDDD4DDF-62E5-2E4F-3A0D-45F4B6D834CC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5C40D377-8D29-7FE3-01ED-5411A6AE4F95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3:  Use Case Diagram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8F720BCF-B6E8-0F2C-7731-6F5A1E83EC8D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MOHAIMEN-BIN-NOOR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BD0329-21FF-32B0-98D1-CC4609943696}"/>
              </a:ext>
            </a:extLst>
          </p:cNvPr>
          <p:cNvSpPr txBox="1">
            <a:spLocks/>
          </p:cNvSpPr>
          <p:nvPr/>
        </p:nvSpPr>
        <p:spPr>
          <a:xfrm>
            <a:off x="162232" y="598437"/>
            <a:ext cx="11029950" cy="5519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Usage  of  Use  case  diagram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8D0C384-826B-C8FD-E4A5-B4453E4D93BC}"/>
              </a:ext>
            </a:extLst>
          </p:cNvPr>
          <p:cNvSpPr txBox="1">
            <a:spLocks/>
          </p:cNvSpPr>
          <p:nvPr/>
        </p:nvSpPr>
        <p:spPr>
          <a:xfrm>
            <a:off x="875899" y="1777942"/>
            <a:ext cx="9846644" cy="2782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Use case diagrams are used to visualize, specify, construct, and document the (intended) behavior of the system, during requirements capture and analysis.</a:t>
            </a:r>
          </a:p>
          <a:p>
            <a:pPr algn="just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Provide a way for developers, domain experts, and end-users to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Communicate</a:t>
            </a:r>
            <a:r>
              <a:rPr lang="en-US" sz="2200" dirty="0">
                <a:latin typeface="+mj-lt"/>
              </a:rPr>
              <a:t>.</a:t>
            </a:r>
          </a:p>
          <a:p>
            <a:pPr algn="just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Serve as basis for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testing</a:t>
            </a:r>
            <a:r>
              <a:rPr lang="en-US" sz="2200" dirty="0">
                <a:latin typeface="+mj-lt"/>
              </a:rPr>
              <a:t>.</a:t>
            </a:r>
          </a:p>
          <a:p>
            <a:pPr algn="just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Use case diagrams contain </a:t>
            </a:r>
            <a:r>
              <a:rPr lang="en-US" sz="2200" dirty="0">
                <a:solidFill>
                  <a:srgbClr val="FF0000"/>
                </a:solidFill>
                <a:latin typeface="+mj-lt"/>
              </a:rPr>
              <a:t>use cases, actors</a:t>
            </a:r>
            <a:r>
              <a:rPr lang="en-US" sz="2200" dirty="0">
                <a:latin typeface="+mj-lt"/>
              </a:rPr>
              <a:t>, and their </a:t>
            </a:r>
            <a:r>
              <a:rPr lang="en-US" sz="2200" dirty="0">
                <a:solidFill>
                  <a:srgbClr val="FF0000"/>
                </a:solidFill>
                <a:latin typeface="+mj-lt"/>
              </a:rPr>
              <a:t>relationships</a:t>
            </a:r>
            <a:r>
              <a:rPr lang="en-US" sz="2200" dirty="0">
                <a:latin typeface="+mj-lt"/>
              </a:rPr>
              <a:t>.</a:t>
            </a:r>
          </a:p>
          <a:p>
            <a:pPr algn="just">
              <a:buFont typeface="Wingdings 2" panose="05020102010507070707" pitchFamily="18" charset="2"/>
              <a:buNone/>
            </a:pPr>
            <a:endParaRPr lang="en-GB" alt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25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697</Words>
  <Application>Microsoft Office PowerPoint</Application>
  <PresentationFormat>Widescreen</PresentationFormat>
  <Paragraphs>127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Book Antiqua</vt:lpstr>
      <vt:lpstr>Calibri</vt:lpstr>
      <vt:lpstr>Gill Sans MT</vt:lpstr>
      <vt:lpstr>Times New Roman</vt:lpstr>
      <vt:lpstr>Wingdings</vt:lpstr>
      <vt:lpstr>Wingdings 2</vt:lpstr>
      <vt:lpstr>Dividend</vt:lpstr>
      <vt:lpstr>PowerPoint Presentation</vt:lpstr>
      <vt:lpstr>Objectives</vt:lpstr>
      <vt:lpstr>Use Case</vt:lpstr>
      <vt:lpstr>Actor</vt:lpstr>
      <vt:lpstr>Relationships</vt:lpstr>
      <vt:lpstr>Relationships</vt:lpstr>
      <vt:lpstr>Relationships</vt:lpstr>
      <vt:lpstr>Relationships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OOAD - Ch.01 - Why do We Model Things</dc:title>
  <dc:subject>Object Oriented Analysis and Design (OOAD)</dc:subject>
  <dc:creator>M. Mahmudul Hasan</dc:creator>
  <cp:lastModifiedBy>Mohaimen-Bin-Noor</cp:lastModifiedBy>
  <cp:revision>92</cp:revision>
  <cp:lastPrinted>2021-01-26T07:46:39Z</cp:lastPrinted>
  <dcterms:created xsi:type="dcterms:W3CDTF">2019-05-13T08:37:20Z</dcterms:created>
  <dcterms:modified xsi:type="dcterms:W3CDTF">2025-03-11T14:08:06Z</dcterms:modified>
</cp:coreProperties>
</file>