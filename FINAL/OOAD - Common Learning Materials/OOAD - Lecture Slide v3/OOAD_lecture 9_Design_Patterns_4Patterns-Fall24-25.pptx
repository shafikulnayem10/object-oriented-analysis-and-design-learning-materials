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3" r:id="rId1"/>
  </p:sldMasterIdLst>
  <p:sldIdLst>
    <p:sldId id="269" r:id="rId2"/>
    <p:sldId id="270" r:id="rId3"/>
    <p:sldId id="271" r:id="rId4"/>
    <p:sldId id="273" r:id="rId5"/>
    <p:sldId id="274" r:id="rId6"/>
    <p:sldId id="258" r:id="rId7"/>
    <p:sldId id="275" r:id="rId8"/>
    <p:sldId id="276" r:id="rId9"/>
    <p:sldId id="277" r:id="rId10"/>
    <p:sldId id="278" r:id="rId11"/>
    <p:sldId id="256" r:id="rId12"/>
    <p:sldId id="257" r:id="rId13"/>
    <p:sldId id="259" r:id="rId14"/>
    <p:sldId id="260" r:id="rId15"/>
    <p:sldId id="261" r:id="rId16"/>
    <p:sldId id="262" r:id="rId17"/>
    <p:sldId id="268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63" r:id="rId28"/>
    <p:sldId id="264" r:id="rId29"/>
    <p:sldId id="265" r:id="rId30"/>
    <p:sldId id="266" r:id="rId31"/>
    <p:sldId id="267" r:id="rId32"/>
    <p:sldId id="289" r:id="rId33"/>
    <p:sldId id="29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1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291" autoAdjust="0"/>
    <p:restoredTop sz="96120" autoAdjust="0"/>
  </p:normalViewPr>
  <p:slideViewPr>
    <p:cSldViewPr snapToGrid="0">
      <p:cViewPr varScale="1">
        <p:scale>
          <a:sx n="83" d="100"/>
          <a:sy n="83" d="100"/>
        </p:scale>
        <p:origin x="77" y="53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708A-857B-3AFA-6C44-7D2658959B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FE445-50DB-CE3C-C56E-53EE134F9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3C99E-39EA-BE3F-416E-AEBC9F992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86060-AD55-1D7F-5045-DA3A32EDD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89757-CD24-5229-03ED-F5B8A0B1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78E665-7F4E-4BFA-8C70-A17828C9A63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615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CBE6-0CC3-BA25-953B-133DD64A0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76D41-771C-16AE-791A-8CF515651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0BAC2-3662-8D94-48BF-6BAE29E02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6D53F-38D5-DBDB-AE23-14647A3B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85A60-8C4C-9148-EF3D-361E1DDF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8B604C-30D0-420E-9D55-6DD740A6B57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810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74CC0-2B83-5E4F-F1ED-E74C49D05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81582-4DD8-D0FF-6851-40B762EF8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6DFFA-12B5-FD36-648B-693EBAFD0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53E6F-4E6F-7941-A464-E18ABBC0E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F1F73-2915-F83B-9BE7-8CDFF9882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AD6827-1E77-422B-B219-B80AB604215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2873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811E8-623D-7EFA-CDA5-5DD4B1410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9F211-15A8-E644-E2ED-FEEC14E497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9DE49-DEE5-0125-717A-A41C9268D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2EC34-3FC4-68F3-8050-67C61797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7FBA8-9A6B-B62D-570B-66C38F329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42450-3A86-E45F-343E-91FED882D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2770D-21B9-400F-A277-72B478DC317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9469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6102-1E8D-D4C2-BB9D-C225FE27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F4374-001D-BC1C-4266-9BB3D3945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64BC4-B589-C584-2492-CE01DAAFC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0894A6-E3CF-C554-5BDB-5D03E1B54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E52356-80A4-52E7-0DCE-925C9B0E4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62B265-C676-16DA-0871-3995CBABD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365B84-18B2-A76B-B62D-4C8C20324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348410-E805-965C-14BE-730A7F86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593A0-894C-4CB8-91BF-75CCA21CAA2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23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040C-974E-1FC9-0CBF-9C77A6886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696FB0-8E5B-D2D5-AF5D-61E47B2E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C34943-8A31-503F-B53D-6D98DA8AC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B6CA9-AE28-6C6C-E07F-042556591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AA0A4-261C-4696-BED3-208F7EE1F35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7065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6DFE3D-C277-B816-1F60-F92166A03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F43D4-AC94-DAB1-9EF6-257FC4D72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94D69-4B37-D823-FF2D-5DEADB975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EEFD54-1EDF-494D-BB84-9D19AE48C3D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5313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B31F4-7513-AB47-156E-901CEA584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A2923-576C-A07C-EF17-BCA0AA742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99B6-A753-75A0-D101-E7EE88459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1D592-B441-A08E-9C49-FE4BAB060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C875F-6D9C-1053-0065-C2538B1A8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04FBA-B3CA-579B-ECE1-8043F788C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179E2D-FF8E-4461-B45E-24CA800653A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171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85268-9565-ABC9-5669-36A27E8AA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52E01C-308E-1EA5-7C14-ACAC194EEA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8BDAF-0DD4-1469-BB39-3E2F0ECCF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85F05-549D-655C-BE70-CA349EC6C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09D54-B1A5-9C24-C8BE-554E217D1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7509E-1BBA-5E85-EB1A-2F8BB289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EC2021-C82E-4C3D-A474-2E17041A8F6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2902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37F52-7512-3BAF-0BFB-DFAD7D5FE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77B2C-C008-41AF-7E72-865DA76FC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5EE95-B67E-D978-334D-CF211EE8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D3D46-50C1-61EA-AFC7-8A1F92007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D184D-42ED-BBBB-8126-2F4F19B67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EC217-0BC8-46CF-A6B3-DDF57B7C0F0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010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233C1-738A-9177-F28D-E153B1EF2E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525D2-EBBD-9321-7DA8-A6EE3B9BE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6685F-8AAC-7385-92AB-6CDB77368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323CB-6F59-F251-5EA0-B91AEC1CF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2DA0D-FE75-1B91-C4AD-6C00DC347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7E538D-33CD-453B-9D7D-E70042BFA74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027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FD17AD-4F85-107C-280E-A4DF0AB4F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AF79C-9687-97D4-8839-BC93C2EDA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C23B1-4F1D-4383-B69C-2C8361347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BDAAA-5A18-07B9-D7BB-597BBC386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48A0E-5C57-F558-13AD-E6C000A3D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2BDCDB1-A5C6-46E3-8BCD-99855D11840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440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0" name="Rectangle 2089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1" name="Rectangle 2090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92" name="Group 209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2077" name="Freeform: Shape 2076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93" name="Freeform: Shape 209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94" name="Freeform: Shape 209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95" name="Freeform: Shape 209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96" name="Freeform: Shape 209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97" name="Freeform: Shape 209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83" name="Freeform: Shape 2082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50" name="Title 1">
            <a:extLst>
              <a:ext uri="{FF2B5EF4-FFF2-40B4-BE49-F238E27FC236}">
                <a16:creationId xmlns:a16="http://schemas.microsoft.com/office/drawing/2014/main" id="{82F3C2E2-76CE-4BF6-9191-956DE1F3184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5200">
                <a:solidFill>
                  <a:schemeClr val="tx2"/>
                </a:solidFill>
              </a:rPr>
              <a:t>Design Patterns</a:t>
            </a:r>
          </a:p>
        </p:txBody>
      </p:sp>
      <p:sp>
        <p:nvSpPr>
          <p:cNvPr id="2051" name="Subtitle 2">
            <a:extLst>
              <a:ext uri="{FF2B5EF4-FFF2-40B4-BE49-F238E27FC236}">
                <a16:creationId xmlns:a16="http://schemas.microsoft.com/office/drawing/2014/main" id="{90B02F3C-19C8-457F-8DFE-AD14410853B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/>
          </a:bodyPr>
          <a:lstStyle/>
          <a:p>
            <a:pPr eaLnBrk="1" hangingPunct="1"/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228D194C-7A6E-48C7-A370-98591B3E3E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What Is a Design Pattern?</a:t>
            </a:r>
            <a:endParaRPr lang="en-US" altLang="en-US" dirty="0"/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4E389AE3-92DB-4521-9852-526976EDE5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47800"/>
            <a:ext cx="10515600" cy="51054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CA" altLang="en-US" sz="2800" dirty="0"/>
              <a:t>A design pattern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CA" altLang="en-US" sz="2400" b="1" dirty="0"/>
              <a:t>Is a common solution to a recurring problem in design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CA" altLang="en-US" sz="2400" dirty="0"/>
              <a:t>Abstracts a recurring design structure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CA" altLang="en-US" sz="2400" dirty="0"/>
              <a:t>Names &amp; specifies the design structure explicitly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CA" altLang="en-US" sz="2400" dirty="0"/>
              <a:t>Distils design experience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CA" altLang="en-US" sz="2400" dirty="0"/>
              <a:t>A design pattern has 4 basic parts: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CA" altLang="en-US" sz="2000" dirty="0"/>
              <a:t>1. Name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CA" altLang="en-US" sz="2000" dirty="0"/>
              <a:t>2. Problem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CA" altLang="en-US" sz="2000" dirty="0"/>
              <a:t>3. Solution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CA" altLang="en-US" sz="2000" dirty="0"/>
              <a:t>4. Consequences and trade-offs of application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CA" altLang="en-US" sz="2400" dirty="0"/>
              <a:t>Language- and implementation-independent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CA" altLang="en-US" sz="2400" dirty="0"/>
              <a:t>A “micro-architecture”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CA" altLang="en-US" sz="2400" dirty="0" err="1"/>
              <a:t>GoF</a:t>
            </a:r>
            <a:r>
              <a:rPr lang="en-CA" altLang="en-US" sz="2400" dirty="0"/>
              <a:t> (“the gang of four”) catalogue: “Design Patterns: Elements of Reusable Object-Oriented Software,” Gamma, Helm, Johnson, </a:t>
            </a:r>
            <a:r>
              <a:rPr lang="en-CA" altLang="en-US" sz="2400" dirty="0" err="1"/>
              <a:t>Vlissides</a:t>
            </a:r>
            <a:r>
              <a:rPr lang="en-CA" altLang="en-US" sz="2400" dirty="0"/>
              <a:t>, Addison-Wesley, 1995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CA" altLang="en-US" sz="2400" dirty="0"/>
          </a:p>
          <a:p>
            <a:pPr lvl="1" eaLnBrk="1" hangingPunct="1">
              <a:lnSpc>
                <a:spcPct val="90000"/>
              </a:lnSpc>
              <a:defRPr/>
            </a:pPr>
            <a:endParaRPr lang="en-CA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A430B9A6-12E4-4AA3-8A06-CAC83E3621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List of Patterns (not the end..)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2EA7BAA-12FC-4F7A-9200-9FFE8BB3F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020495"/>
              </p:ext>
            </p:extLst>
          </p:nvPr>
        </p:nvGraphicFramePr>
        <p:xfrm>
          <a:off x="2132097" y="1350043"/>
          <a:ext cx="8239125" cy="528162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27925">
                  <a:extLst>
                    <a:ext uri="{9D8B030D-6E8A-4147-A177-3AD203B41FA5}">
                      <a16:colId xmlns:a16="http://schemas.microsoft.com/office/drawing/2014/main" val="2942290084"/>
                    </a:ext>
                  </a:extLst>
                </a:gridCol>
                <a:gridCol w="3272240">
                  <a:extLst>
                    <a:ext uri="{9D8B030D-6E8A-4147-A177-3AD203B41FA5}">
                      <a16:colId xmlns:a16="http://schemas.microsoft.com/office/drawing/2014/main" val="1276997548"/>
                    </a:ext>
                  </a:extLst>
                </a:gridCol>
                <a:gridCol w="276242">
                  <a:extLst>
                    <a:ext uri="{9D8B030D-6E8A-4147-A177-3AD203B41FA5}">
                      <a16:colId xmlns:a16="http://schemas.microsoft.com/office/drawing/2014/main" val="479286919"/>
                    </a:ext>
                  </a:extLst>
                </a:gridCol>
                <a:gridCol w="4362718">
                  <a:extLst>
                    <a:ext uri="{9D8B030D-6E8A-4147-A177-3AD203B41FA5}">
                      <a16:colId xmlns:a16="http://schemas.microsoft.com/office/drawing/2014/main" val="342940737"/>
                    </a:ext>
                  </a:extLst>
                </a:gridCol>
              </a:tblGrid>
              <a:tr h="176054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 dirty="0">
                          <a:effectLst/>
                        </a:rPr>
                        <a:t>Creational patterns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 dirty="0">
                          <a:effectLst/>
                        </a:rPr>
                        <a:t>Structural patterns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ctr"/>
                </a:tc>
                <a:extLst>
                  <a:ext uri="{0D108BD9-81ED-4DB2-BD59-A6C34878D82A}">
                    <a16:rowId xmlns:a16="http://schemas.microsoft.com/office/drawing/2014/main" val="2352359211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Abstract factory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Adapter, Wrapper, or Translator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751032738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Builder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Bridge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987126989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Dependency Injection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Composite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1767247352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Factory method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Decorator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1611397835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Lazy initialization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Extension object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ctr"/>
                </a:tc>
                <a:extLst>
                  <a:ext uri="{0D108BD9-81ED-4DB2-BD59-A6C34878D82A}">
                    <a16:rowId xmlns:a16="http://schemas.microsoft.com/office/drawing/2014/main" val="3686312387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Multiton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Facade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2011477706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Object pool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Flyweight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2126123276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Prototype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Front controller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1394574936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Resource acquisition is initialization (RAII)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Marker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3194725809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Singleton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Module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2336701787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Proxy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2221075815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l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 dirty="0">
                          <a:effectLst/>
                        </a:rPr>
                        <a:t>Concurrency patterns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Twin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ctr"/>
                </a:tc>
                <a:extLst>
                  <a:ext uri="{0D108BD9-81ED-4DB2-BD59-A6C34878D82A}">
                    <a16:rowId xmlns:a16="http://schemas.microsoft.com/office/drawing/2014/main" val="3137270990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Active Object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1607549867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Balking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 dirty="0">
                          <a:effectLst/>
                        </a:rPr>
                        <a:t>Behavioral patterns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ctr"/>
                </a:tc>
                <a:extLst>
                  <a:ext uri="{0D108BD9-81ED-4DB2-BD59-A6C34878D82A}">
                    <a16:rowId xmlns:a16="http://schemas.microsoft.com/office/drawing/2014/main" val="1329383388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Binding properties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Blackboard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1078303032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Blockchain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Chain of responsibility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310586331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Compute kernel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Command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3558971900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Double-checked locking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Interpreter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1116270064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Event-based asynchronous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Iterator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2213957781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Guarded suspension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Mediator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2632177011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Join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Memento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1771678799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Lock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Null object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129027628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Messaging design pattern (MDP)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Observer or Publish/subscribe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ctr"/>
                </a:tc>
                <a:extLst>
                  <a:ext uri="{0D108BD9-81ED-4DB2-BD59-A6C34878D82A}">
                    <a16:rowId xmlns:a16="http://schemas.microsoft.com/office/drawing/2014/main" val="2833897578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Monitor object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Servant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60950840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Reactor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Specification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4052324030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Read-write lock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State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3311958740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Scheduler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Strategy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2936524788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Thread pool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Template method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1653499586"/>
                  </a:ext>
                </a:extLst>
              </a:tr>
              <a:tr h="176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Thread-specific storage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Visitor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15" marR="8415" marT="8414" marB="0" anchor="b"/>
                </a:tc>
                <a:extLst>
                  <a:ext uri="{0D108BD9-81ED-4DB2-BD59-A6C34878D82A}">
                    <a16:rowId xmlns:a16="http://schemas.microsoft.com/office/drawing/2014/main" val="4131585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1561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DDBD3E6-FDE0-4F1A-A28F-825A8A840AD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en-US" sz="4400" b="1" dirty="0"/>
              <a:t>The Façade Pattern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80EC580-07F8-4A62-81B8-351A593F15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en-US" sz="3200"/>
              <a:t>Simplify, simplify, simplify!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12F3719-D2F5-4D21-889F-B127BB8BB7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Façade 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8C4C23C-6095-489A-BE1D-DBECA70CF2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Pattern that wraps objects, to simplify the interface</a:t>
            </a:r>
          </a:p>
          <a:p>
            <a:pPr eaLnBrk="1" hangingPunct="1"/>
            <a:r>
              <a:rPr lang="en-US" altLang="en-US"/>
              <a:t>Aptly named as this pattern hides all the complexity of one or more classes behind a clean, well-lit façade!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26F65B2-CC20-4FC7-B84D-321BA742A8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76647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b="1" dirty="0"/>
              <a:t>Home Sweet Home Theater</a:t>
            </a:r>
          </a:p>
        </p:txBody>
      </p:sp>
      <p:sp>
        <p:nvSpPr>
          <p:cNvPr id="14339" name="Text Box 4">
            <a:extLst>
              <a:ext uri="{FF2B5EF4-FFF2-40B4-BE49-F238E27FC236}">
                <a16:creationId xmlns:a16="http://schemas.microsoft.com/office/drawing/2014/main" id="{8199AF42-93AA-4D06-ADBC-58F7A709B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714" y="947739"/>
            <a:ext cx="58181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/>
              <a:t>Building your own home theater - check out the components that you have/need to put together.</a:t>
            </a:r>
          </a:p>
        </p:txBody>
      </p:sp>
      <p:sp>
        <p:nvSpPr>
          <p:cNvPr id="14340" name="Text Box 5">
            <a:extLst>
              <a:ext uri="{FF2B5EF4-FFF2-40B4-BE49-F238E27FC236}">
                <a16:creationId xmlns:a16="http://schemas.microsoft.com/office/drawing/2014/main" id="{29CC8208-0F00-47F5-816D-7EB2F161D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3825" y="2257426"/>
            <a:ext cx="1451038" cy="13849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        Tuner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amplifier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on ()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off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setAM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setFM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setFrequency  ( )</a:t>
            </a:r>
          </a:p>
        </p:txBody>
      </p:sp>
      <p:sp>
        <p:nvSpPr>
          <p:cNvPr id="14341" name="Line 6">
            <a:extLst>
              <a:ext uri="{FF2B5EF4-FFF2-40B4-BE49-F238E27FC236}">
                <a16:creationId xmlns:a16="http://schemas.microsoft.com/office/drawing/2014/main" id="{6E29B4AB-FB3D-45F9-BF04-F8F109C90D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2547938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2" name="Line 7">
            <a:extLst>
              <a:ext uri="{FF2B5EF4-FFF2-40B4-BE49-F238E27FC236}">
                <a16:creationId xmlns:a16="http://schemas.microsoft.com/office/drawing/2014/main" id="{7BE21717-F0F5-48CE-8B63-D18FE3817B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2776538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Text Box 8">
            <a:extLst>
              <a:ext uri="{FF2B5EF4-FFF2-40B4-BE49-F238E27FC236}">
                <a16:creationId xmlns:a16="http://schemas.microsoft.com/office/drawing/2014/main" id="{BD749319-9530-42FF-B595-93D831AAD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9" y="1620838"/>
            <a:ext cx="1771639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        Amplifier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tuner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dvdPlayer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cdPlayer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on ()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off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setCD(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setDVD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setStereoSound 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setSurroundSound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setTuner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setVolume ( )</a:t>
            </a:r>
          </a:p>
        </p:txBody>
      </p:sp>
      <p:sp>
        <p:nvSpPr>
          <p:cNvPr id="14344" name="Line 9">
            <a:extLst>
              <a:ext uri="{FF2B5EF4-FFF2-40B4-BE49-F238E27FC236}">
                <a16:creationId xmlns:a16="http://schemas.microsoft.com/office/drawing/2014/main" id="{8AD5912F-8161-4587-A6C6-8E8EFA19C4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83164" y="1898650"/>
            <a:ext cx="1736725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Line 10">
            <a:extLst>
              <a:ext uri="{FF2B5EF4-FFF2-40B4-BE49-F238E27FC236}">
                <a16:creationId xmlns:a16="http://schemas.microsoft.com/office/drawing/2014/main" id="{1D436ED5-8902-40D1-ACD0-FD1378437C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5225" y="253206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Text Box 11">
            <a:extLst>
              <a:ext uri="{FF2B5EF4-FFF2-40B4-BE49-F238E27FC236}">
                <a16:creationId xmlns:a16="http://schemas.microsoft.com/office/drawing/2014/main" id="{35557AD6-DAC3-449A-8BC8-F7ED0D91F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451" y="2092325"/>
            <a:ext cx="1957587" cy="19389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        DvdPlayer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amplifier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on ()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off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eject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pause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play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setSurroundAudio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setTwoChannelAudio 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stop ( )</a:t>
            </a:r>
          </a:p>
        </p:txBody>
      </p:sp>
      <p:sp>
        <p:nvSpPr>
          <p:cNvPr id="14347" name="Line 12">
            <a:extLst>
              <a:ext uri="{FF2B5EF4-FFF2-40B4-BE49-F238E27FC236}">
                <a16:creationId xmlns:a16="http://schemas.microsoft.com/office/drawing/2014/main" id="{539D1A22-D074-4871-B93B-E4D216211E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80326" y="2370138"/>
            <a:ext cx="1965325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8" name="Line 13">
            <a:extLst>
              <a:ext uri="{FF2B5EF4-FFF2-40B4-BE49-F238E27FC236}">
                <a16:creationId xmlns:a16="http://schemas.microsoft.com/office/drawing/2014/main" id="{C158835B-545E-4570-9B20-2BBC3C210F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80326" y="2598738"/>
            <a:ext cx="1965325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9" name="Text Box 14">
            <a:extLst>
              <a:ext uri="{FF2B5EF4-FFF2-40B4-BE49-F238E27FC236}">
                <a16:creationId xmlns:a16="http://schemas.microsoft.com/office/drawing/2014/main" id="{33709F74-0B69-49A7-A2C0-4D2BF20A5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026" y="4933950"/>
            <a:ext cx="1225015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        CdPlayer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amplifier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on ()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off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eject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pause 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play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stop ( ) </a:t>
            </a:r>
          </a:p>
        </p:txBody>
      </p:sp>
      <p:sp>
        <p:nvSpPr>
          <p:cNvPr id="14350" name="Text Box 15">
            <a:extLst>
              <a:ext uri="{FF2B5EF4-FFF2-40B4-BE49-F238E27FC236}">
                <a16:creationId xmlns:a16="http://schemas.microsoft.com/office/drawing/2014/main" id="{2FFDEA59-3B48-451B-86FB-86D111CBA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450" y="4802189"/>
            <a:ext cx="1661032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        Projector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dvdPlayer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on ()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off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tvMode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wideScreenMode ( )</a:t>
            </a:r>
          </a:p>
        </p:txBody>
      </p:sp>
      <p:sp>
        <p:nvSpPr>
          <p:cNvPr id="14351" name="Text Box 16">
            <a:extLst>
              <a:ext uri="{FF2B5EF4-FFF2-40B4-BE49-F238E27FC236}">
                <a16:creationId xmlns:a16="http://schemas.microsoft.com/office/drawing/2014/main" id="{8E9728E6-A02F-412B-AC03-33108266F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39" y="4297364"/>
            <a:ext cx="1112805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        Screen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up  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down ( )</a:t>
            </a:r>
          </a:p>
        </p:txBody>
      </p:sp>
      <p:sp>
        <p:nvSpPr>
          <p:cNvPr id="14352" name="Text Box 17">
            <a:extLst>
              <a:ext uri="{FF2B5EF4-FFF2-40B4-BE49-F238E27FC236}">
                <a16:creationId xmlns:a16="http://schemas.microsoft.com/office/drawing/2014/main" id="{6BE73B00-B971-411B-AF9C-7B8228030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600" y="5676901"/>
            <a:ext cx="1686680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     PopcornPopper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on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off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pop ( )</a:t>
            </a:r>
          </a:p>
        </p:txBody>
      </p:sp>
      <p:sp>
        <p:nvSpPr>
          <p:cNvPr id="14353" name="Text Box 18">
            <a:extLst>
              <a:ext uri="{FF2B5EF4-FFF2-40B4-BE49-F238E27FC236}">
                <a16:creationId xmlns:a16="http://schemas.microsoft.com/office/drawing/2014/main" id="{399E7514-6C15-4A0D-ADA1-C6CF781A1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1" y="4473576"/>
            <a:ext cx="1681871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        TheaterLights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on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off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dim ( )</a:t>
            </a:r>
          </a:p>
        </p:txBody>
      </p:sp>
      <p:sp>
        <p:nvSpPr>
          <p:cNvPr id="14354" name="Line 19">
            <a:extLst>
              <a:ext uri="{FF2B5EF4-FFF2-40B4-BE49-F238E27FC236}">
                <a16:creationId xmlns:a16="http://schemas.microsoft.com/office/drawing/2014/main" id="{4FFFE2CC-FFA0-4B9E-BEAA-88700DBBDF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8000" y="4556125"/>
            <a:ext cx="1119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55" name="Line 20">
            <a:extLst>
              <a:ext uri="{FF2B5EF4-FFF2-40B4-BE49-F238E27FC236}">
                <a16:creationId xmlns:a16="http://schemas.microsoft.com/office/drawing/2014/main" id="{5B1E7C56-CF34-4B1C-B51D-789A4ABD6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5064" y="5961063"/>
            <a:ext cx="1698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56" name="Line 21">
            <a:extLst>
              <a:ext uri="{FF2B5EF4-FFF2-40B4-BE49-F238E27FC236}">
                <a16:creationId xmlns:a16="http://schemas.microsoft.com/office/drawing/2014/main" id="{5837A6B2-148A-4B4B-9CDC-6F0BD701CD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1875" y="4730750"/>
            <a:ext cx="168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Line 22">
            <a:extLst>
              <a:ext uri="{FF2B5EF4-FFF2-40B4-BE49-F238E27FC236}">
                <a16:creationId xmlns:a16="http://schemas.microsoft.com/office/drawing/2014/main" id="{BBB35E34-6FBA-4C81-B38E-D9A904A73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2439" y="5222875"/>
            <a:ext cx="1222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Line 23">
            <a:extLst>
              <a:ext uri="{FF2B5EF4-FFF2-40B4-BE49-F238E27FC236}">
                <a16:creationId xmlns:a16="http://schemas.microsoft.com/office/drawing/2014/main" id="{F4915D37-EC2B-4380-8DDC-93A0EF371F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6089" y="5462588"/>
            <a:ext cx="1222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Line 24">
            <a:extLst>
              <a:ext uri="{FF2B5EF4-FFF2-40B4-BE49-F238E27FC236}">
                <a16:creationId xmlns:a16="http://schemas.microsoft.com/office/drawing/2014/main" id="{D94E6C39-B670-4B39-9B1C-A730529BDA1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7625" y="5080000"/>
            <a:ext cx="165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Line 25">
            <a:extLst>
              <a:ext uri="{FF2B5EF4-FFF2-40B4-BE49-F238E27FC236}">
                <a16:creationId xmlns:a16="http://schemas.microsoft.com/office/drawing/2014/main" id="{70143C61-096A-48B2-B9A7-70A0600BA38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7626" y="5310188"/>
            <a:ext cx="1643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Freeform 29">
            <a:extLst>
              <a:ext uri="{FF2B5EF4-FFF2-40B4-BE49-F238E27FC236}">
                <a16:creationId xmlns:a16="http://schemas.microsoft.com/office/drawing/2014/main" id="{C6813D98-9CD1-4451-9569-4B94626F371F}"/>
              </a:ext>
            </a:extLst>
          </p:cNvPr>
          <p:cNvSpPr>
            <a:spLocks/>
          </p:cNvSpPr>
          <p:nvPr/>
        </p:nvSpPr>
        <p:spPr bwMode="auto">
          <a:xfrm>
            <a:off x="2254251" y="1849439"/>
            <a:ext cx="2714625" cy="809625"/>
          </a:xfrm>
          <a:custGeom>
            <a:avLst/>
            <a:gdLst>
              <a:gd name="T0" fmla="*/ 655240625 w 1710"/>
              <a:gd name="T1" fmla="*/ 1724980633 h 380"/>
              <a:gd name="T2" fmla="*/ 0 w 1710"/>
              <a:gd name="T3" fmla="*/ 1724980633 h 380"/>
              <a:gd name="T4" fmla="*/ 0 w 1710"/>
              <a:gd name="T5" fmla="*/ 0 h 380"/>
              <a:gd name="T6" fmla="*/ 2147483646 w 1710"/>
              <a:gd name="T7" fmla="*/ 0 h 3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10" h="380">
                <a:moveTo>
                  <a:pt x="260" y="380"/>
                </a:moveTo>
                <a:lnTo>
                  <a:pt x="0" y="380"/>
                </a:lnTo>
                <a:lnTo>
                  <a:pt x="0" y="0"/>
                </a:lnTo>
                <a:lnTo>
                  <a:pt x="171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Freeform 30">
            <a:extLst>
              <a:ext uri="{FF2B5EF4-FFF2-40B4-BE49-F238E27FC236}">
                <a16:creationId xmlns:a16="http://schemas.microsoft.com/office/drawing/2014/main" id="{85148938-E567-4BE8-9205-0B4F5FC26A79}"/>
              </a:ext>
            </a:extLst>
          </p:cNvPr>
          <p:cNvSpPr>
            <a:spLocks/>
          </p:cNvSpPr>
          <p:nvPr/>
        </p:nvSpPr>
        <p:spPr bwMode="auto">
          <a:xfrm>
            <a:off x="3563939" y="1992314"/>
            <a:ext cx="1404937" cy="261937"/>
          </a:xfrm>
          <a:custGeom>
            <a:avLst/>
            <a:gdLst>
              <a:gd name="T0" fmla="*/ 2147483646 w 885"/>
              <a:gd name="T1" fmla="*/ 0 h 165"/>
              <a:gd name="T2" fmla="*/ 0 w 885"/>
              <a:gd name="T3" fmla="*/ 0 h 165"/>
              <a:gd name="T4" fmla="*/ 0 w 885"/>
              <a:gd name="T5" fmla="*/ 415824194 h 16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85" h="165">
                <a:moveTo>
                  <a:pt x="885" y="0"/>
                </a:moveTo>
                <a:lnTo>
                  <a:pt x="0" y="0"/>
                </a:lnTo>
                <a:lnTo>
                  <a:pt x="0" y="16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Freeform 31">
            <a:extLst>
              <a:ext uri="{FF2B5EF4-FFF2-40B4-BE49-F238E27FC236}">
                <a16:creationId xmlns:a16="http://schemas.microsoft.com/office/drawing/2014/main" id="{0ED3B203-BFD0-4E27-8892-B2DBB1CA2A4B}"/>
              </a:ext>
            </a:extLst>
          </p:cNvPr>
          <p:cNvSpPr>
            <a:spLocks/>
          </p:cNvSpPr>
          <p:nvPr/>
        </p:nvSpPr>
        <p:spPr bwMode="auto">
          <a:xfrm>
            <a:off x="6738939" y="2413000"/>
            <a:ext cx="238125" cy="2698750"/>
          </a:xfrm>
          <a:custGeom>
            <a:avLst/>
            <a:gdLst>
              <a:gd name="T0" fmla="*/ 0 w 150"/>
              <a:gd name="T1" fmla="*/ 0 h 1700"/>
              <a:gd name="T2" fmla="*/ 378023438 w 150"/>
              <a:gd name="T3" fmla="*/ 0 h 1700"/>
              <a:gd name="T4" fmla="*/ 378023438 w 150"/>
              <a:gd name="T5" fmla="*/ 2147483646 h 1700"/>
              <a:gd name="T6" fmla="*/ 25201563 w 150"/>
              <a:gd name="T7" fmla="*/ 2147483646 h 17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0" h="1700">
                <a:moveTo>
                  <a:pt x="0" y="0"/>
                </a:moveTo>
                <a:lnTo>
                  <a:pt x="150" y="0"/>
                </a:lnTo>
                <a:lnTo>
                  <a:pt x="150" y="1700"/>
                </a:lnTo>
                <a:lnTo>
                  <a:pt x="10" y="170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Freeform 32">
            <a:extLst>
              <a:ext uri="{FF2B5EF4-FFF2-40B4-BE49-F238E27FC236}">
                <a16:creationId xmlns:a16="http://schemas.microsoft.com/office/drawing/2014/main" id="{D7E02976-E227-4C7F-AD10-9EB6BC4383D9}"/>
              </a:ext>
            </a:extLst>
          </p:cNvPr>
          <p:cNvSpPr>
            <a:spLocks/>
          </p:cNvSpPr>
          <p:nvPr/>
        </p:nvSpPr>
        <p:spPr bwMode="auto">
          <a:xfrm>
            <a:off x="6731001" y="1746250"/>
            <a:ext cx="373063" cy="3627438"/>
          </a:xfrm>
          <a:custGeom>
            <a:avLst/>
            <a:gdLst>
              <a:gd name="T0" fmla="*/ 37803188 w 235"/>
              <a:gd name="T1" fmla="*/ 2147483646 h 2285"/>
              <a:gd name="T2" fmla="*/ 592238306 w 235"/>
              <a:gd name="T3" fmla="*/ 2147483646 h 2285"/>
              <a:gd name="T4" fmla="*/ 592238306 w 235"/>
              <a:gd name="T5" fmla="*/ 0 h 2285"/>
              <a:gd name="T6" fmla="*/ 0 w 235"/>
              <a:gd name="T7" fmla="*/ 0 h 228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35" h="2285">
                <a:moveTo>
                  <a:pt x="15" y="2285"/>
                </a:moveTo>
                <a:lnTo>
                  <a:pt x="235" y="2285"/>
                </a:lnTo>
                <a:lnTo>
                  <a:pt x="235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5" name="Freeform 33">
            <a:extLst>
              <a:ext uri="{FF2B5EF4-FFF2-40B4-BE49-F238E27FC236}">
                <a16:creationId xmlns:a16="http://schemas.microsoft.com/office/drawing/2014/main" id="{C5C7C666-320F-4E73-B616-A6D16BFEDCC0}"/>
              </a:ext>
            </a:extLst>
          </p:cNvPr>
          <p:cNvSpPr>
            <a:spLocks/>
          </p:cNvSpPr>
          <p:nvPr/>
        </p:nvSpPr>
        <p:spPr bwMode="auto">
          <a:xfrm>
            <a:off x="6738939" y="1674814"/>
            <a:ext cx="1063625" cy="428625"/>
          </a:xfrm>
          <a:custGeom>
            <a:avLst/>
            <a:gdLst>
              <a:gd name="T0" fmla="*/ 0 w 670"/>
              <a:gd name="T1" fmla="*/ 0 h 270"/>
              <a:gd name="T2" fmla="*/ 1348284388 w 670"/>
              <a:gd name="T3" fmla="*/ 0 h 270"/>
              <a:gd name="T4" fmla="*/ 1688504688 w 670"/>
              <a:gd name="T5" fmla="*/ 0 h 270"/>
              <a:gd name="T6" fmla="*/ 1688504688 w 670"/>
              <a:gd name="T7" fmla="*/ 680442188 h 27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70" h="270">
                <a:moveTo>
                  <a:pt x="0" y="0"/>
                </a:moveTo>
                <a:lnTo>
                  <a:pt x="535" y="0"/>
                </a:lnTo>
                <a:lnTo>
                  <a:pt x="670" y="0"/>
                </a:lnTo>
                <a:lnTo>
                  <a:pt x="670" y="27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6" name="Freeform 34">
            <a:extLst>
              <a:ext uri="{FF2B5EF4-FFF2-40B4-BE49-F238E27FC236}">
                <a16:creationId xmlns:a16="http://schemas.microsoft.com/office/drawing/2014/main" id="{F66340D6-EC11-44BE-8DF2-9FEB92155E05}"/>
              </a:ext>
            </a:extLst>
          </p:cNvPr>
          <p:cNvSpPr>
            <a:spLocks/>
          </p:cNvSpPr>
          <p:nvPr/>
        </p:nvSpPr>
        <p:spPr bwMode="auto">
          <a:xfrm>
            <a:off x="6738938" y="1801814"/>
            <a:ext cx="920750" cy="682625"/>
          </a:xfrm>
          <a:custGeom>
            <a:avLst/>
            <a:gdLst>
              <a:gd name="T0" fmla="*/ 1461690625 w 580"/>
              <a:gd name="T1" fmla="*/ 1083667188 h 430"/>
              <a:gd name="T2" fmla="*/ 919857825 w 580"/>
              <a:gd name="T3" fmla="*/ 1083667188 h 430"/>
              <a:gd name="T4" fmla="*/ 919857825 w 580"/>
              <a:gd name="T5" fmla="*/ 0 h 430"/>
              <a:gd name="T6" fmla="*/ 0 w 580"/>
              <a:gd name="T7" fmla="*/ 0 h 43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80" h="430">
                <a:moveTo>
                  <a:pt x="580" y="430"/>
                </a:moveTo>
                <a:lnTo>
                  <a:pt x="365" y="430"/>
                </a:lnTo>
                <a:lnTo>
                  <a:pt x="365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7" name="Freeform 35">
            <a:extLst>
              <a:ext uri="{FF2B5EF4-FFF2-40B4-BE49-F238E27FC236}">
                <a16:creationId xmlns:a16="http://schemas.microsoft.com/office/drawing/2014/main" id="{AA3014F5-33E3-4839-A992-2FC5CEE01D84}"/>
              </a:ext>
            </a:extLst>
          </p:cNvPr>
          <p:cNvSpPr>
            <a:spLocks/>
          </p:cNvSpPr>
          <p:nvPr/>
        </p:nvSpPr>
        <p:spPr bwMode="auto">
          <a:xfrm>
            <a:off x="9318625" y="2293939"/>
            <a:ext cx="984250" cy="2905125"/>
          </a:xfrm>
          <a:custGeom>
            <a:avLst/>
            <a:gdLst>
              <a:gd name="T0" fmla="*/ 0 w 620"/>
              <a:gd name="T1" fmla="*/ 2147483646 h 1830"/>
              <a:gd name="T2" fmla="*/ 1562496875 w 620"/>
              <a:gd name="T3" fmla="*/ 2147483646 h 1830"/>
              <a:gd name="T4" fmla="*/ 1562496875 w 620"/>
              <a:gd name="T5" fmla="*/ 0 h 1830"/>
              <a:gd name="T6" fmla="*/ 478829688 w 620"/>
              <a:gd name="T7" fmla="*/ 0 h 183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20" h="1830">
                <a:moveTo>
                  <a:pt x="0" y="1830"/>
                </a:moveTo>
                <a:lnTo>
                  <a:pt x="620" y="1830"/>
                </a:lnTo>
                <a:lnTo>
                  <a:pt x="620" y="0"/>
                </a:lnTo>
                <a:lnTo>
                  <a:pt x="19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8" name="Freeform 36">
            <a:extLst>
              <a:ext uri="{FF2B5EF4-FFF2-40B4-BE49-F238E27FC236}">
                <a16:creationId xmlns:a16="http://schemas.microsoft.com/office/drawing/2014/main" id="{22490501-1675-4852-82E2-1F50E8D0689E}"/>
              </a:ext>
            </a:extLst>
          </p:cNvPr>
          <p:cNvSpPr>
            <a:spLocks/>
          </p:cNvSpPr>
          <p:nvPr/>
        </p:nvSpPr>
        <p:spPr bwMode="auto">
          <a:xfrm>
            <a:off x="8040689" y="1195388"/>
            <a:ext cx="579437" cy="685800"/>
          </a:xfrm>
          <a:custGeom>
            <a:avLst/>
            <a:gdLst>
              <a:gd name="T0" fmla="*/ 872070745 w 385"/>
              <a:gd name="T1" fmla="*/ 130112311 h 282"/>
              <a:gd name="T2" fmla="*/ 237837066 w 385"/>
              <a:gd name="T3" fmla="*/ 130112311 h 282"/>
              <a:gd name="T4" fmla="*/ 645559039 w 385"/>
              <a:gd name="T5" fmla="*/ 928531857 h 282"/>
              <a:gd name="T6" fmla="*/ 0 w 385"/>
              <a:gd name="T7" fmla="*/ 1667807234 h 28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85" h="282">
                <a:moveTo>
                  <a:pt x="385" y="22"/>
                </a:moveTo>
                <a:cubicBezTo>
                  <a:pt x="253" y="11"/>
                  <a:pt x="122" y="0"/>
                  <a:pt x="105" y="22"/>
                </a:cubicBezTo>
                <a:cubicBezTo>
                  <a:pt x="88" y="44"/>
                  <a:pt x="302" y="114"/>
                  <a:pt x="285" y="157"/>
                </a:cubicBezTo>
                <a:cubicBezTo>
                  <a:pt x="268" y="200"/>
                  <a:pt x="134" y="241"/>
                  <a:pt x="0" y="2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9" name="Text Box 37">
            <a:extLst>
              <a:ext uri="{FF2B5EF4-FFF2-40B4-BE49-F238E27FC236}">
                <a16:creationId xmlns:a16="http://schemas.microsoft.com/office/drawing/2014/main" id="{80A03EE8-A712-4046-B166-E75FC46EB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0301" y="968376"/>
            <a:ext cx="180022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100FE"/>
                </a:solidFill>
                <a:latin typeface="Comic Sans MS" panose="030F0702030302020204" pitchFamily="66" charset="0"/>
              </a:rPr>
              <a:t>That’s a lot of classes, a lot of interactions, and a big set of interfaces to learn and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4576B49-BC80-4D30-A988-18DB4D3D8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Watching a Movie the Hard Way!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94916B2-2F81-4943-A229-F2D2DC1DE9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609600" indent="-609600" eaLnBrk="1" hangingPunct="1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en-US" sz="2000"/>
              <a:t>Turn on the popcorn popper</a:t>
            </a:r>
          </a:p>
          <a:p>
            <a:pPr marL="609600" indent="-609600" eaLnBrk="1" hangingPunct="1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en-US" sz="2000"/>
              <a:t>Start the popper popping</a:t>
            </a:r>
          </a:p>
          <a:p>
            <a:pPr marL="609600" indent="-609600" eaLnBrk="1" hangingPunct="1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en-US" sz="2000"/>
              <a:t>Dim the lights</a:t>
            </a:r>
          </a:p>
          <a:p>
            <a:pPr marL="609600" indent="-609600" eaLnBrk="1" hangingPunct="1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en-US" sz="2000"/>
              <a:t>Put the screen down</a:t>
            </a:r>
          </a:p>
          <a:p>
            <a:pPr marL="609600" indent="-609600" eaLnBrk="1" hangingPunct="1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en-US" sz="2000"/>
              <a:t>Turn the projector on</a:t>
            </a:r>
          </a:p>
          <a:p>
            <a:pPr marL="609600" indent="-609600" eaLnBrk="1" hangingPunct="1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en-US" sz="2000"/>
              <a:t>Set the projector input to DVD</a:t>
            </a:r>
          </a:p>
          <a:p>
            <a:pPr marL="609600" indent="-609600" eaLnBrk="1" hangingPunct="1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en-US" sz="2000"/>
              <a:t>Put the projector on wide-screen mode</a:t>
            </a:r>
          </a:p>
          <a:p>
            <a:pPr marL="609600" indent="-609600" eaLnBrk="1" hangingPunct="1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en-US" sz="2000"/>
              <a:t>Turn the sound amplifier on</a:t>
            </a:r>
          </a:p>
          <a:p>
            <a:pPr marL="609600" indent="-609600" eaLnBrk="1" hangingPunct="1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en-US" sz="2000"/>
              <a:t>Set the amplifier to DVD input</a:t>
            </a:r>
          </a:p>
          <a:p>
            <a:pPr marL="609600" indent="-609600" eaLnBrk="1" hangingPunct="1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en-US" sz="2000"/>
              <a:t>Set the amplifier to surround sound</a:t>
            </a:r>
          </a:p>
          <a:p>
            <a:pPr marL="609600" indent="-609600" eaLnBrk="1" hangingPunct="1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en-US" sz="2000"/>
              <a:t>Set the amplifier volume to medium (5)</a:t>
            </a:r>
          </a:p>
          <a:p>
            <a:pPr marL="609600" indent="-609600" eaLnBrk="1" hangingPunct="1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en-US" sz="2000"/>
              <a:t>Turn the DVD player on</a:t>
            </a:r>
          </a:p>
          <a:p>
            <a:pPr marL="609600" indent="-609600" eaLnBrk="1" hangingPunct="1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en-US" sz="2000"/>
              <a:t>Start the DVD player playing.</a:t>
            </a:r>
          </a:p>
          <a:p>
            <a:pPr marL="609600" indent="-609600" eaLnBrk="1" hangingPunct="1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en-US" sz="2000"/>
              <a:t>Whew! 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DDC70328-0A19-4CB9-9D07-3AF08FB50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7425" y="2889250"/>
            <a:ext cx="315753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Comic Sans MS" panose="030F0702030302020204" pitchFamily="66" charset="0"/>
              </a:rPr>
              <a:t>But there’s more!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Comic Sans MS" panose="030F0702030302020204" pitchFamily="66" charset="0"/>
              </a:rPr>
              <a:t>When the movie is done, how do you turn everything off? Do you reverse all the steps?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Comic Sans MS" panose="030F0702030302020204" pitchFamily="66" charset="0"/>
              </a:rPr>
              <a:t>Wouldn’t it be just as complex to listen to a CD or radio?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Comic Sans MS" panose="030F0702030302020204" pitchFamily="66" charset="0"/>
              </a:rPr>
              <a:t>If you decide to upgrade your system, you’re probably going to have to learn a slightly different procedure!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Comic Sans MS" panose="030F0702030302020204" pitchFamily="66" charset="0"/>
              </a:rPr>
              <a:t>Façade to the Rescue!!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reeform 36">
            <a:extLst>
              <a:ext uri="{FF2B5EF4-FFF2-40B4-BE49-F238E27FC236}">
                <a16:creationId xmlns:a16="http://schemas.microsoft.com/office/drawing/2014/main" id="{1ED51D50-24AA-4CB1-8176-0C4066239338}"/>
              </a:ext>
            </a:extLst>
          </p:cNvPr>
          <p:cNvSpPr>
            <a:spLocks/>
          </p:cNvSpPr>
          <p:nvPr/>
        </p:nvSpPr>
        <p:spPr bwMode="auto">
          <a:xfrm>
            <a:off x="4071939" y="2373314"/>
            <a:ext cx="2230437" cy="674687"/>
          </a:xfrm>
          <a:custGeom>
            <a:avLst/>
            <a:gdLst>
              <a:gd name="T0" fmla="*/ 2147483646 w 1405"/>
              <a:gd name="T1" fmla="*/ 0 h 425"/>
              <a:gd name="T2" fmla="*/ 1373484055 w 1405"/>
              <a:gd name="T3" fmla="*/ 214212329 h 425"/>
              <a:gd name="T4" fmla="*/ 0 w 1405"/>
              <a:gd name="T5" fmla="*/ 1071064819 h 42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05" h="425">
                <a:moveTo>
                  <a:pt x="1405" y="0"/>
                </a:moveTo>
                <a:cubicBezTo>
                  <a:pt x="1092" y="7"/>
                  <a:pt x="779" y="14"/>
                  <a:pt x="545" y="85"/>
                </a:cubicBezTo>
                <a:cubicBezTo>
                  <a:pt x="311" y="156"/>
                  <a:pt x="155" y="290"/>
                  <a:pt x="0" y="425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7" name="Freeform 38">
            <a:extLst>
              <a:ext uri="{FF2B5EF4-FFF2-40B4-BE49-F238E27FC236}">
                <a16:creationId xmlns:a16="http://schemas.microsoft.com/office/drawing/2014/main" id="{694B0FF3-7651-42DB-812C-7912A109BD84}"/>
              </a:ext>
            </a:extLst>
          </p:cNvPr>
          <p:cNvSpPr>
            <a:spLocks/>
          </p:cNvSpPr>
          <p:nvPr/>
        </p:nvSpPr>
        <p:spPr bwMode="auto">
          <a:xfrm>
            <a:off x="4859338" y="2381251"/>
            <a:ext cx="1149350" cy="2532063"/>
          </a:xfrm>
          <a:custGeom>
            <a:avLst/>
            <a:gdLst>
              <a:gd name="T0" fmla="*/ 1824593125 w 724"/>
              <a:gd name="T1" fmla="*/ 0 h 1595"/>
              <a:gd name="T2" fmla="*/ 299899388 w 724"/>
              <a:gd name="T3" fmla="*/ 1738908156 h 1595"/>
              <a:gd name="T4" fmla="*/ 22682200 w 724"/>
              <a:gd name="T5" fmla="*/ 2147483646 h 159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24" h="1595">
                <a:moveTo>
                  <a:pt x="724" y="0"/>
                </a:moveTo>
                <a:cubicBezTo>
                  <a:pt x="481" y="212"/>
                  <a:pt x="238" y="424"/>
                  <a:pt x="119" y="690"/>
                </a:cubicBezTo>
                <a:cubicBezTo>
                  <a:pt x="0" y="956"/>
                  <a:pt x="4" y="1275"/>
                  <a:pt x="9" y="1595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Freeform 39">
            <a:extLst>
              <a:ext uri="{FF2B5EF4-FFF2-40B4-BE49-F238E27FC236}">
                <a16:creationId xmlns:a16="http://schemas.microsoft.com/office/drawing/2014/main" id="{316EC922-C0CA-490F-A6EB-A0748F9F747D}"/>
              </a:ext>
            </a:extLst>
          </p:cNvPr>
          <p:cNvSpPr>
            <a:spLocks/>
          </p:cNvSpPr>
          <p:nvPr/>
        </p:nvSpPr>
        <p:spPr bwMode="auto">
          <a:xfrm>
            <a:off x="3619500" y="2373314"/>
            <a:ext cx="2357438" cy="2397125"/>
          </a:xfrm>
          <a:custGeom>
            <a:avLst/>
            <a:gdLst>
              <a:gd name="T0" fmla="*/ 2147483646 w 1485"/>
              <a:gd name="T1" fmla="*/ 0 h 1510"/>
              <a:gd name="T2" fmla="*/ 2016125428 w 1485"/>
              <a:gd name="T3" fmla="*/ 1045865638 h 1510"/>
              <a:gd name="T4" fmla="*/ 0 w 1485"/>
              <a:gd name="T5" fmla="*/ 2147483646 h 151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85" h="1510">
                <a:moveTo>
                  <a:pt x="1485" y="0"/>
                </a:moveTo>
                <a:cubicBezTo>
                  <a:pt x="1266" y="81"/>
                  <a:pt x="1048" y="163"/>
                  <a:pt x="800" y="415"/>
                </a:cubicBezTo>
                <a:cubicBezTo>
                  <a:pt x="552" y="667"/>
                  <a:pt x="276" y="1088"/>
                  <a:pt x="0" y="151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Freeform 40">
            <a:extLst>
              <a:ext uri="{FF2B5EF4-FFF2-40B4-BE49-F238E27FC236}">
                <a16:creationId xmlns:a16="http://schemas.microsoft.com/office/drawing/2014/main" id="{FAC2E813-6DBF-4383-B941-BC77ADAB540B}"/>
              </a:ext>
            </a:extLst>
          </p:cNvPr>
          <p:cNvSpPr>
            <a:spLocks/>
          </p:cNvSpPr>
          <p:nvPr/>
        </p:nvSpPr>
        <p:spPr bwMode="auto">
          <a:xfrm>
            <a:off x="6834189" y="2373314"/>
            <a:ext cx="1444625" cy="523875"/>
          </a:xfrm>
          <a:custGeom>
            <a:avLst/>
            <a:gdLst>
              <a:gd name="T0" fmla="*/ 0 w 910"/>
              <a:gd name="T1" fmla="*/ 0 h 330"/>
              <a:gd name="T2" fmla="*/ 1612900000 w 910"/>
              <a:gd name="T3" fmla="*/ 189012513 h 330"/>
              <a:gd name="T4" fmla="*/ 2147483646 w 910"/>
              <a:gd name="T5" fmla="*/ 831651563 h 33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10" h="330">
                <a:moveTo>
                  <a:pt x="0" y="0"/>
                </a:moveTo>
                <a:cubicBezTo>
                  <a:pt x="244" y="10"/>
                  <a:pt x="488" y="20"/>
                  <a:pt x="640" y="75"/>
                </a:cubicBezTo>
                <a:cubicBezTo>
                  <a:pt x="792" y="130"/>
                  <a:pt x="851" y="230"/>
                  <a:pt x="910" y="33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Freeform 41">
            <a:extLst>
              <a:ext uri="{FF2B5EF4-FFF2-40B4-BE49-F238E27FC236}">
                <a16:creationId xmlns:a16="http://schemas.microsoft.com/office/drawing/2014/main" id="{799BDEAF-11DA-43AA-BA75-7754FD125578}"/>
              </a:ext>
            </a:extLst>
          </p:cNvPr>
          <p:cNvSpPr>
            <a:spLocks/>
          </p:cNvSpPr>
          <p:nvPr/>
        </p:nvSpPr>
        <p:spPr bwMode="auto">
          <a:xfrm>
            <a:off x="6842125" y="2365376"/>
            <a:ext cx="1563688" cy="2809875"/>
          </a:xfrm>
          <a:custGeom>
            <a:avLst/>
            <a:gdLst>
              <a:gd name="T0" fmla="*/ 0 w 985"/>
              <a:gd name="T1" fmla="*/ 0 h 1770"/>
              <a:gd name="T2" fmla="*/ 1852316230 w 985"/>
              <a:gd name="T3" fmla="*/ 1537295313 h 1770"/>
              <a:gd name="T4" fmla="*/ 2147483646 w 985"/>
              <a:gd name="T5" fmla="*/ 2147483646 h 177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85" h="1770">
                <a:moveTo>
                  <a:pt x="0" y="0"/>
                </a:moveTo>
                <a:cubicBezTo>
                  <a:pt x="285" y="157"/>
                  <a:pt x="571" y="315"/>
                  <a:pt x="735" y="610"/>
                </a:cubicBezTo>
                <a:cubicBezTo>
                  <a:pt x="899" y="905"/>
                  <a:pt x="942" y="1337"/>
                  <a:pt x="985" y="177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Freeform 42">
            <a:extLst>
              <a:ext uri="{FF2B5EF4-FFF2-40B4-BE49-F238E27FC236}">
                <a16:creationId xmlns:a16="http://schemas.microsoft.com/office/drawing/2014/main" id="{989C46B9-59A1-4A99-B319-90728E8B4E1F}"/>
              </a:ext>
            </a:extLst>
          </p:cNvPr>
          <p:cNvSpPr>
            <a:spLocks/>
          </p:cNvSpPr>
          <p:nvPr/>
        </p:nvSpPr>
        <p:spPr bwMode="auto">
          <a:xfrm>
            <a:off x="4854575" y="2373313"/>
            <a:ext cx="1352550" cy="3556000"/>
          </a:xfrm>
          <a:custGeom>
            <a:avLst/>
            <a:gdLst>
              <a:gd name="T0" fmla="*/ 2147173125 w 852"/>
              <a:gd name="T1" fmla="*/ 0 h 2240"/>
              <a:gd name="T2" fmla="*/ 357862188 w 852"/>
              <a:gd name="T3" fmla="*/ 2147483646 h 2240"/>
              <a:gd name="T4" fmla="*/ 5040313 w 852"/>
              <a:gd name="T5" fmla="*/ 2147483646 h 22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52" h="2240">
                <a:moveTo>
                  <a:pt x="852" y="0"/>
                </a:moveTo>
                <a:cubicBezTo>
                  <a:pt x="568" y="321"/>
                  <a:pt x="284" y="642"/>
                  <a:pt x="142" y="1015"/>
                </a:cubicBezTo>
                <a:cubicBezTo>
                  <a:pt x="0" y="1388"/>
                  <a:pt x="1" y="1814"/>
                  <a:pt x="2" y="224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Freeform 44">
            <a:extLst>
              <a:ext uri="{FF2B5EF4-FFF2-40B4-BE49-F238E27FC236}">
                <a16:creationId xmlns:a16="http://schemas.microsoft.com/office/drawing/2014/main" id="{93DD1F9D-4F4B-458B-AB4B-1021449B76C9}"/>
              </a:ext>
            </a:extLst>
          </p:cNvPr>
          <p:cNvSpPr>
            <a:spLocks/>
          </p:cNvSpPr>
          <p:nvPr/>
        </p:nvSpPr>
        <p:spPr bwMode="auto">
          <a:xfrm>
            <a:off x="6445250" y="2365375"/>
            <a:ext cx="361950" cy="2928938"/>
          </a:xfrm>
          <a:custGeom>
            <a:avLst/>
            <a:gdLst>
              <a:gd name="T0" fmla="*/ 0 w 228"/>
              <a:gd name="T1" fmla="*/ 0 h 1845"/>
              <a:gd name="T2" fmla="*/ 491431263 w 228"/>
              <a:gd name="T3" fmla="*/ 1839714377 h 1845"/>
              <a:gd name="T4" fmla="*/ 504031250 w 228"/>
              <a:gd name="T5" fmla="*/ 2147483646 h 184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8" h="1845">
                <a:moveTo>
                  <a:pt x="0" y="0"/>
                </a:moveTo>
                <a:cubicBezTo>
                  <a:pt x="81" y="211"/>
                  <a:pt x="162" y="422"/>
                  <a:pt x="195" y="730"/>
                </a:cubicBezTo>
                <a:cubicBezTo>
                  <a:pt x="228" y="1038"/>
                  <a:pt x="214" y="1441"/>
                  <a:pt x="200" y="1845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Rectangle 35">
            <a:extLst>
              <a:ext uri="{FF2B5EF4-FFF2-40B4-BE49-F238E27FC236}">
                <a16:creationId xmlns:a16="http://schemas.microsoft.com/office/drawing/2014/main" id="{46665E86-E2E1-4DDE-AA6A-82F70199D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8" y="1039814"/>
            <a:ext cx="7262812" cy="5818187"/>
          </a:xfrm>
          <a:prstGeom prst="rect">
            <a:avLst/>
          </a:prstGeom>
          <a:solidFill>
            <a:srgbClr val="C0C0C0">
              <a:alpha val="23921"/>
            </a:srgbClr>
          </a:solidFill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6394" name="Rectangle 2">
            <a:extLst>
              <a:ext uri="{FF2B5EF4-FFF2-40B4-BE49-F238E27FC236}">
                <a16:creationId xmlns:a16="http://schemas.microsoft.com/office/drawing/2014/main" id="{C750D81D-FDFB-4D5D-85B3-3281C26918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0863" y="-38100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/>
              <a:t>Lights, Camera, Façade!</a:t>
            </a:r>
          </a:p>
        </p:txBody>
      </p:sp>
      <p:sp>
        <p:nvSpPr>
          <p:cNvPr id="16395" name="Text Box 4">
            <a:extLst>
              <a:ext uri="{FF2B5EF4-FFF2-40B4-BE49-F238E27FC236}">
                <a16:creationId xmlns:a16="http://schemas.microsoft.com/office/drawing/2014/main" id="{097B0D4B-422D-4923-823F-392AEFC21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14" y="3052764"/>
            <a:ext cx="1241045" cy="11695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        Tuner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amplifier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on ()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off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setAM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setFM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setFrequency  ( )</a:t>
            </a:r>
          </a:p>
        </p:txBody>
      </p:sp>
      <p:sp>
        <p:nvSpPr>
          <p:cNvPr id="16396" name="Line 5">
            <a:extLst>
              <a:ext uri="{FF2B5EF4-FFF2-40B4-BE49-F238E27FC236}">
                <a16:creationId xmlns:a16="http://schemas.microsoft.com/office/drawing/2014/main" id="{A5DAEDD3-18B5-425C-AFA0-94C54A3D4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6976" y="3267075"/>
            <a:ext cx="1230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7" name="Line 6">
            <a:extLst>
              <a:ext uri="{FF2B5EF4-FFF2-40B4-BE49-F238E27FC236}">
                <a16:creationId xmlns:a16="http://schemas.microsoft.com/office/drawing/2014/main" id="{37D7CF1C-C75A-47E3-A9E0-03C5C5E65C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6976" y="3460750"/>
            <a:ext cx="1230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8" name="Text Box 7">
            <a:extLst>
              <a:ext uri="{FF2B5EF4-FFF2-40B4-BE49-F238E27FC236}">
                <a16:creationId xmlns:a16="http://schemas.microsoft.com/office/drawing/2014/main" id="{DA1509CE-5C57-4800-A3B6-170DD0E1A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9888" y="2514600"/>
            <a:ext cx="1507144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        Amplifier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tuner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dvdPlayer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cdPlayer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on ()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off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setCD(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setDVD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setStereoSound 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setSurroundSound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setTuner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setVolume ( )</a:t>
            </a:r>
          </a:p>
        </p:txBody>
      </p:sp>
      <p:sp>
        <p:nvSpPr>
          <p:cNvPr id="16399" name="Line 8">
            <a:extLst>
              <a:ext uri="{FF2B5EF4-FFF2-40B4-BE49-F238E27FC236}">
                <a16:creationId xmlns:a16="http://schemas.microsoft.com/office/drawing/2014/main" id="{0F465047-682E-4823-8FE4-98E06C8637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54650" y="2720976"/>
            <a:ext cx="1485900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Line 9">
            <a:extLst>
              <a:ext uri="{FF2B5EF4-FFF2-40B4-BE49-F238E27FC236}">
                <a16:creationId xmlns:a16="http://schemas.microsoft.com/office/drawing/2014/main" id="{D61F34B6-2F76-4715-8C37-22CF84913D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301" y="3254375"/>
            <a:ext cx="1489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1" name="Text Box 10">
            <a:extLst>
              <a:ext uri="{FF2B5EF4-FFF2-40B4-BE49-F238E27FC236}">
                <a16:creationId xmlns:a16="http://schemas.microsoft.com/office/drawing/2014/main" id="{6C9646C3-2890-43BD-ACB3-E10FF5D24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3313" y="2911475"/>
            <a:ext cx="1664238" cy="163121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        DvdPlayer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amplifier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on ()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off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eject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pause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play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setSurroundAudio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setTwoChannelAudio 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stop ( )</a:t>
            </a:r>
          </a:p>
        </p:txBody>
      </p:sp>
      <p:sp>
        <p:nvSpPr>
          <p:cNvPr id="16402" name="Line 11">
            <a:extLst>
              <a:ext uri="{FF2B5EF4-FFF2-40B4-BE49-F238E27FC236}">
                <a16:creationId xmlns:a16="http://schemas.microsoft.com/office/drawing/2014/main" id="{7957CCFF-ADC8-4840-909F-13B49CC61B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6013" y="3117851"/>
            <a:ext cx="1655762" cy="11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3" name="Line 12">
            <a:extLst>
              <a:ext uri="{FF2B5EF4-FFF2-40B4-BE49-F238E27FC236}">
                <a16:creationId xmlns:a16="http://schemas.microsoft.com/office/drawing/2014/main" id="{B94A1032-1D34-4390-A2E8-D9CB7C994E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6013" y="3309938"/>
            <a:ext cx="1631950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4" name="Text Box 13">
            <a:extLst>
              <a:ext uri="{FF2B5EF4-FFF2-40B4-BE49-F238E27FC236}">
                <a16:creationId xmlns:a16="http://schemas.microsoft.com/office/drawing/2014/main" id="{7AD82D34-52E1-49B2-9258-C27627CFD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813" y="5305426"/>
            <a:ext cx="1050288" cy="13234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        CdPlayer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amplifier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on ()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off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eject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pause 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play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stop ( ) </a:t>
            </a:r>
          </a:p>
        </p:txBody>
      </p:sp>
      <p:sp>
        <p:nvSpPr>
          <p:cNvPr id="16405" name="Text Box 14">
            <a:extLst>
              <a:ext uri="{FF2B5EF4-FFF2-40B4-BE49-F238E27FC236}">
                <a16:creationId xmlns:a16="http://schemas.microsoft.com/office/drawing/2014/main" id="{39A95934-372F-4F49-B66C-DB3F3D0CE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3313" y="5194301"/>
            <a:ext cx="1412566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        Projector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dvdPlayer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on ()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off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tvMode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wideScreenMode ( )</a:t>
            </a:r>
          </a:p>
        </p:txBody>
      </p:sp>
      <p:sp>
        <p:nvSpPr>
          <p:cNvPr id="16406" name="Text Box 15">
            <a:extLst>
              <a:ext uri="{FF2B5EF4-FFF2-40B4-BE49-F238E27FC236}">
                <a16:creationId xmlns:a16="http://schemas.microsoft.com/office/drawing/2014/main" id="{9B35B486-3D8A-49B5-A4AF-832A4D695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6" y="4768850"/>
            <a:ext cx="954107" cy="55399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        Screen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up  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down ( )</a:t>
            </a:r>
          </a:p>
        </p:txBody>
      </p:sp>
      <p:sp>
        <p:nvSpPr>
          <p:cNvPr id="16407" name="Text Box 16">
            <a:extLst>
              <a:ext uri="{FF2B5EF4-FFF2-40B4-BE49-F238E27FC236}">
                <a16:creationId xmlns:a16="http://schemas.microsoft.com/office/drawing/2014/main" id="{D951BCDA-9A52-4B9D-BBEB-12E5A8DB7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7900" y="5932488"/>
            <a:ext cx="1438214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     PopcornPopper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on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off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pop ( )</a:t>
            </a:r>
          </a:p>
        </p:txBody>
      </p:sp>
      <p:sp>
        <p:nvSpPr>
          <p:cNvPr id="16408" name="Text Box 17">
            <a:extLst>
              <a:ext uri="{FF2B5EF4-FFF2-40B4-BE49-F238E27FC236}">
                <a16:creationId xmlns:a16="http://schemas.microsoft.com/office/drawing/2014/main" id="{BB332DFC-EA18-4D95-BC6E-1F596A691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4918075"/>
            <a:ext cx="1428596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        TheaterLights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on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off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latin typeface="Comic Sans MS" panose="030F0702030302020204" pitchFamily="66" charset="0"/>
              </a:rPr>
              <a:t> dim ( )</a:t>
            </a:r>
          </a:p>
        </p:txBody>
      </p:sp>
      <p:sp>
        <p:nvSpPr>
          <p:cNvPr id="16409" name="Line 18">
            <a:extLst>
              <a:ext uri="{FF2B5EF4-FFF2-40B4-BE49-F238E27FC236}">
                <a16:creationId xmlns:a16="http://schemas.microsoft.com/office/drawing/2014/main" id="{154DAF1D-58EC-4073-B466-DAB7F7B229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63876" y="4951414"/>
            <a:ext cx="962025" cy="7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0" name="Line 19">
            <a:extLst>
              <a:ext uri="{FF2B5EF4-FFF2-40B4-BE49-F238E27FC236}">
                <a16:creationId xmlns:a16="http://schemas.microsoft.com/office/drawing/2014/main" id="{D2E8D943-92DC-488F-AF83-2FED1DBAC2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2188" y="6142038"/>
            <a:ext cx="14017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1" name="Line 20">
            <a:extLst>
              <a:ext uri="{FF2B5EF4-FFF2-40B4-BE49-F238E27FC236}">
                <a16:creationId xmlns:a16="http://schemas.microsoft.com/office/drawing/2014/main" id="{A94D49E9-762E-4D7B-BFC6-44CEBF97C7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2139" y="5106988"/>
            <a:ext cx="1412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2" name="Line 21">
            <a:extLst>
              <a:ext uri="{FF2B5EF4-FFF2-40B4-BE49-F238E27FC236}">
                <a16:creationId xmlns:a16="http://schemas.microsoft.com/office/drawing/2014/main" id="{9121734C-FA32-4293-A5C5-0D87A829F4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4225" y="5521325"/>
            <a:ext cx="1022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3" name="Line 22">
            <a:extLst>
              <a:ext uri="{FF2B5EF4-FFF2-40B4-BE49-F238E27FC236}">
                <a16:creationId xmlns:a16="http://schemas.microsoft.com/office/drawing/2014/main" id="{B7A0E935-D4C3-44FC-9981-6BF4B731C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9464" y="5722938"/>
            <a:ext cx="1062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4" name="Line 23">
            <a:extLst>
              <a:ext uri="{FF2B5EF4-FFF2-40B4-BE49-F238E27FC236}">
                <a16:creationId xmlns:a16="http://schemas.microsoft.com/office/drawing/2014/main" id="{40B3B232-1577-4651-AF03-B3F4DA2F58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6488" y="5400675"/>
            <a:ext cx="1382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5" name="Line 24">
            <a:extLst>
              <a:ext uri="{FF2B5EF4-FFF2-40B4-BE49-F238E27FC236}">
                <a16:creationId xmlns:a16="http://schemas.microsoft.com/office/drawing/2014/main" id="{77A09F1D-E018-42FF-B157-89C7D12571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6488" y="5594350"/>
            <a:ext cx="1416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6" name="Freeform 25">
            <a:extLst>
              <a:ext uri="{FF2B5EF4-FFF2-40B4-BE49-F238E27FC236}">
                <a16:creationId xmlns:a16="http://schemas.microsoft.com/office/drawing/2014/main" id="{AFA80B01-AA46-4517-BFD0-DEBD943A3ECF}"/>
              </a:ext>
            </a:extLst>
          </p:cNvPr>
          <p:cNvSpPr>
            <a:spLocks/>
          </p:cNvSpPr>
          <p:nvPr/>
        </p:nvSpPr>
        <p:spPr bwMode="auto">
          <a:xfrm>
            <a:off x="3419476" y="2679700"/>
            <a:ext cx="2024063" cy="681038"/>
          </a:xfrm>
          <a:custGeom>
            <a:avLst/>
            <a:gdLst>
              <a:gd name="T0" fmla="*/ 364274524 w 1710"/>
              <a:gd name="T1" fmla="*/ 1220559888 h 380"/>
              <a:gd name="T2" fmla="*/ 0 w 1710"/>
              <a:gd name="T3" fmla="*/ 1220559888 h 380"/>
              <a:gd name="T4" fmla="*/ 0 w 1710"/>
              <a:gd name="T5" fmla="*/ 0 h 380"/>
              <a:gd name="T6" fmla="*/ 2147483646 w 1710"/>
              <a:gd name="T7" fmla="*/ 0 h 3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10" h="380">
                <a:moveTo>
                  <a:pt x="260" y="380"/>
                </a:moveTo>
                <a:lnTo>
                  <a:pt x="0" y="380"/>
                </a:lnTo>
                <a:lnTo>
                  <a:pt x="0" y="0"/>
                </a:lnTo>
                <a:lnTo>
                  <a:pt x="1710" y="0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7" name="Freeform 26">
            <a:extLst>
              <a:ext uri="{FF2B5EF4-FFF2-40B4-BE49-F238E27FC236}">
                <a16:creationId xmlns:a16="http://schemas.microsoft.com/office/drawing/2014/main" id="{836E2C0F-2D8B-42B0-9D24-294D7AFA0F30}"/>
              </a:ext>
            </a:extLst>
          </p:cNvPr>
          <p:cNvSpPr>
            <a:spLocks/>
          </p:cNvSpPr>
          <p:nvPr/>
        </p:nvSpPr>
        <p:spPr bwMode="auto">
          <a:xfrm>
            <a:off x="4395788" y="2798763"/>
            <a:ext cx="1047750" cy="220662"/>
          </a:xfrm>
          <a:custGeom>
            <a:avLst/>
            <a:gdLst>
              <a:gd name="T0" fmla="*/ 1240429449 w 885"/>
              <a:gd name="T1" fmla="*/ 0 h 165"/>
              <a:gd name="T2" fmla="*/ 0 w 885"/>
              <a:gd name="T3" fmla="*/ 0 h 165"/>
              <a:gd name="T4" fmla="*/ 0 w 885"/>
              <a:gd name="T5" fmla="*/ 295101323 h 16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85" h="165">
                <a:moveTo>
                  <a:pt x="885" y="0"/>
                </a:moveTo>
                <a:lnTo>
                  <a:pt x="0" y="0"/>
                </a:lnTo>
                <a:lnTo>
                  <a:pt x="0" y="165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8" name="Freeform 27">
            <a:extLst>
              <a:ext uri="{FF2B5EF4-FFF2-40B4-BE49-F238E27FC236}">
                <a16:creationId xmlns:a16="http://schemas.microsoft.com/office/drawing/2014/main" id="{F8BE2594-4505-4A38-B643-75C41FE4BB6C}"/>
              </a:ext>
            </a:extLst>
          </p:cNvPr>
          <p:cNvSpPr>
            <a:spLocks/>
          </p:cNvSpPr>
          <p:nvPr/>
        </p:nvSpPr>
        <p:spPr bwMode="auto">
          <a:xfrm>
            <a:off x="6931026" y="3146425"/>
            <a:ext cx="169863" cy="2281238"/>
          </a:xfrm>
          <a:custGeom>
            <a:avLst/>
            <a:gdLst>
              <a:gd name="T0" fmla="*/ 0 w 150"/>
              <a:gd name="T1" fmla="*/ 0 h 1700"/>
              <a:gd name="T2" fmla="*/ 192356258 w 150"/>
              <a:gd name="T3" fmla="*/ 0 h 1700"/>
              <a:gd name="T4" fmla="*/ 192356258 w 150"/>
              <a:gd name="T5" fmla="*/ 2147483646 h 1700"/>
              <a:gd name="T6" fmla="*/ 12823524 w 150"/>
              <a:gd name="T7" fmla="*/ 2147483646 h 17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0" h="1700">
                <a:moveTo>
                  <a:pt x="0" y="0"/>
                </a:moveTo>
                <a:lnTo>
                  <a:pt x="150" y="0"/>
                </a:lnTo>
                <a:lnTo>
                  <a:pt x="150" y="1700"/>
                </a:lnTo>
                <a:lnTo>
                  <a:pt x="10" y="1700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9" name="Freeform 28">
            <a:extLst>
              <a:ext uri="{FF2B5EF4-FFF2-40B4-BE49-F238E27FC236}">
                <a16:creationId xmlns:a16="http://schemas.microsoft.com/office/drawing/2014/main" id="{D4F60734-8430-4FD3-8ABE-93982D271A63}"/>
              </a:ext>
            </a:extLst>
          </p:cNvPr>
          <p:cNvSpPr>
            <a:spLocks/>
          </p:cNvSpPr>
          <p:nvPr/>
        </p:nvSpPr>
        <p:spPr bwMode="auto">
          <a:xfrm>
            <a:off x="6900864" y="2592389"/>
            <a:ext cx="134937" cy="3063875"/>
          </a:xfrm>
          <a:custGeom>
            <a:avLst/>
            <a:gdLst>
              <a:gd name="T0" fmla="*/ 4945585 w 235"/>
              <a:gd name="T1" fmla="*/ 2147483646 h 2285"/>
              <a:gd name="T2" fmla="*/ 77480825 w 235"/>
              <a:gd name="T3" fmla="*/ 2147483646 h 2285"/>
              <a:gd name="T4" fmla="*/ 77480825 w 235"/>
              <a:gd name="T5" fmla="*/ 0 h 2285"/>
              <a:gd name="T6" fmla="*/ 0 w 235"/>
              <a:gd name="T7" fmla="*/ 0 h 228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35" h="2285">
                <a:moveTo>
                  <a:pt x="15" y="2285"/>
                </a:moveTo>
                <a:lnTo>
                  <a:pt x="235" y="2285"/>
                </a:lnTo>
                <a:lnTo>
                  <a:pt x="235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20" name="Freeform 29">
            <a:extLst>
              <a:ext uri="{FF2B5EF4-FFF2-40B4-BE49-F238E27FC236}">
                <a16:creationId xmlns:a16="http://schemas.microsoft.com/office/drawing/2014/main" id="{864E987B-8399-4BC7-B731-7EB6433AC871}"/>
              </a:ext>
            </a:extLst>
          </p:cNvPr>
          <p:cNvSpPr>
            <a:spLocks/>
          </p:cNvSpPr>
          <p:nvPr/>
        </p:nvSpPr>
        <p:spPr bwMode="auto">
          <a:xfrm>
            <a:off x="6946900" y="2532063"/>
            <a:ext cx="609600" cy="360362"/>
          </a:xfrm>
          <a:custGeom>
            <a:avLst/>
            <a:gdLst>
              <a:gd name="T0" fmla="*/ 0 w 670"/>
              <a:gd name="T1" fmla="*/ 0 h 270"/>
              <a:gd name="T2" fmla="*/ 442888048 w 670"/>
              <a:gd name="T3" fmla="*/ 0 h 270"/>
              <a:gd name="T4" fmla="*/ 554645015 w 670"/>
              <a:gd name="T5" fmla="*/ 0 h 270"/>
              <a:gd name="T6" fmla="*/ 554645015 w 670"/>
              <a:gd name="T7" fmla="*/ 480965819 h 27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70" h="270">
                <a:moveTo>
                  <a:pt x="0" y="0"/>
                </a:moveTo>
                <a:lnTo>
                  <a:pt x="535" y="0"/>
                </a:lnTo>
                <a:lnTo>
                  <a:pt x="670" y="0"/>
                </a:lnTo>
                <a:lnTo>
                  <a:pt x="670" y="270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21" name="Freeform 30">
            <a:extLst>
              <a:ext uri="{FF2B5EF4-FFF2-40B4-BE49-F238E27FC236}">
                <a16:creationId xmlns:a16="http://schemas.microsoft.com/office/drawing/2014/main" id="{8AB535D5-BD00-4B59-95F9-F2C0F0F87F59}"/>
              </a:ext>
            </a:extLst>
          </p:cNvPr>
          <p:cNvSpPr>
            <a:spLocks/>
          </p:cNvSpPr>
          <p:nvPr/>
        </p:nvSpPr>
        <p:spPr bwMode="auto">
          <a:xfrm>
            <a:off x="6954838" y="2701926"/>
            <a:ext cx="495300" cy="512763"/>
          </a:xfrm>
          <a:custGeom>
            <a:avLst/>
            <a:gdLst>
              <a:gd name="T0" fmla="*/ 422969121 w 580"/>
              <a:gd name="T1" fmla="*/ 611455568 h 430"/>
              <a:gd name="T2" fmla="*/ 266178490 w 580"/>
              <a:gd name="T3" fmla="*/ 611455568 h 430"/>
              <a:gd name="T4" fmla="*/ 266178490 w 580"/>
              <a:gd name="T5" fmla="*/ 0 h 430"/>
              <a:gd name="T6" fmla="*/ 0 w 580"/>
              <a:gd name="T7" fmla="*/ 0 h 43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80" h="430">
                <a:moveTo>
                  <a:pt x="580" y="430"/>
                </a:moveTo>
                <a:lnTo>
                  <a:pt x="365" y="430"/>
                </a:lnTo>
                <a:lnTo>
                  <a:pt x="365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22" name="Freeform 31">
            <a:extLst>
              <a:ext uri="{FF2B5EF4-FFF2-40B4-BE49-F238E27FC236}">
                <a16:creationId xmlns:a16="http://schemas.microsoft.com/office/drawing/2014/main" id="{5F142133-9E1C-48B9-90A2-E0ED1E885A05}"/>
              </a:ext>
            </a:extLst>
          </p:cNvPr>
          <p:cNvSpPr>
            <a:spLocks/>
          </p:cNvSpPr>
          <p:nvPr/>
        </p:nvSpPr>
        <p:spPr bwMode="auto">
          <a:xfrm>
            <a:off x="8886826" y="3052764"/>
            <a:ext cx="733425" cy="2447925"/>
          </a:xfrm>
          <a:custGeom>
            <a:avLst/>
            <a:gdLst>
              <a:gd name="T0" fmla="*/ 0 w 620"/>
              <a:gd name="T1" fmla="*/ 2147483646 h 1830"/>
              <a:gd name="T2" fmla="*/ 867600372 w 620"/>
              <a:gd name="T3" fmla="*/ 2147483646 h 1830"/>
              <a:gd name="T4" fmla="*/ 867600372 w 620"/>
              <a:gd name="T5" fmla="*/ 0 h 1830"/>
              <a:gd name="T6" fmla="*/ 265877209 w 620"/>
              <a:gd name="T7" fmla="*/ 0 h 183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20" h="1830">
                <a:moveTo>
                  <a:pt x="0" y="1830"/>
                </a:moveTo>
                <a:lnTo>
                  <a:pt x="620" y="1830"/>
                </a:lnTo>
                <a:lnTo>
                  <a:pt x="620" y="0"/>
                </a:lnTo>
                <a:lnTo>
                  <a:pt x="190" y="0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23" name="Text Box 33">
            <a:extLst>
              <a:ext uri="{FF2B5EF4-FFF2-40B4-BE49-F238E27FC236}">
                <a16:creationId xmlns:a16="http://schemas.microsoft.com/office/drawing/2014/main" id="{E280F8A7-59FC-4AD3-84A6-C2242A3F4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89" y="785814"/>
            <a:ext cx="1911101" cy="138499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    HomeTheaterFacade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watchMovie  ()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endMovie 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listenToCD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endCD 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listenToRadio  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endRadio ( )</a:t>
            </a:r>
          </a:p>
        </p:txBody>
      </p:sp>
      <p:sp>
        <p:nvSpPr>
          <p:cNvPr id="16424" name="Line 34">
            <a:extLst>
              <a:ext uri="{FF2B5EF4-FFF2-40B4-BE49-F238E27FC236}">
                <a16:creationId xmlns:a16="http://schemas.microsoft.com/office/drawing/2014/main" id="{C21B0976-A395-4918-90FA-81B53FFE9A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5439" y="1055688"/>
            <a:ext cx="192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25" name="Freeform 37">
            <a:extLst>
              <a:ext uri="{FF2B5EF4-FFF2-40B4-BE49-F238E27FC236}">
                <a16:creationId xmlns:a16="http://schemas.microsoft.com/office/drawing/2014/main" id="{7AE8AFFD-473B-4121-AA82-FE9A5B7E98FF}"/>
              </a:ext>
            </a:extLst>
          </p:cNvPr>
          <p:cNvSpPr>
            <a:spLocks/>
          </p:cNvSpPr>
          <p:nvPr/>
        </p:nvSpPr>
        <p:spPr bwMode="auto">
          <a:xfrm>
            <a:off x="6302375" y="2365376"/>
            <a:ext cx="7938" cy="142875"/>
          </a:xfrm>
          <a:custGeom>
            <a:avLst/>
            <a:gdLst>
              <a:gd name="T0" fmla="*/ 0 w 5"/>
              <a:gd name="T1" fmla="*/ 0 h 90"/>
              <a:gd name="T2" fmla="*/ 12602369 w 5"/>
              <a:gd name="T3" fmla="*/ 226814063 h 9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" h="90">
                <a:moveTo>
                  <a:pt x="0" y="0"/>
                </a:moveTo>
                <a:cubicBezTo>
                  <a:pt x="0" y="0"/>
                  <a:pt x="2" y="45"/>
                  <a:pt x="5" y="9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26" name="Text Box 45">
            <a:extLst>
              <a:ext uri="{FF2B5EF4-FFF2-40B4-BE49-F238E27FC236}">
                <a16:creationId xmlns:a16="http://schemas.microsoft.com/office/drawing/2014/main" id="{88B45AA1-D3D3-434A-991D-AF69B0100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849314"/>
            <a:ext cx="30178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100FE"/>
                </a:solidFill>
                <a:latin typeface="Comic Sans MS" panose="030F0702030302020204" pitchFamily="66" charset="0"/>
              </a:rPr>
              <a:t>(1) Create a Façade for the HomeTheater which exposes a few simple methods such as watchMovie ( )</a:t>
            </a:r>
          </a:p>
        </p:txBody>
      </p:sp>
      <p:sp>
        <p:nvSpPr>
          <p:cNvPr id="16427" name="Text Box 46">
            <a:extLst>
              <a:ext uri="{FF2B5EF4-FFF2-40B4-BE49-F238E27FC236}">
                <a16:creationId xmlns:a16="http://schemas.microsoft.com/office/drawing/2014/main" id="{DFF455D3-F5E7-45F7-A9B9-2596C417A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1264" y="898526"/>
            <a:ext cx="30178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100FE"/>
                </a:solidFill>
                <a:latin typeface="Comic Sans MS" panose="030F0702030302020204" pitchFamily="66" charset="0"/>
              </a:rPr>
              <a:t>(2) The Façade treats the home theater components as its subsystem, and calls on the subsystem to implement its watchMovie ( ) method.</a:t>
            </a:r>
          </a:p>
        </p:txBody>
      </p:sp>
      <p:sp>
        <p:nvSpPr>
          <p:cNvPr id="16428" name="Freeform 47">
            <a:extLst>
              <a:ext uri="{FF2B5EF4-FFF2-40B4-BE49-F238E27FC236}">
                <a16:creationId xmlns:a16="http://schemas.microsoft.com/office/drawing/2014/main" id="{DA978685-E9CA-443D-8715-3E1D2D177C15}"/>
              </a:ext>
            </a:extLst>
          </p:cNvPr>
          <p:cNvSpPr>
            <a:spLocks/>
          </p:cNvSpPr>
          <p:nvPr/>
        </p:nvSpPr>
        <p:spPr bwMode="auto">
          <a:xfrm>
            <a:off x="2071688" y="5048250"/>
            <a:ext cx="500062" cy="198438"/>
          </a:xfrm>
          <a:custGeom>
            <a:avLst/>
            <a:gdLst>
              <a:gd name="T0" fmla="*/ 0 w 315"/>
              <a:gd name="T1" fmla="*/ 315021119 h 125"/>
              <a:gd name="T2" fmla="*/ 163809199 w 315"/>
              <a:gd name="T3" fmla="*/ 12601607 h 125"/>
              <a:gd name="T4" fmla="*/ 541832258 w 315"/>
              <a:gd name="T5" fmla="*/ 239416241 h 125"/>
              <a:gd name="T6" fmla="*/ 793847631 w 315"/>
              <a:gd name="T7" fmla="*/ 126008130 h 12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15" h="125">
                <a:moveTo>
                  <a:pt x="0" y="125"/>
                </a:moveTo>
                <a:cubicBezTo>
                  <a:pt x="14" y="67"/>
                  <a:pt x="29" y="10"/>
                  <a:pt x="65" y="5"/>
                </a:cubicBezTo>
                <a:cubicBezTo>
                  <a:pt x="101" y="0"/>
                  <a:pt x="173" y="88"/>
                  <a:pt x="215" y="95"/>
                </a:cubicBezTo>
                <a:cubicBezTo>
                  <a:pt x="257" y="102"/>
                  <a:pt x="286" y="76"/>
                  <a:pt x="315" y="5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29" name="Text Box 48">
            <a:extLst>
              <a:ext uri="{FF2B5EF4-FFF2-40B4-BE49-F238E27FC236}">
                <a16:creationId xmlns:a16="http://schemas.microsoft.com/office/drawing/2014/main" id="{076E270E-A5EA-4653-8C5E-83F0A94CF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50" y="5184776"/>
            <a:ext cx="13033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100FE"/>
                </a:solidFill>
                <a:latin typeface="Comic Sans MS" panose="030F0702030302020204" pitchFamily="66" charset="0"/>
              </a:rPr>
              <a:t>The subsystem the façade is simplifying.</a:t>
            </a:r>
          </a:p>
        </p:txBody>
      </p:sp>
      <p:sp>
        <p:nvSpPr>
          <p:cNvPr id="16430" name="Text Box 49">
            <a:extLst>
              <a:ext uri="{FF2B5EF4-FFF2-40B4-BE49-F238E27FC236}">
                <a16:creationId xmlns:a16="http://schemas.microsoft.com/office/drawing/2014/main" id="{873C8966-CA49-4B13-89BC-C8BF63B96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825" y="2493964"/>
            <a:ext cx="17081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100FE"/>
                </a:solidFill>
                <a:latin typeface="Comic Sans MS" panose="030F0702030302020204" pitchFamily="66" charset="0"/>
              </a:rPr>
              <a:t>(3) The Client now calls methods on the façade and not on the subsystem.</a:t>
            </a:r>
          </a:p>
        </p:txBody>
      </p:sp>
      <p:sp>
        <p:nvSpPr>
          <p:cNvPr id="16431" name="Text Box 50">
            <a:extLst>
              <a:ext uri="{FF2B5EF4-FFF2-40B4-BE49-F238E27FC236}">
                <a16:creationId xmlns:a16="http://schemas.microsoft.com/office/drawing/2014/main" id="{2AC35E32-57D0-41B2-8015-AB9E3A685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0888" y="2128839"/>
            <a:ext cx="22161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100FE"/>
                </a:solidFill>
                <a:latin typeface="Comic Sans MS" panose="030F0702030302020204" pitchFamily="66" charset="0"/>
              </a:rPr>
              <a:t>(4) The Façade still leaves the subsystem accessible to be used directly.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D8AB097-FC57-453F-8B4B-AD326A29DE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51426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The Façade Defined</a:t>
            </a:r>
          </a:p>
        </p:txBody>
      </p:sp>
      <p:sp>
        <p:nvSpPr>
          <p:cNvPr id="17411" name="Text Box 5">
            <a:extLst>
              <a:ext uri="{FF2B5EF4-FFF2-40B4-BE49-F238E27FC236}">
                <a16:creationId xmlns:a16="http://schemas.microsoft.com/office/drawing/2014/main" id="{24711018-708E-47EE-A399-5201E06CC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2426" y="1147763"/>
            <a:ext cx="8956675" cy="711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/>
              <a:t>The </a:t>
            </a:r>
            <a:r>
              <a:rPr lang="en-US" altLang="en-US" sz="2000" b="1" dirty="0"/>
              <a:t>Façade Pattern</a:t>
            </a:r>
            <a:r>
              <a:rPr lang="en-US" altLang="en-US" sz="2000" dirty="0"/>
              <a:t> provides a unified interface to a set of interfaces in a </a:t>
            </a:r>
            <a:r>
              <a:rPr lang="en-US" altLang="en-US" sz="2000" dirty="0" err="1"/>
              <a:t>subsytem</a:t>
            </a:r>
            <a:r>
              <a:rPr lang="en-US" altLang="en-US" sz="2000" dirty="0"/>
              <a:t>. Façade defines a higher-level interface that makes the subsystem easier to use.</a:t>
            </a:r>
          </a:p>
        </p:txBody>
      </p:sp>
      <p:sp>
        <p:nvSpPr>
          <p:cNvPr id="17412" name="Text Box 6">
            <a:extLst>
              <a:ext uri="{FF2B5EF4-FFF2-40B4-BE49-F238E27FC236}">
                <a16:creationId xmlns:a16="http://schemas.microsoft.com/office/drawing/2014/main" id="{FDDCD89D-7EC7-4F21-BE19-2B61D8100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0" y="2268539"/>
            <a:ext cx="9540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  </a:t>
            </a:r>
          </a:p>
        </p:txBody>
      </p:sp>
      <p:sp>
        <p:nvSpPr>
          <p:cNvPr id="17413" name="Text Box 7">
            <a:extLst>
              <a:ext uri="{FF2B5EF4-FFF2-40B4-BE49-F238E27FC236}">
                <a16:creationId xmlns:a16="http://schemas.microsoft.com/office/drawing/2014/main" id="{40CB5D6B-C8AC-48B8-BEFA-A91357EB8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88" y="2293939"/>
            <a:ext cx="779462" cy="3077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 Client </a:t>
            </a:r>
          </a:p>
        </p:txBody>
      </p:sp>
      <p:sp>
        <p:nvSpPr>
          <p:cNvPr id="17414" name="Text Box 8">
            <a:extLst>
              <a:ext uri="{FF2B5EF4-FFF2-40B4-BE49-F238E27FC236}">
                <a16:creationId xmlns:a16="http://schemas.microsoft.com/office/drawing/2014/main" id="{A14C2825-A8F6-4DED-9C22-F3A89D0CB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4" y="2293939"/>
            <a:ext cx="835025" cy="3077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 Facade </a:t>
            </a:r>
          </a:p>
        </p:txBody>
      </p:sp>
      <p:grpSp>
        <p:nvGrpSpPr>
          <p:cNvPr id="17415" name="Group 23">
            <a:extLst>
              <a:ext uri="{FF2B5EF4-FFF2-40B4-BE49-F238E27FC236}">
                <a16:creationId xmlns:a16="http://schemas.microsoft.com/office/drawing/2014/main" id="{69171AD7-BAE9-4B56-9554-571880E648BF}"/>
              </a:ext>
            </a:extLst>
          </p:cNvPr>
          <p:cNvGrpSpPr>
            <a:grpSpLocks/>
          </p:cNvGrpSpPr>
          <p:nvPr/>
        </p:nvGrpSpPr>
        <p:grpSpPr bwMode="auto">
          <a:xfrm>
            <a:off x="5000626" y="3246438"/>
            <a:ext cx="3738563" cy="3103562"/>
            <a:chOff x="1405" y="2125"/>
            <a:chExt cx="2355" cy="1955"/>
          </a:xfrm>
        </p:grpSpPr>
        <p:sp>
          <p:nvSpPr>
            <p:cNvPr id="17425" name="Rectangle 9">
              <a:extLst>
                <a:ext uri="{FF2B5EF4-FFF2-40B4-BE49-F238E27FC236}">
                  <a16:creationId xmlns:a16="http://schemas.microsoft.com/office/drawing/2014/main" id="{D831B994-80EB-494E-8310-556F9CF0E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" y="2125"/>
              <a:ext cx="2355" cy="1955"/>
            </a:xfrm>
            <a:prstGeom prst="rect">
              <a:avLst/>
            </a:prstGeom>
            <a:solidFill>
              <a:schemeClr val="bg2">
                <a:alpha val="3098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7426" name="Rectangle 10">
              <a:extLst>
                <a:ext uri="{FF2B5EF4-FFF2-40B4-BE49-F238E27FC236}">
                  <a16:creationId xmlns:a16="http://schemas.microsoft.com/office/drawing/2014/main" id="{DD77BFC8-7FB3-42A1-8256-2E60277AE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" y="2350"/>
              <a:ext cx="620" cy="2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7427" name="Rectangle 11">
              <a:extLst>
                <a:ext uri="{FF2B5EF4-FFF2-40B4-BE49-F238E27FC236}">
                  <a16:creationId xmlns:a16="http://schemas.microsoft.com/office/drawing/2014/main" id="{923D7E6C-F0AA-45F1-BA57-265D075D3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6" y="2611"/>
              <a:ext cx="620" cy="2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7428" name="Rectangle 12">
              <a:extLst>
                <a:ext uri="{FF2B5EF4-FFF2-40B4-BE49-F238E27FC236}">
                  <a16:creationId xmlns:a16="http://schemas.microsoft.com/office/drawing/2014/main" id="{BF1BAC43-D0ED-48B7-B7C0-1C3527C3B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1" y="2981"/>
              <a:ext cx="620" cy="2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7429" name="Rectangle 13">
              <a:extLst>
                <a:ext uri="{FF2B5EF4-FFF2-40B4-BE49-F238E27FC236}">
                  <a16:creationId xmlns:a16="http://schemas.microsoft.com/office/drawing/2014/main" id="{16415C1C-C3C5-460A-80B2-8AE749BA5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" y="3190"/>
              <a:ext cx="620" cy="2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7430" name="Rectangle 14">
              <a:extLst>
                <a:ext uri="{FF2B5EF4-FFF2-40B4-BE49-F238E27FC236}">
                  <a16:creationId xmlns:a16="http://schemas.microsoft.com/office/drawing/2014/main" id="{378F9FAA-9A69-4575-8A64-893B8C203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5" y="3610"/>
              <a:ext cx="620" cy="2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7431" name="Rectangle 15">
              <a:extLst>
                <a:ext uri="{FF2B5EF4-FFF2-40B4-BE49-F238E27FC236}">
                  <a16:creationId xmlns:a16="http://schemas.microsoft.com/office/drawing/2014/main" id="{84688EE5-EFD2-4EA1-B89D-4D9119AF5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0" y="3610"/>
              <a:ext cx="620" cy="2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7432" name="Line 16">
              <a:extLst>
                <a:ext uri="{FF2B5EF4-FFF2-40B4-BE49-F238E27FC236}">
                  <a16:creationId xmlns:a16="http://schemas.microsoft.com/office/drawing/2014/main" id="{9264AFC1-3686-49E5-9CBE-607E9E0B95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30" y="2585"/>
              <a:ext cx="380" cy="3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3" name="Line 17">
              <a:extLst>
                <a:ext uri="{FF2B5EF4-FFF2-40B4-BE49-F238E27FC236}">
                  <a16:creationId xmlns:a16="http://schemas.microsoft.com/office/drawing/2014/main" id="{142F9897-F95E-4305-A796-8678A9F95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0" y="2450"/>
              <a:ext cx="540" cy="2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4" name="Line 18">
              <a:extLst>
                <a:ext uri="{FF2B5EF4-FFF2-40B4-BE49-F238E27FC236}">
                  <a16:creationId xmlns:a16="http://schemas.microsoft.com/office/drawing/2014/main" id="{C93E86B1-3F8C-4977-8F0C-5EA115A4F1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50" y="2845"/>
              <a:ext cx="450" cy="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5" name="Line 19">
              <a:extLst>
                <a:ext uri="{FF2B5EF4-FFF2-40B4-BE49-F238E27FC236}">
                  <a16:creationId xmlns:a16="http://schemas.microsoft.com/office/drawing/2014/main" id="{73871C79-2E0D-41AB-B69D-53309F00B8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5" y="3325"/>
              <a:ext cx="420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6" name="Line 20">
              <a:extLst>
                <a:ext uri="{FF2B5EF4-FFF2-40B4-BE49-F238E27FC236}">
                  <a16:creationId xmlns:a16="http://schemas.microsoft.com/office/drawing/2014/main" id="{1C3CEBEF-A916-4498-AF9D-EB063C2596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5" y="3220"/>
              <a:ext cx="235" cy="3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7" name="Line 21">
              <a:extLst>
                <a:ext uri="{FF2B5EF4-FFF2-40B4-BE49-F238E27FC236}">
                  <a16:creationId xmlns:a16="http://schemas.microsoft.com/office/drawing/2014/main" id="{6DF48599-AFBB-40F5-85CE-C2A28B6F1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" y="3210"/>
              <a:ext cx="1175" cy="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8" name="Line 22">
              <a:extLst>
                <a:ext uri="{FF2B5EF4-FFF2-40B4-BE49-F238E27FC236}">
                  <a16:creationId xmlns:a16="http://schemas.microsoft.com/office/drawing/2014/main" id="{551B90DD-9722-42B5-8CEC-96CFC503D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0" y="3430"/>
              <a:ext cx="255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16" name="Line 24">
            <a:extLst>
              <a:ext uri="{FF2B5EF4-FFF2-40B4-BE49-F238E27FC236}">
                <a16:creationId xmlns:a16="http://schemas.microsoft.com/office/drawing/2014/main" id="{62E638D0-38E4-4909-8FC5-2F63AA4CA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1" y="2436813"/>
            <a:ext cx="2627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7" name="Line 25">
            <a:extLst>
              <a:ext uri="{FF2B5EF4-FFF2-40B4-BE49-F238E27FC236}">
                <a16:creationId xmlns:a16="http://schemas.microsoft.com/office/drawing/2014/main" id="{BA189634-BA6E-4D11-AF67-E2A900E478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5063" y="2651125"/>
            <a:ext cx="508000" cy="960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8" name="Line 26">
            <a:extLst>
              <a:ext uri="{FF2B5EF4-FFF2-40B4-BE49-F238E27FC236}">
                <a16:creationId xmlns:a16="http://schemas.microsoft.com/office/drawing/2014/main" id="{3A09313E-3537-414E-BBDA-288C090FF2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5625" y="2643189"/>
            <a:ext cx="1143000" cy="1381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9" name="Freeform 27">
            <a:extLst>
              <a:ext uri="{FF2B5EF4-FFF2-40B4-BE49-F238E27FC236}">
                <a16:creationId xmlns:a16="http://schemas.microsoft.com/office/drawing/2014/main" id="{EEA82145-7A8F-4062-A425-53CFE446F665}"/>
              </a:ext>
            </a:extLst>
          </p:cNvPr>
          <p:cNvSpPr>
            <a:spLocks/>
          </p:cNvSpPr>
          <p:nvPr/>
        </p:nvSpPr>
        <p:spPr bwMode="auto">
          <a:xfrm>
            <a:off x="7278689" y="1917701"/>
            <a:ext cx="1317625" cy="296863"/>
          </a:xfrm>
          <a:custGeom>
            <a:avLst/>
            <a:gdLst>
              <a:gd name="T0" fmla="*/ 2091729688 w 830"/>
              <a:gd name="T1" fmla="*/ 446069201 h 187"/>
              <a:gd name="T2" fmla="*/ 1008062500 w 830"/>
              <a:gd name="T3" fmla="*/ 5040321 h 187"/>
              <a:gd name="T4" fmla="*/ 0 w 830"/>
              <a:gd name="T5" fmla="*/ 471270806 h 18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30" h="187">
                <a:moveTo>
                  <a:pt x="830" y="177"/>
                </a:moveTo>
                <a:cubicBezTo>
                  <a:pt x="684" y="88"/>
                  <a:pt x="538" y="0"/>
                  <a:pt x="400" y="2"/>
                </a:cubicBezTo>
                <a:cubicBezTo>
                  <a:pt x="262" y="4"/>
                  <a:pt x="131" y="95"/>
                  <a:pt x="0" y="18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0" name="Freeform 28">
            <a:extLst>
              <a:ext uri="{FF2B5EF4-FFF2-40B4-BE49-F238E27FC236}">
                <a16:creationId xmlns:a16="http://schemas.microsoft.com/office/drawing/2014/main" id="{7C02030E-22DC-40DE-A62A-851A80B6E440}"/>
              </a:ext>
            </a:extLst>
          </p:cNvPr>
          <p:cNvSpPr>
            <a:spLocks/>
          </p:cNvSpPr>
          <p:nvPr/>
        </p:nvSpPr>
        <p:spPr bwMode="auto">
          <a:xfrm>
            <a:off x="2413000" y="2171701"/>
            <a:ext cx="635000" cy="42863"/>
          </a:xfrm>
          <a:custGeom>
            <a:avLst/>
            <a:gdLst>
              <a:gd name="T0" fmla="*/ 0 w 565"/>
              <a:gd name="T1" fmla="*/ 0 h 115"/>
              <a:gd name="T2" fmla="*/ 416835354 w 565"/>
              <a:gd name="T3" fmla="*/ 3473021 h 115"/>
              <a:gd name="T4" fmla="*/ 713672566 w 565"/>
              <a:gd name="T5" fmla="*/ 15975972 h 11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65" h="115">
                <a:moveTo>
                  <a:pt x="0" y="0"/>
                </a:moveTo>
                <a:cubicBezTo>
                  <a:pt x="118" y="3"/>
                  <a:pt x="236" y="6"/>
                  <a:pt x="330" y="25"/>
                </a:cubicBezTo>
                <a:cubicBezTo>
                  <a:pt x="424" y="44"/>
                  <a:pt x="494" y="79"/>
                  <a:pt x="565" y="11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1" name="Freeform 29">
            <a:extLst>
              <a:ext uri="{FF2B5EF4-FFF2-40B4-BE49-F238E27FC236}">
                <a16:creationId xmlns:a16="http://schemas.microsoft.com/office/drawing/2014/main" id="{0020B1D4-22E6-4F05-B6C1-43BED75BE931}"/>
              </a:ext>
            </a:extLst>
          </p:cNvPr>
          <p:cNvSpPr>
            <a:spLocks/>
          </p:cNvSpPr>
          <p:nvPr/>
        </p:nvSpPr>
        <p:spPr bwMode="auto">
          <a:xfrm>
            <a:off x="3857626" y="3556000"/>
            <a:ext cx="1135063" cy="484188"/>
          </a:xfrm>
          <a:custGeom>
            <a:avLst/>
            <a:gdLst>
              <a:gd name="T0" fmla="*/ 0 w 715"/>
              <a:gd name="T1" fmla="*/ 768649244 h 305"/>
              <a:gd name="T2" fmla="*/ 617439347 w 715"/>
              <a:gd name="T3" fmla="*/ 302419062 h 305"/>
              <a:gd name="T4" fmla="*/ 1801913306 w 715"/>
              <a:gd name="T5" fmla="*/ 0 h 30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5" h="305">
                <a:moveTo>
                  <a:pt x="0" y="305"/>
                </a:moveTo>
                <a:cubicBezTo>
                  <a:pt x="63" y="238"/>
                  <a:pt x="126" y="171"/>
                  <a:pt x="245" y="120"/>
                </a:cubicBezTo>
                <a:cubicBezTo>
                  <a:pt x="364" y="69"/>
                  <a:pt x="539" y="34"/>
                  <a:pt x="715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2" name="Text Box 30">
            <a:extLst>
              <a:ext uri="{FF2B5EF4-FFF2-40B4-BE49-F238E27FC236}">
                <a16:creationId xmlns:a16="http://schemas.microsoft.com/office/drawing/2014/main" id="{A5CA53D2-235F-4B5A-88B7-4C3A94C85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489" y="2190751"/>
            <a:ext cx="124142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100FE"/>
                </a:solidFill>
                <a:latin typeface="Comic Sans MS" panose="030F0702030302020204" pitchFamily="66" charset="0"/>
              </a:rPr>
              <a:t>Happy client whose job just became easier because of the façade.</a:t>
            </a:r>
          </a:p>
        </p:txBody>
      </p:sp>
      <p:sp>
        <p:nvSpPr>
          <p:cNvPr id="17423" name="Text Box 31">
            <a:extLst>
              <a:ext uri="{FF2B5EF4-FFF2-40B4-BE49-F238E27FC236}">
                <a16:creationId xmlns:a16="http://schemas.microsoft.com/office/drawing/2014/main" id="{AFB08954-AB6D-4157-954C-992703A1E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889" y="1978026"/>
            <a:ext cx="16779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100FE"/>
                </a:solidFill>
                <a:latin typeface="Comic Sans MS" panose="030F0702030302020204" pitchFamily="66" charset="0"/>
              </a:rPr>
              <a:t>Unified interface that is easier to use.</a:t>
            </a:r>
          </a:p>
        </p:txBody>
      </p:sp>
      <p:sp>
        <p:nvSpPr>
          <p:cNvPr id="17424" name="Text Box 32">
            <a:extLst>
              <a:ext uri="{FF2B5EF4-FFF2-40B4-BE49-F238E27FC236}">
                <a16:creationId xmlns:a16="http://schemas.microsoft.com/office/drawing/2014/main" id="{9609F68E-8FB4-46D2-A3DE-4CAD36E75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264" y="4073526"/>
            <a:ext cx="212248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100FE"/>
                </a:solidFill>
                <a:latin typeface="Comic Sans MS" panose="030F0702030302020204" pitchFamily="66" charset="0"/>
              </a:rPr>
              <a:t>More complex subsystem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890B952-3797-40D0-B74E-716DB4A6C7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Design Principle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CFAC23D-94C4-40DA-BCD5-9F09B7886C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Principle of Least Knowledge - talk only to your immediate friends!</a:t>
            </a:r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What does it mean?</a:t>
            </a:r>
          </a:p>
          <a:p>
            <a:pPr lvl="1" eaLnBrk="1" hangingPunct="1"/>
            <a:r>
              <a:rPr lang="en-US" altLang="en-US" sz="2000"/>
              <a:t>When designing a system, for any object, be careful of the number of classes it interacts with and also how it comes to interact with those classes.</a:t>
            </a:r>
          </a:p>
          <a:p>
            <a:pPr eaLnBrk="1" hangingPunct="1"/>
            <a:r>
              <a:rPr lang="en-US" altLang="en-US" sz="2400"/>
              <a:t>This principle prevents us from creating designs that have a large number of classes coupled together so that changes in one part of the system cascade to the other parts.</a:t>
            </a:r>
          </a:p>
          <a:p>
            <a:pPr lvl="1" eaLnBrk="1" hangingPunct="1"/>
            <a:r>
              <a:rPr lang="en-US" altLang="en-US" sz="2000"/>
              <a:t>When you build a lot of dependencies between many classes, you are building a fragile system that will be costly to maintain and complex for others to understand!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4180F96-1EBE-4495-BAF4-6866175396D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en-US" sz="4400"/>
              <a:t>The Singleton Pattern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F49AD2D-3CBD-4222-AE9A-EC309F324B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en-US" sz="3200"/>
              <a:t>“One of a Kind Objects”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E50A14A-CBD6-4996-8AAD-61545930E6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What is this?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3C3D749-18ED-4155-A56F-9A1B975909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>
                <a:solidFill>
                  <a:schemeClr val="accent2"/>
                </a:solidFill>
              </a:rPr>
              <a:t>Singleton: How to instantiate just one object - one and only one!</a:t>
            </a:r>
            <a:endParaRPr lang="en-US" altLang="en-US" sz="2400"/>
          </a:p>
          <a:p>
            <a:pPr eaLnBrk="1" hangingPunct="1"/>
            <a:r>
              <a:rPr lang="en-US" altLang="en-US" sz="2400"/>
              <a:t>Why?</a:t>
            </a:r>
          </a:p>
          <a:p>
            <a:pPr lvl="1" eaLnBrk="1" hangingPunct="1"/>
            <a:r>
              <a:rPr lang="en-US" altLang="en-US" sz="2000"/>
              <a:t>Many objects we need only one of: thread pools, caches, dialog boxes, objects that handle preferences and registry settings etc.</a:t>
            </a:r>
          </a:p>
          <a:p>
            <a:pPr lvl="1" eaLnBrk="1" hangingPunct="1"/>
            <a:r>
              <a:rPr lang="en-US" altLang="en-US" sz="2000"/>
              <a:t>If more than one instantiated: </a:t>
            </a:r>
          </a:p>
          <a:p>
            <a:pPr lvl="2" eaLnBrk="1" hangingPunct="1"/>
            <a:r>
              <a:rPr lang="en-US" altLang="en-US" sz="1800"/>
              <a:t>Incorrect program behavior, overuse of resources, inconsistent results</a:t>
            </a:r>
          </a:p>
          <a:p>
            <a:pPr eaLnBrk="1" hangingPunct="1"/>
            <a:r>
              <a:rPr lang="en-US" altLang="en-US" sz="2400"/>
              <a:t>Alternatives:</a:t>
            </a:r>
          </a:p>
          <a:p>
            <a:pPr lvl="1" eaLnBrk="1" hangingPunct="1"/>
            <a:r>
              <a:rPr lang="en-US" altLang="en-US" sz="2000"/>
              <a:t>Use a </a:t>
            </a:r>
            <a:r>
              <a:rPr lang="en-US" altLang="en-US" sz="2000" i="1"/>
              <a:t>global variable</a:t>
            </a:r>
            <a:endParaRPr lang="en-US" altLang="en-US" sz="2000"/>
          </a:p>
          <a:p>
            <a:pPr lvl="2" eaLnBrk="1" hangingPunct="1"/>
            <a:r>
              <a:rPr lang="en-US" altLang="en-US" sz="1800"/>
              <a:t>Downside: assign an object to a global variable then that object might be created when application begins. If application never ends up using it and object is resource intensive --&gt; waste!</a:t>
            </a:r>
          </a:p>
          <a:p>
            <a:pPr lvl="1" eaLnBrk="1" hangingPunct="1"/>
            <a:r>
              <a:rPr lang="en-US" altLang="en-US" sz="2000"/>
              <a:t>Use a </a:t>
            </a:r>
            <a:r>
              <a:rPr lang="en-US" altLang="en-US" sz="2000" i="1"/>
              <a:t>static variable</a:t>
            </a:r>
            <a:endParaRPr lang="en-US" altLang="en-US" sz="2000"/>
          </a:p>
          <a:p>
            <a:pPr lvl="2" eaLnBrk="1" hangingPunct="1"/>
            <a:r>
              <a:rPr lang="en-US" altLang="en-US" sz="1800"/>
              <a:t>Downside: how do you prevent creation of more than one class object?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6C4888F-D68D-4679-B228-7C90186E7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The Little Singleton (contd.)</a:t>
            </a: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08D20045-A966-4E33-A58C-A7E2D282D7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Is there any class that could use a private constructor?</a:t>
            </a:r>
          </a:p>
          <a:p>
            <a:pPr eaLnBrk="1" hangingPunct="1"/>
            <a:r>
              <a:rPr lang="en-US" altLang="en-US" sz="2400"/>
              <a:t>What’s the meaning of the following?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Instantiating a class with a private constructor: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</p:txBody>
      </p:sp>
      <p:sp>
        <p:nvSpPr>
          <p:cNvPr id="7172" name="Text Box 7">
            <a:extLst>
              <a:ext uri="{FF2B5EF4-FFF2-40B4-BE49-F238E27FC236}">
                <a16:creationId xmlns:a16="http://schemas.microsoft.com/office/drawing/2014/main" id="{05AF0261-613A-44B9-BEE2-32FBEEA80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1242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7173" name="Text Box 8">
            <a:extLst>
              <a:ext uri="{FF2B5EF4-FFF2-40B4-BE49-F238E27FC236}">
                <a16:creationId xmlns:a16="http://schemas.microsoft.com/office/drawing/2014/main" id="{E5C497C1-4FE2-49E4-956C-3DB362994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1" y="2513014"/>
            <a:ext cx="4818063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 public MyClass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      public static MyClass getInstance ( ) {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 }</a:t>
            </a:r>
          </a:p>
        </p:txBody>
      </p:sp>
      <p:sp>
        <p:nvSpPr>
          <p:cNvPr id="7174" name="Text Box 9">
            <a:extLst>
              <a:ext uri="{FF2B5EF4-FFF2-40B4-BE49-F238E27FC236}">
                <a16:creationId xmlns:a16="http://schemas.microsoft.com/office/drawing/2014/main" id="{2E986535-F01E-4C0C-963D-66CEC5040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1" y="4418014"/>
            <a:ext cx="4818063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 public MyClass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      private MyClass ( ) {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      public static MyClass getInstance ( ) {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DE80D6E-2A44-4F71-95A9-40DE879553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Classic Singleton Pattern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B715131-0C97-4288-8BDA-CBDB352976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86200" y="1447800"/>
            <a:ext cx="5181600" cy="4648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 public class Singleton {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        private static Singleton uniqueInstance;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         // other useful instance variables</a:t>
            </a:r>
          </a:p>
          <a:p>
            <a:pPr eaLnBrk="1" hangingPunct="1">
              <a:buFontTx/>
              <a:buNone/>
            </a:pPr>
            <a:endParaRPr lang="en-US" altLang="en-US" sz="1600">
              <a:latin typeface="Arial Rounded MT Bold" panose="020F0704030504030204" pitchFamily="34" charset="0"/>
            </a:endParaRPr>
          </a:p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        private Singleton  ( ) {  }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        public static Singleton getInstance  ( ) {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                if (uniqueInstance == null) {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                       uniqueInstance = new Singleton ( );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                }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                return uniqueInstance;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          }    </a:t>
            </a:r>
          </a:p>
          <a:p>
            <a:pPr eaLnBrk="1" hangingPunct="1">
              <a:buFontTx/>
              <a:buNone/>
            </a:pPr>
            <a:endParaRPr lang="en-US" altLang="en-US" sz="1600">
              <a:latin typeface="Arial Rounded MT Bold" panose="020F0704030504030204" pitchFamily="34" charset="0"/>
            </a:endParaRPr>
          </a:p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         // other useful methods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  }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    </a:t>
            </a:r>
          </a:p>
        </p:txBody>
      </p:sp>
      <p:sp>
        <p:nvSpPr>
          <p:cNvPr id="8196" name="Line 4">
            <a:extLst>
              <a:ext uri="{FF2B5EF4-FFF2-40B4-BE49-F238E27FC236}">
                <a16:creationId xmlns:a16="http://schemas.microsoft.com/office/drawing/2014/main" id="{A227D249-5389-4084-AB1A-091C4507EC2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05800" y="20574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7" name="Text Box 5">
            <a:extLst>
              <a:ext uri="{FF2B5EF4-FFF2-40B4-BE49-F238E27FC236}">
                <a16:creationId xmlns:a16="http://schemas.microsoft.com/office/drawing/2014/main" id="{4E454FE6-934B-4FC4-8E9D-E0AE63138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1926" y="2346326"/>
            <a:ext cx="1616075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Comic Sans MS" panose="030F0702030302020204" pitchFamily="66" charset="0"/>
              </a:rPr>
              <a:t>We have a static variable to hold our one instance of the class Singleton.</a:t>
            </a:r>
          </a:p>
        </p:txBody>
      </p:sp>
      <p:sp>
        <p:nvSpPr>
          <p:cNvPr id="8198" name="Line 6">
            <a:extLst>
              <a:ext uri="{FF2B5EF4-FFF2-40B4-BE49-F238E27FC236}">
                <a16:creationId xmlns:a16="http://schemas.microsoft.com/office/drawing/2014/main" id="{9E955C51-2C49-444B-A411-9BFA47458F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146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9" name="Text Box 7">
            <a:extLst>
              <a:ext uri="{FF2B5EF4-FFF2-40B4-BE49-F238E27FC236}">
                <a16:creationId xmlns:a16="http://schemas.microsoft.com/office/drawing/2014/main" id="{C08DB63C-F414-411E-A108-0104ABA45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6" y="1812926"/>
            <a:ext cx="1692275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Comic Sans MS" panose="030F0702030302020204" pitchFamily="66" charset="0"/>
              </a:rPr>
              <a:t>Constructor is declared private; only singleton can instantiate this class!</a:t>
            </a:r>
          </a:p>
        </p:txBody>
      </p:sp>
      <p:sp>
        <p:nvSpPr>
          <p:cNvPr id="8200" name="Line 8">
            <a:extLst>
              <a:ext uri="{FF2B5EF4-FFF2-40B4-BE49-F238E27FC236}">
                <a16:creationId xmlns:a16="http://schemas.microsoft.com/office/drawing/2014/main" id="{9B4F45FE-C74C-428B-BA3D-F59F7F0B13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00400"/>
            <a:ext cx="609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1" name="Text Box 9">
            <a:extLst>
              <a:ext uri="{FF2B5EF4-FFF2-40B4-BE49-F238E27FC236}">
                <a16:creationId xmlns:a16="http://schemas.microsoft.com/office/drawing/2014/main" id="{A8955DEB-F19B-4F69-B949-75AE9564D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6" y="3870326"/>
            <a:ext cx="26828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Comic Sans MS" panose="030F0702030302020204" pitchFamily="66" charset="0"/>
              </a:rPr>
              <a:t>The getInstance ( ) method gives us a way to instantiate the class and also return an instance of it.</a:t>
            </a:r>
          </a:p>
        </p:txBody>
      </p:sp>
      <p:sp>
        <p:nvSpPr>
          <p:cNvPr id="8202" name="Line 11">
            <a:extLst>
              <a:ext uri="{FF2B5EF4-FFF2-40B4-BE49-F238E27FC236}">
                <a16:creationId xmlns:a16="http://schemas.microsoft.com/office/drawing/2014/main" id="{99A1285A-0F9A-4853-A457-0B8779FF4BA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81800" y="51816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Text Box 12">
            <a:extLst>
              <a:ext uri="{FF2B5EF4-FFF2-40B4-BE49-F238E27FC236}">
                <a16:creationId xmlns:a16="http://schemas.microsoft.com/office/drawing/2014/main" id="{8E9FB649-D2C4-4BD0-84E2-5BD8CFAB1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26" y="5165726"/>
            <a:ext cx="25304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chemeClr val="accent2"/>
                </a:solidFill>
                <a:latin typeface="Comic Sans MS" panose="030F0702030302020204" pitchFamily="66" charset="0"/>
              </a:rPr>
              <a:t>Of course, Singleton is a regular class so it has other useful instances and methods.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35898DE-A3A2-409D-B736-5B233920C6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Code Up Close</a:t>
            </a:r>
          </a:p>
        </p:txBody>
      </p:sp>
      <p:sp>
        <p:nvSpPr>
          <p:cNvPr id="9219" name="Rectangle 4">
            <a:extLst>
              <a:ext uri="{FF2B5EF4-FFF2-40B4-BE49-F238E27FC236}">
                <a16:creationId xmlns:a16="http://schemas.microsoft.com/office/drawing/2014/main" id="{49AC3C76-D067-47C1-BB13-3D804F07A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1" y="2667001"/>
            <a:ext cx="4799013" cy="121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if (uniqueInstance == null) {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                       uniqueInstance = new Singleton ( );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                }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Arial Rounded MT Bold" panose="020F0704030504030204" pitchFamily="34" charset="0"/>
              </a:rPr>
              <a:t>                return uniqueInstance;</a:t>
            </a:r>
          </a:p>
        </p:txBody>
      </p:sp>
      <p:sp>
        <p:nvSpPr>
          <p:cNvPr id="9220" name="Line 5">
            <a:extLst>
              <a:ext uri="{FF2B5EF4-FFF2-40B4-BE49-F238E27FC236}">
                <a16:creationId xmlns:a16="http://schemas.microsoft.com/office/drawing/2014/main" id="{56BCE44B-8F76-4E3C-A682-CD249DF732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133600"/>
            <a:ext cx="76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1" name="Text Box 6">
            <a:extLst>
              <a:ext uri="{FF2B5EF4-FFF2-40B4-BE49-F238E27FC236}">
                <a16:creationId xmlns:a16="http://schemas.microsoft.com/office/drawing/2014/main" id="{BCE2745E-9E9D-4444-9332-18D494F07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524000"/>
            <a:ext cx="35052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chemeClr val="accent2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1400" dirty="0" err="1">
                <a:solidFill>
                  <a:schemeClr val="accent2"/>
                </a:solidFill>
                <a:latin typeface="Comic Sans MS" panose="030F0702030302020204" pitchFamily="66" charset="0"/>
              </a:rPr>
              <a:t>uniqueInstance</a:t>
            </a:r>
            <a:r>
              <a:rPr lang="en-US" altLang="en-US" sz="1400" dirty="0">
                <a:solidFill>
                  <a:schemeClr val="accent2"/>
                </a:solidFill>
                <a:latin typeface="Comic Sans MS" panose="030F0702030302020204" pitchFamily="66" charset="0"/>
              </a:rPr>
              <a:t> holds our ONE instance; remember it is a static variable</a:t>
            </a:r>
          </a:p>
        </p:txBody>
      </p:sp>
      <p:sp>
        <p:nvSpPr>
          <p:cNvPr id="9222" name="Line 7">
            <a:extLst>
              <a:ext uri="{FF2B5EF4-FFF2-40B4-BE49-F238E27FC236}">
                <a16:creationId xmlns:a16="http://schemas.microsoft.com/office/drawing/2014/main" id="{C595B26B-7B3E-46B7-BC05-D29C4BF73A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8800" y="20574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3" name="Text Box 8">
            <a:extLst>
              <a:ext uri="{FF2B5EF4-FFF2-40B4-BE49-F238E27FC236}">
                <a16:creationId xmlns:a16="http://schemas.microsoft.com/office/drawing/2014/main" id="{DAE4E226-F126-454B-9197-21612F43D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1" y="1447800"/>
            <a:ext cx="31400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chemeClr val="accent2"/>
                </a:solidFill>
                <a:latin typeface="Comic Sans MS" panose="030F0702030302020204" pitchFamily="66" charset="0"/>
              </a:rPr>
              <a:t>If </a:t>
            </a:r>
            <a:r>
              <a:rPr lang="en-US" altLang="en-US" sz="1400" dirty="0" err="1">
                <a:solidFill>
                  <a:schemeClr val="accent2"/>
                </a:solidFill>
                <a:latin typeface="Comic Sans MS" panose="030F0702030302020204" pitchFamily="66" charset="0"/>
              </a:rPr>
              <a:t>uniqueInstance</a:t>
            </a:r>
            <a:r>
              <a:rPr lang="en-US" altLang="en-US" sz="1400" dirty="0">
                <a:solidFill>
                  <a:schemeClr val="accent2"/>
                </a:solidFill>
                <a:latin typeface="Comic Sans MS" panose="030F0702030302020204" pitchFamily="66" charset="0"/>
              </a:rPr>
              <a:t> is null, then we haven’t created the instance yet…</a:t>
            </a:r>
          </a:p>
        </p:txBody>
      </p:sp>
      <p:sp>
        <p:nvSpPr>
          <p:cNvPr id="9224" name="Line 9">
            <a:extLst>
              <a:ext uri="{FF2B5EF4-FFF2-40B4-BE49-F238E27FC236}">
                <a16:creationId xmlns:a16="http://schemas.microsoft.com/office/drawing/2014/main" id="{DB9F1223-3BD0-48C7-9ADD-4B2724543C7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24800" y="3352800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Text Box 10">
            <a:extLst>
              <a:ext uri="{FF2B5EF4-FFF2-40B4-BE49-F238E27FC236}">
                <a16:creationId xmlns:a16="http://schemas.microsoft.com/office/drawing/2014/main" id="{63B1DF8D-142B-4E66-8CA5-3D61758CE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926" y="4330700"/>
            <a:ext cx="2530475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chemeClr val="accent2"/>
                </a:solidFill>
                <a:latin typeface="Comic Sans MS" panose="030F0702030302020204" pitchFamily="66" charset="0"/>
              </a:rPr>
              <a:t>…and if it doesn’t exist, we instantiate Singleton through its private constructor and assign it to the </a:t>
            </a:r>
            <a:r>
              <a:rPr lang="en-US" altLang="en-US" sz="1400" dirty="0" err="1">
                <a:solidFill>
                  <a:schemeClr val="accent2"/>
                </a:solidFill>
                <a:latin typeface="Comic Sans MS" panose="030F0702030302020204" pitchFamily="66" charset="0"/>
              </a:rPr>
              <a:t>uniqueInstance</a:t>
            </a:r>
            <a:r>
              <a:rPr lang="en-US" altLang="en-US" sz="1400" dirty="0">
                <a:solidFill>
                  <a:schemeClr val="accent2"/>
                </a:solidFill>
                <a:latin typeface="Comic Sans MS" panose="030F0702030302020204" pitchFamily="66" charset="0"/>
              </a:rPr>
              <a:t>.  Note that if we never need the </a:t>
            </a:r>
            <a:r>
              <a:rPr lang="en-US" altLang="en-US" sz="1400" dirty="0" err="1">
                <a:solidFill>
                  <a:schemeClr val="accent2"/>
                </a:solidFill>
                <a:latin typeface="Comic Sans MS" panose="030F0702030302020204" pitchFamily="66" charset="0"/>
              </a:rPr>
              <a:t>uniqueInstance</a:t>
            </a:r>
            <a:r>
              <a:rPr lang="en-US" altLang="en-US" sz="1400" dirty="0">
                <a:solidFill>
                  <a:schemeClr val="accent2"/>
                </a:solidFill>
                <a:latin typeface="Comic Sans MS" panose="030F0702030302020204" pitchFamily="66" charset="0"/>
              </a:rPr>
              <a:t>, it never gets created --&gt; </a:t>
            </a:r>
            <a:r>
              <a:rPr lang="en-US" altLang="en-US" sz="18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lazy instantiation.</a:t>
            </a:r>
          </a:p>
        </p:txBody>
      </p:sp>
      <p:sp>
        <p:nvSpPr>
          <p:cNvPr id="9226" name="Line 11">
            <a:extLst>
              <a:ext uri="{FF2B5EF4-FFF2-40B4-BE49-F238E27FC236}">
                <a16:creationId xmlns:a16="http://schemas.microsoft.com/office/drawing/2014/main" id="{D7A3147D-9C5F-4B60-A0ED-C31D3A7FBA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38100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7" name="Text Box 12">
            <a:extLst>
              <a:ext uri="{FF2B5EF4-FFF2-40B4-BE49-F238E27FC236}">
                <a16:creationId xmlns:a16="http://schemas.microsoft.com/office/drawing/2014/main" id="{31604246-20E4-478E-9B56-2034D2983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526" y="4178301"/>
            <a:ext cx="35972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chemeClr val="accent2"/>
                </a:solidFill>
                <a:latin typeface="Comic Sans MS" panose="030F0702030302020204" pitchFamily="66" charset="0"/>
              </a:rPr>
              <a:t>If </a:t>
            </a:r>
            <a:r>
              <a:rPr lang="en-US" altLang="en-US" sz="1400" dirty="0" err="1">
                <a:solidFill>
                  <a:schemeClr val="accent2"/>
                </a:solidFill>
                <a:latin typeface="Comic Sans MS" panose="030F0702030302020204" pitchFamily="66" charset="0"/>
              </a:rPr>
              <a:t>uniqueInstance</a:t>
            </a:r>
            <a:r>
              <a:rPr lang="en-US" altLang="en-US" sz="1400" dirty="0">
                <a:solidFill>
                  <a:schemeClr val="accent2"/>
                </a:solidFill>
                <a:latin typeface="Comic Sans MS" panose="030F0702030302020204" pitchFamily="66" charset="0"/>
              </a:rPr>
              <a:t> wasn’t null, then it was previously created. We just fall through to the return statement. In either case, we have an instance and we return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B1A3213-0674-4E52-BAF2-A00A73ADEC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Singleton Pattern Defined</a:t>
            </a:r>
          </a:p>
        </p:txBody>
      </p:sp>
      <p:sp>
        <p:nvSpPr>
          <p:cNvPr id="10243" name="Text Box 4">
            <a:extLst>
              <a:ext uri="{FF2B5EF4-FFF2-40B4-BE49-F238E27FC236}">
                <a16:creationId xmlns:a16="http://schemas.microsoft.com/office/drawing/2014/main" id="{49BD5E52-58FA-4064-8528-90D27EA5D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6" y="1403517"/>
            <a:ext cx="8778875" cy="8318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The Singleton Pattern ensures a class has only one instance, and provides a global point of access to it.</a:t>
            </a:r>
          </a:p>
        </p:txBody>
      </p:sp>
      <p:sp>
        <p:nvSpPr>
          <p:cNvPr id="10244" name="Rectangle 5">
            <a:extLst>
              <a:ext uri="{FF2B5EF4-FFF2-40B4-BE49-F238E27FC236}">
                <a16:creationId xmlns:a16="http://schemas.microsoft.com/office/drawing/2014/main" id="{11CEF820-0FAF-4FCF-AB19-72DA1E160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895600"/>
            <a:ext cx="2819400" cy="228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245" name="Line 6">
            <a:extLst>
              <a:ext uri="{FF2B5EF4-FFF2-40B4-BE49-F238E27FC236}">
                <a16:creationId xmlns:a16="http://schemas.microsoft.com/office/drawing/2014/main" id="{E91F36CC-2991-4C37-9B0D-014F19839B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33528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Line 7">
            <a:extLst>
              <a:ext uri="{FF2B5EF4-FFF2-40B4-BE49-F238E27FC236}">
                <a16:creationId xmlns:a16="http://schemas.microsoft.com/office/drawing/2014/main" id="{51DFC56D-8176-44A0-821C-0D8A321A01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44196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Text Box 8">
            <a:extLst>
              <a:ext uri="{FF2B5EF4-FFF2-40B4-BE49-F238E27FC236}">
                <a16:creationId xmlns:a16="http://schemas.microsoft.com/office/drawing/2014/main" id="{F6F1F195-9C44-4A47-9EEE-7E36E375F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1" y="2946400"/>
            <a:ext cx="10807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Comic Sans MS" panose="030F0702030302020204" pitchFamily="66" charset="0"/>
              </a:rPr>
              <a:t>Singleton</a:t>
            </a:r>
          </a:p>
        </p:txBody>
      </p:sp>
      <p:sp>
        <p:nvSpPr>
          <p:cNvPr id="10248" name="Text Box 9">
            <a:extLst>
              <a:ext uri="{FF2B5EF4-FFF2-40B4-BE49-F238E27FC236}">
                <a16:creationId xmlns:a16="http://schemas.microsoft.com/office/drawing/2014/main" id="{EBC1A406-F435-4987-A2B1-6EADF6B07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403601"/>
            <a:ext cx="261802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Comic Sans MS" panose="030F0702030302020204" pitchFamily="66" charset="0"/>
              </a:rPr>
              <a:t> static uniqueInstance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Comic Sans MS" panose="030F0702030302020204" pitchFamily="66" charset="0"/>
              </a:rPr>
              <a:t> // other useful variables</a:t>
            </a:r>
          </a:p>
        </p:txBody>
      </p:sp>
      <p:sp>
        <p:nvSpPr>
          <p:cNvPr id="10249" name="Text Box 10">
            <a:extLst>
              <a:ext uri="{FF2B5EF4-FFF2-40B4-BE49-F238E27FC236}">
                <a16:creationId xmlns:a16="http://schemas.microsoft.com/office/drawing/2014/main" id="{01F07F43-DAA6-41D5-86A5-99A6787F7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470401"/>
            <a:ext cx="23038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Comic Sans MS" panose="030F0702030302020204" pitchFamily="66" charset="0"/>
              </a:rPr>
              <a:t> static getInstance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Comic Sans MS" panose="030F0702030302020204" pitchFamily="66" charset="0"/>
              </a:rPr>
              <a:t> // other methods</a:t>
            </a:r>
          </a:p>
        </p:txBody>
      </p:sp>
      <p:sp>
        <p:nvSpPr>
          <p:cNvPr id="10250" name="Freeform 11">
            <a:extLst>
              <a:ext uri="{FF2B5EF4-FFF2-40B4-BE49-F238E27FC236}">
                <a16:creationId xmlns:a16="http://schemas.microsoft.com/office/drawing/2014/main" id="{6E368264-EDDB-4C4A-9419-1719738780F8}"/>
              </a:ext>
            </a:extLst>
          </p:cNvPr>
          <p:cNvSpPr>
            <a:spLocks/>
          </p:cNvSpPr>
          <p:nvPr/>
        </p:nvSpPr>
        <p:spPr bwMode="auto">
          <a:xfrm>
            <a:off x="3806826" y="4943475"/>
            <a:ext cx="892175" cy="215900"/>
          </a:xfrm>
          <a:custGeom>
            <a:avLst/>
            <a:gdLst>
              <a:gd name="T0" fmla="*/ 21517162 w 1088"/>
              <a:gd name="T1" fmla="*/ 0 h 280"/>
              <a:gd name="T2" fmla="*/ 118346030 w 1088"/>
              <a:gd name="T3" fmla="*/ 142692165 h 280"/>
              <a:gd name="T4" fmla="*/ 731595800 w 1088"/>
              <a:gd name="T5" fmla="*/ 142692165 h 2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88" h="280">
                <a:moveTo>
                  <a:pt x="32" y="0"/>
                </a:moveTo>
                <a:cubicBezTo>
                  <a:pt x="16" y="100"/>
                  <a:pt x="0" y="200"/>
                  <a:pt x="176" y="240"/>
                </a:cubicBezTo>
                <a:cubicBezTo>
                  <a:pt x="352" y="280"/>
                  <a:pt x="720" y="260"/>
                  <a:pt x="1088" y="24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Text Box 12">
            <a:extLst>
              <a:ext uri="{FF2B5EF4-FFF2-40B4-BE49-F238E27FC236}">
                <a16:creationId xmlns:a16="http://schemas.microsoft.com/office/drawing/2014/main" id="{694D9379-559A-4A75-A970-74B553D20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6" y="2482850"/>
            <a:ext cx="26066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chemeClr val="accent2"/>
                </a:solidFill>
                <a:latin typeface="Comic Sans MS" panose="030F0702030302020204" pitchFamily="66" charset="0"/>
              </a:rPr>
              <a:t>The </a:t>
            </a:r>
            <a:r>
              <a:rPr lang="en-US" altLang="en-US" sz="1400" dirty="0" err="1">
                <a:solidFill>
                  <a:schemeClr val="accent2"/>
                </a:solidFill>
                <a:latin typeface="Comic Sans MS" panose="030F0702030302020204" pitchFamily="66" charset="0"/>
              </a:rPr>
              <a:t>getInstance</a:t>
            </a:r>
            <a:r>
              <a:rPr lang="en-US" altLang="en-US" sz="1400" dirty="0">
                <a:solidFill>
                  <a:schemeClr val="accent2"/>
                </a:solidFill>
                <a:latin typeface="Comic Sans MS" panose="030F0702030302020204" pitchFamily="66" charset="0"/>
              </a:rPr>
              <a:t> ( ) method is static, which means it is a class method, so you can conveniently access this method anywhere in your code using </a:t>
            </a:r>
            <a:r>
              <a:rPr lang="en-US" altLang="en-US" sz="1400" dirty="0" err="1">
                <a:solidFill>
                  <a:schemeClr val="accent2"/>
                </a:solidFill>
                <a:latin typeface="Comic Sans MS" panose="030F0702030302020204" pitchFamily="66" charset="0"/>
              </a:rPr>
              <a:t>Singleton.getInstance</a:t>
            </a:r>
            <a:r>
              <a:rPr lang="en-US" altLang="en-US" sz="1400" dirty="0">
                <a:solidFill>
                  <a:schemeClr val="accent2"/>
                </a:solidFill>
                <a:latin typeface="Comic Sans MS" panose="030F0702030302020204" pitchFamily="66" charset="0"/>
              </a:rPr>
              <a:t> ( ). That’s just as easy as accessing a global variable, but we get benefits like lazy instantiation from the Singleton.</a:t>
            </a:r>
          </a:p>
        </p:txBody>
      </p:sp>
      <p:sp>
        <p:nvSpPr>
          <p:cNvPr id="10252" name="Line 13">
            <a:extLst>
              <a:ext uri="{FF2B5EF4-FFF2-40B4-BE49-F238E27FC236}">
                <a16:creationId xmlns:a16="http://schemas.microsoft.com/office/drawing/2014/main" id="{FA93F6B8-B275-4E3E-A798-EB99F4571C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0" y="2743200"/>
            <a:ext cx="914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Text Box 14">
            <a:extLst>
              <a:ext uri="{FF2B5EF4-FFF2-40B4-BE49-F238E27FC236}">
                <a16:creationId xmlns:a16="http://schemas.microsoft.com/office/drawing/2014/main" id="{8D0DB780-F86F-409F-8B77-F106D3ABD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2726" y="2528889"/>
            <a:ext cx="26828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Comic Sans MS" panose="030F0702030302020204" pitchFamily="66" charset="0"/>
              </a:rPr>
              <a:t>The uniqueInstance class variable holds our one and only one instance of Singleton.</a:t>
            </a:r>
          </a:p>
        </p:txBody>
      </p:sp>
      <p:sp>
        <p:nvSpPr>
          <p:cNvPr id="10254" name="Line 15">
            <a:extLst>
              <a:ext uri="{FF2B5EF4-FFF2-40B4-BE49-F238E27FC236}">
                <a16:creationId xmlns:a16="http://schemas.microsoft.com/office/drawing/2014/main" id="{68465714-90B6-44C8-9BAB-17EEB9950B7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48400" y="51054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Text Box 16">
            <a:extLst>
              <a:ext uri="{FF2B5EF4-FFF2-40B4-BE49-F238E27FC236}">
                <a16:creationId xmlns:a16="http://schemas.microsoft.com/office/drawing/2014/main" id="{435B2827-A2B4-48F5-944A-49653AEA4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726" y="5546725"/>
            <a:ext cx="413067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Comic Sans MS" panose="030F0702030302020204" pitchFamily="66" charset="0"/>
              </a:rPr>
              <a:t>A class implementing a Singleton Pattern is more than a Singleton; it is a general purpose class with its own set of data and methods.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59D13F3-B5D2-40A8-A9AE-3E6EC904DA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Singleton Summary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B7FE5AC-1CC3-428E-8B09-15B6A3EDF8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The Singleton Pattern ensures you have at most one instance of a class in your application</a:t>
            </a:r>
          </a:p>
          <a:p>
            <a:pPr eaLnBrk="1" hangingPunct="1"/>
            <a:r>
              <a:rPr lang="en-US" altLang="en-US" sz="2800"/>
              <a:t>The Singleton Pattern also provides a global access point to that instance.</a:t>
            </a:r>
          </a:p>
          <a:p>
            <a:pPr eaLnBrk="1" hangingPunct="1"/>
            <a:r>
              <a:rPr lang="en-US" altLang="en-US" sz="2800"/>
              <a:t>Java’s implementation of the Singleton Pattern makes use of a private constructor, a static method combined with a static variable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E3649C5-9CDA-49DE-8156-2874B3F8BF8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en-US" sz="4400"/>
              <a:t>The Adapter Pattern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CB4A6848-65E6-473F-9320-F4CA85A520A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en-US" sz="3200"/>
              <a:t>Putting a Square Peg in a Round Hole!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81F70D1-5349-459D-AAB2-2577322F4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Adapters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157C286-59C9-4A0A-BC9D-585A26C208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Real world is full of them!</a:t>
            </a:r>
          </a:p>
          <a:p>
            <a:pPr lvl="1" eaLnBrk="1" hangingPunct="1"/>
            <a:r>
              <a:rPr lang="en-US" altLang="en-US" sz="2000"/>
              <a:t>Some examples?</a:t>
            </a:r>
          </a:p>
          <a:p>
            <a:pPr eaLnBrk="1" hangingPunct="1"/>
            <a:r>
              <a:rPr lang="en-US" altLang="en-US" sz="2400"/>
              <a:t>Object oriented adapters</a:t>
            </a:r>
          </a:p>
          <a:p>
            <a:pPr lvl="1" eaLnBrk="1" hangingPunct="1"/>
            <a:r>
              <a:rPr lang="en-US" altLang="en-US" sz="2000"/>
              <a:t>Scenario: you have an existing software system that you need to work a new vendor library into, but the new vendor designed their interfaces differently than the last vendor.</a:t>
            </a:r>
          </a:p>
          <a:p>
            <a:pPr lvl="1" eaLnBrk="1" hangingPunct="1"/>
            <a:endParaRPr lang="en-US" altLang="en-US" sz="2000"/>
          </a:p>
          <a:p>
            <a:pPr lvl="1" eaLnBrk="1" hangingPunct="1"/>
            <a:endParaRPr lang="en-US" altLang="en-US" sz="2000"/>
          </a:p>
          <a:p>
            <a:pPr lvl="1" eaLnBrk="1" hangingPunct="1"/>
            <a:endParaRPr lang="en-US" altLang="en-US" sz="2000"/>
          </a:p>
          <a:p>
            <a:pPr lvl="1" eaLnBrk="1" hangingPunct="1"/>
            <a:r>
              <a:rPr lang="en-US" altLang="en-US" sz="2000"/>
              <a:t>What to do? Write a class that adapts the new vendor interface into the one you’re expecting.</a:t>
            </a:r>
          </a:p>
        </p:txBody>
      </p:sp>
      <p:sp>
        <p:nvSpPr>
          <p:cNvPr id="20484" name="AutoShape 4">
            <a:extLst>
              <a:ext uri="{FF2B5EF4-FFF2-40B4-BE49-F238E27FC236}">
                <a16:creationId xmlns:a16="http://schemas.microsoft.com/office/drawing/2014/main" id="{9F03C42C-27AB-4121-9FB9-0987A18C3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1" y="3897313"/>
            <a:ext cx="1293813" cy="685800"/>
          </a:xfrm>
          <a:prstGeom prst="homePlate">
            <a:avLst>
              <a:gd name="adj" fmla="val 4716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Comic Sans MS" panose="030F0702030302020204" pitchFamily="66" charset="0"/>
            </a:endParaRPr>
          </a:p>
        </p:txBody>
      </p:sp>
      <p:sp>
        <p:nvSpPr>
          <p:cNvPr id="20485" name="AutoShape 5">
            <a:extLst>
              <a:ext uri="{FF2B5EF4-FFF2-40B4-BE49-F238E27FC236}">
                <a16:creationId xmlns:a16="http://schemas.microsoft.com/office/drawing/2014/main" id="{8ED84CB4-7341-44B2-A776-6A6C9CD7B047}"/>
              </a:ext>
            </a:extLst>
          </p:cNvPr>
          <p:cNvSpPr>
            <a:spLocks noChangeArrowheads="1"/>
          </p:cNvSpPr>
          <p:nvPr/>
        </p:nvSpPr>
        <p:spPr bwMode="auto">
          <a:xfrm rot="10764190">
            <a:off x="4951413" y="3884613"/>
            <a:ext cx="1295400" cy="685800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Comic Sans MS" panose="030F0702030302020204" pitchFamily="66" charset="0"/>
            </a:endParaRPr>
          </a:p>
        </p:txBody>
      </p:sp>
      <p:sp>
        <p:nvSpPr>
          <p:cNvPr id="20486" name="Text Box 6">
            <a:extLst>
              <a:ext uri="{FF2B5EF4-FFF2-40B4-BE49-F238E27FC236}">
                <a16:creationId xmlns:a16="http://schemas.microsoft.com/office/drawing/2014/main" id="{5E95CC36-0187-48CA-8252-9E2D2AD84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1" y="3989389"/>
            <a:ext cx="11929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Your Existing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System</a:t>
            </a:r>
          </a:p>
        </p:txBody>
      </p:sp>
      <p:sp>
        <p:nvSpPr>
          <p:cNvPr id="20487" name="Text Box 7">
            <a:extLst>
              <a:ext uri="{FF2B5EF4-FFF2-40B4-BE49-F238E27FC236}">
                <a16:creationId xmlns:a16="http://schemas.microsoft.com/office/drawing/2014/main" id="{2852D6B2-9AE6-4A48-8EEE-AA34EDBAF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1" y="4038601"/>
            <a:ext cx="7393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Vendor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Class</a:t>
            </a:r>
          </a:p>
        </p:txBody>
      </p:sp>
      <p:sp>
        <p:nvSpPr>
          <p:cNvPr id="20488" name="Text Box 9">
            <a:extLst>
              <a:ext uri="{FF2B5EF4-FFF2-40B4-BE49-F238E27FC236}">
                <a16:creationId xmlns:a16="http://schemas.microsoft.com/office/drawing/2014/main" id="{EAC4817D-6AAE-43E6-B400-661F3B5BE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038601"/>
            <a:ext cx="373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229FF"/>
                </a:solidFill>
                <a:latin typeface="Comic Sans MS" panose="030F0702030302020204" pitchFamily="66" charset="0"/>
              </a:rPr>
              <a:t>Their interface doesn’t match the one you’ve written your code against. Not going to work!</a:t>
            </a:r>
          </a:p>
        </p:txBody>
      </p:sp>
      <p:sp>
        <p:nvSpPr>
          <p:cNvPr id="20489" name="Freeform 11">
            <a:extLst>
              <a:ext uri="{FF2B5EF4-FFF2-40B4-BE49-F238E27FC236}">
                <a16:creationId xmlns:a16="http://schemas.microsoft.com/office/drawing/2014/main" id="{4152919D-26FB-48D9-9ED7-D3ABBDB8EEF7}"/>
              </a:ext>
            </a:extLst>
          </p:cNvPr>
          <p:cNvSpPr>
            <a:spLocks/>
          </p:cNvSpPr>
          <p:nvPr/>
        </p:nvSpPr>
        <p:spPr bwMode="auto">
          <a:xfrm>
            <a:off x="4724400" y="4343400"/>
            <a:ext cx="1828800" cy="457200"/>
          </a:xfrm>
          <a:custGeom>
            <a:avLst/>
            <a:gdLst>
              <a:gd name="T0" fmla="*/ 2147483646 w 1144"/>
              <a:gd name="T1" fmla="*/ 0 h 496"/>
              <a:gd name="T2" fmla="*/ 2147483646 w 1144"/>
              <a:gd name="T3" fmla="*/ 2147483646 h 496"/>
              <a:gd name="T4" fmla="*/ 2147483646 w 1144"/>
              <a:gd name="T5" fmla="*/ 2147483646 h 496"/>
              <a:gd name="T6" fmla="*/ 2147483646 w 1144"/>
              <a:gd name="T7" fmla="*/ 2147483646 h 49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44" h="496">
                <a:moveTo>
                  <a:pt x="1144" y="0"/>
                </a:moveTo>
                <a:cubicBezTo>
                  <a:pt x="1084" y="184"/>
                  <a:pt x="1024" y="368"/>
                  <a:pt x="856" y="432"/>
                </a:cubicBezTo>
                <a:cubicBezTo>
                  <a:pt x="688" y="496"/>
                  <a:pt x="272" y="432"/>
                  <a:pt x="136" y="384"/>
                </a:cubicBezTo>
                <a:cubicBezTo>
                  <a:pt x="0" y="336"/>
                  <a:pt x="20" y="240"/>
                  <a:pt x="4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AutoShape 12">
            <a:extLst>
              <a:ext uri="{FF2B5EF4-FFF2-40B4-BE49-F238E27FC236}">
                <a16:creationId xmlns:a16="http://schemas.microsoft.com/office/drawing/2014/main" id="{54FC113D-6B0A-44DC-840C-612D6B858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5803900"/>
            <a:ext cx="1293812" cy="685800"/>
          </a:xfrm>
          <a:prstGeom prst="homePlate">
            <a:avLst>
              <a:gd name="adj" fmla="val 4716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Comic Sans MS" panose="030F0702030302020204" pitchFamily="66" charset="0"/>
            </a:endParaRPr>
          </a:p>
        </p:txBody>
      </p:sp>
      <p:sp>
        <p:nvSpPr>
          <p:cNvPr id="20491" name="AutoShape 13">
            <a:extLst>
              <a:ext uri="{FF2B5EF4-FFF2-40B4-BE49-F238E27FC236}">
                <a16:creationId xmlns:a16="http://schemas.microsoft.com/office/drawing/2014/main" id="{EA190678-8FDE-427C-8040-B2EE6285B77F}"/>
              </a:ext>
            </a:extLst>
          </p:cNvPr>
          <p:cNvSpPr>
            <a:spLocks noChangeArrowheads="1"/>
          </p:cNvSpPr>
          <p:nvPr/>
        </p:nvSpPr>
        <p:spPr bwMode="auto">
          <a:xfrm rot="10764190">
            <a:off x="4648200" y="5791200"/>
            <a:ext cx="1295400" cy="685800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Comic Sans MS" panose="030F0702030302020204" pitchFamily="66" charset="0"/>
            </a:endParaRPr>
          </a:p>
        </p:txBody>
      </p:sp>
      <p:sp>
        <p:nvSpPr>
          <p:cNvPr id="20492" name="Text Box 14">
            <a:extLst>
              <a:ext uri="{FF2B5EF4-FFF2-40B4-BE49-F238E27FC236}">
                <a16:creationId xmlns:a16="http://schemas.microsoft.com/office/drawing/2014/main" id="{18902214-E2AF-4EB3-AD54-F4D6F4150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2389" y="5895976"/>
            <a:ext cx="11929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Your Existing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System</a:t>
            </a:r>
          </a:p>
        </p:txBody>
      </p:sp>
      <p:sp>
        <p:nvSpPr>
          <p:cNvPr id="20493" name="Text Box 15">
            <a:extLst>
              <a:ext uri="{FF2B5EF4-FFF2-40B4-BE49-F238E27FC236}">
                <a16:creationId xmlns:a16="http://schemas.microsoft.com/office/drawing/2014/main" id="{7C1BA8A8-32F1-4FE3-8146-875427655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1" y="5867401"/>
            <a:ext cx="7393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Vendor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Class</a:t>
            </a:r>
          </a:p>
        </p:txBody>
      </p:sp>
      <p:sp>
        <p:nvSpPr>
          <p:cNvPr id="20494" name="AutoShape 16">
            <a:extLst>
              <a:ext uri="{FF2B5EF4-FFF2-40B4-BE49-F238E27FC236}">
                <a16:creationId xmlns:a16="http://schemas.microsoft.com/office/drawing/2014/main" id="{834FAC59-10DA-4AAC-B24A-A677842F8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791200"/>
            <a:ext cx="762000" cy="685800"/>
          </a:xfrm>
          <a:prstGeom prst="chevron">
            <a:avLst>
              <a:gd name="adj" fmla="val 277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Comic Sans MS" panose="030F0702030302020204" pitchFamily="66" charset="0"/>
            </a:endParaRPr>
          </a:p>
        </p:txBody>
      </p:sp>
      <p:sp>
        <p:nvSpPr>
          <p:cNvPr id="20495" name="AutoShape 17">
            <a:extLst>
              <a:ext uri="{FF2B5EF4-FFF2-40B4-BE49-F238E27FC236}">
                <a16:creationId xmlns:a16="http://schemas.microsoft.com/office/drawing/2014/main" id="{4DF8E9B1-1596-4101-BEAB-136FFA10EB42}"/>
              </a:ext>
            </a:extLst>
          </p:cNvPr>
          <p:cNvSpPr>
            <a:spLocks noChangeArrowheads="1"/>
          </p:cNvSpPr>
          <p:nvPr/>
        </p:nvSpPr>
        <p:spPr bwMode="auto">
          <a:xfrm rot="5365508">
            <a:off x="4114800" y="5942013"/>
            <a:ext cx="685800" cy="3810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1045462871 h 21600"/>
              <a:gd name="T4" fmla="*/ 2147483646 w 21600"/>
              <a:gd name="T5" fmla="*/ 522731436 h 21600"/>
              <a:gd name="T6" fmla="*/ 2147483646 w 21600"/>
              <a:gd name="T7" fmla="*/ 1045462871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5400" y="10800"/>
                </a:move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199" y="7817"/>
                  <a:pt x="16199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5400" y="10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Freeform 20">
            <a:extLst>
              <a:ext uri="{FF2B5EF4-FFF2-40B4-BE49-F238E27FC236}">
                <a16:creationId xmlns:a16="http://schemas.microsoft.com/office/drawing/2014/main" id="{70D1A832-9259-478C-99C7-754879CFCB01}"/>
              </a:ext>
            </a:extLst>
          </p:cNvPr>
          <p:cNvSpPr>
            <a:spLocks/>
          </p:cNvSpPr>
          <p:nvPr/>
        </p:nvSpPr>
        <p:spPr bwMode="auto">
          <a:xfrm>
            <a:off x="4419600" y="5778500"/>
            <a:ext cx="241300" cy="711200"/>
          </a:xfrm>
          <a:custGeom>
            <a:avLst/>
            <a:gdLst>
              <a:gd name="T0" fmla="*/ 0 w 152"/>
              <a:gd name="T1" fmla="*/ 2147483646 h 448"/>
              <a:gd name="T2" fmla="*/ 2147483646 w 152"/>
              <a:gd name="T3" fmla="*/ 2147483646 h 448"/>
              <a:gd name="T4" fmla="*/ 2147483646 w 152"/>
              <a:gd name="T5" fmla="*/ 2147483646 h 448"/>
              <a:gd name="T6" fmla="*/ 2147483646 w 152"/>
              <a:gd name="T7" fmla="*/ 2147483646 h 448"/>
              <a:gd name="T8" fmla="*/ 2147483646 w 152"/>
              <a:gd name="T9" fmla="*/ 2147483646 h 448"/>
              <a:gd name="T10" fmla="*/ 2147483646 w 152"/>
              <a:gd name="T11" fmla="*/ 2147483646 h 448"/>
              <a:gd name="T12" fmla="*/ 2147483646 w 152"/>
              <a:gd name="T13" fmla="*/ 2147483646 h 448"/>
              <a:gd name="T14" fmla="*/ 0 w 152"/>
              <a:gd name="T15" fmla="*/ 2147483646 h 44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52" h="448">
                <a:moveTo>
                  <a:pt x="0" y="8"/>
                </a:moveTo>
                <a:cubicBezTo>
                  <a:pt x="16" y="4"/>
                  <a:pt x="32" y="0"/>
                  <a:pt x="48" y="8"/>
                </a:cubicBezTo>
                <a:cubicBezTo>
                  <a:pt x="64" y="16"/>
                  <a:pt x="80" y="32"/>
                  <a:pt x="96" y="56"/>
                </a:cubicBezTo>
                <a:cubicBezTo>
                  <a:pt x="112" y="80"/>
                  <a:pt x="136" y="112"/>
                  <a:pt x="144" y="152"/>
                </a:cubicBezTo>
                <a:cubicBezTo>
                  <a:pt x="152" y="192"/>
                  <a:pt x="152" y="256"/>
                  <a:pt x="144" y="296"/>
                </a:cubicBezTo>
                <a:cubicBezTo>
                  <a:pt x="136" y="336"/>
                  <a:pt x="112" y="368"/>
                  <a:pt x="96" y="392"/>
                </a:cubicBezTo>
                <a:cubicBezTo>
                  <a:pt x="80" y="416"/>
                  <a:pt x="64" y="432"/>
                  <a:pt x="48" y="440"/>
                </a:cubicBezTo>
                <a:cubicBezTo>
                  <a:pt x="32" y="448"/>
                  <a:pt x="16" y="444"/>
                  <a:pt x="0" y="44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7" name="Text Box 21">
            <a:extLst>
              <a:ext uri="{FF2B5EF4-FFF2-40B4-BE49-F238E27FC236}">
                <a16:creationId xmlns:a16="http://schemas.microsoft.com/office/drawing/2014/main" id="{4CBD8DAB-B287-4B1B-92D2-DE733F914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1" y="5943601"/>
            <a:ext cx="77777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Adapter</a:t>
            </a:r>
          </a:p>
        </p:txBody>
      </p:sp>
      <p:sp>
        <p:nvSpPr>
          <p:cNvPr id="20498" name="Freeform 22">
            <a:extLst>
              <a:ext uri="{FF2B5EF4-FFF2-40B4-BE49-F238E27FC236}">
                <a16:creationId xmlns:a16="http://schemas.microsoft.com/office/drawing/2014/main" id="{83957FAF-3F01-48F5-ABD9-A8C5E2893BE4}"/>
              </a:ext>
            </a:extLst>
          </p:cNvPr>
          <p:cNvSpPr>
            <a:spLocks/>
          </p:cNvSpPr>
          <p:nvPr/>
        </p:nvSpPr>
        <p:spPr bwMode="auto">
          <a:xfrm>
            <a:off x="2438400" y="5638800"/>
            <a:ext cx="1524000" cy="76200"/>
          </a:xfrm>
          <a:custGeom>
            <a:avLst/>
            <a:gdLst>
              <a:gd name="T0" fmla="*/ 0 w 816"/>
              <a:gd name="T1" fmla="*/ 2147483646 h 56"/>
              <a:gd name="T2" fmla="*/ 2147483646 w 816"/>
              <a:gd name="T3" fmla="*/ 2147483646 h 56"/>
              <a:gd name="T4" fmla="*/ 2147483646 w 816"/>
              <a:gd name="T5" fmla="*/ 2147483646 h 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16" h="56">
                <a:moveTo>
                  <a:pt x="0" y="8"/>
                </a:moveTo>
                <a:cubicBezTo>
                  <a:pt x="100" y="4"/>
                  <a:pt x="200" y="0"/>
                  <a:pt x="336" y="8"/>
                </a:cubicBezTo>
                <a:cubicBezTo>
                  <a:pt x="472" y="16"/>
                  <a:pt x="644" y="36"/>
                  <a:pt x="816" y="5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9" name="Text Box 23">
            <a:extLst>
              <a:ext uri="{FF2B5EF4-FFF2-40B4-BE49-F238E27FC236}">
                <a16:creationId xmlns:a16="http://schemas.microsoft.com/office/drawing/2014/main" id="{04BE85DD-4B41-4F65-A61C-D7AA879A1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029201"/>
            <a:ext cx="1066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229FF"/>
                </a:solidFill>
                <a:latin typeface="Comic Sans MS" panose="030F0702030302020204" pitchFamily="66" charset="0"/>
              </a:rPr>
              <a:t>The adapter implements the interface your classes expect</a:t>
            </a:r>
            <a:endParaRPr lang="en-US" altLang="en-US" sz="2400">
              <a:solidFill>
                <a:srgbClr val="0229FF"/>
              </a:solidFill>
            </a:endParaRPr>
          </a:p>
        </p:txBody>
      </p:sp>
      <p:sp>
        <p:nvSpPr>
          <p:cNvPr id="20500" name="Freeform 24">
            <a:extLst>
              <a:ext uri="{FF2B5EF4-FFF2-40B4-BE49-F238E27FC236}">
                <a16:creationId xmlns:a16="http://schemas.microsoft.com/office/drawing/2014/main" id="{FE74ED9F-8FBF-4170-8606-E42F86383A52}"/>
              </a:ext>
            </a:extLst>
          </p:cNvPr>
          <p:cNvSpPr>
            <a:spLocks/>
          </p:cNvSpPr>
          <p:nvPr/>
        </p:nvSpPr>
        <p:spPr bwMode="auto">
          <a:xfrm>
            <a:off x="4419600" y="5410200"/>
            <a:ext cx="990600" cy="304800"/>
          </a:xfrm>
          <a:custGeom>
            <a:avLst/>
            <a:gdLst>
              <a:gd name="T0" fmla="*/ 2147483646 w 624"/>
              <a:gd name="T1" fmla="*/ 0 h 192"/>
              <a:gd name="T2" fmla="*/ 2147483646 w 624"/>
              <a:gd name="T3" fmla="*/ 2147483646 h 192"/>
              <a:gd name="T4" fmla="*/ 0 w 624"/>
              <a:gd name="T5" fmla="*/ 2147483646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24" h="192">
                <a:moveTo>
                  <a:pt x="624" y="0"/>
                </a:moveTo>
                <a:cubicBezTo>
                  <a:pt x="484" y="8"/>
                  <a:pt x="344" y="16"/>
                  <a:pt x="240" y="48"/>
                </a:cubicBezTo>
                <a:cubicBezTo>
                  <a:pt x="136" y="80"/>
                  <a:pt x="68" y="136"/>
                  <a:pt x="0" y="1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1" name="Text Box 25">
            <a:extLst>
              <a:ext uri="{FF2B5EF4-FFF2-40B4-BE49-F238E27FC236}">
                <a16:creationId xmlns:a16="http://schemas.microsoft.com/office/drawing/2014/main" id="{4A42DC58-1291-4B97-89C6-2A872278B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6" y="5272089"/>
            <a:ext cx="3687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229FF"/>
                </a:solidFill>
                <a:latin typeface="Comic Sans MS" panose="030F0702030302020204" pitchFamily="66" charset="0"/>
              </a:rPr>
              <a:t>And talks to the vendor interface to service your requests</a:t>
            </a:r>
          </a:p>
        </p:txBody>
      </p:sp>
      <p:sp>
        <p:nvSpPr>
          <p:cNvPr id="20502" name="Text Box 26">
            <a:extLst>
              <a:ext uri="{FF2B5EF4-FFF2-40B4-BE49-F238E27FC236}">
                <a16:creationId xmlns:a16="http://schemas.microsoft.com/office/drawing/2014/main" id="{0DF2EC90-5468-4751-AD1A-D8710A1E2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25" y="5851525"/>
            <a:ext cx="603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== </a:t>
            </a:r>
          </a:p>
        </p:txBody>
      </p:sp>
      <p:sp>
        <p:nvSpPr>
          <p:cNvPr id="20503" name="AutoShape 27">
            <a:extLst>
              <a:ext uri="{FF2B5EF4-FFF2-40B4-BE49-F238E27FC236}">
                <a16:creationId xmlns:a16="http://schemas.microsoft.com/office/drawing/2014/main" id="{59657104-469B-43B8-A1BD-840D966C1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0988" y="5803900"/>
            <a:ext cx="1293812" cy="685800"/>
          </a:xfrm>
          <a:prstGeom prst="homePlate">
            <a:avLst>
              <a:gd name="adj" fmla="val 4716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Comic Sans MS" panose="030F0702030302020204" pitchFamily="66" charset="0"/>
            </a:endParaRPr>
          </a:p>
        </p:txBody>
      </p:sp>
      <p:sp>
        <p:nvSpPr>
          <p:cNvPr id="20504" name="Text Box 29">
            <a:extLst>
              <a:ext uri="{FF2B5EF4-FFF2-40B4-BE49-F238E27FC236}">
                <a16:creationId xmlns:a16="http://schemas.microsoft.com/office/drawing/2014/main" id="{F53442AA-5F44-496C-916C-BCE6833CD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0989" y="5895976"/>
            <a:ext cx="11929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Your Existing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System</a:t>
            </a:r>
          </a:p>
        </p:txBody>
      </p:sp>
      <p:sp>
        <p:nvSpPr>
          <p:cNvPr id="20505" name="AutoShape 31">
            <a:extLst>
              <a:ext uri="{FF2B5EF4-FFF2-40B4-BE49-F238E27FC236}">
                <a16:creationId xmlns:a16="http://schemas.microsoft.com/office/drawing/2014/main" id="{BA20D488-661B-4940-A884-42F36B09A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791200"/>
            <a:ext cx="838200" cy="685800"/>
          </a:xfrm>
          <a:prstGeom prst="chevron">
            <a:avLst>
              <a:gd name="adj" fmla="val 305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Comic Sans MS" panose="030F0702030302020204" pitchFamily="66" charset="0"/>
            </a:endParaRPr>
          </a:p>
        </p:txBody>
      </p:sp>
      <p:sp>
        <p:nvSpPr>
          <p:cNvPr id="20506" name="AutoShape 28">
            <a:extLst>
              <a:ext uri="{FF2B5EF4-FFF2-40B4-BE49-F238E27FC236}">
                <a16:creationId xmlns:a16="http://schemas.microsoft.com/office/drawing/2014/main" id="{0E74DA38-9840-43A2-92B9-2DF7AC7078EC}"/>
              </a:ext>
            </a:extLst>
          </p:cNvPr>
          <p:cNvSpPr>
            <a:spLocks noChangeArrowheads="1"/>
          </p:cNvSpPr>
          <p:nvPr/>
        </p:nvSpPr>
        <p:spPr bwMode="auto">
          <a:xfrm rot="10764190">
            <a:off x="8077200" y="5791200"/>
            <a:ext cx="1295400" cy="685800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Comic Sans MS" panose="030F0702030302020204" pitchFamily="66" charset="0"/>
            </a:endParaRPr>
          </a:p>
        </p:txBody>
      </p:sp>
      <p:sp>
        <p:nvSpPr>
          <p:cNvPr id="20507" name="Text Box 30">
            <a:extLst>
              <a:ext uri="{FF2B5EF4-FFF2-40B4-BE49-F238E27FC236}">
                <a16:creationId xmlns:a16="http://schemas.microsoft.com/office/drawing/2014/main" id="{CE69781E-B3B1-47EF-9D63-9CE3156ED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1" y="5867401"/>
            <a:ext cx="7393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Vendor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Class</a:t>
            </a:r>
          </a:p>
        </p:txBody>
      </p:sp>
      <p:sp>
        <p:nvSpPr>
          <p:cNvPr id="20508" name="Text Box 32">
            <a:extLst>
              <a:ext uri="{FF2B5EF4-FFF2-40B4-BE49-F238E27FC236}">
                <a16:creationId xmlns:a16="http://schemas.microsoft.com/office/drawing/2014/main" id="{10B4FCC7-2DC8-46DD-B312-25CC87147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1" y="5943601"/>
            <a:ext cx="77777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Adapter</a:t>
            </a:r>
          </a:p>
        </p:txBody>
      </p:sp>
      <p:sp>
        <p:nvSpPr>
          <p:cNvPr id="20509" name="Freeform 33">
            <a:extLst>
              <a:ext uri="{FF2B5EF4-FFF2-40B4-BE49-F238E27FC236}">
                <a16:creationId xmlns:a16="http://schemas.microsoft.com/office/drawing/2014/main" id="{84674E9F-8B94-445B-B059-0F79531D4049}"/>
              </a:ext>
            </a:extLst>
          </p:cNvPr>
          <p:cNvSpPr>
            <a:spLocks/>
          </p:cNvSpPr>
          <p:nvPr/>
        </p:nvSpPr>
        <p:spPr bwMode="auto">
          <a:xfrm>
            <a:off x="6477000" y="6477000"/>
            <a:ext cx="457200" cy="177800"/>
          </a:xfrm>
          <a:custGeom>
            <a:avLst/>
            <a:gdLst>
              <a:gd name="T0" fmla="*/ 0 w 288"/>
              <a:gd name="T1" fmla="*/ 2147483646 h 112"/>
              <a:gd name="T2" fmla="*/ 2147483646 w 288"/>
              <a:gd name="T3" fmla="*/ 2147483646 h 112"/>
              <a:gd name="T4" fmla="*/ 2147483646 w 288"/>
              <a:gd name="T5" fmla="*/ 0 h 1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8" h="112">
                <a:moveTo>
                  <a:pt x="0" y="96"/>
                </a:moveTo>
                <a:cubicBezTo>
                  <a:pt x="96" y="104"/>
                  <a:pt x="192" y="112"/>
                  <a:pt x="240" y="96"/>
                </a:cubicBezTo>
                <a:cubicBezTo>
                  <a:pt x="288" y="80"/>
                  <a:pt x="288" y="40"/>
                  <a:pt x="288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0" name="Text Box 34">
            <a:extLst>
              <a:ext uri="{FF2B5EF4-FFF2-40B4-BE49-F238E27FC236}">
                <a16:creationId xmlns:a16="http://schemas.microsoft.com/office/drawing/2014/main" id="{8DBED2C9-FB12-4573-BEA6-07E0A3AEC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6553201"/>
            <a:ext cx="138211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229FF"/>
                </a:solidFill>
                <a:latin typeface="Comic Sans MS" panose="030F0702030302020204" pitchFamily="66" charset="0"/>
              </a:rPr>
              <a:t>No code changes</a:t>
            </a:r>
          </a:p>
        </p:txBody>
      </p:sp>
      <p:sp>
        <p:nvSpPr>
          <p:cNvPr id="20511" name="Text Box 35">
            <a:extLst>
              <a:ext uri="{FF2B5EF4-FFF2-40B4-BE49-F238E27FC236}">
                <a16:creationId xmlns:a16="http://schemas.microsoft.com/office/drawing/2014/main" id="{C273B61A-9490-48C8-9802-161B422EE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1" y="6553201"/>
            <a:ext cx="87876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229FF"/>
                </a:solidFill>
                <a:latin typeface="Comic Sans MS" panose="030F0702030302020204" pitchFamily="66" charset="0"/>
              </a:rPr>
              <a:t>New code</a:t>
            </a:r>
          </a:p>
        </p:txBody>
      </p:sp>
      <p:sp>
        <p:nvSpPr>
          <p:cNvPr id="20512" name="Text Box 36">
            <a:extLst>
              <a:ext uri="{FF2B5EF4-FFF2-40B4-BE49-F238E27FC236}">
                <a16:creationId xmlns:a16="http://schemas.microsoft.com/office/drawing/2014/main" id="{7183F89A-319E-4518-BEEC-C24B2C7CA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6477001"/>
            <a:ext cx="138211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229FF"/>
                </a:solidFill>
                <a:latin typeface="Comic Sans MS" panose="030F0702030302020204" pitchFamily="66" charset="0"/>
              </a:rPr>
              <a:t>No code changes</a:t>
            </a:r>
          </a:p>
        </p:txBody>
      </p:sp>
      <p:sp>
        <p:nvSpPr>
          <p:cNvPr id="20513" name="Freeform 37">
            <a:extLst>
              <a:ext uri="{FF2B5EF4-FFF2-40B4-BE49-F238E27FC236}">
                <a16:creationId xmlns:a16="http://schemas.microsoft.com/office/drawing/2014/main" id="{ADD34FE3-A06A-47D2-BCE1-FACFEFD1458C}"/>
              </a:ext>
            </a:extLst>
          </p:cNvPr>
          <p:cNvSpPr>
            <a:spLocks/>
          </p:cNvSpPr>
          <p:nvPr/>
        </p:nvSpPr>
        <p:spPr bwMode="auto">
          <a:xfrm>
            <a:off x="7848600" y="6553200"/>
            <a:ext cx="1588" cy="76200"/>
          </a:xfrm>
          <a:custGeom>
            <a:avLst/>
            <a:gdLst>
              <a:gd name="T0" fmla="*/ 0 w 1"/>
              <a:gd name="T1" fmla="*/ 2147483646 h 48"/>
              <a:gd name="T2" fmla="*/ 0 w 1"/>
              <a:gd name="T3" fmla="*/ 0 h 4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48">
                <a:moveTo>
                  <a:pt x="0" y="48"/>
                </a:moveTo>
                <a:cubicBezTo>
                  <a:pt x="0" y="48"/>
                  <a:pt x="0" y="2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4" name="Freeform 38">
            <a:extLst>
              <a:ext uri="{FF2B5EF4-FFF2-40B4-BE49-F238E27FC236}">
                <a16:creationId xmlns:a16="http://schemas.microsoft.com/office/drawing/2014/main" id="{952B3C95-8F85-4551-B3B5-F5CFDF3096CC}"/>
              </a:ext>
            </a:extLst>
          </p:cNvPr>
          <p:cNvSpPr>
            <a:spLocks/>
          </p:cNvSpPr>
          <p:nvPr/>
        </p:nvSpPr>
        <p:spPr bwMode="auto">
          <a:xfrm>
            <a:off x="8737600" y="6553200"/>
            <a:ext cx="177800" cy="177800"/>
          </a:xfrm>
          <a:custGeom>
            <a:avLst/>
            <a:gdLst>
              <a:gd name="T0" fmla="*/ 2147483646 w 112"/>
              <a:gd name="T1" fmla="*/ 2147483646 h 112"/>
              <a:gd name="T2" fmla="*/ 2147483646 w 112"/>
              <a:gd name="T3" fmla="*/ 2147483646 h 112"/>
              <a:gd name="T4" fmla="*/ 2147483646 w 112"/>
              <a:gd name="T5" fmla="*/ 0 h 1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2" h="112">
                <a:moveTo>
                  <a:pt x="112" y="96"/>
                </a:moveTo>
                <a:cubicBezTo>
                  <a:pt x="72" y="104"/>
                  <a:pt x="32" y="112"/>
                  <a:pt x="16" y="96"/>
                </a:cubicBezTo>
                <a:cubicBezTo>
                  <a:pt x="0" y="80"/>
                  <a:pt x="8" y="40"/>
                  <a:pt x="1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8612E52-6624-4534-9C26-D35D607DDD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If it walks like a duck…..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D61D5A5C-BEC5-4BB3-9634-DD7E2F38E3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2800" dirty="0"/>
              <a:t>If it walks like a duck and quacks like a duck, then it might be a </a:t>
            </a:r>
            <a:r>
              <a:rPr lang="en-US" altLang="en-US" sz="2800" strike="sngStrike" dirty="0"/>
              <a:t>duck</a:t>
            </a:r>
            <a:r>
              <a:rPr lang="en-US" altLang="en-US" sz="2800" dirty="0"/>
              <a:t> turkey wrapped with a duck adapter….</a:t>
            </a:r>
          </a:p>
          <a:p>
            <a:pPr eaLnBrk="1" hangingPunct="1">
              <a:buFontTx/>
              <a:buNone/>
            </a:pPr>
            <a:endParaRPr lang="en-US" altLang="en-US" sz="1200" dirty="0">
              <a:latin typeface="Arial Rounded MT Bold" panose="020F0704030504030204" pitchFamily="34" charset="0"/>
            </a:endParaRPr>
          </a:p>
          <a:p>
            <a:pPr eaLnBrk="1" hangingPunct="1">
              <a:buFontTx/>
              <a:buNone/>
            </a:pPr>
            <a:r>
              <a:rPr lang="en-US" altLang="en-US" sz="1400" dirty="0">
                <a:latin typeface="Arial Rounded MT Bold" panose="020F0704030504030204" pitchFamily="34" charset="0"/>
              </a:rPr>
              <a:t> public interface Duck {</a:t>
            </a:r>
          </a:p>
          <a:p>
            <a:pPr eaLnBrk="1" hangingPunct="1">
              <a:buFontTx/>
              <a:buNone/>
            </a:pPr>
            <a:r>
              <a:rPr lang="en-US" altLang="en-US" sz="1400" dirty="0">
                <a:latin typeface="Arial Rounded MT Bold" panose="020F0704030504030204" pitchFamily="34" charset="0"/>
              </a:rPr>
              <a:t>        public void quack ();</a:t>
            </a:r>
          </a:p>
          <a:p>
            <a:pPr eaLnBrk="1" hangingPunct="1">
              <a:buFontTx/>
              <a:buNone/>
            </a:pPr>
            <a:r>
              <a:rPr lang="en-US" altLang="en-US" sz="1400" dirty="0">
                <a:latin typeface="Arial Rounded MT Bold" panose="020F0704030504030204" pitchFamily="34" charset="0"/>
              </a:rPr>
              <a:t>        public void fly ();</a:t>
            </a:r>
          </a:p>
          <a:p>
            <a:pPr eaLnBrk="1" hangingPunct="1">
              <a:buFontTx/>
              <a:buNone/>
            </a:pPr>
            <a:r>
              <a:rPr lang="en-US" altLang="en-US" sz="1400" dirty="0">
                <a:latin typeface="Arial Rounded MT Bold" panose="020F0704030504030204" pitchFamily="34" charset="0"/>
              </a:rPr>
              <a:t> }</a:t>
            </a:r>
          </a:p>
          <a:p>
            <a:pPr eaLnBrk="1" hangingPunct="1">
              <a:buFontTx/>
              <a:buNone/>
            </a:pPr>
            <a:r>
              <a:rPr lang="en-US" altLang="en-US" sz="1400" dirty="0">
                <a:latin typeface="Arial Rounded MT Bold" panose="020F0704030504030204" pitchFamily="34" charset="0"/>
              </a:rPr>
              <a:t> public class </a:t>
            </a:r>
            <a:r>
              <a:rPr lang="en-US" altLang="en-US" sz="1400" dirty="0" err="1">
                <a:latin typeface="Arial Rounded MT Bold" panose="020F0704030504030204" pitchFamily="34" charset="0"/>
              </a:rPr>
              <a:t>MallardDuck</a:t>
            </a:r>
            <a:r>
              <a:rPr lang="en-US" altLang="en-US" sz="1400" dirty="0">
                <a:latin typeface="Arial Rounded MT Bold" panose="020F0704030504030204" pitchFamily="34" charset="0"/>
              </a:rPr>
              <a:t> implements Duck {</a:t>
            </a:r>
          </a:p>
          <a:p>
            <a:pPr eaLnBrk="1" hangingPunct="1">
              <a:buFontTx/>
              <a:buNone/>
            </a:pPr>
            <a:r>
              <a:rPr lang="en-US" altLang="en-US" sz="1400" dirty="0">
                <a:latin typeface="Arial Rounded MT Bold" panose="020F0704030504030204" pitchFamily="34" charset="0"/>
              </a:rPr>
              <a:t>        public void quack () {</a:t>
            </a:r>
          </a:p>
          <a:p>
            <a:pPr eaLnBrk="1" hangingPunct="1">
              <a:buFontTx/>
              <a:buNone/>
            </a:pPr>
            <a:r>
              <a:rPr lang="en-US" altLang="en-US" sz="1400" dirty="0">
                <a:latin typeface="Arial Rounded MT Bold" panose="020F0704030504030204" pitchFamily="34" charset="0"/>
              </a:rPr>
              <a:t>             </a:t>
            </a:r>
            <a:r>
              <a:rPr lang="en-US" altLang="en-US" sz="1400" dirty="0" err="1">
                <a:latin typeface="Arial Rounded MT Bold" panose="020F0704030504030204" pitchFamily="34" charset="0"/>
              </a:rPr>
              <a:t>System.out.println</a:t>
            </a:r>
            <a:r>
              <a:rPr lang="en-US" altLang="en-US" sz="1400" dirty="0">
                <a:latin typeface="Arial Rounded MT Bold" panose="020F0704030504030204" pitchFamily="34" charset="0"/>
              </a:rPr>
              <a:t>(“Quack”);</a:t>
            </a:r>
          </a:p>
          <a:p>
            <a:pPr eaLnBrk="1" hangingPunct="1">
              <a:buFontTx/>
              <a:buNone/>
            </a:pPr>
            <a:r>
              <a:rPr lang="en-US" altLang="en-US" sz="1400" dirty="0">
                <a:latin typeface="Arial Rounded MT Bold" panose="020F0704030504030204" pitchFamily="34" charset="0"/>
              </a:rPr>
              <a:t>         }</a:t>
            </a:r>
          </a:p>
          <a:p>
            <a:pPr eaLnBrk="1" hangingPunct="1">
              <a:buFontTx/>
              <a:buNone/>
            </a:pPr>
            <a:r>
              <a:rPr lang="en-US" altLang="en-US" sz="1400" dirty="0">
                <a:latin typeface="Arial Rounded MT Bold" panose="020F0704030504030204" pitchFamily="34" charset="0"/>
              </a:rPr>
              <a:t>         public void fly ( ) {</a:t>
            </a:r>
          </a:p>
          <a:p>
            <a:pPr eaLnBrk="1" hangingPunct="1">
              <a:buFontTx/>
              <a:buNone/>
            </a:pPr>
            <a:r>
              <a:rPr lang="en-US" altLang="en-US" sz="1400" dirty="0">
                <a:latin typeface="Arial Rounded MT Bold" panose="020F0704030504030204" pitchFamily="34" charset="0"/>
              </a:rPr>
              <a:t>             </a:t>
            </a:r>
            <a:r>
              <a:rPr lang="en-US" altLang="en-US" sz="1400" dirty="0" err="1">
                <a:latin typeface="Arial Rounded MT Bold" panose="020F0704030504030204" pitchFamily="34" charset="0"/>
              </a:rPr>
              <a:t>System.out.println</a:t>
            </a:r>
            <a:r>
              <a:rPr lang="en-US" altLang="en-US" sz="1400" dirty="0">
                <a:latin typeface="Arial Rounded MT Bold" panose="020F0704030504030204" pitchFamily="34" charset="0"/>
              </a:rPr>
              <a:t> (“I am flying”);</a:t>
            </a:r>
          </a:p>
          <a:p>
            <a:pPr eaLnBrk="1" hangingPunct="1">
              <a:buFontTx/>
              <a:buNone/>
            </a:pPr>
            <a:r>
              <a:rPr lang="en-US" altLang="en-US" sz="1400" dirty="0">
                <a:latin typeface="Arial Rounded MT Bold" panose="020F0704030504030204" pitchFamily="34" charset="0"/>
              </a:rPr>
              <a:t>         }</a:t>
            </a:r>
          </a:p>
          <a:p>
            <a:pPr eaLnBrk="1" hangingPunct="1">
              <a:buFontTx/>
              <a:buNone/>
            </a:pPr>
            <a:r>
              <a:rPr lang="en-US" altLang="en-US" sz="1400" dirty="0">
                <a:latin typeface="Arial Rounded MT Bold" panose="020F0704030504030204" pitchFamily="34" charset="0"/>
              </a:rPr>
              <a:t>  }</a:t>
            </a:r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9825EF10-D5F3-4A3B-A717-024F4278D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1" y="2590801"/>
            <a:ext cx="4881849" cy="368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/>
              <a:t>Meet the fowl!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 </a:t>
            </a:r>
            <a:r>
              <a:rPr lang="en-US" altLang="en-US" sz="1400">
                <a:latin typeface="Arial Rounded MT Bold" panose="020F0704030504030204" pitchFamily="34" charset="0"/>
              </a:rPr>
              <a:t>public interface Turkey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   public void gobble 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   public void fly (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public class WildTurkey implements Turkey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    public void gobble ( 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        System.out.println(“Gobble Gobble”);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    public void fly ( 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         System.out.println(“I’m flying a short distance”);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}</a:t>
            </a:r>
          </a:p>
        </p:txBody>
      </p:sp>
      <p:sp>
        <p:nvSpPr>
          <p:cNvPr id="21510" name="Line 6">
            <a:extLst>
              <a:ext uri="{FF2B5EF4-FFF2-40B4-BE49-F238E27FC236}">
                <a16:creationId xmlns:a16="http://schemas.microsoft.com/office/drawing/2014/main" id="{B3E452EF-FC32-4313-9466-E2A81F7AF7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42100" y="5743575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Line 7">
            <a:extLst>
              <a:ext uri="{FF2B5EF4-FFF2-40B4-BE49-F238E27FC236}">
                <a16:creationId xmlns:a16="http://schemas.microsoft.com/office/drawing/2014/main" id="{D80B5F18-D6AB-4833-80F3-E28CA6A0951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95800" y="5562600"/>
            <a:ext cx="1600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Text Box 8">
            <a:extLst>
              <a:ext uri="{FF2B5EF4-FFF2-40B4-BE49-F238E27FC236}">
                <a16:creationId xmlns:a16="http://schemas.microsoft.com/office/drawing/2014/main" id="{C24C411B-59F3-4BC1-A0B3-0BAAE107E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3025" y="6526214"/>
            <a:ext cx="608852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4CD2"/>
                </a:solidFill>
                <a:latin typeface="Comic Sans MS" panose="030F0702030302020204" pitchFamily="66" charset="0"/>
              </a:rPr>
              <a:t>Concrete implementations are similar -- just print out the actions.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7C4964E-E8E6-474D-820D-901E87753A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Now….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A9900B0C-F27E-4628-A3A8-FED17FFAC5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/>
              <a:t>Lets say you are short on Duck objects and would like to use some Turkey objects in their place.</a:t>
            </a:r>
          </a:p>
          <a:p>
            <a:pPr lvl="1" eaLnBrk="1" hangingPunct="1"/>
            <a:r>
              <a:rPr lang="en-US" altLang="en-US" sz="2000"/>
              <a:t>Can’t use them outright because they have a different interface</a:t>
            </a:r>
            <a:r>
              <a:rPr lang="en-US" altLang="en-US" sz="2400"/>
              <a:t>.</a:t>
            </a:r>
          </a:p>
          <a:p>
            <a:pPr lvl="1" eaLnBrk="1" hangingPunct="1">
              <a:buFontTx/>
              <a:buNone/>
            </a:pPr>
            <a:endParaRPr lang="en-US" altLang="en-US" sz="1200">
              <a:latin typeface="Arial Rounded MT Bold" panose="020F0704030504030204" pitchFamily="34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1200">
                <a:latin typeface="Arial Rounded MT Bold" panose="020F0704030504030204" pitchFamily="34" charset="0"/>
              </a:rPr>
              <a:t> public class TurkeyAdapter implements Duck { </a:t>
            </a:r>
          </a:p>
          <a:p>
            <a:pPr lvl="1" eaLnBrk="1" hangingPunct="1">
              <a:buFontTx/>
              <a:buNone/>
            </a:pPr>
            <a:r>
              <a:rPr lang="en-US" altLang="en-US" sz="1200">
                <a:latin typeface="Arial Rounded MT Bold" panose="020F0704030504030204" pitchFamily="34" charset="0"/>
              </a:rPr>
              <a:t>      Turkey turkey;</a:t>
            </a:r>
          </a:p>
          <a:p>
            <a:pPr lvl="1" eaLnBrk="1" hangingPunct="1">
              <a:buFontTx/>
              <a:buNone/>
            </a:pPr>
            <a:r>
              <a:rPr lang="en-US" altLang="en-US" sz="1200">
                <a:latin typeface="Arial Rounded MT Bold" panose="020F0704030504030204" pitchFamily="34" charset="0"/>
              </a:rPr>
              <a:t>	public TurkeyAdapter (Turkey turkey) {</a:t>
            </a:r>
          </a:p>
          <a:p>
            <a:pPr lvl="1" eaLnBrk="1" hangingPunct="1">
              <a:buFontTx/>
              <a:buNone/>
            </a:pPr>
            <a:r>
              <a:rPr lang="en-US" altLang="en-US" sz="1200">
                <a:latin typeface="Arial Rounded MT Bold" panose="020F0704030504030204" pitchFamily="34" charset="0"/>
              </a:rPr>
              <a:t>		this.turkey = turkey;</a:t>
            </a:r>
          </a:p>
          <a:p>
            <a:pPr lvl="1" eaLnBrk="1" hangingPunct="1">
              <a:buFontTx/>
              <a:buNone/>
            </a:pPr>
            <a:r>
              <a:rPr lang="en-US" altLang="en-US" sz="1200">
                <a:latin typeface="Arial Rounded MT Bold" panose="020F0704030504030204" pitchFamily="34" charset="0"/>
              </a:rPr>
              <a:t>	}</a:t>
            </a:r>
          </a:p>
          <a:p>
            <a:pPr lvl="1" eaLnBrk="1" hangingPunct="1">
              <a:buFontTx/>
              <a:buNone/>
            </a:pPr>
            <a:r>
              <a:rPr lang="en-US" altLang="en-US" sz="1200">
                <a:latin typeface="Arial Rounded MT Bold" panose="020F0704030504030204" pitchFamily="34" charset="0"/>
              </a:rPr>
              <a:t>	public void quack ( ) {</a:t>
            </a:r>
          </a:p>
          <a:p>
            <a:pPr lvl="1" eaLnBrk="1" hangingPunct="1">
              <a:buFontTx/>
              <a:buNone/>
            </a:pPr>
            <a:r>
              <a:rPr lang="en-US" altLang="en-US" sz="1200">
                <a:latin typeface="Arial Rounded MT Bold" panose="020F0704030504030204" pitchFamily="34" charset="0"/>
              </a:rPr>
              <a:t>		turkey.gobble ( );</a:t>
            </a:r>
          </a:p>
          <a:p>
            <a:pPr lvl="1" eaLnBrk="1" hangingPunct="1">
              <a:buFontTx/>
              <a:buNone/>
            </a:pPr>
            <a:r>
              <a:rPr lang="en-US" altLang="en-US" sz="1200">
                <a:latin typeface="Arial Rounded MT Bold" panose="020F0704030504030204" pitchFamily="34" charset="0"/>
              </a:rPr>
              <a:t>	}</a:t>
            </a:r>
          </a:p>
          <a:p>
            <a:pPr lvl="1" eaLnBrk="1" hangingPunct="1">
              <a:buFontTx/>
              <a:buNone/>
            </a:pPr>
            <a:r>
              <a:rPr lang="en-US" altLang="en-US" sz="1200">
                <a:latin typeface="Arial Rounded MT Bold" panose="020F0704030504030204" pitchFamily="34" charset="0"/>
              </a:rPr>
              <a:t>	public void fly ( ){</a:t>
            </a:r>
          </a:p>
          <a:p>
            <a:pPr lvl="1" eaLnBrk="1" hangingPunct="1">
              <a:buFontTx/>
              <a:buNone/>
            </a:pPr>
            <a:r>
              <a:rPr lang="en-US" altLang="en-US" sz="1200">
                <a:latin typeface="Arial Rounded MT Bold" panose="020F0704030504030204" pitchFamily="34" charset="0"/>
              </a:rPr>
              <a:t>		for (int j = 0; j&lt;5; j++)</a:t>
            </a:r>
          </a:p>
          <a:p>
            <a:pPr lvl="1" eaLnBrk="1" hangingPunct="1">
              <a:buFontTx/>
              <a:buNone/>
            </a:pPr>
            <a:r>
              <a:rPr lang="en-US" altLang="en-US" sz="1200">
                <a:latin typeface="Arial Rounded MT Bold" panose="020F0704030504030204" pitchFamily="34" charset="0"/>
              </a:rPr>
              <a:t>		     turkey.fly ( );</a:t>
            </a:r>
          </a:p>
          <a:p>
            <a:pPr lvl="1" eaLnBrk="1" hangingPunct="1">
              <a:buFontTx/>
              <a:buNone/>
            </a:pPr>
            <a:r>
              <a:rPr lang="en-US" altLang="en-US" sz="1200">
                <a:latin typeface="Arial Rounded MT Bold" panose="020F0704030504030204" pitchFamily="34" charset="0"/>
              </a:rPr>
              <a:t>	}</a:t>
            </a:r>
          </a:p>
          <a:p>
            <a:pPr lvl="1" eaLnBrk="1" hangingPunct="1">
              <a:buFontTx/>
              <a:buNone/>
            </a:pPr>
            <a:r>
              <a:rPr lang="en-US" altLang="en-US" sz="1200">
                <a:latin typeface="Arial Rounded MT Bold" panose="020F0704030504030204" pitchFamily="34" charset="0"/>
              </a:rPr>
              <a:t>    }</a:t>
            </a:r>
          </a:p>
          <a:p>
            <a:pPr lvl="1" eaLnBrk="1" hangingPunct="1">
              <a:buFontTx/>
              <a:buNone/>
            </a:pPr>
            <a:r>
              <a:rPr lang="en-US" altLang="en-US" sz="1200">
                <a:latin typeface="Arial Rounded MT Bold" panose="020F0704030504030204" pitchFamily="34" charset="0"/>
              </a:rPr>
              <a:t>}</a:t>
            </a:r>
          </a:p>
        </p:txBody>
      </p:sp>
      <p:sp>
        <p:nvSpPr>
          <p:cNvPr id="22532" name="Freeform 4">
            <a:extLst>
              <a:ext uri="{FF2B5EF4-FFF2-40B4-BE49-F238E27FC236}">
                <a16:creationId xmlns:a16="http://schemas.microsoft.com/office/drawing/2014/main" id="{13C40377-8323-4557-8977-07126303534B}"/>
              </a:ext>
            </a:extLst>
          </p:cNvPr>
          <p:cNvSpPr>
            <a:spLocks/>
          </p:cNvSpPr>
          <p:nvPr/>
        </p:nvSpPr>
        <p:spPr bwMode="auto">
          <a:xfrm>
            <a:off x="4953000" y="2667000"/>
            <a:ext cx="1371600" cy="241300"/>
          </a:xfrm>
          <a:custGeom>
            <a:avLst/>
            <a:gdLst>
              <a:gd name="T0" fmla="*/ 2147483646 w 864"/>
              <a:gd name="T1" fmla="*/ 2147483646 h 152"/>
              <a:gd name="T2" fmla="*/ 2147483646 w 864"/>
              <a:gd name="T3" fmla="*/ 2147483646 h 152"/>
              <a:gd name="T4" fmla="*/ 0 w 864"/>
              <a:gd name="T5" fmla="*/ 2147483646 h 1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64" h="152">
                <a:moveTo>
                  <a:pt x="864" y="104"/>
                </a:moveTo>
                <a:cubicBezTo>
                  <a:pt x="600" y="52"/>
                  <a:pt x="336" y="0"/>
                  <a:pt x="192" y="8"/>
                </a:cubicBezTo>
                <a:cubicBezTo>
                  <a:pt x="48" y="16"/>
                  <a:pt x="24" y="84"/>
                  <a:pt x="0" y="15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AFAD0A36-04E5-44C0-8931-05B57ACBE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6" y="2681289"/>
            <a:ext cx="34448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229FF"/>
                </a:solidFill>
                <a:latin typeface="Comic Sans MS" panose="030F0702030302020204" pitchFamily="66" charset="0"/>
              </a:rPr>
              <a:t>First, you need to implement the interface of the type you are adapting to. This is the interface your client expects.</a:t>
            </a:r>
          </a:p>
        </p:txBody>
      </p:sp>
      <p:sp>
        <p:nvSpPr>
          <p:cNvPr id="22534" name="Line 6">
            <a:extLst>
              <a:ext uri="{FF2B5EF4-FFF2-40B4-BE49-F238E27FC236}">
                <a16:creationId xmlns:a16="http://schemas.microsoft.com/office/drawing/2014/main" id="{5B53FDBA-F8C1-4A42-A68E-E7EBAB40EA6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86400" y="35814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5" name="Text Box 7">
            <a:extLst>
              <a:ext uri="{FF2B5EF4-FFF2-40B4-BE49-F238E27FC236}">
                <a16:creationId xmlns:a16="http://schemas.microsoft.com/office/drawing/2014/main" id="{51117BA5-5CBF-45C4-8103-BD9DF98FE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6" y="3900489"/>
            <a:ext cx="4206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229FF"/>
                </a:solidFill>
                <a:latin typeface="Comic Sans MS" panose="030F0702030302020204" pitchFamily="66" charset="0"/>
              </a:rPr>
              <a:t>Next, we need to get a reference to the object that we are adapting; here we do that through the constructor.</a:t>
            </a:r>
          </a:p>
        </p:txBody>
      </p:sp>
      <p:sp>
        <p:nvSpPr>
          <p:cNvPr id="22536" name="Freeform 8">
            <a:extLst>
              <a:ext uri="{FF2B5EF4-FFF2-40B4-BE49-F238E27FC236}">
                <a16:creationId xmlns:a16="http://schemas.microsoft.com/office/drawing/2014/main" id="{3255ACA9-B769-486D-8153-C84C3F1D9184}"/>
              </a:ext>
            </a:extLst>
          </p:cNvPr>
          <p:cNvSpPr>
            <a:spLocks/>
          </p:cNvSpPr>
          <p:nvPr/>
        </p:nvSpPr>
        <p:spPr bwMode="auto">
          <a:xfrm>
            <a:off x="4572000" y="4267200"/>
            <a:ext cx="1143000" cy="609600"/>
          </a:xfrm>
          <a:custGeom>
            <a:avLst/>
            <a:gdLst>
              <a:gd name="T0" fmla="*/ 2147483646 w 720"/>
              <a:gd name="T1" fmla="*/ 2147483646 h 384"/>
              <a:gd name="T2" fmla="*/ 2147483646 w 720"/>
              <a:gd name="T3" fmla="*/ 2147483646 h 384"/>
              <a:gd name="T4" fmla="*/ 2147483646 w 720"/>
              <a:gd name="T5" fmla="*/ 2147483646 h 384"/>
              <a:gd name="T6" fmla="*/ 0 w 720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20" h="384">
                <a:moveTo>
                  <a:pt x="720" y="384"/>
                </a:moveTo>
                <a:cubicBezTo>
                  <a:pt x="588" y="340"/>
                  <a:pt x="456" y="296"/>
                  <a:pt x="432" y="240"/>
                </a:cubicBezTo>
                <a:cubicBezTo>
                  <a:pt x="408" y="184"/>
                  <a:pt x="648" y="88"/>
                  <a:pt x="576" y="48"/>
                </a:cubicBezTo>
                <a:cubicBezTo>
                  <a:pt x="504" y="8"/>
                  <a:pt x="252" y="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Text Box 9">
            <a:extLst>
              <a:ext uri="{FF2B5EF4-FFF2-40B4-BE49-F238E27FC236}">
                <a16:creationId xmlns:a16="http://schemas.microsoft.com/office/drawing/2014/main" id="{68D76958-4E2F-4102-94E1-D610F5A8A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326" y="4814889"/>
            <a:ext cx="43592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229FF"/>
                </a:solidFill>
                <a:latin typeface="Comic Sans MS" panose="030F0702030302020204" pitchFamily="66" charset="0"/>
              </a:rPr>
              <a:t>Now we need to implement all the methods in the interface; the quack() translation between classes is easy; just call the gobble method.</a:t>
            </a:r>
          </a:p>
        </p:txBody>
      </p:sp>
      <p:sp>
        <p:nvSpPr>
          <p:cNvPr id="22538" name="Freeform 10">
            <a:extLst>
              <a:ext uri="{FF2B5EF4-FFF2-40B4-BE49-F238E27FC236}">
                <a16:creationId xmlns:a16="http://schemas.microsoft.com/office/drawing/2014/main" id="{81B94A1D-D622-456B-9CE4-37CCC037315E}"/>
              </a:ext>
            </a:extLst>
          </p:cNvPr>
          <p:cNvSpPr>
            <a:spLocks/>
          </p:cNvSpPr>
          <p:nvPr/>
        </p:nvSpPr>
        <p:spPr bwMode="auto">
          <a:xfrm>
            <a:off x="4343400" y="5257800"/>
            <a:ext cx="939800" cy="457200"/>
          </a:xfrm>
          <a:custGeom>
            <a:avLst/>
            <a:gdLst>
              <a:gd name="T0" fmla="*/ 2147483646 w 592"/>
              <a:gd name="T1" fmla="*/ 2147483646 h 288"/>
              <a:gd name="T2" fmla="*/ 2147483646 w 592"/>
              <a:gd name="T3" fmla="*/ 2147483646 h 288"/>
              <a:gd name="T4" fmla="*/ 2147483646 w 592"/>
              <a:gd name="T5" fmla="*/ 2147483646 h 288"/>
              <a:gd name="T6" fmla="*/ 0 w 592"/>
              <a:gd name="T7" fmla="*/ 0 h 28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92" h="288">
                <a:moveTo>
                  <a:pt x="432" y="288"/>
                </a:moveTo>
                <a:cubicBezTo>
                  <a:pt x="400" y="236"/>
                  <a:pt x="368" y="184"/>
                  <a:pt x="384" y="144"/>
                </a:cubicBezTo>
                <a:cubicBezTo>
                  <a:pt x="400" y="104"/>
                  <a:pt x="592" y="72"/>
                  <a:pt x="528" y="48"/>
                </a:cubicBezTo>
                <a:cubicBezTo>
                  <a:pt x="464" y="24"/>
                  <a:pt x="232" y="12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Text Box 11">
            <a:extLst>
              <a:ext uri="{FF2B5EF4-FFF2-40B4-BE49-F238E27FC236}">
                <a16:creationId xmlns:a16="http://schemas.microsoft.com/office/drawing/2014/main" id="{C9DDA117-BD6F-472A-A9CB-5E34D1BDF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26" y="5805489"/>
            <a:ext cx="51974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229FF"/>
                </a:solidFill>
                <a:latin typeface="Comic Sans MS" panose="030F0702030302020204" pitchFamily="66" charset="0"/>
              </a:rPr>
              <a:t>Even though both interfaces have a fly ( ) method, Turkeys fly in short spurts -- they can’t do long distance flying like ducks. To map between a Duck’s fly ( ) method and a Turkey’s we need to call the Turkey’s fly ( ) method five times to make up for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E449A17-2B4F-4193-8B85-D1437A5AD4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Adapter Pattern Defined</a:t>
            </a:r>
          </a:p>
        </p:txBody>
      </p:sp>
      <p:sp>
        <p:nvSpPr>
          <p:cNvPr id="23555" name="Text Box 4">
            <a:extLst>
              <a:ext uri="{FF2B5EF4-FFF2-40B4-BE49-F238E27FC236}">
                <a16:creationId xmlns:a16="http://schemas.microsoft.com/office/drawing/2014/main" id="{99C8856B-9748-4402-8F9A-AD7F23D28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762" y="1359406"/>
            <a:ext cx="8626475" cy="10156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mic Sans MS" panose="030F0702030302020204" pitchFamily="66" charset="0"/>
              </a:rPr>
              <a:t>The </a:t>
            </a:r>
            <a:r>
              <a:rPr lang="en-US" altLang="en-US" sz="2000" b="1" dirty="0">
                <a:latin typeface="Comic Sans MS" panose="030F0702030302020204" pitchFamily="66" charset="0"/>
              </a:rPr>
              <a:t>Adapter Pattern</a:t>
            </a:r>
            <a:r>
              <a:rPr lang="en-US" altLang="en-US" sz="2000" dirty="0">
                <a:latin typeface="Comic Sans MS" panose="030F0702030302020204" pitchFamily="66" charset="0"/>
              </a:rPr>
              <a:t> converts the interface of a class into another interface the clients expect. Adapter lets classes work together that couldn’t otherwise because of incompatible interfaces. </a:t>
            </a:r>
          </a:p>
        </p:txBody>
      </p:sp>
      <p:sp>
        <p:nvSpPr>
          <p:cNvPr id="23556" name="Text Box 5">
            <a:extLst>
              <a:ext uri="{FF2B5EF4-FFF2-40B4-BE49-F238E27FC236}">
                <a16:creationId xmlns:a16="http://schemas.microsoft.com/office/drawing/2014/main" id="{74E4C0A8-0C6B-41D1-AFA0-9603EF1C9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3200401"/>
            <a:ext cx="986167" cy="30777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      Client</a:t>
            </a:r>
          </a:p>
        </p:txBody>
      </p:sp>
      <p:sp>
        <p:nvSpPr>
          <p:cNvPr id="23557" name="Text Box 6">
            <a:extLst>
              <a:ext uri="{FF2B5EF4-FFF2-40B4-BE49-F238E27FC236}">
                <a16:creationId xmlns:a16="http://schemas.microsoft.com/office/drawing/2014/main" id="{3288282B-270C-42B2-80CE-73F651319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124200"/>
            <a:ext cx="1507144" cy="73866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    &lt;&lt;Interface&gt;&gt;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     Target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 request  ( )</a:t>
            </a:r>
          </a:p>
        </p:txBody>
      </p:sp>
      <p:sp>
        <p:nvSpPr>
          <p:cNvPr id="23558" name="Text Box 7">
            <a:extLst>
              <a:ext uri="{FF2B5EF4-FFF2-40B4-BE49-F238E27FC236}">
                <a16:creationId xmlns:a16="http://schemas.microsoft.com/office/drawing/2014/main" id="{94FCC448-3BCB-478E-A2A8-37EC539DC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1" y="4787900"/>
            <a:ext cx="1116011" cy="5232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   Adapter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 request ( )</a:t>
            </a:r>
          </a:p>
        </p:txBody>
      </p:sp>
      <p:sp>
        <p:nvSpPr>
          <p:cNvPr id="23559" name="Text Box 8">
            <a:extLst>
              <a:ext uri="{FF2B5EF4-FFF2-40B4-BE49-F238E27FC236}">
                <a16:creationId xmlns:a16="http://schemas.microsoft.com/office/drawing/2014/main" id="{86AF8C81-308E-4709-AF4E-9BC9B4D92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4787900"/>
            <a:ext cx="1747594" cy="5232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   Adaptee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 specificRequest ()</a:t>
            </a:r>
          </a:p>
        </p:txBody>
      </p:sp>
      <p:sp>
        <p:nvSpPr>
          <p:cNvPr id="23560" name="Line 9">
            <a:extLst>
              <a:ext uri="{FF2B5EF4-FFF2-40B4-BE49-F238E27FC236}">
                <a16:creationId xmlns:a16="http://schemas.microsoft.com/office/drawing/2014/main" id="{E9ABB4BF-20CB-4365-BC3E-A35DF33ED2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6576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Line 10">
            <a:extLst>
              <a:ext uri="{FF2B5EF4-FFF2-40B4-BE49-F238E27FC236}">
                <a16:creationId xmlns:a16="http://schemas.microsoft.com/office/drawing/2014/main" id="{2041B5C2-FDE1-45D1-B451-48C455FA4F2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1054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Line 11">
            <a:extLst>
              <a:ext uri="{FF2B5EF4-FFF2-40B4-BE49-F238E27FC236}">
                <a16:creationId xmlns:a16="http://schemas.microsoft.com/office/drawing/2014/main" id="{35034355-AF59-496A-813E-4DF993F3DE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105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3" name="Line 12">
            <a:extLst>
              <a:ext uri="{FF2B5EF4-FFF2-40B4-BE49-F238E27FC236}">
                <a16:creationId xmlns:a16="http://schemas.microsoft.com/office/drawing/2014/main" id="{AB8A240C-BA92-4F6E-9B75-E80627A7B0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33528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4" name="Line 13">
            <a:extLst>
              <a:ext uri="{FF2B5EF4-FFF2-40B4-BE49-F238E27FC236}">
                <a16:creationId xmlns:a16="http://schemas.microsoft.com/office/drawing/2014/main" id="{9D795AEE-C047-4E04-87DC-33E90631AB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39624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5" name="Line 14">
            <a:extLst>
              <a:ext uri="{FF2B5EF4-FFF2-40B4-BE49-F238E27FC236}">
                <a16:creationId xmlns:a16="http://schemas.microsoft.com/office/drawing/2014/main" id="{1687942C-FD6F-4408-AF77-B11320B623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5105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6" name="Text Box 15">
            <a:extLst>
              <a:ext uri="{FF2B5EF4-FFF2-40B4-BE49-F238E27FC236}">
                <a16:creationId xmlns:a16="http://schemas.microsoft.com/office/drawing/2014/main" id="{9C602264-9353-4081-AA48-B8813F6AA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26" y="3671889"/>
            <a:ext cx="22256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229FF"/>
                </a:solidFill>
                <a:latin typeface="Comic Sans MS" panose="030F0702030302020204" pitchFamily="66" charset="0"/>
              </a:rPr>
              <a:t>The client sees only the Target interface.</a:t>
            </a:r>
          </a:p>
        </p:txBody>
      </p:sp>
      <p:sp>
        <p:nvSpPr>
          <p:cNvPr id="23567" name="Freeform 16">
            <a:extLst>
              <a:ext uri="{FF2B5EF4-FFF2-40B4-BE49-F238E27FC236}">
                <a16:creationId xmlns:a16="http://schemas.microsoft.com/office/drawing/2014/main" id="{B29815A2-7696-45D3-A0B4-023F3BA5F43A}"/>
              </a:ext>
            </a:extLst>
          </p:cNvPr>
          <p:cNvSpPr>
            <a:spLocks/>
          </p:cNvSpPr>
          <p:nvPr/>
        </p:nvSpPr>
        <p:spPr bwMode="auto">
          <a:xfrm>
            <a:off x="6781800" y="3302000"/>
            <a:ext cx="762000" cy="431800"/>
          </a:xfrm>
          <a:custGeom>
            <a:avLst/>
            <a:gdLst>
              <a:gd name="T0" fmla="*/ 2147483646 w 480"/>
              <a:gd name="T1" fmla="*/ 2147483646 h 272"/>
              <a:gd name="T2" fmla="*/ 2147483646 w 480"/>
              <a:gd name="T3" fmla="*/ 2147483646 h 272"/>
              <a:gd name="T4" fmla="*/ 0 w 480"/>
              <a:gd name="T5" fmla="*/ 2147483646 h 27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80" h="272">
                <a:moveTo>
                  <a:pt x="480" y="272"/>
                </a:moveTo>
                <a:cubicBezTo>
                  <a:pt x="352" y="168"/>
                  <a:pt x="224" y="64"/>
                  <a:pt x="144" y="32"/>
                </a:cubicBezTo>
                <a:cubicBezTo>
                  <a:pt x="64" y="0"/>
                  <a:pt x="32" y="40"/>
                  <a:pt x="0" y="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8" name="Freeform 17">
            <a:extLst>
              <a:ext uri="{FF2B5EF4-FFF2-40B4-BE49-F238E27FC236}">
                <a16:creationId xmlns:a16="http://schemas.microsoft.com/office/drawing/2014/main" id="{69159205-9284-4CA3-AFB9-34E1C4E73829}"/>
              </a:ext>
            </a:extLst>
          </p:cNvPr>
          <p:cNvSpPr>
            <a:spLocks/>
          </p:cNvSpPr>
          <p:nvPr/>
        </p:nvSpPr>
        <p:spPr bwMode="auto">
          <a:xfrm>
            <a:off x="6400800" y="3810000"/>
            <a:ext cx="1143000" cy="1066800"/>
          </a:xfrm>
          <a:custGeom>
            <a:avLst/>
            <a:gdLst>
              <a:gd name="T0" fmla="*/ 2147483646 w 720"/>
              <a:gd name="T1" fmla="*/ 0 h 672"/>
              <a:gd name="T2" fmla="*/ 2147483646 w 720"/>
              <a:gd name="T3" fmla="*/ 2147483646 h 672"/>
              <a:gd name="T4" fmla="*/ 0 w 720"/>
              <a:gd name="T5" fmla="*/ 2147483646 h 67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20" h="672">
                <a:moveTo>
                  <a:pt x="720" y="0"/>
                </a:moveTo>
                <a:cubicBezTo>
                  <a:pt x="636" y="160"/>
                  <a:pt x="552" y="320"/>
                  <a:pt x="432" y="432"/>
                </a:cubicBezTo>
                <a:cubicBezTo>
                  <a:pt x="312" y="544"/>
                  <a:pt x="156" y="608"/>
                  <a:pt x="0" y="67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9" name="Text Box 18">
            <a:extLst>
              <a:ext uri="{FF2B5EF4-FFF2-40B4-BE49-F238E27FC236}">
                <a16:creationId xmlns:a16="http://schemas.microsoft.com/office/drawing/2014/main" id="{8E5EDD5C-160B-4776-B4D9-DA114DC7A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26" y="3427414"/>
            <a:ext cx="28352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229FF"/>
                </a:solidFill>
                <a:latin typeface="Comic Sans MS" panose="030F0702030302020204" pitchFamily="66" charset="0"/>
              </a:rPr>
              <a:t>The Adapter implements the target interface </a:t>
            </a:r>
          </a:p>
        </p:txBody>
      </p:sp>
      <p:sp>
        <p:nvSpPr>
          <p:cNvPr id="23570" name="Freeform 19">
            <a:extLst>
              <a:ext uri="{FF2B5EF4-FFF2-40B4-BE49-F238E27FC236}">
                <a16:creationId xmlns:a16="http://schemas.microsoft.com/office/drawing/2014/main" id="{86335B83-C13A-4E16-9DC5-A00B4AF110E7}"/>
              </a:ext>
            </a:extLst>
          </p:cNvPr>
          <p:cNvSpPr>
            <a:spLocks/>
          </p:cNvSpPr>
          <p:nvPr/>
        </p:nvSpPr>
        <p:spPr bwMode="auto">
          <a:xfrm>
            <a:off x="9144000" y="5257800"/>
            <a:ext cx="381000" cy="609600"/>
          </a:xfrm>
          <a:custGeom>
            <a:avLst/>
            <a:gdLst>
              <a:gd name="T0" fmla="*/ 2147483646 w 240"/>
              <a:gd name="T1" fmla="*/ 2147483646 h 384"/>
              <a:gd name="T2" fmla="*/ 2147483646 w 240"/>
              <a:gd name="T3" fmla="*/ 2147483646 h 384"/>
              <a:gd name="T4" fmla="*/ 2147483646 w 240"/>
              <a:gd name="T5" fmla="*/ 2147483646 h 384"/>
              <a:gd name="T6" fmla="*/ 0 w 240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40" h="384">
                <a:moveTo>
                  <a:pt x="240" y="384"/>
                </a:moveTo>
                <a:cubicBezTo>
                  <a:pt x="148" y="364"/>
                  <a:pt x="56" y="344"/>
                  <a:pt x="48" y="288"/>
                </a:cubicBezTo>
                <a:cubicBezTo>
                  <a:pt x="40" y="232"/>
                  <a:pt x="200" y="96"/>
                  <a:pt x="192" y="48"/>
                </a:cubicBezTo>
                <a:cubicBezTo>
                  <a:pt x="184" y="0"/>
                  <a:pt x="32" y="8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1" name="Text Box 20">
            <a:extLst>
              <a:ext uri="{FF2B5EF4-FFF2-40B4-BE49-F238E27FC236}">
                <a16:creationId xmlns:a16="http://schemas.microsoft.com/office/drawing/2014/main" id="{79776C9C-1CAD-4830-B1CF-F4D25B148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1" y="5943601"/>
            <a:ext cx="323518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229FF"/>
                </a:solidFill>
                <a:latin typeface="Comic Sans MS" panose="030F0702030302020204" pitchFamily="66" charset="0"/>
              </a:rPr>
              <a:t>All requests get delegated to the Adaptee</a:t>
            </a:r>
          </a:p>
        </p:txBody>
      </p:sp>
      <p:sp>
        <p:nvSpPr>
          <p:cNvPr id="23572" name="Freeform 21">
            <a:extLst>
              <a:ext uri="{FF2B5EF4-FFF2-40B4-BE49-F238E27FC236}">
                <a16:creationId xmlns:a16="http://schemas.microsoft.com/office/drawing/2014/main" id="{7F7A5E8E-BF36-4DC5-A0DD-3E65946939B1}"/>
              </a:ext>
            </a:extLst>
          </p:cNvPr>
          <p:cNvSpPr>
            <a:spLocks/>
          </p:cNvSpPr>
          <p:nvPr/>
        </p:nvSpPr>
        <p:spPr bwMode="auto">
          <a:xfrm>
            <a:off x="5638800" y="5257800"/>
            <a:ext cx="1219200" cy="685800"/>
          </a:xfrm>
          <a:custGeom>
            <a:avLst/>
            <a:gdLst>
              <a:gd name="T0" fmla="*/ 0 w 768"/>
              <a:gd name="T1" fmla="*/ 2147483646 h 432"/>
              <a:gd name="T2" fmla="*/ 2147483646 w 768"/>
              <a:gd name="T3" fmla="*/ 2147483646 h 432"/>
              <a:gd name="T4" fmla="*/ 2147483646 w 768"/>
              <a:gd name="T5" fmla="*/ 2147483646 h 432"/>
              <a:gd name="T6" fmla="*/ 2147483646 w 768"/>
              <a:gd name="T7" fmla="*/ 0 h 43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68" h="432">
                <a:moveTo>
                  <a:pt x="0" y="432"/>
                </a:moveTo>
                <a:cubicBezTo>
                  <a:pt x="180" y="424"/>
                  <a:pt x="360" y="416"/>
                  <a:pt x="432" y="384"/>
                </a:cubicBezTo>
                <a:cubicBezTo>
                  <a:pt x="504" y="352"/>
                  <a:pt x="376" y="304"/>
                  <a:pt x="432" y="240"/>
                </a:cubicBezTo>
                <a:cubicBezTo>
                  <a:pt x="488" y="176"/>
                  <a:pt x="628" y="88"/>
                  <a:pt x="768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Text Box 22">
            <a:extLst>
              <a:ext uri="{FF2B5EF4-FFF2-40B4-BE49-F238E27FC236}">
                <a16:creationId xmlns:a16="http://schemas.microsoft.com/office/drawing/2014/main" id="{D2B35F0B-5B7C-4D75-B26C-3595D0BD8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1" y="5867401"/>
            <a:ext cx="21002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229FF"/>
                </a:solidFill>
                <a:latin typeface="Comic Sans MS" panose="030F0702030302020204" pitchFamily="66" charset="0"/>
              </a:rPr>
              <a:t>Adapter is composed with the Adaptee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B7E8DBE-983A-460B-9133-CF54AA6F57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Adapter Summary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FD141AE-2DDF-41BF-909C-4C5515C1D1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Pattern that wraps objects to change its interface</a:t>
            </a:r>
          </a:p>
          <a:p>
            <a:pPr eaLnBrk="1" hangingPunct="1"/>
            <a:r>
              <a:rPr lang="en-US" altLang="en-US" sz="2400"/>
              <a:t>When you need to use an existing class and its interface is not the one you need, use an adapter.</a:t>
            </a:r>
          </a:p>
          <a:p>
            <a:pPr eaLnBrk="1" hangingPunct="1"/>
            <a:r>
              <a:rPr lang="en-US" altLang="en-US" sz="2400"/>
              <a:t>An adapter changes an interface into one a client expects.</a:t>
            </a:r>
          </a:p>
          <a:p>
            <a:pPr eaLnBrk="1" hangingPunct="1"/>
            <a:r>
              <a:rPr lang="en-US" altLang="en-US" sz="2400"/>
              <a:t>Implementing an adapter may require little work or a great deal of work depending on the size and complexity of the target interface.</a:t>
            </a:r>
          </a:p>
          <a:p>
            <a:pPr eaLnBrk="1" hangingPunct="1"/>
            <a:r>
              <a:rPr lang="en-US" altLang="en-US" sz="2400"/>
              <a:t>An adapter wraps an object to change its interface, a decorator (another pattern) wraps an object to add new behaviors and responsibilities.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AF59275-B42A-467C-BB19-142615EB830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en-US" sz="4400"/>
              <a:t>Observer Pattern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2DDE02E-AAC6-48BC-833E-83995A8A971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en-US" sz="3200"/>
              <a:t>Keeping your Objects in the Know!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1DE7BB6-823B-414B-80A1-3F7BEE6C6C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912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The Weather-O-Rama!</a:t>
            </a:r>
          </a:p>
        </p:txBody>
      </p:sp>
      <p:sp>
        <p:nvSpPr>
          <p:cNvPr id="26627" name="Rectangle 4">
            <a:extLst>
              <a:ext uri="{FF2B5EF4-FFF2-40B4-BE49-F238E27FC236}">
                <a16:creationId xmlns:a16="http://schemas.microsoft.com/office/drawing/2014/main" id="{8E845899-09C7-48F6-9FFC-113D08FEE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343912"/>
            <a:ext cx="1600200" cy="10668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6628" name="Oval 5">
            <a:extLst>
              <a:ext uri="{FF2B5EF4-FFF2-40B4-BE49-F238E27FC236}">
                <a16:creationId xmlns:a16="http://schemas.microsoft.com/office/drawing/2014/main" id="{35C9C919-FA44-47D8-9A0E-EE4D4178C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658112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6629" name="Oval 6">
            <a:extLst>
              <a:ext uri="{FF2B5EF4-FFF2-40B4-BE49-F238E27FC236}">
                <a16:creationId xmlns:a16="http://schemas.microsoft.com/office/drawing/2014/main" id="{2EF3E61A-788E-476D-AF75-C7EFB8636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648712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6630" name="Oval 7">
            <a:extLst>
              <a:ext uri="{FF2B5EF4-FFF2-40B4-BE49-F238E27FC236}">
                <a16:creationId xmlns:a16="http://schemas.microsoft.com/office/drawing/2014/main" id="{1902A2CD-1063-4860-AA30-561A7F8D9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715512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6631" name="Line 8">
            <a:extLst>
              <a:ext uri="{FF2B5EF4-FFF2-40B4-BE49-F238E27FC236}">
                <a16:creationId xmlns:a16="http://schemas.microsoft.com/office/drawing/2014/main" id="{BD881509-D0C7-4ECF-A5D4-91F8CC2BDB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1505712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2" name="Line 9">
            <a:extLst>
              <a:ext uri="{FF2B5EF4-FFF2-40B4-BE49-F238E27FC236}">
                <a16:creationId xmlns:a16="http://schemas.microsoft.com/office/drawing/2014/main" id="{0EEA1911-6990-4AE0-83A6-4ACCFD1238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90800" y="1962912"/>
            <a:ext cx="1143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3" name="Line 10">
            <a:extLst>
              <a:ext uri="{FF2B5EF4-FFF2-40B4-BE49-F238E27FC236}">
                <a16:creationId xmlns:a16="http://schemas.microsoft.com/office/drawing/2014/main" id="{2E62ED76-F9C5-48A5-AFA5-04D68CDFB0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2877312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4" name="Line 11">
            <a:extLst>
              <a:ext uri="{FF2B5EF4-FFF2-40B4-BE49-F238E27FC236}">
                <a16:creationId xmlns:a16="http://schemas.microsoft.com/office/drawing/2014/main" id="{97706F8B-8199-494A-827C-78BB758FDD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3258312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5" name="Oval 13">
            <a:extLst>
              <a:ext uri="{FF2B5EF4-FFF2-40B4-BE49-F238E27FC236}">
                <a16:creationId xmlns:a16="http://schemas.microsoft.com/office/drawing/2014/main" id="{179B3938-D521-471F-9BC5-887543D86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267712"/>
            <a:ext cx="990600" cy="990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6636" name="Rectangle 14">
            <a:extLst>
              <a:ext uri="{FF2B5EF4-FFF2-40B4-BE49-F238E27FC236}">
                <a16:creationId xmlns:a16="http://schemas.microsoft.com/office/drawing/2014/main" id="{92CF998B-7C8D-49C4-854D-84C3F0221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2039112"/>
            <a:ext cx="12192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6637" name="Freeform 15">
            <a:extLst>
              <a:ext uri="{FF2B5EF4-FFF2-40B4-BE49-F238E27FC236}">
                <a16:creationId xmlns:a16="http://schemas.microsoft.com/office/drawing/2014/main" id="{772DDB89-E5F7-4377-871A-D55462B08A2E}"/>
              </a:ext>
            </a:extLst>
          </p:cNvPr>
          <p:cNvSpPr>
            <a:spLocks/>
          </p:cNvSpPr>
          <p:nvPr/>
        </p:nvSpPr>
        <p:spPr bwMode="auto">
          <a:xfrm>
            <a:off x="5486400" y="2102612"/>
            <a:ext cx="990600" cy="241300"/>
          </a:xfrm>
          <a:custGeom>
            <a:avLst/>
            <a:gdLst>
              <a:gd name="T0" fmla="*/ 1572577500 w 624"/>
              <a:gd name="T1" fmla="*/ 383063750 h 152"/>
              <a:gd name="T2" fmla="*/ 967740000 w 624"/>
              <a:gd name="T3" fmla="*/ 20161250 h 152"/>
              <a:gd name="T4" fmla="*/ 0 w 624"/>
              <a:gd name="T5" fmla="*/ 262096250 h 1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24" h="152">
                <a:moveTo>
                  <a:pt x="624" y="152"/>
                </a:moveTo>
                <a:cubicBezTo>
                  <a:pt x="556" y="84"/>
                  <a:pt x="488" y="16"/>
                  <a:pt x="384" y="8"/>
                </a:cubicBezTo>
                <a:cubicBezTo>
                  <a:pt x="280" y="0"/>
                  <a:pt x="140" y="52"/>
                  <a:pt x="0" y="10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8" name="Freeform 16">
            <a:extLst>
              <a:ext uri="{FF2B5EF4-FFF2-40B4-BE49-F238E27FC236}">
                <a16:creationId xmlns:a16="http://schemas.microsoft.com/office/drawing/2014/main" id="{D5B49B4C-CDB0-4087-942D-669664741D4F}"/>
              </a:ext>
            </a:extLst>
          </p:cNvPr>
          <p:cNvSpPr>
            <a:spLocks/>
          </p:cNvSpPr>
          <p:nvPr/>
        </p:nvSpPr>
        <p:spPr bwMode="auto">
          <a:xfrm>
            <a:off x="7010400" y="2039112"/>
            <a:ext cx="1600200" cy="304800"/>
          </a:xfrm>
          <a:custGeom>
            <a:avLst/>
            <a:gdLst>
              <a:gd name="T0" fmla="*/ 57703336 w 1032"/>
              <a:gd name="T1" fmla="*/ 446649231 h 208"/>
              <a:gd name="T2" fmla="*/ 403923352 w 1032"/>
              <a:gd name="T3" fmla="*/ 34357408 h 208"/>
              <a:gd name="T4" fmla="*/ 2147483646 w 1032"/>
              <a:gd name="T5" fmla="*/ 240503319 h 20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32" h="208">
                <a:moveTo>
                  <a:pt x="24" y="208"/>
                </a:moveTo>
                <a:cubicBezTo>
                  <a:pt x="12" y="120"/>
                  <a:pt x="0" y="32"/>
                  <a:pt x="168" y="16"/>
                </a:cubicBezTo>
                <a:cubicBezTo>
                  <a:pt x="336" y="0"/>
                  <a:pt x="684" y="56"/>
                  <a:pt x="1032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9" name="Text Box 17">
            <a:extLst>
              <a:ext uri="{FF2B5EF4-FFF2-40B4-BE49-F238E27FC236}">
                <a16:creationId xmlns:a16="http://schemas.microsoft.com/office/drawing/2014/main" id="{88E206C1-C010-4A50-BAD7-E83BC8D85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2039113"/>
            <a:ext cx="18446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Humidity Sensor Device</a:t>
            </a:r>
          </a:p>
        </p:txBody>
      </p:sp>
      <p:sp>
        <p:nvSpPr>
          <p:cNvPr id="26640" name="Text Box 18">
            <a:extLst>
              <a:ext uri="{FF2B5EF4-FFF2-40B4-BE49-F238E27FC236}">
                <a16:creationId xmlns:a16="http://schemas.microsoft.com/office/drawing/2014/main" id="{1CF520DA-DEC4-4528-81C7-FA83923A2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2953513"/>
            <a:ext cx="18446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Temperature Sensor Device</a:t>
            </a:r>
          </a:p>
        </p:txBody>
      </p:sp>
      <p:sp>
        <p:nvSpPr>
          <p:cNvPr id="26641" name="Text Box 19">
            <a:extLst>
              <a:ext uri="{FF2B5EF4-FFF2-40B4-BE49-F238E27FC236}">
                <a16:creationId xmlns:a16="http://schemas.microsoft.com/office/drawing/2014/main" id="{BC1C970C-09A8-4615-A3EC-A80686E29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4096513"/>
            <a:ext cx="18446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Pressure Sensor Device</a:t>
            </a:r>
          </a:p>
        </p:txBody>
      </p:sp>
      <p:sp>
        <p:nvSpPr>
          <p:cNvPr id="26642" name="Text Box 20">
            <a:extLst>
              <a:ext uri="{FF2B5EF4-FFF2-40B4-BE49-F238E27FC236}">
                <a16:creationId xmlns:a16="http://schemas.microsoft.com/office/drawing/2014/main" id="{093D9D6B-C8F4-483D-B930-673FC7D7F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1" y="3486913"/>
            <a:ext cx="18446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Weather Station</a:t>
            </a:r>
          </a:p>
        </p:txBody>
      </p:sp>
      <p:sp>
        <p:nvSpPr>
          <p:cNvPr id="26643" name="Text Box 21">
            <a:extLst>
              <a:ext uri="{FF2B5EF4-FFF2-40B4-BE49-F238E27FC236}">
                <a16:creationId xmlns:a16="http://schemas.microsoft.com/office/drawing/2014/main" id="{C7017A19-309D-48DB-AF0B-15A445FC9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1" y="1810513"/>
            <a:ext cx="18446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Pulls data</a:t>
            </a:r>
          </a:p>
        </p:txBody>
      </p:sp>
      <p:sp>
        <p:nvSpPr>
          <p:cNvPr id="26644" name="Text Box 22">
            <a:extLst>
              <a:ext uri="{FF2B5EF4-FFF2-40B4-BE49-F238E27FC236}">
                <a16:creationId xmlns:a16="http://schemas.microsoft.com/office/drawing/2014/main" id="{5EEAED3A-88F9-43C0-B3AF-9F83D3F7A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1" y="1810513"/>
            <a:ext cx="18446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Displays</a:t>
            </a:r>
          </a:p>
        </p:txBody>
      </p:sp>
      <p:sp>
        <p:nvSpPr>
          <p:cNvPr id="26645" name="Text Box 23">
            <a:extLst>
              <a:ext uri="{FF2B5EF4-FFF2-40B4-BE49-F238E27FC236}">
                <a16:creationId xmlns:a16="http://schemas.microsoft.com/office/drawing/2014/main" id="{C3C15DCB-A102-4232-9DE9-AC3DACA6A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1" y="667513"/>
            <a:ext cx="184467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Current conditions is one of three different displays. The user can also get weather stats and a forecast.</a:t>
            </a:r>
          </a:p>
        </p:txBody>
      </p:sp>
      <p:sp>
        <p:nvSpPr>
          <p:cNvPr id="26646" name="Line 24">
            <a:extLst>
              <a:ext uri="{FF2B5EF4-FFF2-40B4-BE49-F238E27FC236}">
                <a16:creationId xmlns:a16="http://schemas.microsoft.com/office/drawing/2014/main" id="{05381F7E-443A-4A48-B621-8221CB9A269A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0" y="1734312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7" name="Text Box 25">
            <a:extLst>
              <a:ext uri="{FF2B5EF4-FFF2-40B4-BE49-F238E27FC236}">
                <a16:creationId xmlns:a16="http://schemas.microsoft.com/office/drawing/2014/main" id="{E83A4F77-72BA-4520-8DD0-9471E07B0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1" y="3791713"/>
            <a:ext cx="18446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Display Device</a:t>
            </a:r>
          </a:p>
        </p:txBody>
      </p:sp>
      <p:sp>
        <p:nvSpPr>
          <p:cNvPr id="26648" name="Text Box 26">
            <a:extLst>
              <a:ext uri="{FF2B5EF4-FFF2-40B4-BE49-F238E27FC236}">
                <a16:creationId xmlns:a16="http://schemas.microsoft.com/office/drawing/2014/main" id="{E56023BD-8909-433F-A102-20F2C12E3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2039113"/>
            <a:ext cx="1219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Current Conditions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Temp: 72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Humidity: 60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Pressure: </a:t>
            </a:r>
          </a:p>
        </p:txBody>
      </p:sp>
      <p:sp>
        <p:nvSpPr>
          <p:cNvPr id="26649" name="AutoShape 27">
            <a:extLst>
              <a:ext uri="{FF2B5EF4-FFF2-40B4-BE49-F238E27FC236}">
                <a16:creationId xmlns:a16="http://schemas.microsoft.com/office/drawing/2014/main" id="{55D72C45-8ABD-487F-9858-36302F1D4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2600" y="3182112"/>
            <a:ext cx="152400" cy="228600"/>
          </a:xfrm>
          <a:prstGeom prst="downArrow">
            <a:avLst>
              <a:gd name="adj1" fmla="val 50000"/>
              <a:gd name="adj2" fmla="val 375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6650" name="Text Box 28">
            <a:extLst>
              <a:ext uri="{FF2B5EF4-FFF2-40B4-BE49-F238E27FC236}">
                <a16:creationId xmlns:a16="http://schemas.microsoft.com/office/drawing/2014/main" id="{BF0CB495-2BB0-4A5A-958B-27CEB5457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010912"/>
            <a:ext cx="3200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mic Sans MS" panose="030F0702030302020204" pitchFamily="66" charset="0"/>
              </a:rPr>
              <a:t>Weather-O-Rama provides</a:t>
            </a:r>
          </a:p>
        </p:txBody>
      </p:sp>
      <p:sp>
        <p:nvSpPr>
          <p:cNvPr id="26651" name="Text Box 29">
            <a:extLst>
              <a:ext uri="{FF2B5EF4-FFF2-40B4-BE49-F238E27FC236}">
                <a16:creationId xmlns:a16="http://schemas.microsoft.com/office/drawing/2014/main" id="{A0893181-5925-48A7-8489-0C6620EDC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010912"/>
            <a:ext cx="3200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mic Sans MS" panose="030F0702030302020204" pitchFamily="66" charset="0"/>
              </a:rPr>
              <a:t>What we implement</a:t>
            </a:r>
          </a:p>
        </p:txBody>
      </p:sp>
      <p:sp>
        <p:nvSpPr>
          <p:cNvPr id="26652" name="Text Box 30">
            <a:extLst>
              <a:ext uri="{FF2B5EF4-FFF2-40B4-BE49-F238E27FC236}">
                <a16:creationId xmlns:a16="http://schemas.microsoft.com/office/drawing/2014/main" id="{044D9A14-C252-40C3-9219-0826AFF28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126" y="5560188"/>
            <a:ext cx="91598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A1800"/>
                </a:solidFill>
              </a:rPr>
              <a:t>The Job: Create an app that uses the </a:t>
            </a:r>
            <a:r>
              <a:rPr lang="en-US" altLang="en-US" sz="2400">
                <a:solidFill>
                  <a:srgbClr val="CA1800"/>
                </a:solidFill>
                <a:latin typeface="Comic Sans MS" panose="030F0702030302020204" pitchFamily="66" charset="0"/>
              </a:rPr>
              <a:t>WeatherData</a:t>
            </a:r>
            <a:r>
              <a:rPr lang="en-US" altLang="en-US" sz="2400">
                <a:solidFill>
                  <a:srgbClr val="CA1800"/>
                </a:solidFill>
              </a:rPr>
              <a:t> object to update three displays for current conditions, weather stats, and a forecast.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EDED329-10F2-43F5-B025-7471A85C8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Time for the Observer!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527643C-CB77-4A91-9886-65C64DE880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The Newspaper or Magazine subscription model:</a:t>
            </a:r>
          </a:p>
          <a:p>
            <a:pPr lvl="1" eaLnBrk="1" hangingPunct="1"/>
            <a:r>
              <a:rPr lang="en-US" altLang="en-US" sz="2400" dirty="0"/>
              <a:t>A newspaper publisher goes into business and begins publishing newspapers</a:t>
            </a:r>
          </a:p>
          <a:p>
            <a:pPr lvl="1" eaLnBrk="1" hangingPunct="1"/>
            <a:r>
              <a:rPr lang="en-US" altLang="en-US" sz="2400" dirty="0"/>
              <a:t>You subscribe to a particular newspaper, and every time there is a new edition, it gets delivered to you. As long as you remain a subscriber, you get new newspapers.</a:t>
            </a:r>
          </a:p>
          <a:p>
            <a:pPr lvl="1" eaLnBrk="1" hangingPunct="1"/>
            <a:r>
              <a:rPr lang="en-US" altLang="en-US" sz="2400" dirty="0"/>
              <a:t>You unsubscribe when you don’t want the newspapers anymore -- and they stop being delivered</a:t>
            </a:r>
          </a:p>
          <a:p>
            <a:pPr lvl="1" eaLnBrk="1" hangingPunct="1"/>
            <a:r>
              <a:rPr lang="en-US" altLang="en-US" sz="2400" dirty="0"/>
              <a:t>While the publisher remains in business people, hotels, airlines </a:t>
            </a:r>
            <a:r>
              <a:rPr lang="en-US" altLang="en-US" sz="2400" dirty="0" err="1"/>
              <a:t>etc</a:t>
            </a:r>
            <a:r>
              <a:rPr lang="en-US" altLang="en-US" sz="2400" dirty="0"/>
              <a:t> constantly subscribe and unsubscribe to the newspaper.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reeform 22">
            <a:extLst>
              <a:ext uri="{FF2B5EF4-FFF2-40B4-BE49-F238E27FC236}">
                <a16:creationId xmlns:a16="http://schemas.microsoft.com/office/drawing/2014/main" id="{C639D407-B5CD-437E-86E7-6D40C2EC38B8}"/>
              </a:ext>
            </a:extLst>
          </p:cNvPr>
          <p:cNvSpPr>
            <a:spLocks/>
          </p:cNvSpPr>
          <p:nvPr/>
        </p:nvSpPr>
        <p:spPr bwMode="auto">
          <a:xfrm>
            <a:off x="7239000" y="2362200"/>
            <a:ext cx="3060700" cy="3683000"/>
          </a:xfrm>
          <a:custGeom>
            <a:avLst/>
            <a:gdLst>
              <a:gd name="T0" fmla="*/ 1129030000 w 1928"/>
              <a:gd name="T1" fmla="*/ 475686348 h 2136"/>
              <a:gd name="T2" fmla="*/ 161290000 w 1928"/>
              <a:gd name="T3" fmla="*/ 1474627680 h 2136"/>
              <a:gd name="T4" fmla="*/ 161290000 w 1928"/>
              <a:gd name="T5" fmla="*/ 2147483646 h 2136"/>
              <a:gd name="T6" fmla="*/ 766127500 w 1928"/>
              <a:gd name="T7" fmla="*/ 2147483646 h 2136"/>
              <a:gd name="T8" fmla="*/ 1733867500 w 1928"/>
              <a:gd name="T9" fmla="*/ 2147483646 h 2136"/>
              <a:gd name="T10" fmla="*/ 2147483646 w 1928"/>
              <a:gd name="T11" fmla="*/ 2147483646 h 2136"/>
              <a:gd name="T12" fmla="*/ 2147483646 w 1928"/>
              <a:gd name="T13" fmla="*/ 2147483646 h 2136"/>
              <a:gd name="T14" fmla="*/ 2147483646 w 1928"/>
              <a:gd name="T15" fmla="*/ 2147483646 h 2136"/>
              <a:gd name="T16" fmla="*/ 2147483646 w 1928"/>
              <a:gd name="T17" fmla="*/ 2147483646 h 2136"/>
              <a:gd name="T18" fmla="*/ 2147483646 w 1928"/>
              <a:gd name="T19" fmla="*/ 2147483646 h 2136"/>
              <a:gd name="T20" fmla="*/ 2147483646 w 1928"/>
              <a:gd name="T21" fmla="*/ 2147483646 h 2136"/>
              <a:gd name="T22" fmla="*/ 2147483646 w 1928"/>
              <a:gd name="T23" fmla="*/ 1760041213 h 2136"/>
              <a:gd name="T24" fmla="*/ 2147483646 w 1928"/>
              <a:gd name="T25" fmla="*/ 1046509966 h 2136"/>
              <a:gd name="T26" fmla="*/ 2147483646 w 1928"/>
              <a:gd name="T27" fmla="*/ 761098157 h 2136"/>
              <a:gd name="T28" fmla="*/ 1975802500 w 1928"/>
              <a:gd name="T29" fmla="*/ 47568635 h 2136"/>
              <a:gd name="T30" fmla="*/ 1249997500 w 1928"/>
              <a:gd name="T31" fmla="*/ 475686348 h 2136"/>
              <a:gd name="T32" fmla="*/ 1008062500 w 1928"/>
              <a:gd name="T33" fmla="*/ 475686348 h 21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1928" h="2136">
                <a:moveTo>
                  <a:pt x="448" y="160"/>
                </a:moveTo>
                <a:cubicBezTo>
                  <a:pt x="288" y="228"/>
                  <a:pt x="128" y="296"/>
                  <a:pt x="64" y="496"/>
                </a:cubicBezTo>
                <a:cubicBezTo>
                  <a:pt x="0" y="696"/>
                  <a:pt x="24" y="1128"/>
                  <a:pt x="64" y="1360"/>
                </a:cubicBezTo>
                <a:cubicBezTo>
                  <a:pt x="104" y="1592"/>
                  <a:pt x="200" y="1768"/>
                  <a:pt x="304" y="1888"/>
                </a:cubicBezTo>
                <a:cubicBezTo>
                  <a:pt x="408" y="2008"/>
                  <a:pt x="552" y="2040"/>
                  <a:pt x="688" y="2080"/>
                </a:cubicBezTo>
                <a:cubicBezTo>
                  <a:pt x="824" y="2120"/>
                  <a:pt x="976" y="2136"/>
                  <a:pt x="1120" y="2128"/>
                </a:cubicBezTo>
                <a:cubicBezTo>
                  <a:pt x="1264" y="2120"/>
                  <a:pt x="1440" y="2120"/>
                  <a:pt x="1552" y="2032"/>
                </a:cubicBezTo>
                <a:cubicBezTo>
                  <a:pt x="1664" y="1944"/>
                  <a:pt x="1736" y="1712"/>
                  <a:pt x="1792" y="1600"/>
                </a:cubicBezTo>
                <a:cubicBezTo>
                  <a:pt x="1848" y="1488"/>
                  <a:pt x="1872" y="1440"/>
                  <a:pt x="1888" y="1360"/>
                </a:cubicBezTo>
                <a:cubicBezTo>
                  <a:pt x="1904" y="1280"/>
                  <a:pt x="1928" y="1216"/>
                  <a:pt x="1888" y="1120"/>
                </a:cubicBezTo>
                <a:cubicBezTo>
                  <a:pt x="1848" y="1024"/>
                  <a:pt x="1680" y="872"/>
                  <a:pt x="1648" y="784"/>
                </a:cubicBezTo>
                <a:cubicBezTo>
                  <a:pt x="1616" y="696"/>
                  <a:pt x="1752" y="664"/>
                  <a:pt x="1696" y="592"/>
                </a:cubicBezTo>
                <a:cubicBezTo>
                  <a:pt x="1640" y="520"/>
                  <a:pt x="1400" y="408"/>
                  <a:pt x="1312" y="352"/>
                </a:cubicBezTo>
                <a:cubicBezTo>
                  <a:pt x="1224" y="296"/>
                  <a:pt x="1256" y="312"/>
                  <a:pt x="1168" y="256"/>
                </a:cubicBezTo>
                <a:cubicBezTo>
                  <a:pt x="1080" y="200"/>
                  <a:pt x="896" y="32"/>
                  <a:pt x="784" y="16"/>
                </a:cubicBezTo>
                <a:cubicBezTo>
                  <a:pt x="672" y="0"/>
                  <a:pt x="560" y="136"/>
                  <a:pt x="496" y="160"/>
                </a:cubicBezTo>
                <a:cubicBezTo>
                  <a:pt x="432" y="184"/>
                  <a:pt x="416" y="172"/>
                  <a:pt x="400" y="160"/>
                </a:cubicBezTo>
              </a:path>
            </a:pathLst>
          </a:custGeom>
          <a:solidFill>
            <a:srgbClr val="99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7254846-628B-4617-9D09-67D881FA2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Publishers + Subscribers = Observer Pattern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19F11A86-2B3E-4631-85C6-9942EE5389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52600" y="1600200"/>
            <a:ext cx="8686800" cy="762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Publisher == Subject</a:t>
            </a:r>
          </a:p>
          <a:p>
            <a:pPr eaLnBrk="1" hangingPunct="1"/>
            <a:r>
              <a:rPr lang="en-US" altLang="en-US" sz="2000"/>
              <a:t>Subscribers == Observers</a:t>
            </a:r>
          </a:p>
        </p:txBody>
      </p:sp>
      <p:sp>
        <p:nvSpPr>
          <p:cNvPr id="28677" name="Oval 4">
            <a:extLst>
              <a:ext uri="{FF2B5EF4-FFF2-40B4-BE49-F238E27FC236}">
                <a16:creationId xmlns:a16="http://schemas.microsoft.com/office/drawing/2014/main" id="{1CCCD7E2-141E-46B6-B73D-4D3FE653D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8800" y="29210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8678" name="Oval 5">
            <a:extLst>
              <a:ext uri="{FF2B5EF4-FFF2-40B4-BE49-F238E27FC236}">
                <a16:creationId xmlns:a16="http://schemas.microsoft.com/office/drawing/2014/main" id="{AFE68691-EAB2-48B3-82CF-316D0891F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5600" y="3759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8679" name="Oval 6">
            <a:extLst>
              <a:ext uri="{FF2B5EF4-FFF2-40B4-BE49-F238E27FC236}">
                <a16:creationId xmlns:a16="http://schemas.microsoft.com/office/drawing/2014/main" id="{7A6C665C-4822-4FB9-886F-FF28BB764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8800" y="45974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8680" name="Oval 7">
            <a:extLst>
              <a:ext uri="{FF2B5EF4-FFF2-40B4-BE49-F238E27FC236}">
                <a16:creationId xmlns:a16="http://schemas.microsoft.com/office/drawing/2014/main" id="{133B568A-7007-4027-B24C-A4DF6D8F2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400" y="3378200"/>
            <a:ext cx="9906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8681" name="Oval 8">
            <a:extLst>
              <a:ext uri="{FF2B5EF4-FFF2-40B4-BE49-F238E27FC236}">
                <a16:creationId xmlns:a16="http://schemas.microsoft.com/office/drawing/2014/main" id="{FB6832B4-2EEF-4546-BB3C-A1C06773C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6200" y="55880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8682" name="Picture 9" descr="BD05789_                                                       0002AEB6Macintosh HD                   BB7549B6:">
            <a:extLst>
              <a:ext uri="{FF2B5EF4-FFF2-40B4-BE49-F238E27FC236}">
                <a16:creationId xmlns:a16="http://schemas.microsoft.com/office/drawing/2014/main" id="{EA961B17-C504-4F7D-BA81-803A1E2C71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83000" y="3530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8683" name="Text Box 10">
            <a:extLst>
              <a:ext uri="{FF2B5EF4-FFF2-40B4-BE49-F238E27FC236}">
                <a16:creationId xmlns:a16="http://schemas.microsoft.com/office/drawing/2014/main" id="{C1442FA2-5D51-4491-8C2C-0949D1553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1" y="3911600"/>
            <a:ext cx="519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 </a:t>
            </a:r>
            <a:r>
              <a:rPr lang="en-US" altLang="en-US" sz="1600">
                <a:latin typeface="Comic Sans MS" panose="030F0702030302020204" pitchFamily="66" charset="0"/>
              </a:rPr>
              <a:t>int</a:t>
            </a:r>
            <a:endParaRPr lang="en-US" altLang="en-US" sz="2400"/>
          </a:p>
        </p:txBody>
      </p:sp>
      <p:sp>
        <p:nvSpPr>
          <p:cNvPr id="28684" name="Text Box 11">
            <a:extLst>
              <a:ext uri="{FF2B5EF4-FFF2-40B4-BE49-F238E27FC236}">
                <a16:creationId xmlns:a16="http://schemas.microsoft.com/office/drawing/2014/main" id="{B78E1CC0-13A7-4818-B22D-CEDD0B179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00" y="3302001"/>
            <a:ext cx="29367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2</a:t>
            </a:r>
            <a:endParaRPr lang="en-US" altLang="en-US" sz="2400"/>
          </a:p>
        </p:txBody>
      </p:sp>
      <p:sp>
        <p:nvSpPr>
          <p:cNvPr id="28685" name="Line 12">
            <a:extLst>
              <a:ext uri="{FF2B5EF4-FFF2-40B4-BE49-F238E27FC236}">
                <a16:creationId xmlns:a16="http://schemas.microsoft.com/office/drawing/2014/main" id="{82A9AD5F-42F2-4431-A7B6-11547146C0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45000" y="3149600"/>
            <a:ext cx="373380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Line 13">
            <a:extLst>
              <a:ext uri="{FF2B5EF4-FFF2-40B4-BE49-F238E27FC236}">
                <a16:creationId xmlns:a16="http://schemas.microsoft.com/office/drawing/2014/main" id="{58B7B37F-0282-49E7-803B-B22283D2C2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5000" y="3911600"/>
            <a:ext cx="480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7" name="Line 14">
            <a:extLst>
              <a:ext uri="{FF2B5EF4-FFF2-40B4-BE49-F238E27FC236}">
                <a16:creationId xmlns:a16="http://schemas.microsoft.com/office/drawing/2014/main" id="{E80C995D-5E68-4F78-BAD5-D89C4461C5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2600" y="4140200"/>
            <a:ext cx="388620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8" name="WordArt 16">
            <a:extLst>
              <a:ext uri="{FF2B5EF4-FFF2-40B4-BE49-F238E27FC236}">
                <a16:creationId xmlns:a16="http://schemas.microsoft.com/office/drawing/2014/main" id="{0DD5B1B8-EC12-4CD6-940B-840D7A3D7E1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378200" y="3302000"/>
            <a:ext cx="1143000" cy="304800"/>
          </a:xfrm>
          <a:prstGeom prst="rect">
            <a:avLst/>
          </a:prstGeom>
        </p:spPr>
        <p:txBody>
          <a:bodyPr spcFirstLastPara="1" wrap="none" fromWordArt="1">
            <a:prstTxWarp prst="textArchUp">
              <a:avLst>
                <a:gd name="adj" fmla="val 1080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Arial Black" panose="020B0A04020102020204" pitchFamily="34" charset="0"/>
              </a:rPr>
              <a:t>Subject Object</a:t>
            </a:r>
          </a:p>
        </p:txBody>
      </p:sp>
      <p:sp>
        <p:nvSpPr>
          <p:cNvPr id="28689" name="WordArt 17">
            <a:extLst>
              <a:ext uri="{FF2B5EF4-FFF2-40B4-BE49-F238E27FC236}">
                <a16:creationId xmlns:a16="http://schemas.microsoft.com/office/drawing/2014/main" id="{AA50F965-FA17-4C4B-8DF6-C6EBAA3C2D4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026400" y="3378200"/>
            <a:ext cx="762000" cy="228600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Dog Object</a:t>
            </a:r>
          </a:p>
        </p:txBody>
      </p:sp>
      <p:sp>
        <p:nvSpPr>
          <p:cNvPr id="28690" name="WordArt 18">
            <a:extLst>
              <a:ext uri="{FF2B5EF4-FFF2-40B4-BE49-F238E27FC236}">
                <a16:creationId xmlns:a16="http://schemas.microsoft.com/office/drawing/2014/main" id="{D97DFAC0-C00E-4761-8978-637B003D087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093200" y="4216400"/>
            <a:ext cx="762000" cy="228600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 Object</a:t>
            </a:r>
          </a:p>
        </p:txBody>
      </p:sp>
      <p:sp>
        <p:nvSpPr>
          <p:cNvPr id="28691" name="WordArt 20">
            <a:extLst>
              <a:ext uri="{FF2B5EF4-FFF2-40B4-BE49-F238E27FC236}">
                <a16:creationId xmlns:a16="http://schemas.microsoft.com/office/drawing/2014/main" id="{4C518D98-F475-4F5F-9A2A-EA6B749AFA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026400" y="5054600"/>
            <a:ext cx="762000" cy="228600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 Object</a:t>
            </a:r>
          </a:p>
        </p:txBody>
      </p:sp>
      <p:sp>
        <p:nvSpPr>
          <p:cNvPr id="28692" name="WordArt 21">
            <a:extLst>
              <a:ext uri="{FF2B5EF4-FFF2-40B4-BE49-F238E27FC236}">
                <a16:creationId xmlns:a16="http://schemas.microsoft.com/office/drawing/2014/main" id="{E4423093-CE6F-410E-B8F8-3BFAE6F9941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63800" y="6045200"/>
            <a:ext cx="762000" cy="228600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Duck Object</a:t>
            </a:r>
          </a:p>
        </p:txBody>
      </p:sp>
      <p:sp>
        <p:nvSpPr>
          <p:cNvPr id="28693" name="Text Box 24">
            <a:extLst>
              <a:ext uri="{FF2B5EF4-FFF2-40B4-BE49-F238E27FC236}">
                <a16:creationId xmlns:a16="http://schemas.microsoft.com/office/drawing/2014/main" id="{F675E4EE-F744-40BB-AE8F-5A1E837DA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200" y="5435601"/>
            <a:ext cx="1752600" cy="30777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Observer Objects</a:t>
            </a:r>
          </a:p>
        </p:txBody>
      </p:sp>
      <p:sp>
        <p:nvSpPr>
          <p:cNvPr id="28694" name="Freeform 25">
            <a:extLst>
              <a:ext uri="{FF2B5EF4-FFF2-40B4-BE49-F238E27FC236}">
                <a16:creationId xmlns:a16="http://schemas.microsoft.com/office/drawing/2014/main" id="{37AB2700-4E5F-4448-8DD3-6F00929CBBCE}"/>
              </a:ext>
            </a:extLst>
          </p:cNvPr>
          <p:cNvSpPr>
            <a:spLocks/>
          </p:cNvSpPr>
          <p:nvPr/>
        </p:nvSpPr>
        <p:spPr bwMode="auto">
          <a:xfrm>
            <a:off x="8712200" y="2082800"/>
            <a:ext cx="342900" cy="838200"/>
          </a:xfrm>
          <a:custGeom>
            <a:avLst/>
            <a:gdLst>
              <a:gd name="T0" fmla="*/ 483870000 w 216"/>
              <a:gd name="T1" fmla="*/ 0 h 528"/>
              <a:gd name="T2" fmla="*/ 483870000 w 216"/>
              <a:gd name="T3" fmla="*/ 846772500 h 528"/>
              <a:gd name="T4" fmla="*/ 120967500 w 216"/>
              <a:gd name="T5" fmla="*/ 1209675000 h 528"/>
              <a:gd name="T6" fmla="*/ 0 w 216"/>
              <a:gd name="T7" fmla="*/ 1330642500 h 5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" h="528">
                <a:moveTo>
                  <a:pt x="192" y="0"/>
                </a:moveTo>
                <a:cubicBezTo>
                  <a:pt x="204" y="128"/>
                  <a:pt x="216" y="256"/>
                  <a:pt x="192" y="336"/>
                </a:cubicBezTo>
                <a:cubicBezTo>
                  <a:pt x="168" y="416"/>
                  <a:pt x="80" y="448"/>
                  <a:pt x="48" y="480"/>
                </a:cubicBezTo>
                <a:cubicBezTo>
                  <a:pt x="16" y="512"/>
                  <a:pt x="8" y="520"/>
                  <a:pt x="0" y="52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5" name="Text Box 26">
            <a:extLst>
              <a:ext uri="{FF2B5EF4-FFF2-40B4-BE49-F238E27FC236}">
                <a16:creationId xmlns:a16="http://schemas.microsoft.com/office/drawing/2014/main" id="{72332E4F-CFB0-4D33-9CA8-846A78171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5800" y="1320800"/>
            <a:ext cx="38100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Comic Sans MS" panose="030F0702030302020204" pitchFamily="66" charset="0"/>
              </a:rPr>
              <a:t>The observers have subscribed to the Subject to receive updates when the subject’s data changes.</a:t>
            </a:r>
          </a:p>
        </p:txBody>
      </p:sp>
      <p:sp>
        <p:nvSpPr>
          <p:cNvPr id="28696" name="Text Box 28">
            <a:extLst>
              <a:ext uri="{FF2B5EF4-FFF2-40B4-BE49-F238E27FC236}">
                <a16:creationId xmlns:a16="http://schemas.microsoft.com/office/drawing/2014/main" id="{66CC28FD-80EA-4EEF-8679-3CACF6960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1" y="4978400"/>
            <a:ext cx="283527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Comic Sans MS" panose="030F0702030302020204" pitchFamily="66" charset="0"/>
              </a:rPr>
              <a:t>When data in the Subject changes, the observers are notified.</a:t>
            </a:r>
            <a:endParaRPr lang="en-US" altLang="en-US" sz="2400"/>
          </a:p>
        </p:txBody>
      </p:sp>
      <p:sp>
        <p:nvSpPr>
          <p:cNvPr id="28697" name="Line 29">
            <a:extLst>
              <a:ext uri="{FF2B5EF4-FFF2-40B4-BE49-F238E27FC236}">
                <a16:creationId xmlns:a16="http://schemas.microsoft.com/office/drawing/2014/main" id="{DDA7BF9B-0A3D-462D-9153-7B40316EEA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07000" y="44450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8" name="Text Box 32">
            <a:extLst>
              <a:ext uri="{FF2B5EF4-FFF2-40B4-BE49-F238E27FC236}">
                <a16:creationId xmlns:a16="http://schemas.microsoft.com/office/drawing/2014/main" id="{9C03EB4F-0214-42D7-8AB0-4DCBF0AFE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3225801"/>
            <a:ext cx="29367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2</a:t>
            </a:r>
            <a:endParaRPr lang="en-US" altLang="en-US" sz="2400"/>
          </a:p>
        </p:txBody>
      </p:sp>
      <p:sp>
        <p:nvSpPr>
          <p:cNvPr id="28699" name="Text Box 33">
            <a:extLst>
              <a:ext uri="{FF2B5EF4-FFF2-40B4-BE49-F238E27FC236}">
                <a16:creationId xmlns:a16="http://schemas.microsoft.com/office/drawing/2014/main" id="{22D719A5-25FF-4307-9A3C-E8464FDAD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200" y="3606801"/>
            <a:ext cx="29367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2</a:t>
            </a:r>
            <a:endParaRPr lang="en-US" altLang="en-US" sz="2400"/>
          </a:p>
        </p:txBody>
      </p:sp>
      <p:sp>
        <p:nvSpPr>
          <p:cNvPr id="28700" name="Text Box 34">
            <a:extLst>
              <a:ext uri="{FF2B5EF4-FFF2-40B4-BE49-F238E27FC236}">
                <a16:creationId xmlns:a16="http://schemas.microsoft.com/office/drawing/2014/main" id="{B286993D-70C3-432A-99FB-0A7F62857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2800" y="4064001"/>
            <a:ext cx="29367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2</a:t>
            </a:r>
            <a:endParaRPr lang="en-US" altLang="en-US" sz="2400"/>
          </a:p>
        </p:txBody>
      </p:sp>
      <p:sp>
        <p:nvSpPr>
          <p:cNvPr id="28701" name="Text Box 35">
            <a:extLst>
              <a:ext uri="{FF2B5EF4-FFF2-40B4-BE49-F238E27FC236}">
                <a16:creationId xmlns:a16="http://schemas.microsoft.com/office/drawing/2014/main" id="{3826163F-023E-497C-B413-3B15C2C71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7801" y="2540001"/>
            <a:ext cx="37449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New data values are communicated to the observers in some form when they change.</a:t>
            </a:r>
          </a:p>
        </p:txBody>
      </p:sp>
      <p:sp>
        <p:nvSpPr>
          <p:cNvPr id="28702" name="Line 36">
            <a:extLst>
              <a:ext uri="{FF2B5EF4-FFF2-40B4-BE49-F238E27FC236}">
                <a16:creationId xmlns:a16="http://schemas.microsoft.com/office/drawing/2014/main" id="{9E2E87EB-50C7-49E2-B5C1-953544ADA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29972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03" name="Line 37">
            <a:extLst>
              <a:ext uri="{FF2B5EF4-FFF2-40B4-BE49-F238E27FC236}">
                <a16:creationId xmlns:a16="http://schemas.microsoft.com/office/drawing/2014/main" id="{8B8097B7-072D-41B2-8D08-D7C6E6F0B2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11400" y="51308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04" name="Text Box 38">
            <a:extLst>
              <a:ext uri="{FF2B5EF4-FFF2-40B4-BE49-F238E27FC236}">
                <a16:creationId xmlns:a16="http://schemas.microsoft.com/office/drawing/2014/main" id="{EFF38A56-B1B3-4E77-B57B-728A08CBC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1801" y="4064001"/>
            <a:ext cx="23780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Comic Sans MS" panose="030F0702030302020204" pitchFamily="66" charset="0"/>
              </a:rPr>
              <a:t>This object isn’t an observer so it doesn’t get notified when the subject’s data changes. </a:t>
            </a:r>
          </a:p>
        </p:txBody>
      </p:sp>
      <p:sp>
        <p:nvSpPr>
          <p:cNvPr id="28705" name="Line 39">
            <a:extLst>
              <a:ext uri="{FF2B5EF4-FFF2-40B4-BE49-F238E27FC236}">
                <a16:creationId xmlns:a16="http://schemas.microsoft.com/office/drawing/2014/main" id="{8DA9D53E-C7F3-4A33-A346-CF391A8FF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3400" y="29972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06" name="Text Box 40">
            <a:extLst>
              <a:ext uri="{FF2B5EF4-FFF2-40B4-BE49-F238E27FC236}">
                <a16:creationId xmlns:a16="http://schemas.microsoft.com/office/drawing/2014/main" id="{7B3A4FE3-1055-413F-91EA-EB5B3ACF5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1801" y="2540000"/>
            <a:ext cx="18446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Comic Sans MS" panose="030F0702030302020204" pitchFamily="66" charset="0"/>
              </a:rPr>
              <a:t>Subject object manages some data.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3EA23F3-9AA4-454B-918F-214455832E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00589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The Observer Pattern Defined</a:t>
            </a:r>
          </a:p>
        </p:txBody>
      </p:sp>
      <p:sp>
        <p:nvSpPr>
          <p:cNvPr id="29699" name="Text Box 4">
            <a:extLst>
              <a:ext uri="{FF2B5EF4-FFF2-40B4-BE49-F238E27FC236}">
                <a16:creationId xmlns:a16="http://schemas.microsoft.com/office/drawing/2014/main" id="{09BBACDB-3B82-44F2-822F-1AA4E9E7B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6" y="1203326"/>
            <a:ext cx="8855075" cy="11969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The </a:t>
            </a:r>
            <a:r>
              <a:rPr lang="en-US" altLang="en-US" sz="2400" b="1" dirty="0"/>
              <a:t>Observer Pattern</a:t>
            </a:r>
            <a:r>
              <a:rPr lang="en-US" altLang="en-US" sz="2400" dirty="0"/>
              <a:t> defines a one-to-many dependency between objects so that when one object changes state, all of its dependents are notified and updated automatically.</a:t>
            </a:r>
          </a:p>
        </p:txBody>
      </p:sp>
      <p:grpSp>
        <p:nvGrpSpPr>
          <p:cNvPr id="29700" name="Group 24">
            <a:extLst>
              <a:ext uri="{FF2B5EF4-FFF2-40B4-BE49-F238E27FC236}">
                <a16:creationId xmlns:a16="http://schemas.microsoft.com/office/drawing/2014/main" id="{A31FF28A-B947-4FA1-8C57-077B159DFF7B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3048001"/>
            <a:ext cx="5181600" cy="2835275"/>
            <a:chOff x="1168" y="1488"/>
            <a:chExt cx="4360" cy="2320"/>
          </a:xfrm>
        </p:grpSpPr>
        <p:sp>
          <p:nvSpPr>
            <p:cNvPr id="29709" name="Freeform 5">
              <a:extLst>
                <a:ext uri="{FF2B5EF4-FFF2-40B4-BE49-F238E27FC236}">
                  <a16:creationId xmlns:a16="http://schemas.microsoft.com/office/drawing/2014/main" id="{29D69EFE-4E11-4227-804B-4FF1942BB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1488"/>
              <a:ext cx="1928" cy="2320"/>
            </a:xfrm>
            <a:custGeom>
              <a:avLst/>
              <a:gdLst>
                <a:gd name="T0" fmla="*/ 448 w 1928"/>
                <a:gd name="T1" fmla="*/ 189 h 2136"/>
                <a:gd name="T2" fmla="*/ 64 w 1928"/>
                <a:gd name="T3" fmla="*/ 585 h 2136"/>
                <a:gd name="T4" fmla="*/ 64 w 1928"/>
                <a:gd name="T5" fmla="*/ 1604 h 2136"/>
                <a:gd name="T6" fmla="*/ 304 w 1928"/>
                <a:gd name="T7" fmla="*/ 2228 h 2136"/>
                <a:gd name="T8" fmla="*/ 688 w 1928"/>
                <a:gd name="T9" fmla="*/ 2454 h 2136"/>
                <a:gd name="T10" fmla="*/ 1120 w 1928"/>
                <a:gd name="T11" fmla="*/ 2510 h 2136"/>
                <a:gd name="T12" fmla="*/ 1552 w 1928"/>
                <a:gd name="T13" fmla="*/ 2397 h 2136"/>
                <a:gd name="T14" fmla="*/ 1792 w 1928"/>
                <a:gd name="T15" fmla="*/ 1888 h 2136"/>
                <a:gd name="T16" fmla="*/ 1888 w 1928"/>
                <a:gd name="T17" fmla="*/ 1604 h 2136"/>
                <a:gd name="T18" fmla="*/ 1888 w 1928"/>
                <a:gd name="T19" fmla="*/ 1321 h 2136"/>
                <a:gd name="T20" fmla="*/ 1648 w 1928"/>
                <a:gd name="T21" fmla="*/ 925 h 2136"/>
                <a:gd name="T22" fmla="*/ 1696 w 1928"/>
                <a:gd name="T23" fmla="*/ 698 h 2136"/>
                <a:gd name="T24" fmla="*/ 1312 w 1928"/>
                <a:gd name="T25" fmla="*/ 415 h 2136"/>
                <a:gd name="T26" fmla="*/ 1168 w 1928"/>
                <a:gd name="T27" fmla="*/ 302 h 2136"/>
                <a:gd name="T28" fmla="*/ 784 w 1928"/>
                <a:gd name="T29" fmla="*/ 18 h 2136"/>
                <a:gd name="T30" fmla="*/ 496 w 1928"/>
                <a:gd name="T31" fmla="*/ 189 h 2136"/>
                <a:gd name="T32" fmla="*/ 400 w 1928"/>
                <a:gd name="T33" fmla="*/ 189 h 21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928" h="2136">
                  <a:moveTo>
                    <a:pt x="448" y="160"/>
                  </a:moveTo>
                  <a:cubicBezTo>
                    <a:pt x="288" y="228"/>
                    <a:pt x="128" y="296"/>
                    <a:pt x="64" y="496"/>
                  </a:cubicBezTo>
                  <a:cubicBezTo>
                    <a:pt x="0" y="696"/>
                    <a:pt x="24" y="1128"/>
                    <a:pt x="64" y="1360"/>
                  </a:cubicBezTo>
                  <a:cubicBezTo>
                    <a:pt x="104" y="1592"/>
                    <a:pt x="200" y="1768"/>
                    <a:pt x="304" y="1888"/>
                  </a:cubicBezTo>
                  <a:cubicBezTo>
                    <a:pt x="408" y="2008"/>
                    <a:pt x="552" y="2040"/>
                    <a:pt x="688" y="2080"/>
                  </a:cubicBezTo>
                  <a:cubicBezTo>
                    <a:pt x="824" y="2120"/>
                    <a:pt x="976" y="2136"/>
                    <a:pt x="1120" y="2128"/>
                  </a:cubicBezTo>
                  <a:cubicBezTo>
                    <a:pt x="1264" y="2120"/>
                    <a:pt x="1440" y="2120"/>
                    <a:pt x="1552" y="2032"/>
                  </a:cubicBezTo>
                  <a:cubicBezTo>
                    <a:pt x="1664" y="1944"/>
                    <a:pt x="1736" y="1712"/>
                    <a:pt x="1792" y="1600"/>
                  </a:cubicBezTo>
                  <a:cubicBezTo>
                    <a:pt x="1848" y="1488"/>
                    <a:pt x="1872" y="1440"/>
                    <a:pt x="1888" y="1360"/>
                  </a:cubicBezTo>
                  <a:cubicBezTo>
                    <a:pt x="1904" y="1280"/>
                    <a:pt x="1928" y="1216"/>
                    <a:pt x="1888" y="1120"/>
                  </a:cubicBezTo>
                  <a:cubicBezTo>
                    <a:pt x="1848" y="1024"/>
                    <a:pt x="1680" y="872"/>
                    <a:pt x="1648" y="784"/>
                  </a:cubicBezTo>
                  <a:cubicBezTo>
                    <a:pt x="1616" y="696"/>
                    <a:pt x="1752" y="664"/>
                    <a:pt x="1696" y="592"/>
                  </a:cubicBezTo>
                  <a:cubicBezTo>
                    <a:pt x="1640" y="520"/>
                    <a:pt x="1400" y="408"/>
                    <a:pt x="1312" y="352"/>
                  </a:cubicBezTo>
                  <a:cubicBezTo>
                    <a:pt x="1224" y="296"/>
                    <a:pt x="1256" y="312"/>
                    <a:pt x="1168" y="256"/>
                  </a:cubicBezTo>
                  <a:cubicBezTo>
                    <a:pt x="1080" y="200"/>
                    <a:pt x="896" y="32"/>
                    <a:pt x="784" y="16"/>
                  </a:cubicBezTo>
                  <a:cubicBezTo>
                    <a:pt x="672" y="0"/>
                    <a:pt x="560" y="136"/>
                    <a:pt x="496" y="160"/>
                  </a:cubicBezTo>
                  <a:cubicBezTo>
                    <a:pt x="432" y="184"/>
                    <a:pt x="416" y="172"/>
                    <a:pt x="400" y="160"/>
                  </a:cubicBezTo>
                </a:path>
              </a:pathLst>
            </a:custGeom>
            <a:solidFill>
              <a:srgbClr val="99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0" name="Oval 6">
              <a:extLst>
                <a:ext uri="{FF2B5EF4-FFF2-40B4-BE49-F238E27FC236}">
                  <a16:creationId xmlns:a16="http://schemas.microsoft.com/office/drawing/2014/main" id="{40FC0F7C-7057-4DC0-877F-5C2B7BB3C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2" y="184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9711" name="Oval 7">
              <a:extLst>
                <a:ext uri="{FF2B5EF4-FFF2-40B4-BE49-F238E27FC236}">
                  <a16:creationId xmlns:a16="http://schemas.microsoft.com/office/drawing/2014/main" id="{7BA65EFD-8872-42D3-B3D1-6BA895CF8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4" y="236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9712" name="Oval 8">
              <a:extLst>
                <a:ext uri="{FF2B5EF4-FFF2-40B4-BE49-F238E27FC236}">
                  <a16:creationId xmlns:a16="http://schemas.microsoft.com/office/drawing/2014/main" id="{9BD4228B-5B42-42FC-A64F-FEB3CBC8D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2" y="28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9713" name="Oval 9">
              <a:extLst>
                <a:ext uri="{FF2B5EF4-FFF2-40B4-BE49-F238E27FC236}">
                  <a16:creationId xmlns:a16="http://schemas.microsoft.com/office/drawing/2014/main" id="{11C051CB-70A1-4F29-91E6-1F959A122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2128"/>
              <a:ext cx="624" cy="5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9714" name="Picture 10" descr="BD05789_                                                       0002AEB6Macintosh HD                   BB7549B6:">
              <a:extLst>
                <a:ext uri="{FF2B5EF4-FFF2-40B4-BE49-F238E27FC236}">
                  <a16:creationId xmlns:a16="http://schemas.microsoft.com/office/drawing/2014/main" id="{91F62326-0B94-4552-901A-5B6C512DBC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60" y="2224"/>
              <a:ext cx="33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15" name="Text Box 11">
              <a:extLst>
                <a:ext uri="{FF2B5EF4-FFF2-40B4-BE49-F238E27FC236}">
                  <a16:creationId xmlns:a16="http://schemas.microsoft.com/office/drawing/2014/main" id="{3A4B7B83-B266-44F1-9ADB-4BEDBB6D4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0" y="2522"/>
              <a:ext cx="366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 </a:t>
              </a:r>
              <a:r>
                <a:rPr lang="en-US" altLang="en-US" sz="1200">
                  <a:latin typeface="Comic Sans MS" panose="030F0702030302020204" pitchFamily="66" charset="0"/>
                </a:rPr>
                <a:t>int</a:t>
              </a:r>
              <a:endParaRPr lang="en-US" altLang="en-US" sz="1800"/>
            </a:p>
          </p:txBody>
        </p:sp>
        <p:sp>
          <p:nvSpPr>
            <p:cNvPr id="29716" name="Text Box 12">
              <a:extLst>
                <a:ext uri="{FF2B5EF4-FFF2-40B4-BE49-F238E27FC236}">
                  <a16:creationId xmlns:a16="http://schemas.microsoft.com/office/drawing/2014/main" id="{FE5F1634-6B9B-42E2-A0CF-572F38405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5" y="2124"/>
              <a:ext cx="221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Comic Sans MS" panose="030F0702030302020204" pitchFamily="66" charset="0"/>
                </a:rPr>
                <a:t>2</a:t>
              </a:r>
              <a:endParaRPr lang="en-US" altLang="en-US" sz="1800"/>
            </a:p>
          </p:txBody>
        </p:sp>
        <p:sp>
          <p:nvSpPr>
            <p:cNvPr id="29717" name="Line 13">
              <a:extLst>
                <a:ext uri="{FF2B5EF4-FFF2-40B4-BE49-F238E27FC236}">
                  <a16:creationId xmlns:a16="http://schemas.microsoft.com/office/drawing/2014/main" id="{0C412EA3-6AD0-4B55-9082-39A5BC8552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0" y="1984"/>
              <a:ext cx="235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8" name="Line 14">
              <a:extLst>
                <a:ext uri="{FF2B5EF4-FFF2-40B4-BE49-F238E27FC236}">
                  <a16:creationId xmlns:a16="http://schemas.microsoft.com/office/drawing/2014/main" id="{ECDEF330-2D17-4437-9B55-0880829574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0" y="2464"/>
              <a:ext cx="30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9" name="Line 15">
              <a:extLst>
                <a:ext uri="{FF2B5EF4-FFF2-40B4-BE49-F238E27FC236}">
                  <a16:creationId xmlns:a16="http://schemas.microsoft.com/office/drawing/2014/main" id="{AB99DAAC-C36E-4889-A221-03DE7A167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" y="2608"/>
              <a:ext cx="244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0" name="WordArt 16">
              <a:extLst>
                <a:ext uri="{FF2B5EF4-FFF2-40B4-BE49-F238E27FC236}">
                  <a16:creationId xmlns:a16="http://schemas.microsoft.com/office/drawing/2014/main" id="{BC4657AA-CE26-4757-AD08-7B6B17F6E67A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168" y="2080"/>
              <a:ext cx="720" cy="192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1080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Arial Black" panose="020B0A04020102020204" pitchFamily="34" charset="0"/>
                </a:rPr>
                <a:t>Subject Object</a:t>
              </a:r>
            </a:p>
          </p:txBody>
        </p:sp>
        <p:sp>
          <p:nvSpPr>
            <p:cNvPr id="29721" name="WordArt 17">
              <a:extLst>
                <a:ext uri="{FF2B5EF4-FFF2-40B4-BE49-F238E27FC236}">
                  <a16:creationId xmlns:a16="http://schemas.microsoft.com/office/drawing/2014/main" id="{94416F1A-B24C-427B-A454-8E5E348B304C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096" y="2128"/>
              <a:ext cx="480" cy="14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Dog Object</a:t>
              </a:r>
            </a:p>
          </p:txBody>
        </p:sp>
        <p:sp>
          <p:nvSpPr>
            <p:cNvPr id="29722" name="WordArt 18">
              <a:extLst>
                <a:ext uri="{FF2B5EF4-FFF2-40B4-BE49-F238E27FC236}">
                  <a16:creationId xmlns:a16="http://schemas.microsoft.com/office/drawing/2014/main" id="{7C52F6B4-8C41-46BC-AAEC-B9D57C0683E3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68" y="2656"/>
              <a:ext cx="480" cy="14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Cat Object</a:t>
              </a:r>
            </a:p>
          </p:txBody>
        </p:sp>
        <p:sp>
          <p:nvSpPr>
            <p:cNvPr id="29723" name="WordArt 19">
              <a:extLst>
                <a:ext uri="{FF2B5EF4-FFF2-40B4-BE49-F238E27FC236}">
                  <a16:creationId xmlns:a16="http://schemas.microsoft.com/office/drawing/2014/main" id="{6A749CC0-9380-4F23-9826-CEC696453662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096" y="3184"/>
              <a:ext cx="480" cy="14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Mouse Object</a:t>
              </a:r>
            </a:p>
          </p:txBody>
        </p:sp>
        <p:sp>
          <p:nvSpPr>
            <p:cNvPr id="29724" name="Text Box 20">
              <a:extLst>
                <a:ext uri="{FF2B5EF4-FFF2-40B4-BE49-F238E27FC236}">
                  <a16:creationId xmlns:a16="http://schemas.microsoft.com/office/drawing/2014/main" id="{2BD52E46-EA89-4E05-9190-34DF710E2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8" y="3425"/>
              <a:ext cx="1105" cy="2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000">
                  <a:latin typeface="Comic Sans MS" panose="030F0702030302020204" pitchFamily="66" charset="0"/>
                </a:rPr>
                <a:t>Observer Objects</a:t>
              </a:r>
            </a:p>
          </p:txBody>
        </p:sp>
        <p:sp>
          <p:nvSpPr>
            <p:cNvPr id="29725" name="Text Box 21">
              <a:extLst>
                <a:ext uri="{FF2B5EF4-FFF2-40B4-BE49-F238E27FC236}">
                  <a16:creationId xmlns:a16="http://schemas.microsoft.com/office/drawing/2014/main" id="{38C87CAD-182A-4BAA-BE97-3E43E701C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2079"/>
              <a:ext cx="221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Comic Sans MS" panose="030F0702030302020204" pitchFamily="66" charset="0"/>
                </a:rPr>
                <a:t>2</a:t>
              </a:r>
              <a:endParaRPr lang="en-US" altLang="en-US" sz="1800"/>
            </a:p>
          </p:txBody>
        </p:sp>
        <p:sp>
          <p:nvSpPr>
            <p:cNvPr id="29726" name="Text Box 22">
              <a:extLst>
                <a:ext uri="{FF2B5EF4-FFF2-40B4-BE49-F238E27FC236}">
                  <a16:creationId xmlns:a16="http://schemas.microsoft.com/office/drawing/2014/main" id="{3F50315B-EEC2-432D-BE20-277E0472E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2318"/>
              <a:ext cx="221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Comic Sans MS" panose="030F0702030302020204" pitchFamily="66" charset="0"/>
                </a:rPr>
                <a:t>2</a:t>
              </a:r>
              <a:endParaRPr lang="en-US" altLang="en-US" sz="1800"/>
            </a:p>
          </p:txBody>
        </p:sp>
        <p:sp>
          <p:nvSpPr>
            <p:cNvPr id="29727" name="Text Box 23">
              <a:extLst>
                <a:ext uri="{FF2B5EF4-FFF2-40B4-BE49-F238E27FC236}">
                  <a16:creationId xmlns:a16="http://schemas.microsoft.com/office/drawing/2014/main" id="{50436295-58CC-46F3-ADDF-0CFF12001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1" y="2605"/>
              <a:ext cx="221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Comic Sans MS" panose="030F0702030302020204" pitchFamily="66" charset="0"/>
                </a:rPr>
                <a:t>2</a:t>
              </a:r>
              <a:endParaRPr lang="en-US" altLang="en-US" sz="1800"/>
            </a:p>
          </p:txBody>
        </p:sp>
      </p:grpSp>
      <p:sp>
        <p:nvSpPr>
          <p:cNvPr id="29701" name="Line 25">
            <a:extLst>
              <a:ext uri="{FF2B5EF4-FFF2-40B4-BE49-F238E27FC236}">
                <a16:creationId xmlns:a16="http://schemas.microsoft.com/office/drawing/2014/main" id="{AA2C8CA2-DF13-4E7A-A8EF-8CDA81185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0480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2" name="Text Box 26">
            <a:extLst>
              <a:ext uri="{FF2B5EF4-FFF2-40B4-BE49-F238E27FC236}">
                <a16:creationId xmlns:a16="http://schemas.microsoft.com/office/drawing/2014/main" id="{BE5CC57D-6839-4AFD-ACC7-57752024D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5" y="2625725"/>
            <a:ext cx="59699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accent2"/>
                </a:solidFill>
                <a:latin typeface="Comic Sans MS" panose="030F0702030302020204" pitchFamily="66" charset="0"/>
              </a:rPr>
              <a:t>One to many relationship (</a:t>
            </a:r>
            <a:r>
              <a:rPr lang="en-US" altLang="en-US" sz="1600">
                <a:solidFill>
                  <a:srgbClr val="DB1A00"/>
                </a:solidFill>
                <a:latin typeface="Comic Sans MS" panose="030F0702030302020204" pitchFamily="66" charset="0"/>
              </a:rPr>
              <a:t>Subject can have many observers</a:t>
            </a:r>
            <a:r>
              <a:rPr lang="en-US" altLang="en-US" sz="1600">
                <a:solidFill>
                  <a:schemeClr val="accent2"/>
                </a:solidFill>
                <a:latin typeface="Comic Sans MS" panose="030F0702030302020204" pitchFamily="66" charset="0"/>
              </a:rPr>
              <a:t>)</a:t>
            </a:r>
            <a:endParaRPr lang="en-US" altLang="en-US" sz="2400">
              <a:solidFill>
                <a:schemeClr val="accent2"/>
              </a:solidFill>
            </a:endParaRPr>
          </a:p>
        </p:txBody>
      </p:sp>
      <p:sp>
        <p:nvSpPr>
          <p:cNvPr id="29703" name="Line 27">
            <a:extLst>
              <a:ext uri="{FF2B5EF4-FFF2-40B4-BE49-F238E27FC236}">
                <a16:creationId xmlns:a16="http://schemas.microsoft.com/office/drawing/2014/main" id="{51E2D72A-1868-434D-AC1D-67A524217D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4290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4" name="Text Box 28">
            <a:extLst>
              <a:ext uri="{FF2B5EF4-FFF2-40B4-BE49-F238E27FC236}">
                <a16:creationId xmlns:a16="http://schemas.microsoft.com/office/drawing/2014/main" id="{0DEC8B27-A7D2-4F30-A1F9-17DD59ED2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051176"/>
            <a:ext cx="219483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Comic Sans MS" panose="030F0702030302020204" pitchFamily="66" charset="0"/>
              </a:rPr>
              <a:t>Object that holds state</a:t>
            </a:r>
          </a:p>
        </p:txBody>
      </p:sp>
      <p:sp>
        <p:nvSpPr>
          <p:cNvPr id="29705" name="AutoShape 29">
            <a:extLst>
              <a:ext uri="{FF2B5EF4-FFF2-40B4-BE49-F238E27FC236}">
                <a16:creationId xmlns:a16="http://schemas.microsoft.com/office/drawing/2014/main" id="{AF86C895-C4D8-4865-A4AA-92BE5F2AF8BC}"/>
              </a:ext>
            </a:extLst>
          </p:cNvPr>
          <p:cNvSpPr>
            <a:spLocks/>
          </p:cNvSpPr>
          <p:nvPr/>
        </p:nvSpPr>
        <p:spPr bwMode="auto">
          <a:xfrm>
            <a:off x="8382000" y="3429000"/>
            <a:ext cx="228600" cy="2514600"/>
          </a:xfrm>
          <a:prstGeom prst="rightBrace">
            <a:avLst>
              <a:gd name="adj1" fmla="val 9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9706" name="Text Box 30">
            <a:extLst>
              <a:ext uri="{FF2B5EF4-FFF2-40B4-BE49-F238E27FC236}">
                <a16:creationId xmlns:a16="http://schemas.microsoft.com/office/drawing/2014/main" id="{80877494-3670-421D-8AAF-04AF404C4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6" y="4483101"/>
            <a:ext cx="207327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Comic Sans MS" panose="030F0702030302020204" pitchFamily="66" charset="0"/>
              </a:rPr>
              <a:t>Dependent objects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Comic Sans MS" panose="030F0702030302020204" pitchFamily="66" charset="0"/>
              </a:rPr>
              <a:t>(</a:t>
            </a:r>
            <a:r>
              <a:rPr lang="en-US" altLang="en-US" sz="1400">
                <a:solidFill>
                  <a:srgbClr val="DB1A00"/>
                </a:solidFill>
                <a:latin typeface="Comic Sans MS" panose="030F0702030302020204" pitchFamily="66" charset="0"/>
              </a:rPr>
              <a:t>observers are dependent on the subject to update them when data changes</a:t>
            </a:r>
            <a:r>
              <a:rPr lang="en-US" altLang="en-US" sz="1400">
                <a:solidFill>
                  <a:schemeClr val="accent2"/>
                </a:solidFill>
                <a:latin typeface="Comic Sans MS" panose="030F0702030302020204" pitchFamily="66" charset="0"/>
              </a:rPr>
              <a:t>.) </a:t>
            </a:r>
          </a:p>
        </p:txBody>
      </p:sp>
      <p:sp>
        <p:nvSpPr>
          <p:cNvPr id="29707" name="Line 31">
            <a:extLst>
              <a:ext uri="{FF2B5EF4-FFF2-40B4-BE49-F238E27FC236}">
                <a16:creationId xmlns:a16="http://schemas.microsoft.com/office/drawing/2014/main" id="{A057A968-4867-4B12-92A5-CA794DC0E3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47244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8" name="Text Box 32">
            <a:extLst>
              <a:ext uri="{FF2B5EF4-FFF2-40B4-BE49-F238E27FC236}">
                <a16:creationId xmlns:a16="http://schemas.microsoft.com/office/drawing/2014/main" id="{62A6152D-D573-4707-A63D-787895955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6" y="5549901"/>
            <a:ext cx="273344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Comic Sans MS" panose="030F0702030302020204" pitchFamily="66" charset="0"/>
              </a:rPr>
              <a:t>Automatic update/notification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2BC6F2E-CDEE-4158-8B9A-B33B0B36D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99219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Observer Class Diagram</a:t>
            </a:r>
          </a:p>
        </p:txBody>
      </p:sp>
      <p:pic>
        <p:nvPicPr>
          <p:cNvPr id="30723" name="Picture 4">
            <a:extLst>
              <a:ext uri="{FF2B5EF4-FFF2-40B4-BE49-F238E27FC236}">
                <a16:creationId xmlns:a16="http://schemas.microsoft.com/office/drawing/2014/main" id="{30D1E51E-FF59-48C7-9E2A-61588AF3D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00" y="2133601"/>
            <a:ext cx="8674100" cy="406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24" name="Line 5">
            <a:extLst>
              <a:ext uri="{FF2B5EF4-FFF2-40B4-BE49-F238E27FC236}">
                <a16:creationId xmlns:a16="http://schemas.microsoft.com/office/drawing/2014/main" id="{7FF0233D-69FC-4C3E-834A-CE36B2F48B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5" name="Text Box 6">
            <a:extLst>
              <a:ext uri="{FF2B5EF4-FFF2-40B4-BE49-F238E27FC236}">
                <a16:creationId xmlns:a16="http://schemas.microsoft.com/office/drawing/2014/main" id="{B974E4B1-C3A8-4C08-9531-75A4635DB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6" y="1081089"/>
            <a:ext cx="35210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Here’s the Subject interface. Objects use this interface to register as observers and also to remove themselves from being observers.</a:t>
            </a:r>
          </a:p>
        </p:txBody>
      </p:sp>
      <p:sp>
        <p:nvSpPr>
          <p:cNvPr id="30726" name="Freeform 7">
            <a:extLst>
              <a:ext uri="{FF2B5EF4-FFF2-40B4-BE49-F238E27FC236}">
                <a16:creationId xmlns:a16="http://schemas.microsoft.com/office/drawing/2014/main" id="{5EE4F437-0154-40C0-BEBA-9688B5C1477B}"/>
              </a:ext>
            </a:extLst>
          </p:cNvPr>
          <p:cNvSpPr>
            <a:spLocks/>
          </p:cNvSpPr>
          <p:nvPr/>
        </p:nvSpPr>
        <p:spPr bwMode="auto">
          <a:xfrm>
            <a:off x="5334000" y="1905000"/>
            <a:ext cx="609600" cy="762000"/>
          </a:xfrm>
          <a:custGeom>
            <a:avLst/>
            <a:gdLst>
              <a:gd name="T0" fmla="*/ 725805000 w 384"/>
              <a:gd name="T1" fmla="*/ 0 h 528"/>
              <a:gd name="T2" fmla="*/ 846772500 w 384"/>
              <a:gd name="T3" fmla="*/ 499866227 h 528"/>
              <a:gd name="T4" fmla="*/ 0 w 384"/>
              <a:gd name="T5" fmla="*/ 1099704545 h 5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4" h="528">
                <a:moveTo>
                  <a:pt x="288" y="0"/>
                </a:moveTo>
                <a:cubicBezTo>
                  <a:pt x="336" y="76"/>
                  <a:pt x="384" y="152"/>
                  <a:pt x="336" y="240"/>
                </a:cubicBezTo>
                <a:cubicBezTo>
                  <a:pt x="288" y="328"/>
                  <a:pt x="144" y="428"/>
                  <a:pt x="0" y="52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7" name="Text Box 8">
            <a:extLst>
              <a:ext uri="{FF2B5EF4-FFF2-40B4-BE49-F238E27FC236}">
                <a16:creationId xmlns:a16="http://schemas.microsoft.com/office/drawing/2014/main" id="{41EE71F3-9EB3-4A09-9FA0-1F1EACD81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6" y="1385889"/>
            <a:ext cx="1920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Each subject can have many observers</a:t>
            </a:r>
          </a:p>
        </p:txBody>
      </p:sp>
      <p:sp>
        <p:nvSpPr>
          <p:cNvPr id="30728" name="Freeform 9">
            <a:extLst>
              <a:ext uri="{FF2B5EF4-FFF2-40B4-BE49-F238E27FC236}">
                <a16:creationId xmlns:a16="http://schemas.microsoft.com/office/drawing/2014/main" id="{8886C1FB-A446-42DF-9267-76B1191D7BB8}"/>
              </a:ext>
            </a:extLst>
          </p:cNvPr>
          <p:cNvSpPr>
            <a:spLocks/>
          </p:cNvSpPr>
          <p:nvPr/>
        </p:nvSpPr>
        <p:spPr bwMode="auto">
          <a:xfrm>
            <a:off x="7772400" y="2362200"/>
            <a:ext cx="914400" cy="533400"/>
          </a:xfrm>
          <a:custGeom>
            <a:avLst/>
            <a:gdLst>
              <a:gd name="T0" fmla="*/ 1935480000 w 432"/>
              <a:gd name="T1" fmla="*/ 0 h 432"/>
              <a:gd name="T2" fmla="*/ 1075266667 w 432"/>
              <a:gd name="T3" fmla="*/ 512245504 h 432"/>
              <a:gd name="T4" fmla="*/ 0 w 432"/>
              <a:gd name="T5" fmla="*/ 658600833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432">
                <a:moveTo>
                  <a:pt x="432" y="0"/>
                </a:moveTo>
                <a:cubicBezTo>
                  <a:pt x="372" y="132"/>
                  <a:pt x="312" y="264"/>
                  <a:pt x="240" y="336"/>
                </a:cubicBezTo>
                <a:cubicBezTo>
                  <a:pt x="168" y="408"/>
                  <a:pt x="84" y="420"/>
                  <a:pt x="0" y="4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9" name="Text Box 10">
            <a:extLst>
              <a:ext uri="{FF2B5EF4-FFF2-40B4-BE49-F238E27FC236}">
                <a16:creationId xmlns:a16="http://schemas.microsoft.com/office/drawing/2014/main" id="{61277345-FFD2-4898-B85C-A4C4C8430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1" y="1143001"/>
            <a:ext cx="26066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All potential observers need to implement the Observer interface. This interface has just one method, update ( ), that gets called when the Subject’s state changes.</a:t>
            </a:r>
          </a:p>
        </p:txBody>
      </p:sp>
      <p:sp>
        <p:nvSpPr>
          <p:cNvPr id="30730" name="Line 11">
            <a:extLst>
              <a:ext uri="{FF2B5EF4-FFF2-40B4-BE49-F238E27FC236}">
                <a16:creationId xmlns:a16="http://schemas.microsoft.com/office/drawing/2014/main" id="{75C1474A-741F-437A-8E98-F0D8C84D8FE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48600" y="53340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1" name="Text Box 12">
            <a:extLst>
              <a:ext uri="{FF2B5EF4-FFF2-40B4-BE49-F238E27FC236}">
                <a16:creationId xmlns:a16="http://schemas.microsoft.com/office/drawing/2014/main" id="{3F524A8A-C6CB-4669-B3E4-84EBE9EE1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5326" y="5943601"/>
            <a:ext cx="36226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Concrete observers can be any class that implements the Observer interface. Each observer registers with a concrete subject to receive updates.</a:t>
            </a:r>
          </a:p>
        </p:txBody>
      </p:sp>
      <p:sp>
        <p:nvSpPr>
          <p:cNvPr id="30732" name="Line 13">
            <a:extLst>
              <a:ext uri="{FF2B5EF4-FFF2-40B4-BE49-F238E27FC236}">
                <a16:creationId xmlns:a16="http://schemas.microsoft.com/office/drawing/2014/main" id="{02346A42-900C-4D8C-BEFB-517B10AEB2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48000" y="52578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3" name="Text Box 14">
            <a:extLst>
              <a:ext uri="{FF2B5EF4-FFF2-40B4-BE49-F238E27FC236}">
                <a16:creationId xmlns:a16="http://schemas.microsoft.com/office/drawing/2014/main" id="{25EE159E-841C-4839-B936-F3C88A1DB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334001"/>
            <a:ext cx="3200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The concrete subject may also have methods for setting and getting its state.</a:t>
            </a:r>
          </a:p>
        </p:txBody>
      </p:sp>
      <p:sp>
        <p:nvSpPr>
          <p:cNvPr id="30734" name="Line 15">
            <a:extLst>
              <a:ext uri="{FF2B5EF4-FFF2-40B4-BE49-F238E27FC236}">
                <a16:creationId xmlns:a16="http://schemas.microsoft.com/office/drawing/2014/main" id="{FE7C5B1C-5260-4D09-90BB-069829A72C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571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5" name="Text Box 16">
            <a:extLst>
              <a:ext uri="{FF2B5EF4-FFF2-40B4-BE49-F238E27FC236}">
                <a16:creationId xmlns:a16="http://schemas.microsoft.com/office/drawing/2014/main" id="{076EDA29-8C3A-4E80-B764-B1B91944B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915026"/>
            <a:ext cx="5562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A concrete subject always implements the Subject interface. In addition to the register (attach) and remove (detach) methods, the concrete subject implements a notify() method to notify observers whenever state changes.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Line 37">
            <a:extLst>
              <a:ext uri="{FF2B5EF4-FFF2-40B4-BE49-F238E27FC236}">
                <a16:creationId xmlns:a16="http://schemas.microsoft.com/office/drawing/2014/main" id="{945452D6-7F37-4CBB-99CD-4BDB158824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10600" y="2438400"/>
            <a:ext cx="762000" cy="2590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7" name="Text Box 25">
            <a:extLst>
              <a:ext uri="{FF2B5EF4-FFF2-40B4-BE49-F238E27FC236}">
                <a16:creationId xmlns:a16="http://schemas.microsoft.com/office/drawing/2014/main" id="{4D3A8D11-4946-48EE-843D-95BE41B5B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1" y="3505201"/>
            <a:ext cx="1997075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   ForecastDisplay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update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display ( ) { // display the forecast }</a:t>
            </a: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5556B0AE-A2D0-4753-85AE-89A1322208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8325" y="0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en-US"/>
              <a:t>Designing the Weather Station</a:t>
            </a:r>
          </a:p>
        </p:txBody>
      </p:sp>
      <p:grpSp>
        <p:nvGrpSpPr>
          <p:cNvPr id="31749" name="Group 10">
            <a:extLst>
              <a:ext uri="{FF2B5EF4-FFF2-40B4-BE49-F238E27FC236}">
                <a16:creationId xmlns:a16="http://schemas.microsoft.com/office/drawing/2014/main" id="{3EC1029E-906A-4CD6-B1D9-A74C71F390D1}"/>
              </a:ext>
            </a:extLst>
          </p:cNvPr>
          <p:cNvGrpSpPr>
            <a:grpSpLocks/>
          </p:cNvGrpSpPr>
          <p:nvPr/>
        </p:nvGrpSpPr>
        <p:grpSpPr bwMode="auto">
          <a:xfrm>
            <a:off x="2193926" y="1676401"/>
            <a:ext cx="1844675" cy="1281113"/>
            <a:chOff x="422" y="1065"/>
            <a:chExt cx="1162" cy="807"/>
          </a:xfrm>
        </p:grpSpPr>
        <p:sp>
          <p:nvSpPr>
            <p:cNvPr id="31781" name="Rectangle 5">
              <a:extLst>
                <a:ext uri="{FF2B5EF4-FFF2-40B4-BE49-F238E27FC236}">
                  <a16:creationId xmlns:a16="http://schemas.microsoft.com/office/drawing/2014/main" id="{91935ECD-EAB3-4EEF-9625-64CB8A36E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104"/>
              <a:ext cx="1152" cy="7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31782" name="Line 6">
              <a:extLst>
                <a:ext uri="{FF2B5EF4-FFF2-40B4-BE49-F238E27FC236}">
                  <a16:creationId xmlns:a16="http://schemas.microsoft.com/office/drawing/2014/main" id="{B60242FF-C28C-4BE8-A81B-7139A0E6A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39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3" name="Text Box 8">
              <a:extLst>
                <a:ext uri="{FF2B5EF4-FFF2-40B4-BE49-F238E27FC236}">
                  <a16:creationId xmlns:a16="http://schemas.microsoft.com/office/drawing/2014/main" id="{BCA3226D-BF64-4922-AF71-ED0B9F4417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" y="1065"/>
              <a:ext cx="69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Comic Sans MS" panose="030F0702030302020204" pitchFamily="66" charset="0"/>
                </a:rPr>
                <a:t>&lt;&lt;interface&gt;&gt;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Comic Sans MS" panose="030F0702030302020204" pitchFamily="66" charset="0"/>
                </a:rPr>
                <a:t>    Subject</a:t>
              </a:r>
            </a:p>
          </p:txBody>
        </p:sp>
        <p:sp>
          <p:nvSpPr>
            <p:cNvPr id="31784" name="Text Box 9">
              <a:extLst>
                <a:ext uri="{FF2B5EF4-FFF2-40B4-BE49-F238E27FC236}">
                  <a16:creationId xmlns:a16="http://schemas.microsoft.com/office/drawing/2014/main" id="{A0C846A2-5583-4957-8716-179C527C3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" y="1401"/>
              <a:ext cx="1124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Comic Sans MS" panose="030F0702030302020204" pitchFamily="66" charset="0"/>
                </a:rPr>
                <a:t> registerObservers ( )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Comic Sans MS" panose="030F0702030302020204" pitchFamily="66" charset="0"/>
                </a:rPr>
                <a:t> removeObservers ( )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Comic Sans MS" panose="030F0702030302020204" pitchFamily="66" charset="0"/>
                </a:rPr>
                <a:t> notifyObservers ( )</a:t>
              </a:r>
            </a:p>
          </p:txBody>
        </p:sp>
      </p:grpSp>
      <p:sp>
        <p:nvSpPr>
          <p:cNvPr id="31750" name="Rectangle 12">
            <a:extLst>
              <a:ext uri="{FF2B5EF4-FFF2-40B4-BE49-F238E27FC236}">
                <a16:creationId xmlns:a16="http://schemas.microsoft.com/office/drawing/2014/main" id="{5BAEFF47-BBE0-42A0-AECE-4E442028F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752601"/>
            <a:ext cx="1828800" cy="796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1751" name="Line 13">
            <a:extLst>
              <a:ext uri="{FF2B5EF4-FFF2-40B4-BE49-F238E27FC236}">
                <a16:creationId xmlns:a16="http://schemas.microsoft.com/office/drawing/2014/main" id="{4145AF5E-2352-4A7B-A491-9A4516C58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5925" y="2168525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2" name="Text Box 14">
            <a:extLst>
              <a:ext uri="{FF2B5EF4-FFF2-40B4-BE49-F238E27FC236}">
                <a16:creationId xmlns:a16="http://schemas.microsoft.com/office/drawing/2014/main" id="{63F66984-380F-480A-9FC5-7B206157B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926" y="1711326"/>
            <a:ext cx="10967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&lt;&lt;interface&gt;&gt;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   Observer</a:t>
            </a:r>
          </a:p>
        </p:txBody>
      </p:sp>
      <p:sp>
        <p:nvSpPr>
          <p:cNvPr id="31753" name="Text Box 15">
            <a:extLst>
              <a:ext uri="{FF2B5EF4-FFF2-40B4-BE49-F238E27FC236}">
                <a16:creationId xmlns:a16="http://schemas.microsoft.com/office/drawing/2014/main" id="{182E5288-8D21-40EC-8A64-202E02F83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926" y="2060576"/>
            <a:ext cx="8771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update ( )</a:t>
            </a:r>
          </a:p>
        </p:txBody>
      </p:sp>
      <p:sp>
        <p:nvSpPr>
          <p:cNvPr id="31754" name="Line 16">
            <a:extLst>
              <a:ext uri="{FF2B5EF4-FFF2-40B4-BE49-F238E27FC236}">
                <a16:creationId xmlns:a16="http://schemas.microsoft.com/office/drawing/2014/main" id="{2DF6E0BE-2578-4306-AE2A-B8F2FE982B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1336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5" name="Text Box 17">
            <a:extLst>
              <a:ext uri="{FF2B5EF4-FFF2-40B4-BE49-F238E27FC236}">
                <a16:creationId xmlns:a16="http://schemas.microsoft.com/office/drawing/2014/main" id="{7F75111E-D0F1-40E7-8556-1104053E4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326" y="1843089"/>
            <a:ext cx="89960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observers</a:t>
            </a:r>
          </a:p>
        </p:txBody>
      </p:sp>
      <p:sp>
        <p:nvSpPr>
          <p:cNvPr id="31756" name="Rectangle 19">
            <a:extLst>
              <a:ext uri="{FF2B5EF4-FFF2-40B4-BE49-F238E27FC236}">
                <a16:creationId xmlns:a16="http://schemas.microsoft.com/office/drawing/2014/main" id="{41ED2195-3CF6-4D31-9A4A-496C7DDB1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6" y="4176714"/>
            <a:ext cx="2041525" cy="22240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1757" name="Line 20">
            <a:extLst>
              <a:ext uri="{FF2B5EF4-FFF2-40B4-BE49-F238E27FC236}">
                <a16:creationId xmlns:a16="http://schemas.microsoft.com/office/drawing/2014/main" id="{A9DE78A9-8EA1-4DD8-B6BC-A4DCD46260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4419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8" name="Text Box 21">
            <a:extLst>
              <a:ext uri="{FF2B5EF4-FFF2-40B4-BE49-F238E27FC236}">
                <a16:creationId xmlns:a16="http://schemas.microsoft.com/office/drawing/2014/main" id="{F488AC5E-E55B-4078-8EC9-DE9C4C727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1" y="4114801"/>
            <a:ext cx="11673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WeatherData</a:t>
            </a:r>
          </a:p>
        </p:txBody>
      </p:sp>
      <p:sp>
        <p:nvSpPr>
          <p:cNvPr id="31759" name="Text Box 22">
            <a:extLst>
              <a:ext uri="{FF2B5EF4-FFF2-40B4-BE49-F238E27FC236}">
                <a16:creationId xmlns:a16="http://schemas.microsoft.com/office/drawing/2014/main" id="{851E5280-C187-4E86-A242-B66E2BE4F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4419600"/>
            <a:ext cx="206338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registerObservers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removeObservers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notifyObservers ( 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getTemperature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getHumidity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getPressure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measurementsChanged ( )</a:t>
            </a:r>
          </a:p>
        </p:txBody>
      </p:sp>
      <p:sp>
        <p:nvSpPr>
          <p:cNvPr id="31760" name="Text Box 23">
            <a:extLst>
              <a:ext uri="{FF2B5EF4-FFF2-40B4-BE49-F238E27FC236}">
                <a16:creationId xmlns:a16="http://schemas.microsoft.com/office/drawing/2014/main" id="{D684CDAD-7359-4EA0-8F37-9CEAFD4C2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9526" y="3519489"/>
            <a:ext cx="1997075" cy="1015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   CurrentConditions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update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display ( ) { // display current measurements }</a:t>
            </a:r>
          </a:p>
        </p:txBody>
      </p:sp>
      <p:sp>
        <p:nvSpPr>
          <p:cNvPr id="31761" name="Text Box 24">
            <a:extLst>
              <a:ext uri="{FF2B5EF4-FFF2-40B4-BE49-F238E27FC236}">
                <a16:creationId xmlns:a16="http://schemas.microsoft.com/office/drawing/2014/main" id="{B2938BFE-8DEF-4AF2-8318-1C1964632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1" y="5029201"/>
            <a:ext cx="1997075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   StatisticsDisplay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update 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display ( ) { // display avg, min, and max measurements }</a:t>
            </a:r>
          </a:p>
        </p:txBody>
      </p:sp>
      <p:sp>
        <p:nvSpPr>
          <p:cNvPr id="31762" name="Line 26">
            <a:extLst>
              <a:ext uri="{FF2B5EF4-FFF2-40B4-BE49-F238E27FC236}">
                <a16:creationId xmlns:a16="http://schemas.microsoft.com/office/drawing/2014/main" id="{7804FC8B-F134-4CF8-B325-02C21570C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8100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3" name="Line 27">
            <a:extLst>
              <a:ext uri="{FF2B5EF4-FFF2-40B4-BE49-F238E27FC236}">
                <a16:creationId xmlns:a16="http://schemas.microsoft.com/office/drawing/2014/main" id="{FB06659E-BCC9-4E61-8DAD-FBDF2877CC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3886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4" name="Line 28">
            <a:extLst>
              <a:ext uri="{FF2B5EF4-FFF2-40B4-BE49-F238E27FC236}">
                <a16:creationId xmlns:a16="http://schemas.microsoft.com/office/drawing/2014/main" id="{7A0D763C-18A2-4F56-9CDC-C41B394964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53340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5" name="Text Box 29">
            <a:extLst>
              <a:ext uri="{FF2B5EF4-FFF2-40B4-BE49-F238E27FC236}">
                <a16:creationId xmlns:a16="http://schemas.microsoft.com/office/drawing/2014/main" id="{B0CCBBBA-2447-489F-9308-9CD14245E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1" y="1752601"/>
            <a:ext cx="1425575" cy="67063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30000"/>
              </a:lnSpc>
              <a:spcBef>
                <a:spcPct val="50000"/>
              </a:spcBef>
              <a:buFontTx/>
              <a:buNone/>
            </a:pPr>
            <a:r>
              <a:rPr lang="en-US" altLang="en-US" sz="2400"/>
              <a:t>  </a:t>
            </a:r>
            <a:r>
              <a:rPr lang="en-US" altLang="en-US" sz="1200">
                <a:latin typeface="Comic Sans MS" panose="030F0702030302020204" pitchFamily="66" charset="0"/>
              </a:rPr>
              <a:t>&lt;&lt;interface&gt;&gt;</a:t>
            </a:r>
          </a:p>
          <a:p>
            <a:pPr>
              <a:lnSpc>
                <a:spcPct val="30000"/>
              </a:lnSpc>
              <a:spcBef>
                <a:spcPct val="5000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  DisplayElement</a:t>
            </a:r>
          </a:p>
          <a:p>
            <a:pPr>
              <a:lnSpc>
                <a:spcPct val="30000"/>
              </a:lnSpc>
              <a:spcBef>
                <a:spcPct val="50000"/>
              </a:spcBef>
              <a:buFontTx/>
              <a:buNone/>
            </a:pPr>
            <a:endParaRPr lang="en-US" altLang="en-US" sz="1200">
              <a:latin typeface="Comic Sans MS" panose="030F0702030302020204" pitchFamily="66" charset="0"/>
            </a:endParaRPr>
          </a:p>
          <a:p>
            <a:pPr>
              <a:lnSpc>
                <a:spcPct val="30000"/>
              </a:lnSpc>
              <a:spcBef>
                <a:spcPct val="50000"/>
              </a:spcBef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 display ( )</a:t>
            </a:r>
            <a:endParaRPr lang="en-US" altLang="en-US" sz="2400"/>
          </a:p>
        </p:txBody>
      </p:sp>
      <p:sp>
        <p:nvSpPr>
          <p:cNvPr id="31766" name="Line 31">
            <a:extLst>
              <a:ext uri="{FF2B5EF4-FFF2-40B4-BE49-F238E27FC236}">
                <a16:creationId xmlns:a16="http://schemas.microsoft.com/office/drawing/2014/main" id="{02253A4E-B8E8-406E-8617-08262A5287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2133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7" name="Line 32">
            <a:extLst>
              <a:ext uri="{FF2B5EF4-FFF2-40B4-BE49-F238E27FC236}">
                <a16:creationId xmlns:a16="http://schemas.microsoft.com/office/drawing/2014/main" id="{9646D841-F20E-4820-97D3-D1A5CB6636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2971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8" name="Line 33">
            <a:extLst>
              <a:ext uri="{FF2B5EF4-FFF2-40B4-BE49-F238E27FC236}">
                <a16:creationId xmlns:a16="http://schemas.microsoft.com/office/drawing/2014/main" id="{491E4961-B2AF-41F9-B345-7AC6F9A1D8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2514600"/>
            <a:ext cx="1066800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9" name="Line 34">
            <a:extLst>
              <a:ext uri="{FF2B5EF4-FFF2-40B4-BE49-F238E27FC236}">
                <a16:creationId xmlns:a16="http://schemas.microsoft.com/office/drawing/2014/main" id="{A3473140-723F-4076-8847-998DE977EC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2514600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0" name="Line 35">
            <a:extLst>
              <a:ext uri="{FF2B5EF4-FFF2-40B4-BE49-F238E27FC236}">
                <a16:creationId xmlns:a16="http://schemas.microsoft.com/office/drawing/2014/main" id="{995B6B65-8912-42AD-9837-30ECF7196AF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3400" y="2590800"/>
            <a:ext cx="1219200" cy="9144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1" name="Line 36">
            <a:extLst>
              <a:ext uri="{FF2B5EF4-FFF2-40B4-BE49-F238E27FC236}">
                <a16:creationId xmlns:a16="http://schemas.microsoft.com/office/drawing/2014/main" id="{F9B3C438-A669-41CB-A894-DC4BEEA9A5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77400" y="2438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2" name="Line 38">
            <a:extLst>
              <a:ext uri="{FF2B5EF4-FFF2-40B4-BE49-F238E27FC236}">
                <a16:creationId xmlns:a16="http://schemas.microsoft.com/office/drawing/2014/main" id="{F138D7DD-98B7-4629-B014-005B26EC48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1" y="2466976"/>
            <a:ext cx="2828925" cy="1038225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3" name="Line 39">
            <a:extLst>
              <a:ext uri="{FF2B5EF4-FFF2-40B4-BE49-F238E27FC236}">
                <a16:creationId xmlns:a16="http://schemas.microsoft.com/office/drawing/2014/main" id="{39CCCD7A-90FA-4C09-ACBF-2E697C127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4700" y="1420813"/>
            <a:ext cx="209550" cy="266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4" name="Text Box 40">
            <a:extLst>
              <a:ext uri="{FF2B5EF4-FFF2-40B4-BE49-F238E27FC236}">
                <a16:creationId xmlns:a16="http://schemas.microsoft.com/office/drawing/2014/main" id="{27F3E321-5FA3-4A24-87FE-C9DD4CB15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12839"/>
            <a:ext cx="148309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Subject interface</a:t>
            </a:r>
          </a:p>
        </p:txBody>
      </p:sp>
      <p:sp>
        <p:nvSpPr>
          <p:cNvPr id="31775" name="Line 42">
            <a:extLst>
              <a:ext uri="{FF2B5EF4-FFF2-40B4-BE49-F238E27FC236}">
                <a16:creationId xmlns:a16="http://schemas.microsoft.com/office/drawing/2014/main" id="{DCFA6196-A382-4FE2-BB9D-6D0D7F35BC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5789" y="1535113"/>
            <a:ext cx="274637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6" name="Text Box 43">
            <a:extLst>
              <a:ext uri="{FF2B5EF4-FFF2-40B4-BE49-F238E27FC236}">
                <a16:creationId xmlns:a16="http://schemas.microsoft.com/office/drawing/2014/main" id="{520FBE7E-DC4A-433A-96FF-DE4A4DFA5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5389" y="941389"/>
            <a:ext cx="39211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All weather components implement the Observer interface. This gives the subject a common interface to talk to when it comes time to update.</a:t>
            </a:r>
          </a:p>
        </p:txBody>
      </p:sp>
      <p:sp>
        <p:nvSpPr>
          <p:cNvPr id="31777" name="Text Box 44">
            <a:extLst>
              <a:ext uri="{FF2B5EF4-FFF2-40B4-BE49-F238E27FC236}">
                <a16:creationId xmlns:a16="http://schemas.microsoft.com/office/drawing/2014/main" id="{72E6774A-2CE3-41DF-930B-F7866933C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4138" y="723901"/>
            <a:ext cx="29638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Create an interface for all display elements to implement. The display elements just need to implement a display ( ) method.</a:t>
            </a:r>
          </a:p>
        </p:txBody>
      </p:sp>
      <p:sp>
        <p:nvSpPr>
          <p:cNvPr id="31778" name="Line 45">
            <a:extLst>
              <a:ext uri="{FF2B5EF4-FFF2-40B4-BE49-F238E27FC236}">
                <a16:creationId xmlns:a16="http://schemas.microsoft.com/office/drawing/2014/main" id="{A2236DBE-9B4B-4768-9DA3-D9358DD3DECD}"/>
              </a:ext>
            </a:extLst>
          </p:cNvPr>
          <p:cNvSpPr>
            <a:spLocks noChangeShapeType="1"/>
          </p:cNvSpPr>
          <p:nvPr/>
        </p:nvSpPr>
        <p:spPr bwMode="auto">
          <a:xfrm>
            <a:off x="9220201" y="1449389"/>
            <a:ext cx="123825" cy="293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9" name="Line 46">
            <a:extLst>
              <a:ext uri="{FF2B5EF4-FFF2-40B4-BE49-F238E27FC236}">
                <a16:creationId xmlns:a16="http://schemas.microsoft.com/office/drawing/2014/main" id="{04A77E6A-30C4-45ED-A080-7FCFC2B92F1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19589" y="6245226"/>
            <a:ext cx="350837" cy="398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80" name="Text Box 47">
            <a:extLst>
              <a:ext uri="{FF2B5EF4-FFF2-40B4-BE49-F238E27FC236}">
                <a16:creationId xmlns:a16="http://schemas.microsoft.com/office/drawing/2014/main" id="{2FE29A7E-D56A-4FA1-8510-4CAA40451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5364" y="6127751"/>
            <a:ext cx="19399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WeatherData now implements the Subject interface.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752E8395-742E-44EA-A5E4-C7C82B9BC4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Implementing the Weather Station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1DFDA63-3825-4D50-B16A-C49F1D59D6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public interface Subject {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   public void registerObserver (Observer o);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   public void removeObserver (Observer o);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   public void notifyObservers ( );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}</a:t>
            </a:r>
          </a:p>
          <a:p>
            <a:pPr eaLnBrk="1" hangingPunct="1">
              <a:buFontTx/>
              <a:buNone/>
            </a:pPr>
            <a:endParaRPr lang="en-US" altLang="en-US" sz="1400">
              <a:latin typeface="Arial Rounded MT Bold" panose="020F0704030504030204" pitchFamily="34" charset="0"/>
            </a:endParaRPr>
          </a:p>
          <a:p>
            <a:pPr eaLnBrk="1" hangingPunct="1"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public interface Observer { 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    public void update (float temp, float humidity, float pressure);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}</a:t>
            </a:r>
          </a:p>
          <a:p>
            <a:pPr eaLnBrk="1" hangingPunct="1">
              <a:buFontTx/>
              <a:buNone/>
            </a:pPr>
            <a:endParaRPr lang="en-US" altLang="en-US" sz="1400">
              <a:latin typeface="Arial Rounded MT Bold" panose="020F0704030504030204" pitchFamily="34" charset="0"/>
            </a:endParaRPr>
          </a:p>
          <a:p>
            <a:pPr eaLnBrk="1" hangingPunct="1"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public interface DisplayElement {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     public void display ( );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latin typeface="Arial Rounded MT Bold" panose="020F0704030504030204" pitchFamily="34" charset="0"/>
              </a:rPr>
              <a:t>  }</a:t>
            </a:r>
          </a:p>
        </p:txBody>
      </p:sp>
      <p:sp>
        <p:nvSpPr>
          <p:cNvPr id="32772" name="AutoShape 4">
            <a:extLst>
              <a:ext uri="{FF2B5EF4-FFF2-40B4-BE49-F238E27FC236}">
                <a16:creationId xmlns:a16="http://schemas.microsoft.com/office/drawing/2014/main" id="{B390F0BA-7450-4E3B-8C61-034CFED5D073}"/>
              </a:ext>
            </a:extLst>
          </p:cNvPr>
          <p:cNvSpPr>
            <a:spLocks/>
          </p:cNvSpPr>
          <p:nvPr/>
        </p:nvSpPr>
        <p:spPr bwMode="auto">
          <a:xfrm>
            <a:off x="5892801" y="1933576"/>
            <a:ext cx="123825" cy="398463"/>
          </a:xfrm>
          <a:prstGeom prst="rightBrace">
            <a:avLst>
              <a:gd name="adj1" fmla="val 2681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2773" name="Text Box 5">
            <a:extLst>
              <a:ext uri="{FF2B5EF4-FFF2-40B4-BE49-F238E27FC236}">
                <a16:creationId xmlns:a16="http://schemas.microsoft.com/office/drawing/2014/main" id="{DD442A46-01D2-49CB-AEA2-DA6085483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8463" y="1738314"/>
            <a:ext cx="31686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Both of these methods take an Observer as an argument, that is the Observer to be registered or removed.</a:t>
            </a:r>
          </a:p>
        </p:txBody>
      </p:sp>
      <p:sp>
        <p:nvSpPr>
          <p:cNvPr id="32774" name="Line 6">
            <a:extLst>
              <a:ext uri="{FF2B5EF4-FFF2-40B4-BE49-F238E27FC236}">
                <a16:creationId xmlns:a16="http://schemas.microsoft.com/office/drawing/2014/main" id="{E42DE25D-97A8-4FDD-9AAE-CFD5F811AE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2019301"/>
            <a:ext cx="635000" cy="112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Line 7">
            <a:extLst>
              <a:ext uri="{FF2B5EF4-FFF2-40B4-BE49-F238E27FC236}">
                <a16:creationId xmlns:a16="http://schemas.microsoft.com/office/drawing/2014/main" id="{EDEDF439-9F2D-42AE-9688-962423DB8A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37100" y="2578100"/>
            <a:ext cx="407988" cy="274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6" name="Text Box 8">
            <a:extLst>
              <a:ext uri="{FF2B5EF4-FFF2-40B4-BE49-F238E27FC236}">
                <a16:creationId xmlns:a16="http://schemas.microsoft.com/office/drawing/2014/main" id="{A8A06241-3012-43B7-9502-E1616B5BC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550" y="2657476"/>
            <a:ext cx="31686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This method is called to notify all observers when the Subject’s state has changed.</a:t>
            </a:r>
          </a:p>
        </p:txBody>
      </p:sp>
      <p:sp>
        <p:nvSpPr>
          <p:cNvPr id="32777" name="Text Box 9">
            <a:extLst>
              <a:ext uri="{FF2B5EF4-FFF2-40B4-BE49-F238E27FC236}">
                <a16:creationId xmlns:a16="http://schemas.microsoft.com/office/drawing/2014/main" id="{F5C52488-6927-441B-B7EB-26EA82784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0" y="3216276"/>
            <a:ext cx="23241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The Observer interface is implemented by all observers, so they all have to implement the update ( ) method.</a:t>
            </a:r>
          </a:p>
        </p:txBody>
      </p:sp>
      <p:sp>
        <p:nvSpPr>
          <p:cNvPr id="32778" name="AutoShape 11">
            <a:extLst>
              <a:ext uri="{FF2B5EF4-FFF2-40B4-BE49-F238E27FC236}">
                <a16:creationId xmlns:a16="http://schemas.microsoft.com/office/drawing/2014/main" id="{69AE4FD4-9132-4C10-B7F9-9EF83ED870E9}"/>
              </a:ext>
            </a:extLst>
          </p:cNvPr>
          <p:cNvSpPr>
            <a:spLocks/>
          </p:cNvSpPr>
          <p:nvPr/>
        </p:nvSpPr>
        <p:spPr bwMode="auto">
          <a:xfrm rot="5375261">
            <a:off x="5557838" y="2201863"/>
            <a:ext cx="180975" cy="3162300"/>
          </a:xfrm>
          <a:prstGeom prst="rightBrace">
            <a:avLst>
              <a:gd name="adj1" fmla="val 14561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2779" name="Line 12">
            <a:extLst>
              <a:ext uri="{FF2B5EF4-FFF2-40B4-BE49-F238E27FC236}">
                <a16:creationId xmlns:a16="http://schemas.microsoft.com/office/drawing/2014/main" id="{C6F2FE3A-AC42-496E-A192-84F59F837F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30901" y="3867150"/>
            <a:ext cx="238125" cy="520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0" name="Text Box 15">
            <a:extLst>
              <a:ext uri="{FF2B5EF4-FFF2-40B4-BE49-F238E27FC236}">
                <a16:creationId xmlns:a16="http://schemas.microsoft.com/office/drawing/2014/main" id="{B80A45BE-9C35-4412-A030-08DEFBCAB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6450" y="4459289"/>
            <a:ext cx="23241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These are the state values the Observers get from the Subject when a weather measurement changes.</a:t>
            </a:r>
          </a:p>
        </p:txBody>
      </p:sp>
      <p:sp>
        <p:nvSpPr>
          <p:cNvPr id="32781" name="Line 16">
            <a:extLst>
              <a:ext uri="{FF2B5EF4-FFF2-40B4-BE49-F238E27FC236}">
                <a16:creationId xmlns:a16="http://schemas.microsoft.com/office/drawing/2014/main" id="{9420D7C3-7A51-4A03-9429-11642AEB4B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6625" y="4738688"/>
            <a:ext cx="0" cy="596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2" name="Text Box 17">
            <a:extLst>
              <a:ext uri="{FF2B5EF4-FFF2-40B4-BE49-F238E27FC236}">
                <a16:creationId xmlns:a16="http://schemas.microsoft.com/office/drawing/2014/main" id="{FEE721F2-19F9-4B1D-AC57-C83E42E00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5473701"/>
            <a:ext cx="23241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The DisplayElement interface  just includes one method, display ( ), that we will call when the display element needs to be displayed.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1FC31DD-CC5B-45CC-A45E-B7E829F32A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Implementing the Subject Interface in WeatherData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C63CE0C6-D5D3-4541-B224-98741C552E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4"/>
            <a:ext cx="10515600" cy="4803775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 public class 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WeatherData</a:t>
            </a:r>
            <a:r>
              <a:rPr lang="en-US" altLang="en-US" sz="1000" dirty="0">
                <a:latin typeface="Arial Rounded MT Bold" panose="020F0704030504030204" pitchFamily="34" charset="0"/>
              </a:rPr>
              <a:t> implements Subject {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    	private 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ArrayList</a:t>
            </a:r>
            <a:r>
              <a:rPr lang="en-US" altLang="en-US" sz="1000" dirty="0">
                <a:latin typeface="Arial Rounded MT Bold" panose="020F0704030504030204" pitchFamily="34" charset="0"/>
              </a:rPr>
              <a:t> observers;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private float temperature;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private float humidity;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private float pressure;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endParaRPr lang="en-US" altLang="en-US" sz="1000" dirty="0">
              <a:latin typeface="Arial Rounded MT Bold" panose="020F070403050403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 	public 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WeatherData</a:t>
            </a:r>
            <a:r>
              <a:rPr lang="en-US" altLang="en-US" sz="1000" dirty="0">
                <a:latin typeface="Arial Rounded MT Bold" panose="020F0704030504030204" pitchFamily="34" charset="0"/>
              </a:rPr>
              <a:t> ( ){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      observers = new 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ArrayList</a:t>
            </a:r>
            <a:r>
              <a:rPr lang="en-US" altLang="en-US" sz="1000" dirty="0">
                <a:latin typeface="Arial Rounded MT Bold" panose="020F0704030504030204" pitchFamily="34" charset="0"/>
              </a:rPr>
              <a:t> ( );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        }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       	public void 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registerObserver</a:t>
            </a:r>
            <a:r>
              <a:rPr lang="en-US" altLang="en-US" sz="1000" dirty="0">
                <a:latin typeface="Arial Rounded MT Bold" panose="020F0704030504030204" pitchFamily="34" charset="0"/>
              </a:rPr>
              <a:t> (Observer o) {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       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observers.add</a:t>
            </a:r>
            <a:r>
              <a:rPr lang="en-US" altLang="en-US" sz="1000" dirty="0">
                <a:latin typeface="Arial Rounded MT Bold" panose="020F0704030504030204" pitchFamily="34" charset="0"/>
              </a:rPr>
              <a:t>(o);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}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 	public void 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removeObserver</a:t>
            </a:r>
            <a:r>
              <a:rPr lang="en-US" altLang="en-US" sz="1000" dirty="0">
                <a:latin typeface="Arial Rounded MT Bold" panose="020F0704030504030204" pitchFamily="34" charset="0"/>
              </a:rPr>
              <a:t> (Observer o) {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       int j = 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observer.indexOf</a:t>
            </a:r>
            <a:r>
              <a:rPr lang="en-US" altLang="en-US" sz="1000" dirty="0">
                <a:latin typeface="Arial Rounded MT Bold" panose="020F0704030504030204" pitchFamily="34" charset="0"/>
              </a:rPr>
              <a:t>(o);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       if (j &gt;= 0) {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          	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observers.remove</a:t>
            </a:r>
            <a:r>
              <a:rPr lang="en-US" altLang="en-US" sz="1000" dirty="0">
                <a:latin typeface="Arial Rounded MT Bold" panose="020F0704030504030204" pitchFamily="34" charset="0"/>
              </a:rPr>
              <a:t>(j);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       } }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public void 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notifyObservers</a:t>
            </a:r>
            <a:r>
              <a:rPr lang="en-US" altLang="en-US" sz="1000" dirty="0">
                <a:latin typeface="Arial Rounded MT Bold" panose="020F0704030504030204" pitchFamily="34" charset="0"/>
              </a:rPr>
              <a:t> ( ) {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       for (int j = 0; j &lt; 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observers.size</a:t>
            </a:r>
            <a:r>
              <a:rPr lang="en-US" altLang="en-US" sz="1000" dirty="0">
                <a:latin typeface="Arial Rounded MT Bold" panose="020F0704030504030204" pitchFamily="34" charset="0"/>
              </a:rPr>
              <a:t>(); 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j++</a:t>
            </a:r>
            <a:r>
              <a:rPr lang="en-US" altLang="en-US" sz="1000" dirty="0">
                <a:latin typeface="Arial Rounded MT Bold" panose="020F0704030504030204" pitchFamily="34" charset="0"/>
              </a:rPr>
              <a:t>) {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	Observer 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observer</a:t>
            </a:r>
            <a:r>
              <a:rPr lang="en-US" altLang="en-US" sz="1000" dirty="0">
                <a:latin typeface="Arial Rounded MT Bold" panose="020F0704030504030204" pitchFamily="34" charset="0"/>
              </a:rPr>
              <a:t> = (Observer)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observers.get</a:t>
            </a:r>
            <a:r>
              <a:rPr lang="en-US" altLang="en-US" sz="1000" dirty="0">
                <a:latin typeface="Arial Rounded MT Bold" panose="020F0704030504030204" pitchFamily="34" charset="0"/>
              </a:rPr>
              <a:t>(j);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	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observer.update</a:t>
            </a:r>
            <a:r>
              <a:rPr lang="en-US" altLang="en-US" sz="1000" dirty="0">
                <a:latin typeface="Arial Rounded MT Bold" panose="020F0704030504030204" pitchFamily="34" charset="0"/>
              </a:rPr>
              <a:t>(temperature, humidity, pressure);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       }}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public void 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measurementsChanged</a:t>
            </a:r>
            <a:r>
              <a:rPr lang="en-US" altLang="en-US" sz="1000" dirty="0">
                <a:latin typeface="Arial Rounded MT Bold" panose="020F0704030504030204" pitchFamily="34" charset="0"/>
              </a:rPr>
              <a:t> ( ) {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        </a:t>
            </a:r>
            <a:r>
              <a:rPr lang="en-US" altLang="en-US" sz="1000" dirty="0" err="1">
                <a:latin typeface="Arial Rounded MT Bold" panose="020F0704030504030204" pitchFamily="34" charset="0"/>
              </a:rPr>
              <a:t>notifyObservers</a:t>
            </a:r>
            <a:r>
              <a:rPr lang="en-US" altLang="en-US" sz="1000" dirty="0">
                <a:latin typeface="Arial Rounded MT Bold" panose="020F0704030504030204" pitchFamily="34" charset="0"/>
              </a:rPr>
              <a:t> ( ); }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	// add a set method for testing + other methods.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000" dirty="0">
                <a:latin typeface="Arial Rounded MT Bold" panose="020F0704030504030204" pitchFamily="34" charset="0"/>
              </a:rPr>
              <a:t>}</a:t>
            </a:r>
          </a:p>
        </p:txBody>
      </p:sp>
      <p:sp>
        <p:nvSpPr>
          <p:cNvPr id="33796" name="Line 4">
            <a:extLst>
              <a:ext uri="{FF2B5EF4-FFF2-40B4-BE49-F238E27FC236}">
                <a16:creationId xmlns:a16="http://schemas.microsoft.com/office/drawing/2014/main" id="{7B16DDD3-4243-45BE-9A4D-F3AB2D832F9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87579" y="2177715"/>
            <a:ext cx="2882984" cy="5892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7" name="Line 5">
            <a:extLst>
              <a:ext uri="{FF2B5EF4-FFF2-40B4-BE49-F238E27FC236}">
                <a16:creationId xmlns:a16="http://schemas.microsoft.com/office/drawing/2014/main" id="{ACDE9F7A-296D-495D-BFEE-0E1C22152B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24463" y="2757489"/>
            <a:ext cx="2517525" cy="38945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Text Box 6">
            <a:extLst>
              <a:ext uri="{FF2B5EF4-FFF2-40B4-BE49-F238E27FC236}">
                <a16:creationId xmlns:a16="http://schemas.microsoft.com/office/drawing/2014/main" id="{BE1B352D-19CC-44EC-AB74-3BC83A152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6926" y="2466976"/>
            <a:ext cx="32559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Added an ArrayList to hold the Observers, and we create it in the constructor</a:t>
            </a:r>
          </a:p>
        </p:txBody>
      </p:sp>
      <p:sp>
        <p:nvSpPr>
          <p:cNvPr id="33799" name="Line 7">
            <a:extLst>
              <a:ext uri="{FF2B5EF4-FFF2-40B4-BE49-F238E27FC236}">
                <a16:creationId xmlns:a16="http://schemas.microsoft.com/office/drawing/2014/main" id="{A9245644-63E0-44D0-8507-703E9175CB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7579" y="5645150"/>
            <a:ext cx="3868823" cy="1420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Text Box 8">
            <a:extLst>
              <a:ext uri="{FF2B5EF4-FFF2-40B4-BE49-F238E27FC236}">
                <a16:creationId xmlns:a16="http://schemas.microsoft.com/office/drawing/2014/main" id="{0E39F632-8F84-4FB1-BFE7-BDAF5C023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9914" y="5510214"/>
            <a:ext cx="377539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Notify the observers when measurements change.</a:t>
            </a:r>
          </a:p>
        </p:txBody>
      </p:sp>
      <p:sp>
        <p:nvSpPr>
          <p:cNvPr id="33801" name="AutoShape 9">
            <a:extLst>
              <a:ext uri="{FF2B5EF4-FFF2-40B4-BE49-F238E27FC236}">
                <a16:creationId xmlns:a16="http://schemas.microsoft.com/office/drawing/2014/main" id="{DBDE4F1A-8C0F-40EE-BB51-36D9C72CD9ED}"/>
              </a:ext>
            </a:extLst>
          </p:cNvPr>
          <p:cNvSpPr>
            <a:spLocks/>
          </p:cNvSpPr>
          <p:nvPr/>
        </p:nvSpPr>
        <p:spPr bwMode="auto">
          <a:xfrm>
            <a:off x="6424864" y="3363913"/>
            <a:ext cx="331538" cy="2146301"/>
          </a:xfrm>
          <a:prstGeom prst="rightBrace">
            <a:avLst>
              <a:gd name="adj1" fmla="val 11695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3802" name="Text Box 10">
            <a:extLst>
              <a:ext uri="{FF2B5EF4-FFF2-40B4-BE49-F238E27FC236}">
                <a16:creationId xmlns:a16="http://schemas.microsoft.com/office/drawing/2014/main" id="{5F3268C2-ACFB-4845-A594-803C98B59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8825" y="4448176"/>
            <a:ext cx="323678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Comic Sans MS" panose="030F0702030302020204" pitchFamily="66" charset="0"/>
              </a:rPr>
              <a:t>Here we implement the Subject Interface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F2E866A-F0BB-4D02-A631-09056B435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Observer Summary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FAC21A0-5A3E-42DA-882A-81DE2B08CD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b="1" dirty="0"/>
              <a:t>OO Principle</a:t>
            </a:r>
            <a:r>
              <a:rPr lang="en-US" altLang="en-US" dirty="0"/>
              <a:t> in play: </a:t>
            </a:r>
            <a:r>
              <a:rPr lang="en-US" altLang="en-US" i="1" dirty="0"/>
              <a:t>Strive for loosely coupled designs between objects that interact.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Main points: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The Observer pattern  defines a </a:t>
            </a:r>
            <a:r>
              <a:rPr lang="en-US" altLang="en-US" i="1" dirty="0"/>
              <a:t>one to many relationship</a:t>
            </a:r>
            <a:r>
              <a:rPr lang="en-US" altLang="en-US" dirty="0"/>
              <a:t> between objects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Subjects (observables), update Observers using a common interface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Observers are loosely coupled in that the </a:t>
            </a:r>
            <a:r>
              <a:rPr lang="en-US" altLang="en-US" dirty="0">
                <a:latin typeface="Comic Sans MS" panose="030F0702030302020204" pitchFamily="66" charset="0"/>
              </a:rPr>
              <a:t>Observable</a:t>
            </a:r>
            <a:r>
              <a:rPr lang="en-US" altLang="en-US" dirty="0"/>
              <a:t> knows nothing about them, other than they implement the </a:t>
            </a:r>
            <a:r>
              <a:rPr lang="en-US" altLang="en-US" dirty="0">
                <a:latin typeface="Comic Sans MS" panose="030F0702030302020204" pitchFamily="66" charset="0"/>
              </a:rPr>
              <a:t>Observer</a:t>
            </a:r>
            <a:r>
              <a:rPr lang="en-US" altLang="en-US" dirty="0"/>
              <a:t> interface.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Words>3627</Words>
  <Application>Microsoft Office PowerPoint</Application>
  <PresentationFormat>Widescreen</PresentationFormat>
  <Paragraphs>630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Arial Black</vt:lpstr>
      <vt:lpstr>Arial Rounded MT Bold</vt:lpstr>
      <vt:lpstr>Calibri</vt:lpstr>
      <vt:lpstr>Calibri Light</vt:lpstr>
      <vt:lpstr>Comic Sans MS</vt:lpstr>
      <vt:lpstr>Times</vt:lpstr>
      <vt:lpstr>Times New Roman</vt:lpstr>
      <vt:lpstr>Office Theme</vt:lpstr>
      <vt:lpstr>Design Patterns</vt:lpstr>
      <vt:lpstr>What Is a Design Pattern?</vt:lpstr>
      <vt:lpstr>List of Patterns (not the end..)</vt:lpstr>
      <vt:lpstr>The Façade Pattern</vt:lpstr>
      <vt:lpstr>Façade </vt:lpstr>
      <vt:lpstr>Home Sweet Home Theater</vt:lpstr>
      <vt:lpstr>Watching a Movie the Hard Way!</vt:lpstr>
      <vt:lpstr>Lights, Camera, Façade!</vt:lpstr>
      <vt:lpstr>The Façade Defined</vt:lpstr>
      <vt:lpstr>Design Principle</vt:lpstr>
      <vt:lpstr>The Singleton Pattern</vt:lpstr>
      <vt:lpstr>What is this?</vt:lpstr>
      <vt:lpstr>The Little Singleton (contd.)</vt:lpstr>
      <vt:lpstr>The Classic Singleton Pattern</vt:lpstr>
      <vt:lpstr>Code Up Close</vt:lpstr>
      <vt:lpstr>Singleton Pattern Defined</vt:lpstr>
      <vt:lpstr>Singleton Summary</vt:lpstr>
      <vt:lpstr>The Adapter Pattern</vt:lpstr>
      <vt:lpstr>Adapters</vt:lpstr>
      <vt:lpstr>If it walks like a duck…..</vt:lpstr>
      <vt:lpstr>Now….</vt:lpstr>
      <vt:lpstr>The Adapter Pattern Defined</vt:lpstr>
      <vt:lpstr>Adapter Summary</vt:lpstr>
      <vt:lpstr>Observer Pattern</vt:lpstr>
      <vt:lpstr>The Weather-O-Rama!</vt:lpstr>
      <vt:lpstr>Time for the Observer!</vt:lpstr>
      <vt:lpstr>Publishers + Subscribers = Observer Pattern</vt:lpstr>
      <vt:lpstr>The Observer Pattern Defined</vt:lpstr>
      <vt:lpstr>Observer Class Diagram</vt:lpstr>
      <vt:lpstr>Designing the Weather Station</vt:lpstr>
      <vt:lpstr>Implementing the Weather Station</vt:lpstr>
      <vt:lpstr>Implementing the Subject Interface in WeatherData</vt:lpstr>
      <vt:lpstr>Observer Summary</vt:lpstr>
    </vt:vector>
  </TitlesOfParts>
  <Company>UMass - Lowell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Singleton Pattern</dc:title>
  <dc:creator>Kajal Claypool</dc:creator>
  <cp:lastModifiedBy>Prof. Dr. Manzur H. Khan</cp:lastModifiedBy>
  <cp:revision>21</cp:revision>
  <dcterms:created xsi:type="dcterms:W3CDTF">2005-03-08T10:03:01Z</dcterms:created>
  <dcterms:modified xsi:type="dcterms:W3CDTF">2024-10-27T15:59:51Z</dcterms:modified>
</cp:coreProperties>
</file>